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0006.xml" ContentType="application/vnd.openxmlformats-officedocument.presentationml.notesSlide+xml"/>
  <Override PartName="/ppt/notesSlides/notesSlide1001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006.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6.xml" /></ns0:Relationships>
</file>

<file path=ppt/notesSlides/_rels/notesSlide10013.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13.xml" /></ns0: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Joining tables, carefully</a:t>
            </a:r>
          </a:p>
          <a:p>
            <a:r>
              <a:t/>
            </a:r>
          </a:p>
          <a:p>
            <a:r>
              <a:t>LECTURER CUE</a:t>
            </a:r>
          </a:p>
          <a:p>
            <a:r>
              <a:t>Start on time.</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Where tonight sits.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Where tonight sits</a:t>
            </a:r>
          </a:p>
          <a:p>
            <a:r>
              <a:t/>
            </a:r>
          </a:p>
          <a:p>
            <a:r>
              <a:t>CONNECT</a:t>
            </a:r>
          </a:p>
          <a:p>
            <a:r>
              <a:t>Build on the preceding slide: Joining tables, carefully.</a:t>
            </a:r>
          </a:p>
          <a:p>
            <a:r>
              <a:t/>
            </a:r>
          </a:p>
          <a:p>
            <a:r>
              <a:t>LECTURER CUE</a:t>
            </a:r>
          </a:p>
          <a:p>
            <a:r>
              <a:t>Tonight is session 5 of fifteen.</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The words for tonight.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words for tonight</a:t>
            </a:r>
          </a:p>
          <a:p>
            <a:r>
              <a:t/>
            </a:r>
          </a:p>
          <a:p>
            <a:r>
              <a:t>CONNECT</a:t>
            </a:r>
          </a:p>
          <a:p>
            <a:r>
              <a:t>Build on the preceding slide: Where tonight sits.</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By the end of tonight you can….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By the end of tonight you can…</a:t>
            </a:r>
          </a:p>
          <a:p>
            <a:r>
              <a:t/>
            </a:r>
          </a:p>
          <a:p>
            <a:r>
              <a:t>CONNECT</a:t>
            </a:r>
          </a:p>
          <a:p>
            <a:r>
              <a:t>Build on the preceding slide: The words for tonight.</a:t>
            </a:r>
          </a:p>
          <a:p>
            <a:r>
              <a:t/>
            </a:r>
          </a:p>
          <a:p>
            <a:r>
              <a:t>LECTURER CUE</a:t>
            </a:r>
          </a:p>
          <a:p>
            <a:r>
              <a:t>These three are what tonight is marked against, in the sense that the lab checks them.</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Your total went up when you joined a table..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Your total went up when you joined a table.</a:t>
            </a:r>
          </a:p>
          <a:p>
            <a:r>
              <a:t/>
            </a:r>
          </a:p>
          <a:p>
            <a:r>
              <a:t>CONNECT</a:t>
            </a:r>
          </a:p>
          <a:p>
            <a:r>
              <a:t>Build on the preceding slide: By the end of tonight you can….</a:t>
            </a:r>
          </a:p>
          <a:p>
            <a:r>
              <a:t/>
            </a:r>
          </a:p>
          <a:p>
            <a:r>
              <a:t>LECTURER CUE</a:t>
            </a:r>
          </a:p>
          <a:p>
            <a:r>
              <a:t>Yes, and it is wrong. A join can multiply rows, and nothing warns you except a row count you were not watching.</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INNER and LEFT, and the row count that tells you.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INNER JOIN</a:t>
            </a:r>
          </a:p>
          <a:p>
            <a:r>
              <a:t/>
            </a:r>
          </a:p>
          <a:p>
            <a:r>
              <a:t>CONNECT</a:t>
            </a:r>
          </a:p>
          <a:p>
            <a:r>
              <a:t>Build on the preceding slide: INNER and LEFT, and the row count that tells you.</a:t>
            </a:r>
          </a:p>
          <a:p>
            <a:r>
              <a:t/>
            </a:r>
          </a:p>
          <a:p>
            <a:r>
              <a:t>LECTURER CUE</a:t>
            </a:r>
          </a:p>
          <a:p>
            <a:r>
              <a:t>Keep only the rows that matched on both sides. Anything without a match disappears, with no message.</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LEFT JOIN.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LEFT JOIN</a:t>
            </a:r>
          </a:p>
          <a:p>
            <a:r>
              <a:t/>
            </a:r>
          </a:p>
          <a:p>
            <a:r>
              <a:t>CONNECT</a:t>
            </a:r>
          </a:p>
          <a:p>
            <a:r>
              <a:t>Build on the preceding slide: INNER JOIN.</a:t>
            </a:r>
          </a:p>
          <a:p>
            <a:r>
              <a:t/>
            </a:r>
          </a:p>
          <a:p>
            <a:r>
              <a:t>LECTURER CUE</a:t>
            </a:r>
          </a:p>
          <a:p>
            <a:r>
              <a:t>Keep every row on the left, and leave the right-hand columns empty where nothing matched.</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Fan-out.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Fan-out</a:t>
            </a:r>
          </a:p>
          <a:p>
            <a:r>
              <a:t/>
            </a:r>
          </a:p>
          <a:p>
            <a:r>
              <a:t>CONNECT</a:t>
            </a:r>
          </a:p>
          <a:p>
            <a:r>
              <a:t>Build on the preceding slide: LEFT JOIN.</a:t>
            </a:r>
          </a:p>
          <a:p>
            <a:r>
              <a:t/>
            </a:r>
          </a:p>
          <a:p>
            <a:r>
              <a:t>LECTURER CUE</a:t>
            </a:r>
          </a:p>
          <a:p>
            <a:r>
              <a:t>When one row matches several rows, its values are repeated once per match. Sum them afterwards and you have counted the same thing several times.</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CTE.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CTE</a:t>
            </a:r>
          </a:p>
          <a:p>
            <a:r>
              <a:t/>
            </a:r>
          </a:p>
          <a:p>
            <a:r>
              <a:t>CONNECT</a:t>
            </a:r>
          </a:p>
          <a:p>
            <a:r>
              <a:t>Build on the preceding slide: Fan-out.</a:t>
            </a:r>
          </a:p>
          <a:p>
            <a:r>
              <a:t/>
            </a:r>
          </a:p>
          <a:p>
            <a:r>
              <a:t>LECTURER CUE</a:t>
            </a:r>
          </a:p>
          <a:p>
            <a:r>
              <a:t>A named step at the top of a query that you can then use like a table. Short for common table expression, and nobody says that out loud.</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Watch the row count decide the answer.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Watch the row count decide the answer</a:t>
            </a:r>
          </a:p>
          <a:p>
            <a:r>
              <a:t/>
            </a:r>
          </a:p>
          <a:p>
            <a:r>
              <a:t>CONNECT</a:t>
            </a:r>
          </a:p>
          <a:p>
            <a:r>
              <a:t>Build on the preceding slide: CTE.</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Break.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Break</a:t>
            </a:r>
          </a:p>
          <a:p>
            <a:r>
              <a:t/>
            </a:r>
          </a:p>
          <a:p>
            <a:r>
              <a:t>CONNECT</a:t>
            </a:r>
          </a:p>
          <a:p>
            <a:r>
              <a:t>Build on the preceding slide: Watch the row count decide the answer.</a:t>
            </a:r>
          </a:p>
          <a:p>
            <a:r>
              <a:t/>
            </a:r>
          </a:p>
          <a:p>
            <a:r>
              <a:t>LECTURER CUE</a:t>
            </a:r>
          </a:p>
          <a:p>
            <a:r>
              <a:t>Ten minutes.</a:t>
            </a:r>
          </a:p>
          <a:p>
            <a:r>
              <a:t/>
            </a:r>
          </a:p>
          <a:p>
            <a:r>
              <a:t>NEXT</a:t>
            </a:r>
          </a:p>
          <a:p>
            <a:r>
              <a:t>Fan-out, and queries somebody else can read.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Fan-out, made visible</a:t>
            </a:r>
          </a:p>
          <a:p>
            <a:r>
              <a:t/>
            </a:r>
          </a:p>
          <a:p>
            <a:r>
              <a:t>CONNECT</a:t>
            </a:r>
          </a:p>
          <a:p>
            <a:r>
              <a:t>Build on the preceding slide: Fan-out, and queries somebody else can read.</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Three named steps instead of one long query.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Three named steps instead of one long query</a:t>
            </a:r>
          </a:p>
          <a:p>
            <a:r>
              <a:t/>
            </a:r>
          </a:p>
          <a:p>
            <a:r>
              <a:t>CONNECT</a:t>
            </a:r>
          </a:p>
          <a:p>
            <a:r>
              <a:t>Build on the preceding slide: Fan-out, made visible.</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The report the sales manager actually wants.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report the sales manager actually wants</a:t>
            </a:r>
          </a:p>
          <a:p>
            <a:r>
              <a:t/>
            </a:r>
          </a:p>
          <a:p>
            <a:r>
              <a:t>CONNECT</a:t>
            </a:r>
          </a:p>
          <a:p>
            <a:r>
              <a:t>Build on the preceding slide: Three named steps instead of one long query.</a:t>
            </a:r>
          </a:p>
          <a:p>
            <a:r>
              <a:t/>
            </a:r>
          </a:p>
          <a:p>
            <a:r>
              <a:t>LECTURER CUE</a:t>
            </a:r>
          </a:p>
          <a:p>
            <a:r>
              <a:t>Revenue by rep by month for 2025, net of returns. Two CTEs and a final SELECT, built and checked one step at a time.</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Checkpoint 1.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Checkpoint 1</a:t>
            </a:r>
          </a:p>
          <a:p>
            <a:r>
              <a:t/>
            </a:r>
          </a:p>
          <a:p>
            <a:r>
              <a:t>CONNECT</a:t>
            </a:r>
          </a:p>
          <a:p>
            <a:r>
              <a:t>Build on the preceding slide: The report the sales manager actually wants.</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A join that multiplies rows. The total gets bigger and looks plausible, and the only tell is the row count..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 join that multiplies rows. The total gets bigger and looks plausible, and the only tell is the row count.</a:t>
            </a:r>
          </a:p>
          <a:p>
            <a:r>
              <a:t/>
            </a:r>
          </a:p>
          <a:p>
            <a:r>
              <a:t>CONNECT</a:t>
            </a:r>
          </a:p>
          <a:p>
            <a:r>
              <a:t>Build on the preceding slide: Checkpoint 1.</a:t>
            </a:r>
          </a:p>
          <a:p>
            <a:r>
              <a:t/>
            </a:r>
          </a:p>
          <a:p>
            <a:r>
              <a:t>LECTURER CUE</a:t>
            </a:r>
          </a:p>
          <a:p>
            <a:r>
              <a:t>A join that multiplies rows. The total gets bigger and looks plausible, and the only tell is the row count.</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Can you answer these?.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Can you answer these?</a:t>
            </a:r>
          </a:p>
          <a:p>
            <a:r>
              <a:t/>
            </a:r>
          </a:p>
          <a:p>
            <a:r>
              <a:t>CONNECT</a:t>
            </a:r>
          </a:p>
          <a:p>
            <a:r>
              <a:t>Build on the preceding slide: A join that multiplies rows. The total gets bigger and looks plausible, and the only tell is the row count..</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DISCUSSION KEY FOR THIS SLIDE</a:t>
            </a:r>
          </a:p>
          <a:p>
            <a:r>
              <a:t>ANSWERS</a:t>
            </a:r>
          </a:p>
          <a:p>
            <a:r>
              <a:t>How did you do?</a:t>
            </a:r>
          </a:p>
          <a:p>
            <a:r>
              <a:t>A</a:t>
            </a:r>
          </a:p>
          <a:p>
            <a:r>
              <a:t>Same count from INNER and LEFT</a:t>
            </a:r>
          </a:p>
          <a:p>
            <a:r>
              <a:t>Every row on the left found a match, so on today's data the two are equivalent. That is a fact about these rows rather than about the tables, so re-check it when the data changes.</a:t>
            </a:r>
          </a:p>
          <a:p>
            <a:r>
              <a:t>B</a:t>
            </a:r>
          </a:p>
          <a:p>
            <a:r>
              <a:t>Summing a per-order figure after joining to lines</a:t>
            </a:r>
          </a:p>
          <a:p>
            <a:r>
              <a:t>Fan-out. The order-level figure repeated once per line, so the total counted it several times: 6,000 orders became 20,234 rows. Aggregate the lines first, in their own step, then join.</a:t>
            </a:r>
          </a:p>
          <a:p>
            <a:r>
              <a:t>C</a:t>
            </a:r>
          </a:p>
          <a:p>
            <a:r>
              <a:t>Why CTEs rather than nesting</a:t>
            </a:r>
          </a:p>
          <a:p>
            <a:r>
              <a:t>You can run a CTE on its own and check it. A nested subquery can only be checked as part of the whole thing, which means a mistake in the middle is the last one you find.</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Can you answer these?.</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Build the rep revenue report.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Build the rep revenue report</a:t>
            </a:r>
          </a:p>
          <a:p>
            <a:r>
              <a:t/>
            </a:r>
          </a:p>
          <a:p>
            <a:r>
              <a:t>CONNECT</a:t>
            </a:r>
          </a:p>
          <a:p>
            <a:r>
              <a:t>Build on the preceding slide: How did you do?.</a:t>
            </a:r>
          </a:p>
          <a:p>
            <a:r>
              <a:t/>
            </a:r>
          </a:p>
          <a:p>
            <a:r>
              <a:t>LECTURER CUE</a:t>
            </a:r>
          </a:p>
          <a:p>
            <a:r>
              <a:t>This is Checkpoint 1 and it is marked against the answer key tonight. Build it as named steps and check the row count after each one.</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What you can do now.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you can do now</a:t>
            </a:r>
          </a:p>
          <a:p>
            <a:r>
              <a:t/>
            </a:r>
          </a:p>
          <a:p>
            <a:r>
              <a:t>CONNECT</a:t>
            </a:r>
          </a:p>
          <a:p>
            <a:r>
              <a:t>Build on the preceding slide: Build the rep revenue report.</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Before the next session.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Before the next session</a:t>
            </a:r>
          </a:p>
          <a:p>
            <a:r>
              <a:t/>
            </a:r>
          </a:p>
          <a:p>
            <a:r>
              <a:t>CONNECT</a:t>
            </a:r>
          </a:p>
          <a:p>
            <a:r>
              <a:t>Build on the preceding slide: What you can do now.</a:t>
            </a:r>
          </a:p>
          <a:p>
            <a:r>
              <a:t/>
            </a:r>
          </a:p>
          <a:p>
            <a:r>
              <a:t>LECTURER CUE</a:t>
            </a:r>
          </a:p>
          <a:p>
            <a:r>
              <a:t>Finish the report if it is not finished, then break it on purpose: change one LEFT JOIN to an INNER JOIN and write down what changed in the numbers and why.</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The row count is the smoke alarm.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row count is the smoke alarm</a:t>
            </a:r>
          </a:p>
          <a:p>
            <a:r>
              <a:t/>
            </a:r>
          </a:p>
          <a:p>
            <a:r>
              <a:t>CONNECT</a:t>
            </a:r>
          </a:p>
          <a:p>
            <a:r>
              <a:t>Build on the preceding slide: Before the next session.</a:t>
            </a:r>
          </a:p>
          <a:p>
            <a:r>
              <a:t/>
            </a:r>
          </a:p>
          <a:p>
            <a:r>
              <a:t>LECTURER CUE</a:t>
            </a:r>
          </a:p>
          <a:p>
            <a:r>
              <a:t>Every error in this session announced itself the same way: a count that changed when you did not expect it to. Nothing else warns you, so build the habit now while the data is still small enough to check by hand.</a:t>
            </a:r>
          </a:p>
        </p:txBody>
      </p:sp>
      <p:sp>
        <p:nvSpPr>
          <p:cNvPr id="4" name="Slide Number Placeholder 3"/>
          <p:cNvSpPr>
            <a:spLocks noGrp="1"/>
          </p:cNvSpPr>
          <p:nvPr>
            <p:ph type="sldNum" idx="5" sz="quarter"/>
          </p:nvPr>
        </p:nvSpPr>
        <p:spPr/>
      </p:sp>
    </p:spTree>
  </p:cSld>
  <p:clrMapOvr>
    <a:masterClrMapping/>
  </p:clrMapOvr>
</p:notes>
</file>

<file path=ppt/notesSlides/notesSlide1000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INNER and LEFT, and the row count that tells you</a:t>
            </a:r>
          </a:p>
          <a:p>
            <a:r>
              <a:t/>
            </a:r>
          </a:p>
          <a:p>
            <a:r>
              <a:t>CONNECT</a:t>
            </a:r>
          </a:p>
          <a:p>
            <a:r>
              <a:t>Build on the preceding slide: Your total went up when you joined a table..</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INNER JOIN.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0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Fan-out, and queries somebody else can read</a:t>
            </a:r>
          </a:p>
          <a:p>
            <a:r>
              <a:t/>
            </a:r>
          </a:p>
          <a:p>
            <a:r>
              <a:t>CONNECT</a:t>
            </a:r>
          </a:p>
          <a:p>
            <a:r>
              <a:t>Build on the preceding slide: Break.</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Fan-out, made visible.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06.xml" /></ns0: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13.xml" /></ns0: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2103851"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SESSION 5 OF 15</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Joining tables, carefully</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Yes, and it is wrong. A join can multiply rows, and nothing warns you except a row count you were not watching.</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2  ·  SQL  ·  3 HOURS</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Data Analysis with Python, SQL and Power BI  ·  roadmap.sh: SQL: INNER and LEFT JOIN, CTEs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FIFTEEN SESSIONS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tonight sits</a:t>
            </a:r>
          </a:p>
        </p:txBody>
      </p:sp>
      <p:sp>
        <p:nvSpPr>
          <p:cNvPr id="4" name="Rounded Rectangle 3"/>
          <p:cNvSpPr/>
          <p:nvPr/>
        </p:nvSpPr>
        <p:spPr>
          <a:xfrm>
            <a:off x="685800"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2104"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  ·  FOUNDATIONS</a:t>
            </a:r>
          </a:p>
        </p:txBody>
      </p:sp>
      <p:sp>
        <p:nvSpPr>
          <p:cNvPr id="6" name="TextBox 5"/>
          <p:cNvSpPr txBox="1"/>
          <p:nvPr/>
        </p:nvSpPr>
        <p:spPr>
          <a:xfrm>
            <a:off x="832104"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From a spreadsheet to data</a:t>
            </a:r>
          </a:p>
        </p:txBody>
      </p:sp>
      <p:sp>
        <p:nvSpPr>
          <p:cNvPr id="7" name="Rounded Rectangle 6"/>
          <p:cNvSpPr/>
          <p:nvPr/>
        </p:nvSpPr>
        <p:spPr>
          <a:xfrm>
            <a:off x="3459403"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5707"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2  ·  FOUNDATIONS</a:t>
            </a:r>
          </a:p>
        </p:txBody>
      </p:sp>
      <p:sp>
        <p:nvSpPr>
          <p:cNvPr id="9" name="TextBox 8"/>
          <p:cNvSpPr txBox="1"/>
          <p:nvPr/>
        </p:nvSpPr>
        <p:spPr>
          <a:xfrm>
            <a:off x="3605707"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Why data lives in several tables</a:t>
            </a:r>
          </a:p>
        </p:txBody>
      </p:sp>
      <p:sp>
        <p:nvSpPr>
          <p:cNvPr id="10" name="Rounded Rectangle 9"/>
          <p:cNvSpPr/>
          <p:nvPr/>
        </p:nvSpPr>
        <p:spPr>
          <a:xfrm>
            <a:off x="6233007"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9311"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3  ·  SQL</a:t>
            </a:r>
          </a:p>
        </p:txBody>
      </p:sp>
      <p:sp>
        <p:nvSpPr>
          <p:cNvPr id="12" name="TextBox 11"/>
          <p:cNvSpPr txBox="1"/>
          <p:nvPr/>
        </p:nvSpPr>
        <p:spPr>
          <a:xfrm>
            <a:off x="6379311"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Asking a database for rows</a:t>
            </a:r>
          </a:p>
        </p:txBody>
      </p:sp>
      <p:sp>
        <p:nvSpPr>
          <p:cNvPr id="13" name="Rounded Rectangle 12"/>
          <p:cNvSpPr/>
          <p:nvPr/>
        </p:nvSpPr>
        <p:spPr>
          <a:xfrm>
            <a:off x="9006611"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4  ·  SQL</a:t>
            </a:r>
          </a:p>
        </p:txBody>
      </p:sp>
      <p:sp>
        <p:nvSpPr>
          <p:cNvPr id="15" name="TextBox 14"/>
          <p:cNvSpPr txBox="1"/>
          <p:nvPr/>
        </p:nvSpPr>
        <p:spPr>
          <a:xfrm>
            <a:off x="9152915"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Counting and grouping</a:t>
            </a:r>
          </a:p>
        </p:txBody>
      </p:sp>
      <p:sp>
        <p:nvSpPr>
          <p:cNvPr id="16" name="Rounded Rectangle 15"/>
          <p:cNvSpPr/>
          <p:nvPr/>
        </p:nvSpPr>
        <p:spPr>
          <a:xfrm>
            <a:off x="685800" y="3172968"/>
            <a:ext cx="2499283" cy="1060704"/>
          </a:xfrm>
          <a:prstGeom prst="roundRect">
            <a:avLst>
              <a:gd name="adj" fmla="val 6000"/>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246120"/>
            <a:ext cx="2206675" cy="256032"/>
          </a:xfrm>
          <a:prstGeom prst="rect">
            <a:avLst/>
          </a:prstGeom>
          <a:noFill/>
        </p:spPr>
        <p:txBody>
          <a:bodyPr wrap="square" lIns="0" rIns="0" tIns="0" bIns="0" anchor="t">
            <a:spAutoFit/>
          </a:bodyPr>
          <a:lstStyle/>
          <a:p>
            <a:pPr algn="l">
              <a:spcAft>
                <a:spcPts val="600"/>
              </a:spcAft>
            </a:pPr>
            <a:r>
              <a:rPr sz="1254" b="1" i="0">
                <a:solidFill>
                  <a:srgbClr val="FFFFFF"/>
                </a:solidFill>
                <a:latin typeface="Calibri"/>
              </a:rPr>
              <a:t>5  ·  SQL</a:t>
            </a:r>
          </a:p>
        </p:txBody>
      </p:sp>
      <p:sp>
        <p:nvSpPr>
          <p:cNvPr id="18" name="TextBox 17"/>
          <p:cNvSpPr txBox="1"/>
          <p:nvPr/>
        </p:nvSpPr>
        <p:spPr>
          <a:xfrm>
            <a:off x="832104" y="3520439"/>
            <a:ext cx="2206675" cy="640080"/>
          </a:xfrm>
          <a:prstGeom prst="rect">
            <a:avLst/>
          </a:prstGeom>
          <a:noFill/>
        </p:spPr>
        <p:txBody>
          <a:bodyPr wrap="square" lIns="0" rIns="0" tIns="0" bIns="0" anchor="t">
            <a:spAutoFit/>
          </a:bodyPr>
          <a:lstStyle/>
          <a:p>
            <a:pPr algn="l">
              <a:lnSpc>
                <a:spcPct val="112000"/>
              </a:lnSpc>
              <a:spcAft>
                <a:spcPts val="600"/>
              </a:spcAft>
            </a:pPr>
            <a:r>
              <a:rPr sz="1452" b="1" i="0">
                <a:solidFill>
                  <a:srgbClr val="FFFFFF"/>
                </a:solidFill>
                <a:latin typeface="Calibri"/>
              </a:rPr>
              <a:t>Joining tables, carefully</a:t>
            </a:r>
          </a:p>
        </p:txBody>
      </p:sp>
      <p:sp>
        <p:nvSpPr>
          <p:cNvPr id="19" name="Rounded Rectangle 18"/>
          <p:cNvSpPr/>
          <p:nvPr/>
        </p:nvSpPr>
        <p:spPr>
          <a:xfrm>
            <a:off x="3459403"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5707"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6  ·  PYTHON</a:t>
            </a:r>
          </a:p>
        </p:txBody>
      </p:sp>
      <p:sp>
        <p:nvSpPr>
          <p:cNvPr id="21" name="TextBox 20"/>
          <p:cNvSpPr txBox="1"/>
          <p:nvPr/>
        </p:nvSpPr>
        <p:spPr>
          <a:xfrm>
            <a:off x="3605707"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Your first program</a:t>
            </a:r>
          </a:p>
        </p:txBody>
      </p:sp>
      <p:sp>
        <p:nvSpPr>
          <p:cNvPr id="22" name="Rounded Rectangle 21"/>
          <p:cNvSpPr/>
          <p:nvPr/>
        </p:nvSpPr>
        <p:spPr>
          <a:xfrm>
            <a:off x="6233007"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9311"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7  ·  PYTHON</a:t>
            </a:r>
          </a:p>
        </p:txBody>
      </p:sp>
      <p:sp>
        <p:nvSpPr>
          <p:cNvPr id="24" name="TextBox 23"/>
          <p:cNvSpPr txBox="1"/>
          <p:nvPr/>
        </p:nvSpPr>
        <p:spPr>
          <a:xfrm>
            <a:off x="6379311"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Reading a file, and looking at it</a:t>
            </a:r>
          </a:p>
        </p:txBody>
      </p:sp>
      <p:sp>
        <p:nvSpPr>
          <p:cNvPr id="25" name="Rounded Rectangle 24"/>
          <p:cNvSpPr/>
          <p:nvPr/>
        </p:nvSpPr>
        <p:spPr>
          <a:xfrm>
            <a:off x="9006611"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52915"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8  ·  PYTHON</a:t>
            </a:r>
          </a:p>
        </p:txBody>
      </p:sp>
      <p:sp>
        <p:nvSpPr>
          <p:cNvPr id="27" name="TextBox 26"/>
          <p:cNvSpPr txBox="1"/>
          <p:nvPr/>
        </p:nvSpPr>
        <p:spPr>
          <a:xfrm>
            <a:off x="9152915"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Cleaning, and writing down what you did</a:t>
            </a:r>
          </a:p>
        </p:txBody>
      </p:sp>
      <p:sp>
        <p:nvSpPr>
          <p:cNvPr id="28" name="Rounded Rectangle 27"/>
          <p:cNvSpPr/>
          <p:nvPr/>
        </p:nvSpPr>
        <p:spPr>
          <a:xfrm>
            <a:off x="685800"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4"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9  ·  PYTHON</a:t>
            </a:r>
          </a:p>
        </p:txBody>
      </p:sp>
      <p:sp>
        <p:nvSpPr>
          <p:cNvPr id="30" name="TextBox 29"/>
          <p:cNvSpPr txBox="1"/>
          <p:nvPr/>
        </p:nvSpPr>
        <p:spPr>
          <a:xfrm>
            <a:off x="832104"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Grouping and joining in pandas</a:t>
            </a:r>
          </a:p>
        </p:txBody>
      </p:sp>
      <p:sp>
        <p:nvSpPr>
          <p:cNvPr id="31" name="Rounded Rectangle 30"/>
          <p:cNvSpPr/>
          <p:nvPr/>
        </p:nvSpPr>
        <p:spPr>
          <a:xfrm>
            <a:off x="3459403"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05707"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10  ·  STATISTICS</a:t>
            </a:r>
          </a:p>
        </p:txBody>
      </p:sp>
      <p:sp>
        <p:nvSpPr>
          <p:cNvPr id="33" name="TextBox 32"/>
          <p:cNvSpPr txBox="1"/>
          <p:nvPr/>
        </p:nvSpPr>
        <p:spPr>
          <a:xfrm>
            <a:off x="3605707"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Describing one column</a:t>
            </a:r>
          </a:p>
        </p:txBody>
      </p:sp>
      <p:sp>
        <p:nvSpPr>
          <p:cNvPr id="34" name="Rounded Rectangle 33"/>
          <p:cNvSpPr/>
          <p:nvPr/>
        </p:nvSpPr>
        <p:spPr>
          <a:xfrm>
            <a:off x="6233007"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9311"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11  ·  STATISTICS</a:t>
            </a:r>
          </a:p>
        </p:txBody>
      </p:sp>
      <p:sp>
        <p:nvSpPr>
          <p:cNvPr id="36" name="TextBox 35"/>
          <p:cNvSpPr txBox="1"/>
          <p:nvPr/>
        </p:nvSpPr>
        <p:spPr>
          <a:xfrm>
            <a:off x="6379311"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Comparing groups, and reading time</a:t>
            </a:r>
          </a:p>
        </p:txBody>
      </p:sp>
      <p:sp>
        <p:nvSpPr>
          <p:cNvPr id="37" name="Rounded Rectangle 36"/>
          <p:cNvSpPr/>
          <p:nvPr/>
        </p:nvSpPr>
        <p:spPr>
          <a:xfrm>
            <a:off x="9006611"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52915"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12  ·  CHARTS</a:t>
            </a:r>
          </a:p>
        </p:txBody>
      </p:sp>
      <p:sp>
        <p:nvSpPr>
          <p:cNvPr id="39" name="TextBox 38"/>
          <p:cNvSpPr txBox="1"/>
          <p:nvPr/>
        </p:nvSpPr>
        <p:spPr>
          <a:xfrm>
            <a:off x="9152915"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Charts that answer the question</a:t>
            </a:r>
          </a:p>
        </p:txBody>
      </p:sp>
      <p:sp>
        <p:nvSpPr>
          <p:cNvPr id="40" name="Rounded Rectangle 39"/>
          <p:cNvSpPr/>
          <p:nvPr/>
        </p:nvSpPr>
        <p:spPr>
          <a:xfrm>
            <a:off x="685800"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13  ·  INVESTIGATION</a:t>
            </a:r>
          </a:p>
        </p:txBody>
      </p:sp>
      <p:sp>
        <p:nvSpPr>
          <p:cNvPr id="42" name="TextBox 41"/>
          <p:cNvSpPr txBox="1"/>
          <p:nvPr/>
        </p:nvSpPr>
        <p:spPr>
          <a:xfrm>
            <a:off x="832104"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 whole investigation, end to end</a:t>
            </a:r>
          </a:p>
        </p:txBody>
      </p:sp>
      <p:sp>
        <p:nvSpPr>
          <p:cNvPr id="43" name="Rounded Rectangle 42"/>
          <p:cNvSpPr/>
          <p:nvPr/>
        </p:nvSpPr>
        <p:spPr>
          <a:xfrm>
            <a:off x="3459403"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05707"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14  ·  POWER BI</a:t>
            </a:r>
          </a:p>
        </p:txBody>
      </p:sp>
      <p:sp>
        <p:nvSpPr>
          <p:cNvPr id="45" name="TextBox 44"/>
          <p:cNvSpPr txBox="1"/>
          <p:nvPr/>
        </p:nvSpPr>
        <p:spPr>
          <a:xfrm>
            <a:off x="3605707"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Getting data in, and modelling it</a:t>
            </a:r>
          </a:p>
        </p:txBody>
      </p:sp>
      <p:sp>
        <p:nvSpPr>
          <p:cNvPr id="46" name="Rounded Rectangle 45"/>
          <p:cNvSpPr/>
          <p:nvPr/>
        </p:nvSpPr>
        <p:spPr>
          <a:xfrm>
            <a:off x="6233007"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79311"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15  ·  POWER BI</a:t>
            </a:r>
          </a:p>
        </p:txBody>
      </p:sp>
      <p:sp>
        <p:nvSpPr>
          <p:cNvPr id="48" name="TextBox 47"/>
          <p:cNvSpPr txBox="1"/>
          <p:nvPr/>
        </p:nvSpPr>
        <p:spPr>
          <a:xfrm>
            <a:off x="6379311"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Measures, a dashboard, and presenting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BEFORE WE START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for tonight</a:t>
            </a:r>
          </a:p>
        </p:txBody>
      </p:sp>
      <p:sp>
        <p:nvSpPr>
          <p:cNvPr id="4" name="TextBox 3"/>
          <p:cNvSpPr txBox="1"/>
          <p:nvPr/>
        </p:nvSpPr>
        <p:spPr>
          <a:xfrm>
            <a:off x="685800" y="1911095"/>
            <a:ext cx="224028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TERM</a:t>
            </a:r>
          </a:p>
        </p:txBody>
      </p:sp>
      <p:sp>
        <p:nvSpPr>
          <p:cNvPr id="5" name="TextBox 4"/>
          <p:cNvSpPr txBox="1"/>
          <p:nvPr/>
        </p:nvSpPr>
        <p:spPr>
          <a:xfrm>
            <a:off x="3154680" y="1911095"/>
            <a:ext cx="489204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WHAT IT MEANS</a:t>
            </a:r>
          </a:p>
        </p:txBody>
      </p:sp>
      <p:sp>
        <p:nvSpPr>
          <p:cNvPr id="6" name="TextBox 5"/>
          <p:cNvSpPr txBox="1"/>
          <p:nvPr/>
        </p:nvSpPr>
        <p:spPr>
          <a:xfrm>
            <a:off x="8275320" y="1911095"/>
            <a:ext cx="3230575"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IN A SPREADSHEET</a:t>
            </a:r>
          </a:p>
        </p:txBody>
      </p:sp>
      <p:sp>
        <p:nvSpPr>
          <p:cNvPr id="7" name="Rectangle 6"/>
          <p:cNvSpPr/>
          <p:nvPr/>
        </p:nvSpPr>
        <p:spPr>
          <a:xfrm>
            <a:off x="576072" y="2240279"/>
            <a:ext cx="11039551" cy="69733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276856"/>
            <a:ext cx="2240280" cy="651616"/>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INNER JOIN</a:t>
            </a:r>
          </a:p>
        </p:txBody>
      </p:sp>
      <p:sp>
        <p:nvSpPr>
          <p:cNvPr id="9" name="TextBox 8"/>
          <p:cNvSpPr txBox="1"/>
          <p:nvPr/>
        </p:nvSpPr>
        <p:spPr>
          <a:xfrm>
            <a:off x="3154680" y="2276856"/>
            <a:ext cx="4892040"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Keep only rows that matched on both sides.</a:t>
            </a:r>
          </a:p>
        </p:txBody>
      </p:sp>
      <p:sp>
        <p:nvSpPr>
          <p:cNvPr id="10" name="TextBox 9"/>
          <p:cNvSpPr txBox="1"/>
          <p:nvPr/>
        </p:nvSpPr>
        <p:spPr>
          <a:xfrm>
            <a:off x="8275320" y="2276856"/>
            <a:ext cx="3230575"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2E7D6F"/>
                </a:solidFill>
                <a:latin typeface="Calibri"/>
              </a:rPr>
              <a:t>VLOOKUP where you delete the #N/A rows</a:t>
            </a:r>
          </a:p>
        </p:txBody>
      </p:sp>
      <p:sp>
        <p:nvSpPr>
          <p:cNvPr id="11" name="TextBox 10"/>
          <p:cNvSpPr txBox="1"/>
          <p:nvPr/>
        </p:nvSpPr>
        <p:spPr>
          <a:xfrm>
            <a:off x="685800" y="3010768"/>
            <a:ext cx="2240280" cy="651616"/>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LEFT JOIN</a:t>
            </a:r>
          </a:p>
        </p:txBody>
      </p:sp>
      <p:sp>
        <p:nvSpPr>
          <p:cNvPr id="12" name="TextBox 11"/>
          <p:cNvSpPr txBox="1"/>
          <p:nvPr/>
        </p:nvSpPr>
        <p:spPr>
          <a:xfrm>
            <a:off x="3154680" y="3010768"/>
            <a:ext cx="4892040"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Keep every row on the left, and leave the right side blank where nothing matched.</a:t>
            </a:r>
          </a:p>
        </p:txBody>
      </p:sp>
      <p:sp>
        <p:nvSpPr>
          <p:cNvPr id="13" name="TextBox 12"/>
          <p:cNvSpPr txBox="1"/>
          <p:nvPr/>
        </p:nvSpPr>
        <p:spPr>
          <a:xfrm>
            <a:off x="8275320" y="3010768"/>
            <a:ext cx="3230575"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2E7D6F"/>
                </a:solidFill>
                <a:latin typeface="Calibri"/>
              </a:rPr>
              <a:t>VLOOKUP where you keep the #N/A rows</a:t>
            </a:r>
          </a:p>
        </p:txBody>
      </p:sp>
      <p:sp>
        <p:nvSpPr>
          <p:cNvPr id="14" name="Rectangle 13"/>
          <p:cNvSpPr/>
          <p:nvPr/>
        </p:nvSpPr>
        <p:spPr>
          <a:xfrm>
            <a:off x="576072" y="3708104"/>
            <a:ext cx="11039551" cy="1000284"/>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744680"/>
            <a:ext cx="2240280" cy="954564"/>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Fan-out</a:t>
            </a:r>
          </a:p>
        </p:txBody>
      </p:sp>
      <p:sp>
        <p:nvSpPr>
          <p:cNvPr id="16" name="TextBox 15"/>
          <p:cNvSpPr txBox="1"/>
          <p:nvPr/>
        </p:nvSpPr>
        <p:spPr>
          <a:xfrm>
            <a:off x="3154680" y="3744680"/>
            <a:ext cx="4892040" cy="954564"/>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When one row matches several, its values are repeated once per match. Sum them afterwards and you have counted the same thing several times.</a:t>
            </a:r>
          </a:p>
        </p:txBody>
      </p:sp>
      <p:sp>
        <p:nvSpPr>
          <p:cNvPr id="17" name="TextBox 16"/>
          <p:cNvSpPr txBox="1"/>
          <p:nvPr/>
        </p:nvSpPr>
        <p:spPr>
          <a:xfrm>
            <a:off x="8275320" y="3744680"/>
            <a:ext cx="3230575" cy="954564"/>
          </a:xfrm>
          <a:prstGeom prst="rect">
            <a:avLst/>
          </a:prstGeom>
          <a:noFill/>
        </p:spPr>
        <p:txBody>
          <a:bodyPr wrap="square" lIns="0" rIns="0" tIns="0" bIns="0" anchor="t">
            <a:spAutoFit/>
          </a:bodyPr>
          <a:lstStyle/>
          <a:p>
            <a:pPr algn="l">
              <a:lnSpc>
                <a:spcPct val="116000"/>
              </a:lnSpc>
              <a:spcAft>
                <a:spcPts val="600"/>
              </a:spcAft>
            </a:pPr>
            <a:r>
              <a:rPr sz="1650" b="0" i="1">
                <a:solidFill>
                  <a:srgbClr val="6B7A8A"/>
                </a:solidFill>
                <a:latin typeface="Calibri"/>
              </a:rPr>
              <a:t>no direct equivalent</a:t>
            </a:r>
          </a:p>
        </p:txBody>
      </p:sp>
      <p:sp>
        <p:nvSpPr>
          <p:cNvPr id="18" name="TextBox 17"/>
          <p:cNvSpPr txBox="1"/>
          <p:nvPr/>
        </p:nvSpPr>
        <p:spPr>
          <a:xfrm>
            <a:off x="685800" y="4781540"/>
            <a:ext cx="2240280" cy="651616"/>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CTE</a:t>
            </a:r>
          </a:p>
        </p:txBody>
      </p:sp>
      <p:sp>
        <p:nvSpPr>
          <p:cNvPr id="19" name="TextBox 18"/>
          <p:cNvSpPr txBox="1"/>
          <p:nvPr/>
        </p:nvSpPr>
        <p:spPr>
          <a:xfrm>
            <a:off x="3154680" y="4781540"/>
            <a:ext cx="4892040"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A named step at the top of a query that you can then use like a table. Short for common table expression.</a:t>
            </a:r>
          </a:p>
        </p:txBody>
      </p:sp>
      <p:sp>
        <p:nvSpPr>
          <p:cNvPr id="20" name="TextBox 19"/>
          <p:cNvSpPr txBox="1"/>
          <p:nvPr/>
        </p:nvSpPr>
        <p:spPr>
          <a:xfrm>
            <a:off x="8275320" y="4781540"/>
            <a:ext cx="3230575"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2E7D6F"/>
                </a:solidFill>
                <a:latin typeface="Calibri"/>
              </a:rPr>
              <a:t>A helper sheet you build before the final calculation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YOU WILL BE ABLE TO DO</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libri"/>
              </a:rPr>
              <a:t>By the end of tonight you can…</a:t>
            </a:r>
          </a:p>
        </p:txBody>
      </p:sp>
      <p:sp>
        <p:nvSpPr>
          <p:cNvPr id="4" name="Oval 3"/>
          <p:cNvSpPr/>
          <p:nvPr/>
        </p:nvSpPr>
        <p:spPr>
          <a:xfrm>
            <a:off x="685800" y="195681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5" name="TextBox 4"/>
          <p:cNvSpPr txBox="1"/>
          <p:nvPr/>
        </p:nvSpPr>
        <p:spPr>
          <a:xfrm>
            <a:off x="1234440" y="192024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Join three tables and say what each join is for.</a:t>
            </a:r>
          </a:p>
        </p:txBody>
      </p:sp>
      <p:sp>
        <p:nvSpPr>
          <p:cNvPr id="6" name="Oval 5"/>
          <p:cNvSpPr/>
          <p:nvPr/>
        </p:nvSpPr>
        <p:spPr>
          <a:xfrm>
            <a:off x="685800" y="277977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7" name="TextBox 6"/>
          <p:cNvSpPr txBox="1"/>
          <p:nvPr/>
        </p:nvSpPr>
        <p:spPr>
          <a:xfrm>
            <a:off x="1234440" y="274320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Predict which rows an INNER JOIN will drop, then check that prediction against the row count.</a:t>
            </a:r>
          </a:p>
        </p:txBody>
      </p:sp>
      <p:sp>
        <p:nvSpPr>
          <p:cNvPr id="8" name="Oval 7"/>
          <p:cNvSpPr/>
          <p:nvPr/>
        </p:nvSpPr>
        <p:spPr>
          <a:xfrm>
            <a:off x="685800" y="360273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9" name="TextBox 8"/>
          <p:cNvSpPr txBox="1"/>
          <p:nvPr/>
        </p:nvSpPr>
        <p:spPr>
          <a:xfrm>
            <a:off x="1234440" y="356616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Break a query into named steps somebody else can read.</a:t>
            </a:r>
          </a:p>
        </p:txBody>
      </p:sp>
      <p:sp>
        <p:nvSpPr>
          <p:cNvPr id="10" name="TextBox 9"/>
          <p:cNvSpPr txBox="1"/>
          <p:nvPr/>
        </p:nvSpPr>
        <p:spPr>
          <a:xfrm>
            <a:off x="685800" y="6144768"/>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Session 5 of 15  ·  SQL  ·  Joining tables, carefully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TONIGHT ANSWERS</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Your total went up when you joined a table.</a:t>
            </a:r>
          </a:p>
          <a:p>
            <a:pPr algn="l">
              <a:lnSpc>
                <a:spcPct val="115000"/>
              </a:lnSpc>
              <a:spcAft>
                <a:spcPts val="600"/>
              </a:spcAft>
            </a:pPr>
            <a:r>
              <a:rPr sz="3400" b="0" i="1">
                <a:solidFill>
                  <a:srgbClr val="FFFFFF"/>
                </a:solidFill>
                <a:latin typeface="Cambria"/>
              </a:rPr>
              <a:t>Is that possible?</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Yes, and it is wrong. A join can multiply rows, and nothing warns you except a row count you were not watching.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ONE · 50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INNER and LEFT, and the row count that tells you</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join, in SQL now that the idea is already familiar from session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INNER JOIN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Keep only the rows that matched on both sides. Anything without a match disappears, with no message.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Joining orders to customers with an INNER JOIN gives 5,828 rows instead of 6,000. The 172 walk-in orders are gone, and with them UGX 390,632,335.</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VLOOKUP where you then delete every #N/A row. Same effect, and at least in Excel you SAW the #N/A.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LEFT JOIN</a:t>
            </a:r>
          </a:p>
        </p:txBody>
      </p:sp>
      <p:sp>
        <p:nvSpPr>
          <p:cNvPr id="4" name="Rounded Rectangle 3"/>
          <p:cNvSpPr/>
          <p:nvPr/>
        </p:nvSpPr>
        <p:spPr>
          <a:xfrm>
            <a:off x="685800" y="1854203"/>
            <a:ext cx="10820095" cy="799119"/>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451647"/>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Keep every row on the left, and leave the right-hand columns empty where nothing matched.</a:t>
            </a:r>
          </a:p>
        </p:txBody>
      </p:sp>
      <p:sp>
        <p:nvSpPr>
          <p:cNvPr id="6" name="Rounded Rectangle 5"/>
          <p:cNvSpPr/>
          <p:nvPr/>
        </p:nvSpPr>
        <p:spPr>
          <a:xfrm>
            <a:off x="685800" y="2927642"/>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2909354"/>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same join written LEFT gives all 6,000 rows back, with a blank region on the walk-in orders. Now you can decide what to do about them, which is the point.</a:t>
            </a:r>
          </a:p>
        </p:txBody>
      </p:sp>
      <p:sp>
        <p:nvSpPr>
          <p:cNvPr id="8" name="Rounded Rectangle 7"/>
          <p:cNvSpPr/>
          <p:nvPr/>
        </p:nvSpPr>
        <p:spPr>
          <a:xfrm>
            <a:off x="685800" y="389395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3875667"/>
            <a:ext cx="798545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VLOOKUP where you keep the #N/A rows and deal with them on purpose.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Fan-out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When one row matches several rows, its values are repeated once per match. Sum them afterwards and you have counted the same thing several times.</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Join orders to order_items and you get 20,234 rows, not 6,000. Any order-level figure now appears several times, and summing it gives a number far too big that looks entirely plausible.</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Nothing in Excel does this to you, because VLOOKUP returns only the FIRST match. This is the one place a real join behaves differently from the thing you already know.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CTE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named step at the top of a query that you can then use like a table. Short for common table expression, and nobody says that out loud.</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WITH line_value AS ( ... ) SELECT ... FROM line_value. You can run the step on its own, check it, and only then write what comes after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helper sheet. You already build one when a formula gets too long to trust in a single cell.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the row count decide the answer</a:t>
            </a:r>
          </a:p>
        </p:txBody>
      </p:sp>
      <p:sp>
        <p:nvSpPr>
          <p:cNvPr id="4" name="Rounded Rectangle 3"/>
          <p:cNvSpPr/>
          <p:nvPr/>
        </p:nvSpPr>
        <p:spPr>
          <a:xfrm>
            <a:off x="8359188" y="512064"/>
            <a:ext cx="3146706"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DB BROWSER · EXECUTE SQL</a:t>
            </a:r>
          </a:p>
        </p:txBody>
      </p:sp>
      <p:sp>
        <p:nvSpPr>
          <p:cNvPr id="5" name="Rectangle 4"/>
          <p:cNvSpPr/>
          <p:nvPr/>
        </p:nvSpPr>
        <p:spPr>
          <a:xfrm>
            <a:off x="685800" y="1911095"/>
            <a:ext cx="10820095" cy="3293059"/>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000451"/>
          </a:xfrm>
          <a:prstGeom prst="rect">
            <a:avLst/>
          </a:prstGeom>
          <a:noFill/>
        </p:spPr>
        <p:txBody>
          <a:bodyPr wrap="square" lIns="0" rIns="0" tIns="0" bIns="0" anchor="t">
            <a:spAutoFit/>
          </a:bodyPr>
          <a:lstStyle/>
          <a:p>
            <a:pPr algn="l">
              <a:lnSpc>
                <a:spcPts val="2333"/>
              </a:lnSpc>
              <a:spcAft>
                <a:spcPts val="0"/>
              </a:spcAft>
            </a:pPr>
            <a:r>
              <a:rPr sz="1716" b="0" i="0">
                <a:solidFill>
                  <a:srgbClr val="D8E3EC"/>
                </a:solidFill>
                <a:latin typeface="Courier New"/>
              </a:rPr>
              <a:t>SELECT COUNT(*) FROM orders;                        -- 6,000</a:t>
            </a:r>
          </a:p>
          <a:p>
            <a:pPr algn="l">
              <a:lnSpc>
                <a:spcPts val="2333"/>
              </a:lnSpc>
              <a:spcAft>
                <a:spcPts val="0"/>
              </a:spcAft>
            </a:pPr>
            <a:r>
              <a:rPr sz="1716" b="0" i="0">
                <a:solidFill>
                  <a:srgbClr val="D8E3EC"/>
                </a:solidFill>
                <a:latin typeface="Courier New"/>
              </a:rPr>
              <a:t/>
            </a:r>
          </a:p>
          <a:p>
            <a:pPr algn="l">
              <a:lnSpc>
                <a:spcPts val="2333"/>
              </a:lnSpc>
              <a:spcAft>
                <a:spcPts val="0"/>
              </a:spcAft>
            </a:pPr>
            <a:r>
              <a:rPr sz="1716" b="0" i="0">
                <a:solidFill>
                  <a:srgbClr val="D8E3EC"/>
                </a:solidFill>
                <a:latin typeface="Courier New"/>
              </a:rPr>
              <a:t>SELECT COUNT(*) FROM orders o</a:t>
            </a:r>
          </a:p>
          <a:p>
            <a:pPr algn="l">
              <a:lnSpc>
                <a:spcPts val="2333"/>
              </a:lnSpc>
              <a:spcAft>
                <a:spcPts val="0"/>
              </a:spcAft>
            </a:pPr>
            <a:r>
              <a:rPr sz="1716" b="0" i="0">
                <a:solidFill>
                  <a:srgbClr val="D8E3EC"/>
                </a:solidFill>
                <a:latin typeface="Courier New"/>
              </a:rPr>
              <a:t>JOIN customers c ON c.customer_id = o.customer_id;  -- 5,828</a:t>
            </a:r>
          </a:p>
          <a:p>
            <a:pPr algn="l">
              <a:lnSpc>
                <a:spcPts val="2333"/>
              </a:lnSpc>
              <a:spcAft>
                <a:spcPts val="0"/>
              </a:spcAft>
            </a:pPr>
            <a:r>
              <a:rPr sz="1716" b="0" i="0">
                <a:solidFill>
                  <a:srgbClr val="D8E3EC"/>
                </a:solidFill>
                <a:latin typeface="Courier New"/>
              </a:rPr>
              <a:t/>
            </a:r>
          </a:p>
          <a:p>
            <a:pPr algn="l">
              <a:lnSpc>
                <a:spcPts val="2333"/>
              </a:lnSpc>
              <a:spcAft>
                <a:spcPts val="0"/>
              </a:spcAft>
            </a:pPr>
            <a:r>
              <a:rPr sz="1716" b="0" i="0">
                <a:solidFill>
                  <a:srgbClr val="D8E3EC"/>
                </a:solidFill>
                <a:latin typeface="Courier New"/>
              </a:rPr>
              <a:t>SELECT COUNT(*) FROM orders o</a:t>
            </a:r>
          </a:p>
          <a:p>
            <a:pPr algn="l">
              <a:lnSpc>
                <a:spcPts val="2333"/>
              </a:lnSpc>
              <a:spcAft>
                <a:spcPts val="0"/>
              </a:spcAft>
            </a:pPr>
            <a:r>
              <a:rPr sz="1716" b="0" i="0">
                <a:solidFill>
                  <a:srgbClr val="D8E3EC"/>
                </a:solidFill>
                <a:latin typeface="Courier New"/>
              </a:rPr>
              <a:t>LEFT JOIN customers c ON c.customer_id = o.customer_id;</a:t>
            </a:r>
          </a:p>
          <a:p>
            <a:pPr algn="l">
              <a:lnSpc>
                <a:spcPts val="2333"/>
              </a:lnSpc>
              <a:spcAft>
                <a:spcPts val="0"/>
              </a:spcAft>
            </a:pPr>
            <a:r>
              <a:rPr sz="1716" b="0" i="0">
                <a:solidFill>
                  <a:srgbClr val="D8E3EC"/>
                </a:solidFill>
                <a:latin typeface="Courier New"/>
              </a:rPr>
              <a:t>-- still 6,000: LEFT keeps every order</a:t>
            </a:r>
          </a:p>
          <a:p>
            <a:pPr algn="l">
              <a:lnSpc>
                <a:spcPts val="2333"/>
              </a:lnSpc>
              <a:spcAft>
                <a:spcPts val="0"/>
              </a:spcAft>
            </a:pPr>
            <a:r>
              <a:rPr sz="1716" b="0" i="0">
                <a:solidFill>
                  <a:srgbClr val="D8E3EC"/>
                </a:solidFill>
                <a:latin typeface="Courier New"/>
              </a:rPr>
              <a:t/>
            </a:r>
          </a:p>
          <a:p>
            <a:pPr algn="l">
              <a:lnSpc>
                <a:spcPts val="2333"/>
              </a:lnSpc>
              <a:spcAft>
                <a:spcPts val="0"/>
              </a:spcAft>
            </a:pPr>
            <a:r>
              <a:rPr sz="1716" b="0" i="0">
                <a:solidFill>
                  <a:srgbClr val="D8E3EC"/>
                </a:solidFill>
                <a:latin typeface="Courier New"/>
              </a:rPr>
              <a:t>-- The INNER JOIN dropped 172 orders worth UGX 390,632,335.</a:t>
            </a:r>
          </a:p>
        </p:txBody>
      </p:sp>
      <p:sp>
        <p:nvSpPr>
          <p:cNvPr id="7" name="Rounded Rectangle 6"/>
          <p:cNvSpPr/>
          <p:nvPr/>
        </p:nvSpPr>
        <p:spPr>
          <a:xfrm>
            <a:off x="685800" y="5423611"/>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432755"/>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Nothing in the output says rows were dropped. The only tell is that 6,000 became 5,828. Check the count after every join, every time, for the rest of your career.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TWO · 45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Fan-out, and queries somebody else can read</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Fan-out, which is the dangerous one: joining orders to order lines and then summing an order-level column gives a number far too big, and nothing warns you except a row count that moved.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Fan-out, made visible</a:t>
            </a:r>
          </a:p>
        </p:txBody>
      </p:sp>
      <p:sp>
        <p:nvSpPr>
          <p:cNvPr id="4" name="Rounded Rectangle 3"/>
          <p:cNvSpPr/>
          <p:nvPr/>
        </p:nvSpPr>
        <p:spPr>
          <a:xfrm>
            <a:off x="8359188" y="512064"/>
            <a:ext cx="3146706"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DB BROWSER · EXECUTE SQL</a:t>
            </a:r>
          </a:p>
        </p:txBody>
      </p:sp>
      <p:sp>
        <p:nvSpPr>
          <p:cNvPr id="5" name="Rectangle 4"/>
          <p:cNvSpPr/>
          <p:nvPr/>
        </p:nvSpPr>
        <p:spPr>
          <a:xfrm>
            <a:off x="685800" y="1911095"/>
            <a:ext cx="10820095" cy="3441252"/>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148644"/>
          </a:xfrm>
          <a:prstGeom prst="rect">
            <a:avLst/>
          </a:prstGeom>
          <a:noFill/>
        </p:spPr>
        <p:txBody>
          <a:bodyPr wrap="square" lIns="0" rIns="0" tIns="0" bIns="0" anchor="t">
            <a:spAutoFit/>
          </a:bodyPr>
          <a:lstStyle/>
          <a:p>
            <a:pPr algn="l">
              <a:lnSpc>
                <a:spcPts val="1884"/>
              </a:lnSpc>
              <a:spcAft>
                <a:spcPts val="0"/>
              </a:spcAft>
            </a:pPr>
            <a:r>
              <a:rPr sz="1386" b="0" i="0">
                <a:solidFill>
                  <a:srgbClr val="D8E3EC"/>
                </a:solidFill>
                <a:latin typeface="Courier New"/>
              </a:rPr>
              <a:t>-- one row per order</a:t>
            </a:r>
          </a:p>
          <a:p>
            <a:pPr algn="l">
              <a:lnSpc>
                <a:spcPts val="1884"/>
              </a:lnSpc>
              <a:spcAft>
                <a:spcPts val="0"/>
              </a:spcAft>
            </a:pPr>
            <a:r>
              <a:rPr sz="1386" b="0" i="0">
                <a:solidFill>
                  <a:srgbClr val="D8E3EC"/>
                </a:solidFill>
                <a:latin typeface="Courier New"/>
              </a:rPr>
              <a:t>SELECT COUNT(*) FROM orders;               -- 6,000</a:t>
            </a:r>
          </a:p>
          <a:p>
            <a:pPr algn="l">
              <a:lnSpc>
                <a:spcPts val="1884"/>
              </a:lnSpc>
              <a:spcAft>
                <a:spcPts val="0"/>
              </a:spcAft>
            </a:pPr>
            <a:r>
              <a:rPr sz="1386" b="0" i="0">
                <a:solidFill>
                  <a:srgbClr val="D8E3EC"/>
                </a:solidFill>
                <a:latin typeface="Courier New"/>
              </a:rPr>
              <a:t/>
            </a:r>
          </a:p>
          <a:p>
            <a:pPr algn="l">
              <a:lnSpc>
                <a:spcPts val="1884"/>
              </a:lnSpc>
              <a:spcAft>
                <a:spcPts val="0"/>
              </a:spcAft>
            </a:pPr>
            <a:r>
              <a:rPr sz="1386" b="0" i="0">
                <a:solidFill>
                  <a:srgbClr val="D8E3EC"/>
                </a:solidFill>
                <a:latin typeface="Courier New"/>
              </a:rPr>
              <a:t>-- one row per LINE, after the join</a:t>
            </a:r>
          </a:p>
          <a:p>
            <a:pPr algn="l">
              <a:lnSpc>
                <a:spcPts val="1884"/>
              </a:lnSpc>
              <a:spcAft>
                <a:spcPts val="0"/>
              </a:spcAft>
            </a:pPr>
            <a:r>
              <a:rPr sz="1386" b="0" i="0">
                <a:solidFill>
                  <a:srgbClr val="D8E3EC"/>
                </a:solidFill>
                <a:latin typeface="Courier New"/>
              </a:rPr>
              <a:t>SELECT COUNT(*)</a:t>
            </a:r>
          </a:p>
          <a:p>
            <a:pPr algn="l">
              <a:lnSpc>
                <a:spcPts val="1884"/>
              </a:lnSpc>
              <a:spcAft>
                <a:spcPts val="0"/>
              </a:spcAft>
            </a:pPr>
            <a:r>
              <a:rPr sz="1386" b="0" i="0">
                <a:solidFill>
                  <a:srgbClr val="D8E3EC"/>
                </a:solidFill>
                <a:latin typeface="Courier New"/>
              </a:rPr>
              <a:t>FROM orders o</a:t>
            </a:r>
          </a:p>
          <a:p>
            <a:pPr algn="l">
              <a:lnSpc>
                <a:spcPts val="1884"/>
              </a:lnSpc>
              <a:spcAft>
                <a:spcPts val="0"/>
              </a:spcAft>
            </a:pPr>
            <a:r>
              <a:rPr sz="1386" b="0" i="0">
                <a:solidFill>
                  <a:srgbClr val="D8E3EC"/>
                </a:solidFill>
                <a:latin typeface="Courier New"/>
              </a:rPr>
              <a:t>JOIN order_items oi ON oi.order_id = o.order_id;</a:t>
            </a:r>
          </a:p>
          <a:p>
            <a:pPr algn="l">
              <a:lnSpc>
                <a:spcPts val="1884"/>
              </a:lnSpc>
              <a:spcAft>
                <a:spcPts val="0"/>
              </a:spcAft>
            </a:pPr>
            <a:r>
              <a:rPr sz="1386" b="0" i="0">
                <a:solidFill>
                  <a:srgbClr val="D8E3EC"/>
                </a:solidFill>
                <a:latin typeface="Courier New"/>
              </a:rPr>
              <a:t>--                                            20,234</a:t>
            </a:r>
          </a:p>
          <a:p>
            <a:pPr algn="l">
              <a:lnSpc>
                <a:spcPts val="1884"/>
              </a:lnSpc>
              <a:spcAft>
                <a:spcPts val="0"/>
              </a:spcAft>
            </a:pPr>
            <a:r>
              <a:rPr sz="1386" b="0" i="0">
                <a:solidFill>
                  <a:srgbClr val="D8E3EC"/>
                </a:solidFill>
                <a:latin typeface="Courier New"/>
              </a:rPr>
              <a:t/>
            </a:r>
          </a:p>
          <a:p>
            <a:pPr algn="l">
              <a:lnSpc>
                <a:spcPts val="1884"/>
              </a:lnSpc>
              <a:spcAft>
                <a:spcPts val="0"/>
              </a:spcAft>
            </a:pPr>
            <a:r>
              <a:rPr sz="1386" b="0" i="0">
                <a:solidFill>
                  <a:srgbClr val="D8E3EC"/>
                </a:solidFill>
                <a:latin typeface="Courier New"/>
              </a:rPr>
              <a:t>-- so this is WRONG: it counts each order several times</a:t>
            </a:r>
          </a:p>
          <a:p>
            <a:pPr algn="l">
              <a:lnSpc>
                <a:spcPts val="1884"/>
              </a:lnSpc>
              <a:spcAft>
                <a:spcPts val="0"/>
              </a:spcAft>
            </a:pPr>
            <a:r>
              <a:rPr sz="1386" b="0" i="0">
                <a:solidFill>
                  <a:srgbClr val="D8E3EC"/>
                </a:solidFill>
                <a:latin typeface="Courier New"/>
              </a:rPr>
              <a:t>SELECT COUNT(o.order_id), COUNT(DISTINCT o.order_id)</a:t>
            </a:r>
          </a:p>
          <a:p>
            <a:pPr algn="l">
              <a:lnSpc>
                <a:spcPts val="1884"/>
              </a:lnSpc>
              <a:spcAft>
                <a:spcPts val="0"/>
              </a:spcAft>
            </a:pPr>
            <a:r>
              <a:rPr sz="1386" b="0" i="0">
                <a:solidFill>
                  <a:srgbClr val="D8E3EC"/>
                </a:solidFill>
                <a:latin typeface="Courier New"/>
              </a:rPr>
              <a:t>FROM orders o</a:t>
            </a:r>
          </a:p>
          <a:p>
            <a:pPr algn="l">
              <a:lnSpc>
                <a:spcPts val="1884"/>
              </a:lnSpc>
              <a:spcAft>
                <a:spcPts val="0"/>
              </a:spcAft>
            </a:pPr>
            <a:r>
              <a:rPr sz="1386" b="0" i="0">
                <a:solidFill>
                  <a:srgbClr val="D8E3EC"/>
                </a:solidFill>
                <a:latin typeface="Courier New"/>
              </a:rPr>
              <a:t>JOIN order_items oi ON oi.order_id = o.order_id;</a:t>
            </a:r>
          </a:p>
        </p:txBody>
      </p:sp>
      <p:sp>
        <p:nvSpPr>
          <p:cNvPr id="7" name="Rounded Rectangle 6"/>
          <p:cNvSpPr/>
          <p:nvPr/>
        </p:nvSpPr>
        <p:spPr>
          <a:xfrm>
            <a:off x="685800" y="5571804"/>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580948"/>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The last query shows both numbers side by side: 20,234 and 6,000. Whenever you join to a table with more rows, ask what the grain of the result is before you sum anything.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named steps instead of one long query</a:t>
            </a:r>
          </a:p>
        </p:txBody>
      </p:sp>
      <p:sp>
        <p:nvSpPr>
          <p:cNvPr id="4" name="Rounded Rectangle 3"/>
          <p:cNvSpPr/>
          <p:nvPr/>
        </p:nvSpPr>
        <p:spPr>
          <a:xfrm>
            <a:off x="8359188" y="512064"/>
            <a:ext cx="3146706"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DB BROWSER · EXECUTE SQL</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WITH line_value AS (</a:t>
            </a:r>
          </a:p>
          <a:p>
            <a:pPr algn="l">
              <a:lnSpc>
                <a:spcPts val="1795"/>
              </a:lnSpc>
              <a:spcAft>
                <a:spcPts val="0"/>
              </a:spcAft>
            </a:pPr>
            <a:r>
              <a:rPr sz="1320" b="0" i="0">
                <a:solidFill>
                  <a:srgbClr val="D8E3EC"/>
                </a:solidFill>
                <a:latin typeface="Courier New"/>
              </a:rPr>
              <a:t>    -- step 1: one row per line, with its value and its month</a:t>
            </a:r>
          </a:p>
          <a:p>
            <a:pPr algn="l">
              <a:lnSpc>
                <a:spcPts val="1795"/>
              </a:lnSpc>
              <a:spcAft>
                <a:spcPts val="0"/>
              </a:spcAft>
            </a:pPr>
            <a:r>
              <a:rPr sz="1320" b="0" i="0">
                <a:solidFill>
                  <a:srgbClr val="D8E3EC"/>
                </a:solidFill>
                <a:latin typeface="Courier New"/>
              </a:rPr>
              <a:t>    SELECT oi.order_id, oi.line_no,</a:t>
            </a:r>
          </a:p>
          <a:p>
            <a:pPr algn="l">
              <a:lnSpc>
                <a:spcPts val="1795"/>
              </a:lnSpc>
              <a:spcAft>
                <a:spcPts val="0"/>
              </a:spcAft>
            </a:pPr>
            <a:r>
              <a:rPr sz="1320" b="0" i="0">
                <a:solidFill>
                  <a:srgbClr val="D8E3EC"/>
                </a:solidFill>
                <a:latin typeface="Courier New"/>
              </a:rPr>
              <a:t>           o.rep_id,</a:t>
            </a:r>
          </a:p>
          <a:p>
            <a:pPr algn="l">
              <a:lnSpc>
                <a:spcPts val="1795"/>
              </a:lnSpc>
              <a:spcAft>
                <a:spcPts val="0"/>
              </a:spcAft>
            </a:pPr>
            <a:r>
              <a:rPr sz="1320" b="0" i="0">
                <a:solidFill>
                  <a:srgbClr val="D8E3EC"/>
                </a:solidFill>
                <a:latin typeface="Courier New"/>
              </a:rPr>
              <a:t>           substr(o.order_date, 1, 7) AS month,</a:t>
            </a:r>
          </a:p>
          <a:p>
            <a:pPr algn="l">
              <a:lnSpc>
                <a:spcPts val="1795"/>
              </a:lnSpc>
              <a:spcAft>
                <a:spcPts val="0"/>
              </a:spcAft>
            </a:pPr>
            <a:r>
              <a:rPr sz="1320" b="0" i="0">
                <a:solidFill>
                  <a:srgbClr val="D8E3EC"/>
                </a:solidFill>
                <a:latin typeface="Courier New"/>
              </a:rPr>
              <a:t>           oi.quantity * oi.unit_price_ugx</a:t>
            </a:r>
          </a:p>
          <a:p>
            <a:pPr algn="l">
              <a:lnSpc>
                <a:spcPts val="1795"/>
              </a:lnSpc>
              <a:spcAft>
                <a:spcPts val="0"/>
              </a:spcAft>
            </a:pPr>
            <a:r>
              <a:rPr sz="1320" b="0" i="0">
                <a:solidFill>
                  <a:srgbClr val="D8E3EC"/>
                </a:solidFill>
                <a:latin typeface="Courier New"/>
              </a:rPr>
              <a:t>               * (1 - oi.discount)    AS gross_ugx</a:t>
            </a:r>
          </a:p>
          <a:p>
            <a:pPr algn="l">
              <a:lnSpc>
                <a:spcPts val="1795"/>
              </a:lnSpc>
              <a:spcAft>
                <a:spcPts val="0"/>
              </a:spcAft>
            </a:pPr>
            <a:r>
              <a:rPr sz="1320" b="0" i="0">
                <a:solidFill>
                  <a:srgbClr val="D8E3EC"/>
                </a:solidFill>
                <a:latin typeface="Courier New"/>
              </a:rPr>
              <a:t>    FROM order_items oi</a:t>
            </a:r>
          </a:p>
          <a:p>
            <a:pPr algn="l">
              <a:lnSpc>
                <a:spcPts val="1795"/>
              </a:lnSpc>
              <a:spcAft>
                <a:spcPts val="0"/>
              </a:spcAft>
            </a:pPr>
            <a:r>
              <a:rPr sz="1320" b="0" i="0">
                <a:solidFill>
                  <a:srgbClr val="D8E3EC"/>
                </a:solidFill>
                <a:latin typeface="Courier New"/>
              </a:rPr>
              <a:t>    JOIN orders o ON o.order_id = oi.order_id</a:t>
            </a:r>
          </a:p>
          <a:p>
            <a:pPr algn="l">
              <a:lnSpc>
                <a:spcPts val="1795"/>
              </a:lnSpc>
              <a:spcAft>
                <a:spcPts val="0"/>
              </a:spcAft>
            </a:pPr>
            <a:r>
              <a:rPr sz="1320" b="0" i="0">
                <a:solidFill>
                  <a:srgbClr val="D8E3EC"/>
                </a:solidFill>
                <a:latin typeface="Courier New"/>
              </a:rPr>
              <a:t>    WHERE o.status = 'Delivered'</a:t>
            </a:r>
          </a:p>
          <a:p>
            <a:pPr algn="l">
              <a:lnSpc>
                <a:spcPts val="1795"/>
              </a:lnSpc>
              <a:spcAft>
                <a:spcPts val="0"/>
              </a:spcAft>
            </a:pPr>
            <a:r>
              <a:rPr sz="1320" b="0" i="0">
                <a:solidFill>
                  <a:srgbClr val="D8E3EC"/>
                </a:solidFill>
                <a:latin typeface="Courier New"/>
              </a:rPr>
              <a:t>      AND o.order_date &gt;= '2025-01-01'</a:t>
            </a:r>
          </a:p>
          <a:p>
            <a:pPr algn="l">
              <a:lnSpc>
                <a:spcPts val="1795"/>
              </a:lnSpc>
              <a:spcAft>
                <a:spcPts val="0"/>
              </a:spcAft>
            </a:pPr>
            <a:r>
              <a:rPr sz="1320" b="0" i="0">
                <a:solidFill>
                  <a:srgbClr val="D8E3EC"/>
                </a:solidFill>
                <a:latin typeface="Courier New"/>
              </a:rPr>
              <a:t>)</a:t>
            </a:r>
          </a:p>
          <a:p>
            <a:pPr algn="l">
              <a:lnSpc>
                <a:spcPts val="1795"/>
              </a:lnSpc>
              <a:spcAft>
                <a:spcPts val="0"/>
              </a:spcAft>
            </a:pPr>
            <a:r>
              <a:rPr sz="1320" b="0" i="0">
                <a:solidFill>
                  <a:srgbClr val="D8E3EC"/>
                </a:solidFill>
                <a:latin typeface="Courier New"/>
              </a:rPr>
              <a:t>SELECT r.region, r.rep_name, lv.month,</a:t>
            </a:r>
          </a:p>
          <a:p>
            <a:pPr algn="l">
              <a:lnSpc>
                <a:spcPts val="1795"/>
              </a:lnSpc>
              <a:spcAft>
                <a:spcPts val="0"/>
              </a:spcAft>
            </a:pPr>
            <a:r>
              <a:rPr sz="1320" b="0" i="0">
                <a:solidFill>
                  <a:srgbClr val="D8E3EC"/>
                </a:solidFill>
                <a:latin typeface="Courier New"/>
              </a:rPr>
              <a:t>       ROUND(SUM(lv.gross_ugx)) AS gross_ugx</a:t>
            </a:r>
          </a:p>
          <a:p>
            <a:pPr algn="l">
              <a:lnSpc>
                <a:spcPts val="1795"/>
              </a:lnSpc>
              <a:spcAft>
                <a:spcPts val="0"/>
              </a:spcAft>
            </a:pPr>
            <a:r>
              <a:rPr sz="1320" b="0" i="0">
                <a:solidFill>
                  <a:srgbClr val="D8E3EC"/>
                </a:solidFill>
                <a:latin typeface="Courier New"/>
              </a:rPr>
              <a:t>FROM line_value lv</a:t>
            </a:r>
          </a:p>
          <a:p>
            <a:pPr algn="l">
              <a:lnSpc>
                <a:spcPts val="1795"/>
              </a:lnSpc>
              <a:spcAft>
                <a:spcPts val="0"/>
              </a:spcAft>
            </a:pPr>
            <a:r>
              <a:rPr sz="1320" b="0" i="0">
                <a:solidFill>
                  <a:srgbClr val="D8E3EC"/>
                </a:solidFill>
                <a:latin typeface="Courier New"/>
              </a:rPr>
              <a:t>JOIN reps r ON r.rep_id = lv.rep_id</a:t>
            </a:r>
          </a:p>
          <a:p>
            <a:pPr algn="l">
              <a:lnSpc>
                <a:spcPts val="1795"/>
              </a:lnSpc>
              <a:spcAft>
                <a:spcPts val="0"/>
              </a:spcAft>
            </a:pPr>
            <a:r>
              <a:rPr sz="1320" b="0" i="0">
                <a:solidFill>
                  <a:srgbClr val="D8E3EC"/>
                </a:solidFill>
                <a:latin typeface="Courier New"/>
              </a:rPr>
              <a:t>GROUP BY r.region, r.rep_name, lv.month</a:t>
            </a:r>
          </a:p>
          <a:p>
            <a:pPr algn="l">
              <a:lnSpc>
                <a:spcPts val="1795"/>
              </a:lnSpc>
              <a:spcAft>
                <a:spcPts val="0"/>
              </a:spcAft>
            </a:pPr>
            <a:r>
              <a:rPr sz="1320" b="0" i="0">
                <a:solidFill>
                  <a:srgbClr val="D8E3EC"/>
                </a:solidFill>
                <a:latin typeface="Courier New"/>
              </a:rPr>
              <a:t>ORDER BY r.region, r.rep_name, lv.month;</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Run just the CTE first: SELECT * FROM line_value LIMIT 10 with the WITH still in place. If step one is wrong, everything after it is wrong, and you want to find that out in step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report the sales manager actually wants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Revenue by rep by month for 2025, net of returns. Two CTEs and a final SELECT, built and checked one step at a time.</a:t>
            </a:r>
          </a:p>
        </p:txBody>
      </p:sp>
      <p:sp>
        <p:nvSpPr>
          <p:cNvPr id="5" name="Rounded Rectangle 4"/>
          <p:cNvSpPr/>
          <p:nvPr/>
        </p:nvSpPr>
        <p:spPr>
          <a:xfrm>
            <a:off x="685800" y="2732347"/>
            <a:ext cx="10820095" cy="60678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515345"/>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Step one, a CTE: one row per line, with its month and its rep. Filter to delivered and to 2025 here, once, so the rest of the query does not have to.</a:t>
            </a:r>
          </a:p>
        </p:txBody>
      </p:sp>
      <p:sp>
        <p:nvSpPr>
          <p:cNvPr id="8" name="Rounded Rectangle 7"/>
          <p:cNvSpPr/>
          <p:nvPr/>
        </p:nvSpPr>
        <p:spPr>
          <a:xfrm>
            <a:off x="685800" y="339399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44886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439716"/>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Check step one on its own before writing step two.</a:t>
            </a:r>
          </a:p>
        </p:txBody>
      </p:sp>
      <p:sp>
        <p:nvSpPr>
          <p:cNvPr id="11" name="Rounded Rectangle 10"/>
          <p:cNvSpPr/>
          <p:nvPr/>
        </p:nvSpPr>
        <p:spPr>
          <a:xfrm>
            <a:off x="685800" y="3851196"/>
            <a:ext cx="10820095" cy="60678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90606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96916"/>
            <a:ext cx="9814255" cy="515345"/>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Step two, a CTE: subtract what came back. LEFT JOIN to returns, because an INNER JOIN would keep only the returned lines and your revenue would collapse.</a:t>
            </a:r>
          </a:p>
        </p:txBody>
      </p:sp>
      <p:sp>
        <p:nvSpPr>
          <p:cNvPr id="14" name="Rounded Rectangle 13"/>
          <p:cNvSpPr/>
          <p:nvPr/>
        </p:nvSpPr>
        <p:spPr>
          <a:xfrm>
            <a:off x="685800" y="4512845"/>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56770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558565"/>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Final SELECT: join the rep names on and group.</a:t>
            </a:r>
          </a:p>
        </p:txBody>
      </p:sp>
      <p:sp>
        <p:nvSpPr>
          <p:cNvPr id="17" name="Rounded Rectangle 16"/>
          <p:cNvSpPr/>
          <p:nvPr/>
        </p:nvSpPr>
        <p:spPr>
          <a:xfrm>
            <a:off x="685800" y="4970045"/>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502490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5015765"/>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Check it. Top three reps for 2025 before returns are Hellen Hakizimana at UGX 1.20bn, Brian Lubega at UGX 976m, David Wanyama at UGX 916m.</a:t>
            </a:r>
          </a:p>
        </p:txBody>
      </p:sp>
      <p:sp>
        <p:nvSpPr>
          <p:cNvPr id="20" name="Rounded Rectangle 19"/>
          <p:cNvSpPr/>
          <p:nvPr/>
        </p:nvSpPr>
        <p:spPr>
          <a:xfrm>
            <a:off x="685800" y="5482109"/>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619269"/>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Everything returned across both years is worth UGX 197,830,550. A report that ignores returns overstates every rep, and the manager will find out from somebody else.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CHECKPOINT 1 · 15% OF THE MARK</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Checkpoint 1</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What to hand in</a:t>
            </a:r>
          </a:p>
        </p:txBody>
      </p:sp>
      <p:sp>
        <p:nvSpPr>
          <p:cNvPr id="5" name="TextBox 4"/>
          <p:cNvSpPr txBox="1"/>
          <p:nvPr/>
        </p:nvSpPr>
        <p:spPr>
          <a:xfrm>
            <a:off x="685800" y="2409332"/>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One query that runs from cold in DB Browser.</a:t>
            </a:r>
          </a:p>
        </p:txBody>
      </p:sp>
      <p:sp>
        <p:nvSpPr>
          <p:cNvPr id="6" name="TextBox 5"/>
          <p:cNvSpPr txBox="1"/>
          <p:nvPr/>
        </p:nvSpPr>
        <p:spPr>
          <a:xfrm>
            <a:off x="685800" y="2870329"/>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Revenue by rep by month for 2025, net of returns, built as named steps.</a:t>
            </a:r>
          </a:p>
        </p:txBody>
      </p:sp>
      <p:sp>
        <p:nvSpPr>
          <p:cNvPr id="7" name="TextBox 6"/>
          <p:cNvSpPr txBox="1"/>
          <p:nvPr/>
        </p:nvSpPr>
        <p:spPr>
          <a:xfrm>
            <a:off x="685800" y="3691739"/>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Your row count, and one sentence on why it is the number it is.</a:t>
            </a:r>
          </a:p>
        </p:txBody>
      </p:sp>
      <p:sp>
        <p:nvSpPr>
          <p:cNvPr id="8" name="Rounded Rectangle 7"/>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And one sentence of judgement</a:t>
            </a:r>
          </a:p>
        </p:txBody>
      </p:sp>
      <p:sp>
        <p:nvSpPr>
          <p:cNvPr id="10" name="TextBox 9"/>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Which rep would you talk to first, and why?</a:t>
            </a:r>
          </a:p>
        </p:txBody>
      </p:sp>
      <p:sp>
        <p:nvSpPr>
          <p:cNvPr id="11" name="TextBox 10"/>
          <p:cNvSpPr txBox="1"/>
          <p:nvPr/>
        </p:nvSpPr>
        <p:spPr>
          <a:xfrm>
            <a:off x="6575907" y="3025401"/>
            <a:ext cx="4655667" cy="1284255"/>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Put your judgement in a SQL comment for class discussion. The automatic mark checks the query: 25 points each for grain, gross, returned and net amounts.</a:t>
            </a:r>
          </a:p>
        </p:txBody>
      </p:sp>
      <p:sp>
        <p:nvSpPr>
          <p:cNvPr id="12" name="TextBox 11"/>
          <p:cNvSpPr txBox="1"/>
          <p:nvPr/>
        </p:nvSpPr>
        <p:spPr>
          <a:xfrm>
            <a:off x="6575907" y="4483393"/>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Submit one .sql file. Amounts allow 1 UGX rounding tolerance; extra or missing rows reduce credit.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96012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MISTAKE THIS SESSION PREVENTS</a:t>
            </a:r>
          </a:p>
        </p:txBody>
      </p:sp>
      <p:sp>
        <p:nvSpPr>
          <p:cNvPr id="4" name="TextBox 3"/>
          <p:cNvSpPr txBox="1"/>
          <p:nvPr/>
        </p:nvSpPr>
        <p:spPr>
          <a:xfrm>
            <a:off x="685800" y="1600200"/>
            <a:ext cx="10820095" cy="1603291"/>
          </a:xfrm>
          <a:prstGeom prst="rect">
            <a:avLst/>
          </a:prstGeom>
          <a:noFill/>
        </p:spPr>
        <p:txBody>
          <a:bodyPr wrap="square" lIns="0" rIns="0" tIns="0" bIns="0" anchor="t">
            <a:spAutoFit/>
          </a:bodyPr>
          <a:lstStyle/>
          <a:p>
            <a:pPr algn="l">
              <a:lnSpc>
                <a:spcPct val="114000"/>
              </a:lnSpc>
              <a:spcAft>
                <a:spcPts val="600"/>
              </a:spcAft>
            </a:pPr>
            <a:r>
              <a:rPr sz="2795" b="1" i="0">
                <a:solidFill>
                  <a:srgbClr val="FFFFFF"/>
                </a:solidFill>
                <a:latin typeface="Calibri"/>
              </a:rPr>
              <a:t>A join that multiplies rows. The total gets bigger and looks plausible, and the only tell is the row count.</a:t>
            </a:r>
          </a:p>
        </p:txBody>
      </p:sp>
      <p:sp>
        <p:nvSpPr>
          <p:cNvPr id="5" name="TextBox 4"/>
          <p:cNvSpPr txBox="1"/>
          <p:nvPr/>
        </p:nvSpPr>
        <p:spPr>
          <a:xfrm>
            <a:off x="685800" y="3477811"/>
            <a:ext cx="10820095" cy="457200"/>
          </a:xfrm>
          <a:prstGeom prst="rect">
            <a:avLst/>
          </a:prstGeom>
          <a:noFill/>
        </p:spPr>
        <p:txBody>
          <a:bodyPr wrap="square" lIns="0" rIns="0" tIns="0" bIns="0" anchor="t">
            <a:spAutoFit/>
          </a:bodyPr>
          <a:lstStyle/>
          <a:p>
            <a:pPr algn="l">
              <a:spcAft>
                <a:spcPts val="600"/>
              </a:spcAft>
            </a:pPr>
            <a:r>
              <a:rPr sz="1923" b="0" i="0">
                <a:solidFill>
                  <a:srgbClr val="B8C9D8"/>
                </a:solidFill>
                <a:latin typeface="Calibri"/>
              </a:rPr>
              <a:t>It is in tonight's lab on purpose.</a:t>
            </a:r>
          </a:p>
        </p:txBody>
      </p:sp>
      <p:sp>
        <p:nvSpPr>
          <p:cNvPr id="6" name="TextBox 5"/>
          <p:cNvSpPr txBox="1"/>
          <p:nvPr/>
        </p:nvSpPr>
        <p:spPr>
          <a:xfrm>
            <a:off x="685800" y="608076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Session 5 of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An INNER JOIN and a LEFT JOIN return the same row count. What does that tell you?</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joined orders to order_items and summed a per-order figure. What went wrong?</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put each step in a CTE rather than nesting?</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Same count from INNER and LEFT</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Every row on the left found a match, so on today's data the two are equivalent. That is a fact about these rows rather than about the tables, so re-check it when the data changes.</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Summing a per-order figure after joining to lines</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Fan-out. The order-level figure repeated once per line, so the total counted it several times: 6,000 orders became 20,234 rows. Aggregate the lines first, in their own step, then join.</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Why CTEs rather than nesting</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can run a CTE on its own and check it. A nested subquery can only be checked as part of the whole thing, which means a mistake in the middle is the last one you find.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LAB · 50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Build the rep revenue report</a:t>
            </a:r>
          </a:p>
        </p:txBody>
      </p:sp>
      <p:sp>
        <p:nvSpPr>
          <p:cNvPr id="4" name="Rounded Rectangle 3"/>
          <p:cNvSpPr/>
          <p:nvPr/>
        </p:nvSpPr>
        <p:spPr>
          <a:xfrm>
            <a:off x="685800" y="1911095"/>
            <a:ext cx="10820095" cy="1236629"/>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870869"/>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This is Checkpoint 1 and it is marked against the answer key tonight. Build it as named steps and check the row count after each one.</a:t>
            </a:r>
          </a:p>
        </p:txBody>
      </p:sp>
      <p:sp>
        <p:nvSpPr>
          <p:cNvPr id="6" name="TextBox 5"/>
          <p:cNvSpPr txBox="1"/>
          <p:nvPr/>
        </p:nvSpPr>
        <p:spPr>
          <a:xfrm>
            <a:off x="685800" y="342204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3897533"/>
            <a:ext cx="5227167" cy="69785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Step one: line value, filtered to delivered and to 2025.</a:t>
            </a:r>
          </a:p>
        </p:txBody>
      </p:sp>
      <p:sp>
        <p:nvSpPr>
          <p:cNvPr id="8" name="TextBox 7"/>
          <p:cNvSpPr txBox="1"/>
          <p:nvPr/>
        </p:nvSpPr>
        <p:spPr>
          <a:xfrm>
            <a:off x="685800" y="468682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Check step one on its own.</a:t>
            </a:r>
          </a:p>
        </p:txBody>
      </p:sp>
      <p:sp>
        <p:nvSpPr>
          <p:cNvPr id="9" name="TextBox 8"/>
          <p:cNvSpPr txBox="1"/>
          <p:nvPr/>
        </p:nvSpPr>
        <p:spPr>
          <a:xfrm>
            <a:off x="685800" y="516376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Step two: net of returns, with a LEFT JOIN.</a:t>
            </a:r>
          </a:p>
        </p:txBody>
      </p:sp>
      <p:sp>
        <p:nvSpPr>
          <p:cNvPr id="10" name="TextBox 9"/>
          <p:cNvSpPr txBox="1"/>
          <p:nvPr/>
        </p:nvSpPr>
        <p:spPr>
          <a:xfrm>
            <a:off x="6278727" y="3897533"/>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Final select: rep names, grouped by rep and month.</a:t>
            </a:r>
          </a:p>
        </p:txBody>
      </p:sp>
      <p:sp>
        <p:nvSpPr>
          <p:cNvPr id="11" name="TextBox 10"/>
          <p:cNvSpPr txBox="1"/>
          <p:nvPr/>
        </p:nvSpPr>
        <p:spPr>
          <a:xfrm>
            <a:off x="6278727" y="4374475"/>
            <a:ext cx="5227167" cy="69785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Then break it on purpose: make the returns join an INNER JOIN and write down what happened and why.</a:t>
            </a:r>
          </a:p>
        </p:txBody>
      </p:sp>
      <p:sp>
        <p:nvSpPr>
          <p:cNvPr id="12" name="TextBox 11"/>
          <p:cNvSpPr txBox="1"/>
          <p:nvPr/>
        </p:nvSpPr>
        <p:spPr>
          <a:xfrm>
            <a:off x="6278727" y="516376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One sentence: which rep do you talk to first?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TONIGHT IN THREE LINES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can do now</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Join three tables and say what each join is for.</a:t>
            </a:r>
          </a:p>
        </p:txBody>
      </p:sp>
      <p:sp>
        <p:nvSpPr>
          <p:cNvPr id="6" name="Oval 5"/>
          <p:cNvSpPr/>
          <p:nvPr/>
        </p:nvSpPr>
        <p:spPr>
          <a:xfrm>
            <a:off x="685800" y="246802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413161"/>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Predict which rows an INNER JOIN will drop, then check that prediction against the row count.</a:t>
            </a:r>
          </a:p>
        </p:txBody>
      </p:sp>
      <p:sp>
        <p:nvSpPr>
          <p:cNvPr id="8" name="Oval 7"/>
          <p:cNvSpPr/>
          <p:nvPr/>
        </p:nvSpPr>
        <p:spPr>
          <a:xfrm>
            <a:off x="685800" y="29700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915227"/>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Break a query into named steps somebody else can read.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HOMEWORK · 45 TO 60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the next session</a:t>
            </a:r>
          </a:p>
        </p:txBody>
      </p:sp>
      <p:sp>
        <p:nvSpPr>
          <p:cNvPr id="4" name="Rounded Rectangle 3"/>
          <p:cNvSpPr/>
          <p:nvPr/>
        </p:nvSpPr>
        <p:spPr>
          <a:xfrm>
            <a:off x="685800" y="1911095"/>
            <a:ext cx="10820095" cy="1237967"/>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30552"/>
            <a:ext cx="10234879" cy="835631"/>
          </a:xfrm>
          <a:prstGeom prst="rect">
            <a:avLst/>
          </a:prstGeom>
          <a:noFill/>
        </p:spPr>
        <p:txBody>
          <a:bodyPr wrap="square" lIns="0" rIns="0" tIns="0" bIns="0" anchor="t">
            <a:spAutoFit/>
          </a:bodyPr>
          <a:lstStyle/>
          <a:p>
            <a:pPr algn="l">
              <a:lnSpc>
                <a:spcPct val="122000"/>
              </a:lnSpc>
              <a:spcAft>
                <a:spcPts val="600"/>
              </a:spcAft>
            </a:pPr>
            <a:r>
              <a:rPr sz="2021" b="0" i="0">
                <a:solidFill>
                  <a:srgbClr val="1C3144"/>
                </a:solidFill>
                <a:latin typeface="Calibri"/>
              </a:rPr>
              <a:t>Finish the report if it is not finished, then break it on purpose: change one LEFT JOIN to an INNER JOIN and write down what changed in the numbers and why.</a:t>
            </a:r>
          </a:p>
        </p:txBody>
      </p:sp>
      <p:sp>
        <p:nvSpPr>
          <p:cNvPr id="6" name="Rounded Rectangle 5"/>
          <p:cNvSpPr/>
          <p:nvPr/>
        </p:nvSpPr>
        <p:spPr>
          <a:xfrm>
            <a:off x="685800" y="3423383"/>
            <a:ext cx="4826861"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WHY IT IS ALWAYS OPTIONAL ON YOUR OWN DATA</a:t>
            </a:r>
          </a:p>
        </p:txBody>
      </p:sp>
      <p:sp>
        <p:nvSpPr>
          <p:cNvPr id="7" name="TextBox 6"/>
          <p:cNvSpPr txBox="1"/>
          <p:nvPr/>
        </p:nvSpPr>
        <p:spPr>
          <a:xfrm>
            <a:off x="685800" y="3990311"/>
            <a:ext cx="10820095" cy="1097280"/>
          </a:xfrm>
          <a:prstGeom prst="rect">
            <a:avLst/>
          </a:prstGeom>
          <a:noFill/>
        </p:spPr>
        <p:txBody>
          <a:bodyPr wrap="square" lIns="0" rIns="0" tIns="0" bIns="0" anchor="t">
            <a:spAutoFit/>
          </a:bodyPr>
          <a:lstStyle/>
          <a:p>
            <a:pPr algn="l">
              <a:lnSpc>
                <a:spcPct val="122000"/>
              </a:lnSpc>
              <a:spcAft>
                <a:spcPts val="600"/>
              </a:spcAft>
            </a:pPr>
            <a:r>
              <a:rPr sz="1923" b="0" i="0">
                <a:solidFill>
                  <a:srgbClr val="334657"/>
                </a:solidFill>
                <a:latin typeface="Calibri"/>
              </a:rPr>
              <a:t>Homework on a dataset you already care about gets done. Homework on a teaching dataset competes with your job and loses. Either version counts, and the one on your own data is worth more to you.</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The row count is the smoke alarm</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 error in this session announced itself the same way: a count that changed when you did not expect it to. Nothing else warns you, so build the habit now while the data is still small enough to check by hand.</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session: Python, from the beginning. No SQL for a while.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