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Tonight is session 7 of twelve.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are what tonight is marked against, in the sense that the lab checks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six commands, in the same order, every time. It is the cheapest habit in this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column of a DataFrame, on its own. Selecting a single column gives you one of these rather than a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type pandas decided a column has when it read the file. You did not choose it and it is not always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cell with nothing recorded. pandas shows it as NaN, which stands for not a number and appears in text columns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routine in a fixed order. Two minutes, and afterwards you can say what the file can and cannot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Reading a file and trusting the types. A column of numbers arriving as text is the commonest cause of a wrong answer in pandas, and nothing raises an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Download it, open it in pandas, and produce the one-page profile. You are not cleaning it tonight. The goal is to be able to say, in three sentences, what the file is a record of and what it cannot tell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Profile a file from your own work, or a second sheet of the retail file, and write the three sentences. The sentences are harder than the code and they are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commands, two minutes. Every hour lost in this work is lost to an assumption about a file that nobody checked, and the check is cheaper than the assumption every single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60120"/>
            <a:ext cx="2103851" cy="384048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84" b="1">
                <a:solidFill>
                  <a:srgbClr val="FFFFFF"/>
                </a:solidFill>
                <a:latin typeface="Calibri"/>
              </a:rPr>
              <a:t>SESSION 7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20095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Reading a file, and looking at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0332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93" b="0" i="0">
                <a:solidFill>
                  <a:srgbClr val="A8BCCE"/>
                </a:solidFill>
                <a:latin typeface="Calibri"/>
              </a:rPr>
              <a:t>The same six commands, in the same order, every time. It is the cheapest habit in this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349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16" b="1" i="0">
                <a:solidFill>
                  <a:srgbClr val="E4572E"/>
                </a:solidFill>
                <a:latin typeface="Calibri"/>
              </a:rPr>
              <a:t>WEEK 3  ·  PYTHON  ·  3 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7150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2" b="0" i="0">
                <a:solidFill>
                  <a:srgbClr val="7E93A6"/>
                </a:solidFill>
                <a:latin typeface="Calibri"/>
              </a:rPr>
              <a:t>Data Analysis with Python, SQL and Power BI  ·  roadmap.sh: pandas: loading, inspecting, selecting, filtering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THE FIFTEEN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Where tonight sits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47672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2020824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1  · 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295144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From a spreadsheet to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9403" y="1947672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5707" y="2020824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2  ·  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5707" y="2295144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Why data lives in several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947672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9311" y="2020824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3  · 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9311" y="2295144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Asking a database for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611" y="1947672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2915" y="2020824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4  · 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2915" y="2295144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Counting and grouping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72968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3246120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5  ·  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3520439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Joining tables, carefully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59403" y="3172968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5707" y="3246120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6  ·  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5707" y="3520439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Your first program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3172968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9311" y="3246120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FFFFFF"/>
                </a:solidFill>
                <a:latin typeface="Calibri"/>
              </a:rPr>
              <a:t>7  ·  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9311" y="3520439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1" i="0">
                <a:solidFill>
                  <a:srgbClr val="FFFFFF"/>
                </a:solidFill>
                <a:latin typeface="Calibri"/>
              </a:rPr>
              <a:t>Reading a file, and looking at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611" y="3172968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2915" y="3246120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8  ·  PYTHON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2915" y="3520439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Cleaning, and writing down what you did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98264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4471416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9  ·  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" y="4745736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Grouping and joining in pandas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59403" y="4398264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05707" y="4471416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10  ·  STATISTICS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5707" y="4745736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Describing one column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3007" y="4398264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9311" y="4471416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11  ·  STATISTICS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9311" y="4745736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Comparing groups, and reading 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611" y="4398264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52915" y="4471416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12  ·  CHARTS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2915" y="4745736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Charts that answer the question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5623559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" y="5696712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13  ·  INVESTIGATION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" y="5971031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A whole investigation, end to end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59403" y="5623559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5707" y="5696712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14  ·  POWER BI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05707" y="5971031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Getting data in, and modelling it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3007" y="5623559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79311" y="5696712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15  ·  POWER BI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9311" y="5971031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Measures, a dashboard, and presenting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BEFORE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The words for 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11095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20" b="1" i="0">
                <a:solidFill>
                  <a:srgbClr val="E4572E"/>
                </a:solidFill>
                <a:latin typeface="Calibri"/>
              </a:rPr>
              <a:t>TERM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911095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20" b="1" i="0">
                <a:solidFill>
                  <a:srgbClr val="E4572E"/>
                </a:solidFill>
                <a:latin typeface="Calibri"/>
              </a:rPr>
              <a:t>WHAT IT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1911095"/>
            <a:ext cx="32305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20" b="1" i="0">
                <a:solidFill>
                  <a:srgbClr val="E4572E"/>
                </a:solidFill>
                <a:latin typeface="Calibri"/>
              </a:rPr>
              <a:t>IN A SPREADSHEET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2240279"/>
            <a:ext cx="11039551" cy="401073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76856"/>
            <a:ext cx="2240280" cy="355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716" b="1" i="0">
                <a:solidFill>
                  <a:srgbClr val="1C3144"/>
                </a:solidFill>
                <a:latin typeface="Calibri"/>
              </a:rPr>
              <a:t>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276856"/>
            <a:ext cx="4892040" cy="355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650" b="0" i="0">
                <a:solidFill>
                  <a:srgbClr val="334657"/>
                </a:solidFill>
                <a:latin typeface="Calibri"/>
              </a:rPr>
              <a:t>One column of a DataFrame, on its 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276856"/>
            <a:ext cx="3230575" cy="355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650" b="0" i="1">
                <a:solidFill>
                  <a:srgbClr val="6B7A8A"/>
                </a:solidFill>
                <a:latin typeface="Calibri"/>
              </a:rPr>
              <a:t>no direct equivalent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14505"/>
            <a:ext cx="2240280" cy="954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716" b="1" i="0">
                <a:solidFill>
                  <a:srgbClr val="1C3144"/>
                </a:solidFill>
                <a:latin typeface="Calibri"/>
              </a:rPr>
              <a:t>dtype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714505"/>
            <a:ext cx="4892040" cy="954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650" b="0" i="0">
                <a:solidFill>
                  <a:srgbClr val="334657"/>
                </a:solidFill>
                <a:latin typeface="Calibri"/>
              </a:rPr>
              <a:t>The type pandas decided a column has. object on a column of numbers means something in there is not a number.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714505"/>
            <a:ext cx="3230575" cy="954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650" b="0" i="1">
                <a:solidFill>
                  <a:srgbClr val="6B7A8A"/>
                </a:solidFill>
                <a:latin typeface="Calibri"/>
              </a:rPr>
              <a:t>no direct equivalent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3714790"/>
            <a:ext cx="11039551" cy="697336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51366"/>
            <a:ext cx="2240280" cy="651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716" b="1" i="0">
                <a:solidFill>
                  <a:srgbClr val="1C3144"/>
                </a:solidFill>
                <a:latin typeface="Calibri"/>
              </a:rPr>
              <a:t>Boolean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751366"/>
            <a:ext cx="4892040" cy="651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650" b="0" i="0">
                <a:solidFill>
                  <a:srgbClr val="334657"/>
                </a:solidFill>
                <a:latin typeface="Calibri"/>
              </a:rPr>
              <a:t>Selecting rows by a true/false test applied to every row.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751366"/>
            <a:ext cx="3230575" cy="651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650" b="0" i="0">
                <a:solidFill>
                  <a:srgbClr val="2E7D6F"/>
                </a:solidFill>
                <a:latin typeface="Calibri"/>
              </a:rPr>
              <a:t>Autofilter, written 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85278"/>
            <a:ext cx="2240280" cy="355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716" b="1" i="0">
                <a:solidFill>
                  <a:srgbClr val="1C3144"/>
                </a:solidFill>
                <a:latin typeface="Calibri"/>
              </a:rPr>
              <a:t>Missing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485278"/>
            <a:ext cx="4892040" cy="355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650" b="0" i="0">
                <a:solidFill>
                  <a:srgbClr val="334657"/>
                </a:solidFill>
                <a:latin typeface="Calibri"/>
              </a:rPr>
              <a:t>A cell with nothing recorded, shown as NaN.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485278"/>
            <a:ext cx="3230575" cy="355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650" b="0" i="0">
                <a:solidFill>
                  <a:srgbClr val="2E7D6F"/>
                </a:solidFill>
                <a:latin typeface="Calibri"/>
              </a:rPr>
              <a:t>A blank cell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" y="4886352"/>
            <a:ext cx="11039551" cy="697336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922928"/>
            <a:ext cx="2240280" cy="651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716" b="1" i="0">
                <a:solidFill>
                  <a:srgbClr val="1C3144"/>
                </a:solidFill>
                <a:latin typeface="Calibri"/>
              </a:rPr>
              <a:t>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4922928"/>
            <a:ext cx="4892040" cy="651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650" b="0" i="0">
                <a:solidFill>
                  <a:srgbClr val="334657"/>
                </a:solidFill>
                <a:latin typeface="Calibri"/>
              </a:rPr>
              <a:t>The fixed six-command routine you run on any new file before you trust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922928"/>
            <a:ext cx="3230575" cy="651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650" b="0" i="1">
                <a:solidFill>
                  <a:srgbClr val="6B7A8A"/>
                </a:solidFill>
                <a:latin typeface="Calibri"/>
              </a:rPr>
              <a:t>no direct equivalent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WHAT YOU WILL BE ABLE TO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3144"/>
                </a:solidFill>
                <a:latin typeface="Calibri"/>
              </a:rPr>
              <a:t>By the end of tonight you can…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956816"/>
            <a:ext cx="329184" cy="329184"/>
          </a:xfrm>
          <a:prstGeom prst="ellipse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10134295" cy="395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821" b="0" i="0">
                <a:solidFill>
                  <a:srgbClr val="2A3B4A"/>
                </a:solidFill>
                <a:latin typeface="Calibri"/>
              </a:rPr>
              <a:t>Profile a file you have never seen in six commands.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779776"/>
            <a:ext cx="329184" cy="329184"/>
          </a:xfrm>
          <a:prstGeom prst="ellipse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743200"/>
            <a:ext cx="10134295" cy="395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821" b="0" i="0">
                <a:solidFill>
                  <a:srgbClr val="2A3B4A"/>
                </a:solidFill>
                <a:latin typeface="Calibri"/>
              </a:rPr>
              <a:t>Select columns and filter rows by condition.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602736"/>
            <a:ext cx="329184" cy="329184"/>
          </a:xfrm>
          <a:prstGeom prst="ellipse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566160"/>
            <a:ext cx="10134295" cy="395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821" b="0" i="0">
                <a:solidFill>
                  <a:srgbClr val="2A3B4A"/>
                </a:solidFill>
                <a:latin typeface="Calibri"/>
              </a:rPr>
              <a:t>Say what a dtype of object on a number column tells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44768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2" b="0" i="1">
                <a:solidFill>
                  <a:srgbClr val="6B7A8A"/>
                </a:solidFill>
                <a:latin typeface="Calibri"/>
              </a:rPr>
              <a:t>Session 7 of 15  ·  Python  ·  Reading a file, and looking at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16" b="1" i="0">
                <a:solidFill>
                  <a:srgbClr val="E4572E"/>
                </a:solidFill>
                <a:latin typeface="Calibri"/>
              </a:rPr>
              <a:t>THE QUESTION TONIGHT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20095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0" i="1">
                <a:solidFill>
                  <a:srgbClr val="FFFFFF"/>
                </a:solidFill>
                <a:latin typeface="Cambria"/>
              </a:rPr>
              <a:t>Somebody sends you a file you have never seen.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0" i="1">
                <a:solidFill>
                  <a:srgbClr val="FFFFFF"/>
                </a:solidFill>
                <a:latin typeface="Cambria"/>
              </a:rPr>
              <a:t>What are the first two minutes?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892040"/>
            <a:ext cx="108200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23" b="0" i="0">
                <a:solidFill>
                  <a:srgbClr val="B8C9D8"/>
                </a:solidFill>
                <a:latin typeface="Calibri"/>
              </a:rPr>
              <a:t>The same six commands, in the same order, every time. It is the cheapest habit in this 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16" b="1" i="0">
                <a:solidFill>
                  <a:srgbClr val="E4572E"/>
                </a:solidFill>
                <a:latin typeface="Calibri"/>
              </a:rPr>
              <a:t>BLOCK ONE · 50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82009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Six commands, on any file you have never seen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108200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21" b="0" i="0">
                <a:solidFill>
                  <a:srgbClr val="B8C9D8"/>
                </a:solidFill>
                <a:latin typeface="Calibri"/>
              </a:rPr>
              <a:t>The profiling routine, in a fixed order, on the course data: shape, head, dtypes, info, isna, value_counts. Six commands, two minutes, and afterwards you can say what the file can and cannot answer. Each command is shown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702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C3144"/>
                </a:solidFill>
                <a:latin typeface="Cambria"/>
              </a:rPr>
              <a:t>Series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54203"/>
            <a:ext cx="10820095" cy="1195902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055371"/>
            <a:ext cx="10234879" cy="848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2021" b="0" i="0">
                <a:solidFill>
                  <a:srgbClr val="1C3144"/>
                </a:solidFill>
                <a:latin typeface="Calibri"/>
              </a:rPr>
              <a:t>One column of a DataFrame, on its own. Selecting a single column gives you one of these rather than a 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24426"/>
            <a:ext cx="1645920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FOR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306138"/>
            <a:ext cx="8808415" cy="7468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334657"/>
                </a:solidFill>
                <a:latin typeface="Calibri"/>
              </a:rPr>
              <a:t>orders["status"] is a Series. orders[["status"]] with two sets of brackets is a DataFrame with one column. The difference matters when you chain something onto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290739"/>
            <a:ext cx="2468880" cy="384048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DO NOT CONFUSE WITH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272451"/>
            <a:ext cx="7985455" cy="400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334657"/>
                </a:solidFill>
                <a:latin typeface="Calibri"/>
              </a:rPr>
              <a:t>A single column selection. Excel does not distinguish the two, and pandas does.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702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C3144"/>
                </a:solidFill>
                <a:latin typeface="Cambria"/>
              </a:rPr>
              <a:t>dtype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54203"/>
            <a:ext cx="10820095" cy="1195902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055371"/>
            <a:ext cx="10234879" cy="848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2021" b="0" i="0">
                <a:solidFill>
                  <a:srgbClr val="1C3144"/>
                </a:solidFill>
                <a:latin typeface="Calibri"/>
              </a:rPr>
              <a:t>The type pandas decided a column has when it read the file. You did not choose it and it is not always right.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24426"/>
            <a:ext cx="1645920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FOR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306138"/>
            <a:ext cx="8808415" cy="7468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334657"/>
                </a:solidFill>
                <a:latin typeface="Calibri"/>
              </a:rPr>
              <a:t>object on a text column is normal. object on a column of NUMBERS means something in there is not a number: a comma, a currency symbol, a blank, or the word NULL.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290739"/>
            <a:ext cx="2468880" cy="384048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DO NOT CONFUSE WITH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272451"/>
            <a:ext cx="7985455" cy="7468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334657"/>
                </a:solidFill>
                <a:latin typeface="Calibri"/>
              </a:rPr>
              <a:t>Cell format. The difference is that a wrong dtype changes the ANSWER: summing a text column concatenates instead of adding, and nothing raises an error.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702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C3144"/>
                </a:solidFill>
                <a:latin typeface="Cambria"/>
              </a:rPr>
              <a:t>Missing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54203"/>
            <a:ext cx="10820095" cy="1195902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055371"/>
            <a:ext cx="10234879" cy="848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2021" b="0" i="0">
                <a:solidFill>
                  <a:srgbClr val="1C3144"/>
                </a:solidFill>
                <a:latin typeface="Calibri"/>
              </a:rPr>
              <a:t>A cell with nothing recorded. pandas shows it as NaN, which stands for not a number and appears in text columns too.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24426"/>
            <a:ext cx="1645920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FOR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306138"/>
            <a:ext cx="8808415" cy="7468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334657"/>
                </a:solidFill>
                <a:latin typeface="Calibri"/>
              </a:rPr>
              <a:t>orders.isna().sum() reports 172 missing customer ids. It is the same walk-in trade you met as NULL in SQL: the word changes, the fact does not.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290739"/>
            <a:ext cx="2468880" cy="384048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DO NOT CONFUSE WITH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272451"/>
            <a:ext cx="7985455" cy="7468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334657"/>
                </a:solidFill>
                <a:latin typeface="Calibri"/>
              </a:rPr>
              <a:t>A blank cell. The trap is the same one: a blank is not a zero, and a count that ignores it is answering a different question.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LIVE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The six commands. Learn the order, not the words.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42655" y="512064"/>
            <a:ext cx="3063240" cy="384048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84" b="1">
                <a:solidFill>
                  <a:srgbClr val="FFFFFF"/>
                </a:solidFill>
                <a:latin typeface="Calibri"/>
              </a:rPr>
              <a:t>JUPYTER OR COLAB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11095"/>
            <a:ext cx="10820095" cy="2996671"/>
          </a:xfrm>
          <a:prstGeom prst="rect">
            <a:avLst/>
          </a:prstGeom>
          <a:solidFill>
            <a:srgbClr val="16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57400"/>
            <a:ext cx="10234879" cy="2704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import pandas as pd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df = pd.read_csv("data/orders_raw.csv")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df.shape                  # 1. how big? rows, then columns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df.head()                 # 2. what is one row?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df.dtypes                 # 3. what type is each column?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df.info()                 # 4. types and non-null counts at once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df.isna().sum()           # 5. what is missing, per column?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df["status"].value_counts()   # 6. what values does this hold?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127223"/>
            <a:ext cx="3017520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NOW BREAK IT ON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5136367"/>
            <a:ext cx="7208215" cy="10163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16" b="0" i="0">
                <a:solidFill>
                  <a:srgbClr val="1C3144"/>
                </a:solidFill>
                <a:latin typeface="Calibri"/>
              </a:rPr>
              <a:t>Run df.describe() as well and look at customer_id: it has been given a mean and a standard deviation. Both are meaningless, because it is an identifier. describe() cannot tell the difference and will not warn you.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749039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531" b="0" i="0">
                <a:solidFill>
                  <a:srgbClr val="E4572E"/>
                </a:solidFill>
                <a:latin typeface="Calibri"/>
              </a:rPr>
              <a:t>10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57200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21" b="0" i="0">
                <a:solidFill>
                  <a:srgbClr val="8EA4B8"/>
                </a:solidFill>
                <a:latin typeface="Calibri"/>
              </a:rPr>
              <a:t>Stretch, and talk to someone you have not worked with. Be back on time: the longest working block of the session is next.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16" b="1" i="0">
                <a:solidFill>
                  <a:srgbClr val="E4572E"/>
                </a:solidFill>
                <a:latin typeface="Calibri"/>
              </a:rPr>
              <a:t>BLOCK TWO · 45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82009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Selecting, filtering, and the type that 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108200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21" b="0" i="0">
                <a:solidFill>
                  <a:srgbClr val="B8C9D8"/>
                </a:solidFill>
                <a:latin typeface="Calibri"/>
              </a:rPr>
              <a:t>Selecting and filtering: one column, several columns, rows by condition, then two conditions and the brackets that are not optional. Then the failure everybody meets: a price column that arrived as text, and the sum that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LIVE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Selecting and filtering, which is autofilter written 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42655" y="512064"/>
            <a:ext cx="3063240" cy="384048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84" b="1">
                <a:solidFill>
                  <a:srgbClr val="FFFFFF"/>
                </a:solidFill>
                <a:latin typeface="Calibri"/>
              </a:rPr>
              <a:t>JUPYTER OR COLAB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95728"/>
            <a:ext cx="10820095" cy="3080153"/>
          </a:xfrm>
          <a:prstGeom prst="rect">
            <a:avLst/>
          </a:prstGeom>
          <a:solidFill>
            <a:srgbClr val="16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42032"/>
            <a:ext cx="10234879" cy="2787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# one column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df["channel"]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# several columns: a LIST inside the brackets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df[["order_id", "channel", "status"]]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# rows by condition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delivered = df[df["status"] == "Delivered"]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delivered.shape                    # (4,837, 6)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# two conditions: the inner brackets are NOT optional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recent = df[(df["status"] == "Delivered")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            &amp; (df["order_date"] &gt;= "2025-01-01")]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95337"/>
            <a:ext cx="3017520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NOW BREAK IT ON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5704481"/>
            <a:ext cx="7208215" cy="10163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16" b="0" i="0">
                <a:solidFill>
                  <a:srgbClr val="1C3144"/>
                </a:solidFill>
                <a:latin typeface="Calibri"/>
              </a:rPr>
              <a:t>Drop the inner brackets from the last one. It raises, because &amp; binds more tightly than ==. The message is unhelpful and this costs people twenty minutes the first time, so meet it now.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LIVE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The type that lies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42655" y="512064"/>
            <a:ext cx="3063240" cy="384048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84" b="1">
                <a:solidFill>
                  <a:srgbClr val="FFFFFF"/>
                </a:solidFill>
                <a:latin typeface="Calibri"/>
              </a:rPr>
              <a:t>JUPYTER OR COLAB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11095"/>
            <a:ext cx="10820095" cy="3293059"/>
          </a:xfrm>
          <a:prstGeom prst="rect">
            <a:avLst/>
          </a:prstGeom>
          <a:solidFill>
            <a:srgbClr val="16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57400"/>
            <a:ext cx="10234879" cy="3000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items = pd.read_csv("data/order_items_raw.csv")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items.dtypes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# suppose unit_price had arrived as text. This is what happens: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text_prices = items["unit_price"].astype(str)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print(text_prices.sum()[:60])    # it JOINS them, end to end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print(len(text_prices.sum()))    # thousands of characters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# the real column, as a number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print(items["unit_price"].sum())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423611"/>
            <a:ext cx="3017520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NOW BREAK IT ON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5432755"/>
            <a:ext cx="7208215" cy="10163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16" b="0" i="0">
                <a:solidFill>
                  <a:srgbClr val="1C3144"/>
                </a:solidFill>
                <a:latin typeface="Calibri"/>
              </a:rPr>
              <a:t>A text column summed does not fail. It concatenates, and you get a number-shaped answer that is nonsense. This is the commonest cause of a wrong pandas answer and the reason dtypes is command three of six.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Profiling a file you have never seen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11095"/>
            <a:ext cx="10820095" cy="766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73" b="0" i="0">
                <a:solidFill>
                  <a:srgbClr val="334657"/>
                </a:solidFill>
                <a:latin typeface="Calibri"/>
              </a:rPr>
              <a:t>The routine in a fixed order. Two minutes, and afterwards you can say what the file can and cannot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32347"/>
            <a:ext cx="10820095" cy="4023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" y="2787211"/>
            <a:ext cx="310896" cy="310896"/>
          </a:xfrm>
          <a:prstGeom prst="ellipse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2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2778067"/>
            <a:ext cx="98142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1C3144"/>
                </a:solidFill>
                <a:latin typeface="Calibri"/>
              </a:rPr>
              <a:t>shape. Write the row count down; every later step is checked against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189547"/>
            <a:ext cx="10820095" cy="4023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05256" y="3244411"/>
            <a:ext cx="310896" cy="310896"/>
          </a:xfrm>
          <a:prstGeom prst="ellipse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2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3235267"/>
            <a:ext cx="98142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1C3144"/>
                </a:solidFill>
                <a:latin typeface="Calibri"/>
              </a:rPr>
              <a:t>head. Say out loud what one row is. If you cannot, stop and find out before doing anything else.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46747"/>
            <a:ext cx="10820095" cy="4023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05256" y="3701611"/>
            <a:ext cx="310896" cy="310896"/>
          </a:xfrm>
          <a:prstGeom prst="ellipse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2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3692467"/>
            <a:ext cx="98142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1C3144"/>
                </a:solidFill>
                <a:latin typeface="Calibri"/>
              </a:rPr>
              <a:t>dtypes. Is anything text that should be a number, or text that should be a date?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103947"/>
            <a:ext cx="10820095" cy="4023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5256" y="4158811"/>
            <a:ext cx="310896" cy="310896"/>
          </a:xfrm>
          <a:prstGeom prst="ellipse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2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7" y="4149667"/>
            <a:ext cx="98142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1C3144"/>
                </a:solidFill>
                <a:latin typeface="Calibri"/>
              </a:rPr>
              <a:t>isna().sum(). What is missing, and is it missing at random or for a reason? Here 172 orders have no customer because walk-in trade has none.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61147"/>
            <a:ext cx="10820095" cy="4023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5256" y="4616011"/>
            <a:ext cx="310896" cy="310896"/>
          </a:xfrm>
          <a:prstGeom prst="ellipse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2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7" y="4606867"/>
            <a:ext cx="98142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1C3144"/>
                </a:solidFill>
                <a:latin typeface="Calibri"/>
              </a:rPr>
              <a:t>describe(), on the columns where it means something and only those.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18347"/>
            <a:ext cx="10820095" cy="4023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05256" y="5073211"/>
            <a:ext cx="310896" cy="310896"/>
          </a:xfrm>
          <a:prstGeom prst="ellipse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2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7" y="5064067"/>
            <a:ext cx="98142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1C3144"/>
                </a:solidFill>
                <a:latin typeface="Calibri"/>
              </a:rPr>
              <a:t>value_counts() on every category column, looking for two spellings of one thing.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530411"/>
            <a:ext cx="10820095" cy="992912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5667571"/>
            <a:ext cx="10234879" cy="718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021" b="1" i="0">
                <a:solidFill>
                  <a:srgbClr val="FFFFFF"/>
                </a:solidFill>
                <a:latin typeface="Calibri"/>
              </a:rPr>
              <a:t>Six commands. The two-minute version of this is what separates an analyst from somebody who trusts a file.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LAB · THE FIRST REAL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Tonight's file will not open in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11095"/>
            <a:ext cx="5204307" cy="425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16" b="1" i="0">
                <a:solidFill>
                  <a:srgbClr val="1C3144"/>
                </a:solidFill>
                <a:latin typeface="Calibri"/>
              </a:rPr>
              <a:t>Online Retail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09332"/>
            <a:ext cx="5204307" cy="766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21" b="0" i="0">
                <a:solidFill>
                  <a:srgbClr val="3C4E5E"/>
                </a:solidFill>
                <a:latin typeface="Calibri"/>
              </a:rPr>
              <a:t>A real transactional file from the UCI repository. CC BY 4.0, no account needed.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30742"/>
            <a:ext cx="5204307" cy="766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21" b="0" i="0">
                <a:solidFill>
                  <a:srgbClr val="3C4E5E"/>
                </a:solidFill>
                <a:latin typeface="Calibri"/>
              </a:rPr>
              <a:t>1,067,371 rows and 8 columns, December 2009 to December 2011.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52152"/>
            <a:ext cx="5204307" cy="1126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21" b="0" i="0">
                <a:solidFill>
                  <a:srgbClr val="3C4E5E"/>
                </a:solidFill>
                <a:latin typeface="Calibri"/>
              </a:rPr>
              <a:t>Excel stops at 1,048,576 rows. This file has more than that, which means tonight is the first time the new tool does something the old one cannot.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1587" y="1801367"/>
            <a:ext cx="5204307" cy="4553712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75907" y="1984248"/>
            <a:ext cx="465566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23" b="1" i="0">
                <a:solidFill>
                  <a:srgbClr val="1C3144"/>
                </a:solidFill>
                <a:latin typeface="Calibri"/>
              </a:rPr>
              <a:t>Produce the one-page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5907" y="2496312"/>
            <a:ext cx="4655667" cy="355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Shape, and one sentence on what one row 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5907" y="3025401"/>
            <a:ext cx="4655667" cy="664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dtypes, and name every column whose type is wrong.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5907" y="3864125"/>
            <a:ext cx="4655667" cy="664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The date range. Does it match what the documentation claims?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5907" y="4702849"/>
            <a:ext cx="4655667" cy="664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Missing values per column, as a count and as a percentage.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5907" y="5541573"/>
            <a:ext cx="4655667" cy="355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The five countries with the most invoices.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16" b="1" i="0">
                <a:solidFill>
                  <a:srgbClr val="E4572E"/>
                </a:solidFill>
                <a:latin typeface="Calibri"/>
              </a:rPr>
              <a:t>THE MISTAKE THIS SESSION PREVENTS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20095" cy="1604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2795" b="1" i="0">
                <a:solidFill>
                  <a:srgbClr val="FFFFFF"/>
                </a:solidFill>
                <a:latin typeface="Calibri"/>
              </a:rPr>
              <a:t>Reading a file and trusting the types. A column of numbers arriving as text is the commonest cause of a wrong answer in pandas, and nothing raises an error.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96477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23" b="0" i="0">
                <a:solidFill>
                  <a:srgbClr val="B8C9D8"/>
                </a:solidFill>
                <a:latin typeface="Calibri"/>
              </a:rPr>
              <a:t>It is in tonight's lab on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08076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2" b="0" i="0">
                <a:solidFill>
                  <a:srgbClr val="7E93A6"/>
                </a:solidFill>
                <a:latin typeface="Calibri"/>
              </a:rPr>
              <a:t>Session 7 of 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Can you answer these?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947672"/>
            <a:ext cx="329184" cy="329184"/>
          </a:xfrm>
          <a:prstGeom prst="ellipse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" y="1911095"/>
            <a:ext cx="10134295" cy="4837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73" b="0" i="0">
                <a:solidFill>
                  <a:srgbClr val="2A3B4A"/>
                </a:solidFill>
                <a:latin typeface="Calibri"/>
              </a:rPr>
              <a:t>A price column has dtype object. What does that tell you, and what does it not tell you?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486313"/>
            <a:ext cx="329184" cy="329184"/>
          </a:xfrm>
          <a:prstGeom prst="ellipse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152" y="2449737"/>
            <a:ext cx="10134295" cy="4837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73" b="0" i="0">
                <a:solidFill>
                  <a:srgbClr val="2A3B4A"/>
                </a:solidFill>
                <a:latin typeface="Calibri"/>
              </a:rPr>
              <a:t>describe() gives you a mean customer_id. Why is that meaningless?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024955"/>
            <a:ext cx="329184" cy="329184"/>
          </a:xfrm>
          <a:prstGeom prst="ellipse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988379"/>
            <a:ext cx="10134295" cy="4837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73" b="0" i="0">
                <a:solidFill>
                  <a:srgbClr val="2A3B4A"/>
                </a:solidFill>
                <a:latin typeface="Calibri"/>
              </a:rPr>
              <a:t>Why is df.isna().sum() one of the six and not an optional extra?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08192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0" i="1">
                <a:solidFill>
                  <a:srgbClr val="6B7A8A"/>
                </a:solidFill>
                <a:latin typeface="Calibri"/>
              </a:rPr>
              <a:t>Answers are on the next slide — try first, then look.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How did you do?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947672"/>
            <a:ext cx="329184" cy="3291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" y="1911095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6B7A8A"/>
                </a:solidFill>
                <a:latin typeface="Calibri"/>
              </a:rPr>
              <a:t>A price column with dtype object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152" y="2203703"/>
            <a:ext cx="10253167" cy="8200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2A3B4A"/>
                </a:solidFill>
                <a:latin typeface="Calibri"/>
              </a:rPr>
              <a:t>Something in it is not a number: a comma, a currency symbol, a blank, or a word. It does not tell you which or how many, and value_counts() on the odd values is how you find out.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096865"/>
            <a:ext cx="329184" cy="3291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3060289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6B7A8A"/>
                </a:solidFill>
                <a:latin typeface="Calibri"/>
              </a:rPr>
              <a:t>A mean customer_id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3352897"/>
            <a:ext cx="10253167" cy="8200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2A3B4A"/>
                </a:solidFill>
                <a:latin typeface="Calibri"/>
              </a:rPr>
              <a:t>It is an identifier that happens to be stored as a number. describe() computes statistics on anything numeric and cannot tell an identifier from a measurement. The judgement is yours.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4246058"/>
            <a:ext cx="329184" cy="3291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4209482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6B7A8A"/>
                </a:solidFill>
                <a:latin typeface="Calibri"/>
              </a:rPr>
              <a:t>Why the missing-value count is not optional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4502090"/>
            <a:ext cx="10253167" cy="8200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2A3B4A"/>
                </a:solidFill>
                <a:latin typeface="Calibri"/>
              </a:rPr>
              <a:t>Because a blank is not a zero, and every count, average and join downstream behaves differently depending on how many there are. Here it is 172 rows worth UGX 390,632,335.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LAB · 50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Profile Online Retail II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11095"/>
            <a:ext cx="10820095" cy="96926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112264"/>
            <a:ext cx="102348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23" b="0" i="0">
                <a:solidFill>
                  <a:srgbClr val="1C3144"/>
                </a:solidFill>
                <a:latin typeface="Calibri"/>
              </a:rPr>
              <a:t>Download it, open it in pandas, and produce the one-page profile. You are not cleaning it tonight. The goal is to be able to say, in three sentences, what the file is a record of and what it cannot tell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91256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21" b="1" i="0">
                <a:solidFill>
                  <a:srgbClr val="E4572E"/>
                </a:solidFill>
                <a:latin typeface="Calibri"/>
              </a:rPr>
              <a:t>Work these questions in order: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11879"/>
            <a:ext cx="52271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→  The six commands, in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32504"/>
            <a:ext cx="52271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→  One sentence: what is one row?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53128"/>
            <a:ext cx="52271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→  Every column whose dtype is wrong.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3611879"/>
            <a:ext cx="52271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→  Missing values, count and percentage.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4032504"/>
            <a:ext cx="52271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→  The five countries with the most invoices.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4453128"/>
            <a:ext cx="52271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→  Three sentences on what this file is a record of.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TONIGHT IN THREE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What you can do now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965960"/>
            <a:ext cx="182880" cy="182880"/>
          </a:xfrm>
          <a:prstGeom prst="ellipse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11095"/>
            <a:ext cx="10271455" cy="456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73" b="0" i="0">
                <a:solidFill>
                  <a:srgbClr val="2A3B4A"/>
                </a:solidFill>
                <a:latin typeface="Calibri"/>
              </a:rPr>
              <a:t>Profile a file you have never seen in six commands.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468025"/>
            <a:ext cx="182880" cy="182880"/>
          </a:xfrm>
          <a:prstGeom prst="ellipse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13161"/>
            <a:ext cx="10271455" cy="456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73" b="0" i="0">
                <a:solidFill>
                  <a:srgbClr val="2A3B4A"/>
                </a:solidFill>
                <a:latin typeface="Calibri"/>
              </a:rPr>
              <a:t>Select columns and filter rows by condition.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970091"/>
            <a:ext cx="182880" cy="182880"/>
          </a:xfrm>
          <a:prstGeom prst="ellipse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15227"/>
            <a:ext cx="10271455" cy="456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73" b="0" i="0">
                <a:solidFill>
                  <a:srgbClr val="2A3B4A"/>
                </a:solidFill>
                <a:latin typeface="Calibri"/>
              </a:rPr>
              <a:t>Say what a dtype of object on a number column tells you.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HOMEWORK · 45 TO 60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Before the next session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11095"/>
            <a:ext cx="10820095" cy="1237967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130552"/>
            <a:ext cx="10234879" cy="835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021" b="0" i="0">
                <a:solidFill>
                  <a:srgbClr val="1C3144"/>
                </a:solidFill>
                <a:latin typeface="Calibri"/>
              </a:rPr>
              <a:t>Profile a file from your own work, or a second sheet of the retail file, and write the three sentences. The sentences are harder than the code and they are the 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423383"/>
            <a:ext cx="4826861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WHY IT IS ALWAYS OPTIONAL ON YOUR OWN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90311"/>
            <a:ext cx="108200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923" b="0" i="0">
                <a:solidFill>
                  <a:srgbClr val="334657"/>
                </a:solidFill>
                <a:latin typeface="Calibri"/>
              </a:rPr>
              <a:t>Homework on a dataset you already care about gets done. Homework on a teaching dataset competes with your job and loses. Either version counts, and the one on your own data is worth more to you.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16" b="1" i="0">
                <a:solidFill>
                  <a:srgbClr val="E4572E"/>
                </a:solidFill>
                <a:latin typeface="Calibri"/>
              </a:rPr>
              <a:t>THE ONE THING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82009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Look before you compute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34840"/>
            <a:ext cx="108200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21" b="0" i="0">
                <a:solidFill>
                  <a:srgbClr val="B8C9D8"/>
                </a:solidFill>
                <a:latin typeface="Calibri"/>
              </a:rPr>
              <a:t>Six commands, two minutes. Every hour lost in this work is lost to an assumption about a file that nobody checked, and the check is cheaper than the assumption every single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94360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2" b="0" i="0">
                <a:solidFill>
                  <a:srgbClr val="7E93A6"/>
                </a:solidFill>
                <a:latin typeface="Calibri"/>
              </a:rPr>
              <a:t>Next session: the file is dirty, and cleaning it is a series of decisions rather than a series of commands.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