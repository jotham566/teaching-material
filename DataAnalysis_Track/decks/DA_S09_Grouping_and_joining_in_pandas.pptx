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9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Usually neither. They are answering slightly different questions, and finding out which is the actual skill.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the rows into groups, apply an aggregation to each, combine the results into a new table. It is SQL's GROUP BY and it is your pivot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labels down the side of a DataFrame. After a groupby your grouping keys become the index rather than columns, which is the commonest confusion in pandas.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 is pandas' join. validate is the argument that makes it REFUSE a join that would multiply rows instead of silently doing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question, same data, different tool. They have to agree, and where they do not you have found something.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merge that silently multiplies rows. validate turns that into an exception instead of a wrong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Rebuild the rep revenue report in pandas and set it beside your SQL output. Any difference is a finding, and finding one is a pass. A clean match you cannot explain is not.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one report somebody at work produces by hand every month and write the pandas that would produce it. It does not have to run yet.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the same number twice, two different ways, is the only self-check available to somebody working alone. It is also the first thing you will be asked for when a number of yours is doubted.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103851"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9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Grouping and joining in pandas</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Usually neither. They are answering slightly different questions, and finding out which is the actual skill.</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3  ·  PYTHON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pandas: groupby, merge; reconciling against 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groupby</a:t>
            </a:r>
          </a:p>
        </p:txBody>
      </p:sp>
      <p:sp>
        <p:nvSpPr>
          <p:cNvPr id="9" name="TextBox 8"/>
          <p:cNvSpPr txBox="1"/>
          <p:nvPr/>
        </p:nvSpPr>
        <p:spPr>
          <a:xfrm>
            <a:off x="3154680" y="2276856"/>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pandas' GROUP BY. Split the rows into groups, apply an aggregation, combine the results.</a:t>
            </a:r>
          </a:p>
        </p:txBody>
      </p:sp>
      <p:sp>
        <p:nvSpPr>
          <p:cNvPr id="10" name="TextBox 9"/>
          <p:cNvSpPr txBox="1"/>
          <p:nvPr/>
        </p:nvSpPr>
        <p:spPr>
          <a:xfrm>
            <a:off x="8275320" y="2276856"/>
            <a:ext cx="3230575"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A pivot table</a:t>
            </a:r>
          </a:p>
        </p:txBody>
      </p:sp>
      <p:sp>
        <p:nvSpPr>
          <p:cNvPr id="11" name="TextBox 10"/>
          <p:cNvSpPr txBox="1"/>
          <p:nvPr/>
        </p:nvSpPr>
        <p:spPr>
          <a:xfrm>
            <a:off x="685800" y="3010768"/>
            <a:ext cx="2240280" cy="954564"/>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Index</a:t>
            </a:r>
          </a:p>
        </p:txBody>
      </p:sp>
      <p:sp>
        <p:nvSpPr>
          <p:cNvPr id="12" name="TextBox 11"/>
          <p:cNvSpPr txBox="1"/>
          <p:nvPr/>
        </p:nvSpPr>
        <p:spPr>
          <a:xfrm>
            <a:off x="3154680" y="3010768"/>
            <a:ext cx="4892040" cy="954564"/>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The labels down the side of a DataFrame. After a groupby your grouping keys are the index, not columns, which is the commonest pandas confusion.</a:t>
            </a:r>
          </a:p>
        </p:txBody>
      </p:sp>
      <p:sp>
        <p:nvSpPr>
          <p:cNvPr id="13" name="TextBox 12"/>
          <p:cNvSpPr txBox="1"/>
          <p:nvPr/>
        </p:nvSpPr>
        <p:spPr>
          <a:xfrm>
            <a:off x="8275320" y="3010768"/>
            <a:ext cx="3230575" cy="954564"/>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4" name="Rectangle 13"/>
          <p:cNvSpPr/>
          <p:nvPr/>
        </p:nvSpPr>
        <p:spPr>
          <a:xfrm>
            <a:off x="576072" y="4011052"/>
            <a:ext cx="11039551" cy="401073"/>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47628"/>
            <a:ext cx="2240280" cy="355353"/>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merge</a:t>
            </a:r>
          </a:p>
        </p:txBody>
      </p:sp>
      <p:sp>
        <p:nvSpPr>
          <p:cNvPr id="16" name="TextBox 15"/>
          <p:cNvSpPr txBox="1"/>
          <p:nvPr/>
        </p:nvSpPr>
        <p:spPr>
          <a:xfrm>
            <a:off x="3154680" y="4047628"/>
            <a:ext cx="4892040" cy="355353"/>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pandas' JOIN. The how argument is the join type.</a:t>
            </a:r>
          </a:p>
        </p:txBody>
      </p:sp>
      <p:sp>
        <p:nvSpPr>
          <p:cNvPr id="17" name="TextBox 16"/>
          <p:cNvSpPr txBox="1"/>
          <p:nvPr/>
        </p:nvSpPr>
        <p:spPr>
          <a:xfrm>
            <a:off x="8275320" y="4047628"/>
            <a:ext cx="3230575" cy="355353"/>
          </a:xfrm>
          <a:prstGeom prst="rect">
            <a:avLst/>
          </a:prstGeom>
          <a:noFill/>
        </p:spPr>
        <p:txBody>
          <a:bodyPr wrap="square" lIns="0" rIns="0" tIns="0" bIns="0" anchor="t">
            <a:spAutoFit/>
          </a:bodyPr>
          <a:lstStyle/>
          <a:p>
            <a:pPr algn="l">
              <a:lnSpc>
                <a:spcPct val="116000"/>
              </a:lnSpc>
              <a:spcAft>
                <a:spcPts val="600"/>
              </a:spcAft>
            </a:pPr>
            <a:r>
              <a:rPr sz="1650" b="0" i="0">
                <a:solidFill>
                  <a:srgbClr val="2E7D6F"/>
                </a:solidFill>
                <a:latin typeface="Calibri"/>
              </a:rPr>
              <a:t>VLOOKUP</a:t>
            </a:r>
          </a:p>
        </p:txBody>
      </p:sp>
      <p:sp>
        <p:nvSpPr>
          <p:cNvPr id="18" name="TextBox 17"/>
          <p:cNvSpPr txBox="1"/>
          <p:nvPr/>
        </p:nvSpPr>
        <p:spPr>
          <a:xfrm>
            <a:off x="685800" y="4485278"/>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validate</a:t>
            </a:r>
          </a:p>
        </p:txBody>
      </p:sp>
      <p:sp>
        <p:nvSpPr>
          <p:cNvPr id="19" name="TextBox 18"/>
          <p:cNvSpPr txBox="1"/>
          <p:nvPr/>
        </p:nvSpPr>
        <p:spPr>
          <a:xfrm>
            <a:off x="3154680" y="4485278"/>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An argument that makes pandas REFUSE a merge that would multiply rows, instead of silently doing it.</a:t>
            </a:r>
          </a:p>
        </p:txBody>
      </p:sp>
      <p:sp>
        <p:nvSpPr>
          <p:cNvPr id="20" name="TextBox 19"/>
          <p:cNvSpPr txBox="1"/>
          <p:nvPr/>
        </p:nvSpPr>
        <p:spPr>
          <a:xfrm>
            <a:off x="8275320" y="4485278"/>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Reproduce any of your SQL aggregates in pandas and get the same number.</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Merge two frames and check the result rather than hoping.</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Explain a difference between two tools that should agree.</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9 of 15  ·  Python  ·  Grouping and joining in pandas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Your SQL and your pandas give different answers.</a:t>
            </a:r>
          </a:p>
          <a:p>
            <a:pPr algn="l">
              <a:lnSpc>
                <a:spcPct val="115000"/>
              </a:lnSpc>
              <a:spcAft>
                <a:spcPts val="600"/>
              </a:spcAft>
            </a:pPr>
            <a:r>
              <a:rPr sz="3400" b="0" i="1">
                <a:solidFill>
                  <a:srgbClr val="FFFFFF"/>
                </a:solidFill>
                <a:latin typeface="Cambria"/>
              </a:rPr>
              <a:t>Which one is wrong?</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Usually neither. They are answering slightly different questions, and finding out which is the actual skill.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groupby: split, apply, combine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groupby as split, apply, combine, said in those words and then shown. One key, several keys, several aggregations at once, named output columns, and reset_index, which is the four characters that turn a confusing result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groupby</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Split the rows into groups, apply an aggregation to each, combine the results into a new table. It is SQL's GROUP BY and it is your pivot table.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sales.groupby("region")["revenue"].sum() gives one number per region. Add .reset_index() and you get a proper table instead of something with a surprising index.</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pivot table. Third time you have met this idea, and that is deliberate: pivot, then GROUP BY, then groupby.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Index</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labels down the side of a DataFrame. After a groupby your grouping keys become the index rather than columns, which is the commonest confusion in pandas.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by_region["region"] raises KeyError because region is the index. .reset_index() moves it back into a column and everything downstream behaves as you expected.</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Row headers. In Excel they are just the leftmost column; in pandas they are a separate thing with its own rules.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merge, and validate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merge is pandas' join. validate is the argument that makes it REFUSE a join that would multiply rows instead of silently doing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validate="many_to_one" raises MergeError if the right side has duplicate keys. There is no reason not to pass it, and SQL has no equivalent.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VLOOKUP, with a safety catch VLOOKUP does not have.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groupby, and the four characters that fix it</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52104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228441"/>
          </a:xfrm>
          <a:prstGeom prst="rect">
            <a:avLst/>
          </a:prstGeom>
          <a:noFill/>
        </p:spPr>
        <p:txBody>
          <a:bodyPr wrap="square" lIns="0" rIns="0" tIns="0" bIns="0" anchor="t">
            <a:spAutoFit/>
          </a:bodyPr>
          <a:lstStyle/>
          <a:p>
            <a:pPr algn="l">
              <a:lnSpc>
                <a:spcPts val="1795"/>
              </a:lnSpc>
              <a:spcAft>
                <a:spcPts val="0"/>
              </a:spcAft>
            </a:pPr>
            <a:r>
              <a:rPr sz="1320" b="0" i="0">
                <a:solidFill>
                  <a:srgbClr val="D8E3EC"/>
                </a:solidFill>
                <a:latin typeface="Courier New"/>
              </a:rPr>
              <a:t>sales["revenue"] = (sales["quantity"] * sales["unit_price"]</a:t>
            </a:r>
          </a:p>
          <a:p>
            <a:pPr algn="l">
              <a:lnSpc>
                <a:spcPts val="1795"/>
              </a:lnSpc>
              <a:spcAft>
                <a:spcPts val="0"/>
              </a:spcAft>
            </a:pPr>
            <a:r>
              <a:rPr sz="1320" b="0" i="0">
                <a:solidFill>
                  <a:srgbClr val="D8E3EC"/>
                </a:solidFill>
                <a:latin typeface="Courier New"/>
              </a:rPr>
              <a:t>                     * (1 - sales["discount"]))</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 one key</a:t>
            </a:r>
          </a:p>
          <a:p>
            <a:pPr algn="l">
              <a:lnSpc>
                <a:spcPts val="1795"/>
              </a:lnSpc>
              <a:spcAft>
                <a:spcPts val="0"/>
              </a:spcAft>
            </a:pPr>
            <a:r>
              <a:rPr sz="1320" b="0" i="0">
                <a:solidFill>
                  <a:srgbClr val="D8E3EC"/>
                </a:solidFill>
                <a:latin typeface="Courier New"/>
              </a:rPr>
              <a:t>sales.groupby("product_id")["revenue"].sum().head()</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 several aggregations at once, with readable output names</a:t>
            </a:r>
          </a:p>
          <a:p>
            <a:pPr algn="l">
              <a:lnSpc>
                <a:spcPts val="1795"/>
              </a:lnSpc>
              <a:spcAft>
                <a:spcPts val="0"/>
              </a:spcAft>
            </a:pPr>
            <a:r>
              <a:rPr sz="1320" b="0" i="0">
                <a:solidFill>
                  <a:srgbClr val="D8E3EC"/>
                </a:solidFill>
                <a:latin typeface="Courier New"/>
              </a:rPr>
              <a:t>by_cat = (sales.groupby("category")</a:t>
            </a:r>
          </a:p>
          <a:p>
            <a:pPr algn="l">
              <a:lnSpc>
                <a:spcPts val="1795"/>
              </a:lnSpc>
              <a:spcAft>
                <a:spcPts val="0"/>
              </a:spcAft>
            </a:pPr>
            <a:r>
              <a:rPr sz="1320" b="0" i="0">
                <a:solidFill>
                  <a:srgbClr val="D8E3EC"/>
                </a:solidFill>
                <a:latin typeface="Courier New"/>
              </a:rPr>
              <a:t>          .agg(revenue_ugx=("revenue", "sum"),</a:t>
            </a:r>
          </a:p>
          <a:p>
            <a:pPr algn="l">
              <a:lnSpc>
                <a:spcPts val="1795"/>
              </a:lnSpc>
              <a:spcAft>
                <a:spcPts val="0"/>
              </a:spcAft>
            </a:pPr>
            <a:r>
              <a:rPr sz="1320" b="0" i="0">
                <a:solidFill>
                  <a:srgbClr val="D8E3EC"/>
                </a:solidFill>
                <a:latin typeface="Courier New"/>
              </a:rPr>
              <a:t>               lines=("revenue", "size"),</a:t>
            </a:r>
          </a:p>
          <a:p>
            <a:pPr algn="l">
              <a:lnSpc>
                <a:spcPts val="1795"/>
              </a:lnSpc>
              <a:spcAft>
                <a:spcPts val="0"/>
              </a:spcAft>
            </a:pPr>
            <a:r>
              <a:rPr sz="1320" b="0" i="0">
                <a:solidFill>
                  <a:srgbClr val="D8E3EC"/>
                </a:solidFill>
                <a:latin typeface="Courier New"/>
              </a:rPr>
              <a:t>               mean_line=("revenue", "mean"))</a:t>
            </a:r>
          </a:p>
          <a:p>
            <a:pPr algn="l">
              <a:lnSpc>
                <a:spcPts val="1795"/>
              </a:lnSpc>
              <a:spcAft>
                <a:spcPts val="0"/>
              </a:spcAft>
            </a:pPr>
            <a:r>
              <a:rPr sz="1320" b="0" i="0">
                <a:solidFill>
                  <a:srgbClr val="D8E3EC"/>
                </a:solidFill>
                <a:latin typeface="Courier New"/>
              </a:rPr>
              <a:t>          .reset_index()</a:t>
            </a:r>
          </a:p>
          <a:p>
            <a:pPr algn="l">
              <a:lnSpc>
                <a:spcPts val="1795"/>
              </a:lnSpc>
              <a:spcAft>
                <a:spcPts val="0"/>
              </a:spcAft>
            </a:pPr>
            <a:r>
              <a:rPr sz="1320" b="0" i="0">
                <a:solidFill>
                  <a:srgbClr val="D8E3EC"/>
                </a:solidFill>
                <a:latin typeface="Courier New"/>
              </a:rPr>
              <a:t>          .sort_values("revenue_ugx", ascending=False))</a:t>
            </a:r>
          </a:p>
          <a:p>
            <a:pPr algn="l">
              <a:lnSpc>
                <a:spcPts val="1795"/>
              </a:lnSpc>
              <a:spcAft>
                <a:spcPts val="0"/>
              </a:spcAft>
            </a:pPr>
            <a:r>
              <a:rPr sz="1320" b="0" i="0">
                <a:solidFill>
                  <a:srgbClr val="D8E3EC"/>
                </a:solidFill>
                <a:latin typeface="Courier New"/>
              </a:rPr>
              <a:t>by_cat</a:t>
            </a:r>
          </a:p>
        </p:txBody>
      </p:sp>
      <p:sp>
        <p:nvSpPr>
          <p:cNvPr id="7" name="Rounded Rectangle 6"/>
          <p:cNvSpPr/>
          <p:nvPr/>
        </p:nvSpPr>
        <p:spPr>
          <a:xfrm>
            <a:off x="685800" y="565160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6074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Leave off .reset_index() and then ask for by_cat["category"]. KeyError, because category is the index and not a column. Four characters, and it is the single most common pandas confusion.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merge, and reconciling two tools</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merge: the how argument against SQL's join types, indicator to see what matched, and validate to make pandas raise rather than fan out. Then the reconciliation: the same report from SQL and from pandas, set side by side,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merge, with the guard rails on</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orders = pd.read_csv("data/orders.csv")</a:t>
            </a:r>
          </a:p>
          <a:p>
            <a:pPr algn="l">
              <a:lnSpc>
                <a:spcPts val="2333"/>
              </a:lnSpc>
              <a:spcAft>
                <a:spcPts val="0"/>
              </a:spcAft>
            </a:pPr>
            <a:r>
              <a:rPr sz="1716" b="0" i="0">
                <a:solidFill>
                  <a:srgbClr val="D8E3EC"/>
                </a:solidFill>
                <a:latin typeface="Courier New"/>
              </a:rPr>
              <a:t>cust   = pd.read_csv("data/customers.csv")</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how= is SQL's join type. validate= is the guard SQL lacks.</a:t>
            </a:r>
          </a:p>
          <a:p>
            <a:pPr algn="l">
              <a:lnSpc>
                <a:spcPts val="2333"/>
              </a:lnSpc>
              <a:spcAft>
                <a:spcPts val="0"/>
              </a:spcAft>
            </a:pPr>
            <a:r>
              <a:rPr sz="1716" b="0" i="0">
                <a:solidFill>
                  <a:srgbClr val="D8E3EC"/>
                </a:solidFill>
                <a:latin typeface="Courier New"/>
              </a:rPr>
              <a:t>j = orders.merge(cust, on="customer_id", how="left",</a:t>
            </a:r>
          </a:p>
          <a:p>
            <a:pPr algn="l">
              <a:lnSpc>
                <a:spcPts val="2333"/>
              </a:lnSpc>
              <a:spcAft>
                <a:spcPts val="0"/>
              </a:spcAft>
            </a:pPr>
            <a:r>
              <a:rPr sz="1716" b="0" i="0">
                <a:solidFill>
                  <a:srgbClr val="D8E3EC"/>
                </a:solidFill>
                <a:latin typeface="Courier New"/>
              </a:rPr>
              <a:t>                 validate="many_to_one", indicator=True)</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len(orders), len(j)          # 6,000, 6,000</a:t>
            </a:r>
          </a:p>
          <a:p>
            <a:pPr algn="l">
              <a:lnSpc>
                <a:spcPts val="2333"/>
              </a:lnSpc>
              <a:spcAft>
                <a:spcPts val="0"/>
              </a:spcAft>
            </a:pPr>
            <a:r>
              <a:rPr sz="1716" b="0" i="0">
                <a:solidFill>
                  <a:srgbClr val="D8E3EC"/>
                </a:solidFill>
                <a:latin typeface="Courier New"/>
              </a:rPr>
              <a:t>j["_merge"].value_counts()</a:t>
            </a:r>
          </a:p>
          <a:p>
            <a:pPr algn="l">
              <a:lnSpc>
                <a:spcPts val="2333"/>
              </a:lnSpc>
              <a:spcAft>
                <a:spcPts val="0"/>
              </a:spcAft>
            </a:pPr>
            <a:r>
              <a:rPr sz="1716" b="0" i="0">
                <a:solidFill>
                  <a:srgbClr val="D8E3EC"/>
                </a:solidFill>
                <a:latin typeface="Courier New"/>
              </a:rPr>
              <a:t># left_only is the 172 walk-in orders, worth UGX 390,632,335</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Change how="left" to how="inner" and the row count drops to 5,828. Same data, same merge, UGX 390,632,335 gone. Print the length before and after EVERY merge, exactly as you check the row count in SQL.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three tables meeting, so region and month exist</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564785"/>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272177"/>
          </a:xfrm>
          <a:prstGeom prst="rect">
            <a:avLst/>
          </a:prstGeom>
          <a:noFill/>
        </p:spPr>
        <p:txBody>
          <a:bodyPr wrap="square" lIns="0" rIns="0" tIns="0" bIns="0" anchor="t">
            <a:spAutoFit/>
          </a:bodyPr>
          <a:lstStyle/>
          <a:p>
            <a:pPr algn="l">
              <a:lnSpc>
                <a:spcPts val="1795"/>
              </a:lnSpc>
              <a:spcAft>
                <a:spcPts val="0"/>
              </a:spcAft>
            </a:pPr>
            <a:r>
              <a:rPr sz="1320" b="0" i="0">
                <a:solidFill>
                  <a:srgbClr val="D8E3EC"/>
                </a:solidFill>
                <a:latin typeface="Courier New"/>
              </a:rPr>
              <a:t># revenue is on the LINES, region on the customer, month on</a:t>
            </a:r>
          </a:p>
          <a:p>
            <a:pPr algn="l">
              <a:lnSpc>
                <a:spcPts val="1795"/>
              </a:lnSpc>
              <a:spcAft>
                <a:spcPts val="0"/>
              </a:spcAft>
            </a:pPr>
            <a:r>
              <a:rPr sz="1320" b="0" i="0">
                <a:solidFill>
                  <a:srgbClr val="D8E3EC"/>
                </a:solidFill>
                <a:latin typeface="Courier New"/>
              </a:rPr>
              <a:t># the order. All three have to meet before you can group.</a:t>
            </a:r>
          </a:p>
          <a:p>
            <a:pPr algn="l">
              <a:lnSpc>
                <a:spcPts val="1795"/>
              </a:lnSpc>
              <a:spcAft>
                <a:spcPts val="0"/>
              </a:spcAft>
            </a:pPr>
            <a:r>
              <a:rPr sz="1320" b="0" i="0">
                <a:solidFill>
                  <a:srgbClr val="D8E3EC"/>
                </a:solidFill>
                <a:latin typeface="Courier New"/>
              </a:rPr>
              <a:t>lines = (sales</a:t>
            </a:r>
          </a:p>
          <a:p>
            <a:pPr algn="l">
              <a:lnSpc>
                <a:spcPts val="1795"/>
              </a:lnSpc>
              <a:spcAft>
                <a:spcPts val="0"/>
              </a:spcAft>
            </a:pPr>
            <a:r>
              <a:rPr sz="1320" b="0" i="0">
                <a:solidFill>
                  <a:srgbClr val="D8E3EC"/>
                </a:solidFill>
                <a:latin typeface="Courier New"/>
              </a:rPr>
              <a:t>         .merge(orders[["order_id", "order_date", "status",</a:t>
            </a:r>
          </a:p>
          <a:p>
            <a:pPr algn="l">
              <a:lnSpc>
                <a:spcPts val="1795"/>
              </a:lnSpc>
              <a:spcAft>
                <a:spcPts val="0"/>
              </a:spcAft>
            </a:pPr>
            <a:r>
              <a:rPr sz="1320" b="0" i="0">
                <a:solidFill>
                  <a:srgbClr val="D8E3EC"/>
                </a:solidFill>
                <a:latin typeface="Courier New"/>
              </a:rPr>
              <a:t>                        "customer_id"]],</a:t>
            </a:r>
          </a:p>
          <a:p>
            <a:pPr algn="l">
              <a:lnSpc>
                <a:spcPts val="1795"/>
              </a:lnSpc>
              <a:spcAft>
                <a:spcPts val="0"/>
              </a:spcAft>
            </a:pPr>
            <a:r>
              <a:rPr sz="1320" b="0" i="0">
                <a:solidFill>
                  <a:srgbClr val="D8E3EC"/>
                </a:solidFill>
                <a:latin typeface="Courier New"/>
              </a:rPr>
              <a:t>                on="order_id", how="left")</a:t>
            </a:r>
          </a:p>
          <a:p>
            <a:pPr algn="l">
              <a:lnSpc>
                <a:spcPts val="1795"/>
              </a:lnSpc>
              <a:spcAft>
                <a:spcPts val="0"/>
              </a:spcAft>
            </a:pPr>
            <a:r>
              <a:rPr sz="1320" b="0" i="0">
                <a:solidFill>
                  <a:srgbClr val="D8E3EC"/>
                </a:solidFill>
                <a:latin typeface="Courier New"/>
              </a:rPr>
              <a:t>         .merge(cust[["customer_id", "region"]],</a:t>
            </a:r>
          </a:p>
          <a:p>
            <a:pPr algn="l">
              <a:lnSpc>
                <a:spcPts val="1795"/>
              </a:lnSpc>
              <a:spcAft>
                <a:spcPts val="0"/>
              </a:spcAft>
            </a:pPr>
            <a:r>
              <a:rPr sz="1320" b="0" i="0">
                <a:solidFill>
                  <a:srgbClr val="D8E3EC"/>
                </a:solidFill>
                <a:latin typeface="Courier New"/>
              </a:rPr>
              <a:t>                on="customer_id", how="left"))</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lines["month"] = (pd.to_datetime(lines["order_date"])</a:t>
            </a:r>
          </a:p>
          <a:p>
            <a:pPr algn="l">
              <a:lnSpc>
                <a:spcPts val="1795"/>
              </a:lnSpc>
              <a:spcAft>
                <a:spcPts val="0"/>
              </a:spcAft>
            </a:pPr>
            <a:r>
              <a:rPr sz="1320" b="0" i="0">
                <a:solidFill>
                  <a:srgbClr val="D8E3EC"/>
                </a:solidFill>
                <a:latin typeface="Courier New"/>
              </a:rPr>
              <a:t>                   .dt.strftime("%Y-%m"))</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out = (lines[lines["status"] == "Delivered"]</a:t>
            </a:r>
          </a:p>
          <a:p>
            <a:pPr algn="l">
              <a:lnSpc>
                <a:spcPts val="1795"/>
              </a:lnSpc>
              <a:spcAft>
                <a:spcPts val="0"/>
              </a:spcAft>
            </a:pPr>
            <a:r>
              <a:rPr sz="1320" b="0" i="0">
                <a:solidFill>
                  <a:srgbClr val="D8E3EC"/>
                </a:solidFill>
                <a:latin typeface="Courier New"/>
              </a:rPr>
              <a:t>       .groupby(["region", "month"])["revenue"]</a:t>
            </a:r>
          </a:p>
          <a:p>
            <a:pPr algn="l">
              <a:lnSpc>
                <a:spcPts val="1795"/>
              </a:lnSpc>
              <a:spcAft>
                <a:spcPts val="0"/>
              </a:spcAft>
            </a:pPr>
            <a:r>
              <a:rPr sz="1320" b="0" i="0">
                <a:solidFill>
                  <a:srgbClr val="D8E3EC"/>
                </a:solidFill>
                <a:latin typeface="Courier New"/>
              </a:rPr>
              <a:t>       .sum().reset_index())</a:t>
            </a:r>
          </a:p>
        </p:txBody>
      </p:sp>
      <p:sp>
        <p:nvSpPr>
          <p:cNvPr id="7" name="Rounded Rectangle 6"/>
          <p:cNvSpPr/>
          <p:nvPr/>
        </p:nvSpPr>
        <p:spPr>
          <a:xfrm>
            <a:off x="685800" y="5695337"/>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704481"/>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Check lines["region"].isna().sum(). It is not zero: the walk-in lines have no region because the left merge kept them, which is what you wanted. Now you have to decide what a regional total means, and say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Reconciling two tools, properly</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Same question, same data, different tool. They have to agree, and where they do not you have found something.</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Export the SQL answer to CSV and read both results into pandas.</a:t>
            </a:r>
          </a:p>
        </p:txBody>
      </p:sp>
      <p:sp>
        <p:nvSpPr>
          <p:cNvPr id="8" name="Rounded Rectangle 7"/>
          <p:cNvSpPr/>
          <p:nvPr/>
        </p:nvSpPr>
        <p:spPr>
          <a:xfrm>
            <a:off x="685800" y="3258366"/>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Merge them on rep and month with indicator=True. Any left_only or right_only row is a difference in WHICH ROWS, not in the arithmetic.</a:t>
            </a:r>
          </a:p>
        </p:txBody>
      </p:sp>
      <p:sp>
        <p:nvSpPr>
          <p:cNvPr id="11" name="Rounded Rectangle 10"/>
          <p:cNvSpPr/>
          <p:nvPr/>
        </p:nvSpPr>
        <p:spPr>
          <a:xfrm>
            <a:off x="685800" y="410923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416410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415495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For rows in both, subtract. A few shillings is rounding; thousands is a filter or a join.</a:t>
            </a:r>
          </a:p>
        </p:txBody>
      </p:sp>
      <p:sp>
        <p:nvSpPr>
          <p:cNvPr id="14" name="Rounded Rectangle 13"/>
          <p:cNvSpPr/>
          <p:nvPr/>
        </p:nvSpPr>
        <p:spPr>
          <a:xfrm>
            <a:off x="685800" y="4635255"/>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69011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680975"/>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Check the three usual suspects in order: the status filter, the date window, and whether one side dropped the 172 rows with no customer.</a:t>
            </a:r>
          </a:p>
        </p:txBody>
      </p:sp>
      <p:sp>
        <p:nvSpPr>
          <p:cNvPr id="17" name="Rounded Rectangle 16"/>
          <p:cNvSpPr/>
          <p:nvPr/>
        </p:nvSpPr>
        <p:spPr>
          <a:xfrm>
            <a:off x="685800" y="548612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554098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553184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Name every difference. Then stop: a named difference is finished.</a:t>
            </a:r>
          </a:p>
        </p:txBody>
      </p:sp>
      <p:sp>
        <p:nvSpPr>
          <p:cNvPr id="20" name="Rounded Rectangle 19"/>
          <p:cNvSpPr/>
          <p:nvPr/>
        </p:nvSpPr>
        <p:spPr>
          <a:xfrm>
            <a:off x="685800" y="6067008"/>
            <a:ext cx="10820095" cy="640080"/>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6204168"/>
            <a:ext cx="10234879" cy="365759"/>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The commonest cause, by a long way, is one side filtering on status and the other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CHECKPOINT 2 · 15% OF THE MARK</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Checkpoint 2</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What to hand in</a:t>
            </a:r>
          </a:p>
        </p:txBody>
      </p:sp>
      <p:sp>
        <p:nvSpPr>
          <p:cNvPr id="5" name="TextBox 4"/>
          <p:cNvSpPr txBox="1"/>
          <p:nvPr/>
        </p:nvSpPr>
        <p:spPr>
          <a:xfrm>
            <a:off x="685800" y="2409332"/>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The pandas rebuild of the session 5 report.</a:t>
            </a:r>
          </a:p>
        </p:txBody>
      </p:sp>
      <p:sp>
        <p:nvSpPr>
          <p:cNvPr id="6" name="TextBox 5"/>
          <p:cNvSpPr txBox="1"/>
          <p:nvPr/>
        </p:nvSpPr>
        <p:spPr>
          <a:xfrm>
            <a:off x="685800" y="2870329"/>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A reconciliation against the SQL output, row by row.</a:t>
            </a:r>
          </a:p>
        </p:txBody>
      </p:sp>
      <p:sp>
        <p:nvSpPr>
          <p:cNvPr id="7" name="TextBox 6"/>
          <p:cNvSpPr txBox="1"/>
          <p:nvPr/>
        </p:nvSpPr>
        <p:spPr>
          <a:xfrm>
            <a:off x="685800" y="3691739"/>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The cleaning log from session 8 that produced your starting numbers.</a:t>
            </a:r>
          </a:p>
        </p:txBody>
      </p:sp>
      <p:sp>
        <p:nvSpPr>
          <p:cNvPr id="8" name="Rounded Rectangle 7"/>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How it is marked</a:t>
            </a:r>
          </a:p>
        </p:txBody>
      </p:sp>
      <p:sp>
        <p:nvSpPr>
          <p:cNvPr id="10" name="TextBox 9"/>
          <p:cNvSpPr txBox="1"/>
          <p:nvPr/>
        </p:nvSpPr>
        <p:spPr>
          <a:xfrm>
            <a:off x="6575907" y="2496312"/>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Do the numbers agree, and where they do not, is every difference named?</a:t>
            </a:r>
          </a:p>
        </p:txBody>
      </p:sp>
      <p:sp>
        <p:nvSpPr>
          <p:cNvPr id="11" name="TextBox 10"/>
          <p:cNvSpPr txBox="1"/>
          <p:nvPr/>
        </p:nvSpPr>
        <p:spPr>
          <a:xfrm>
            <a:off x="6575907" y="333503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Could somebody else reproduce your starting figures from the log alone?</a:t>
            </a:r>
          </a:p>
        </p:txBody>
      </p:sp>
      <p:sp>
        <p:nvSpPr>
          <p:cNvPr id="12" name="TextBox 11"/>
          <p:cNvSpPr txBox="1"/>
          <p:nvPr/>
        </p:nvSpPr>
        <p:spPr>
          <a:xfrm>
            <a:off x="6575907" y="4173759"/>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Finding a genuine difference and explaining it scores higher than a clean match you cannot account for.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A merge that silently multiplies rows. validate turns that into an exception instead of a wrong number.</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9 of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groupby result will not let you select a column you can see. Why?</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merge turned 6,000 rows into 20,234. What happened?</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SQL says one figure and pandas says a smaller one. Where do you look first?</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Cannot select a column you can see</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It is in the index, not the columns. .reset_index() moves the grouping keys back and everything downstream works.</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A merge that multiplied the rows</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Fan-out: the right-hand side had several rows per key, so every left row was repeated once per match. Pass validate="one_to_many" and pandas raises instead. Aggregate the many side first, then merge.</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A gap between SQL and pandas</a:t>
            </a:r>
          </a:p>
        </p:txBody>
      </p:sp>
      <p:sp>
        <p:nvSpPr>
          <p:cNvPr id="12" name="TextBox 11"/>
          <p:cNvSpPr txBox="1"/>
          <p:nvPr/>
        </p:nvSpPr>
        <p:spPr>
          <a:xfrm>
            <a:off x="1216152" y="4502090"/>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 filters, first and always: status, the date window, and whether one side dropped the 172 rows with no customer. That last one alone is UGX 390,632,335. Only look at the arithmetic once the row sets match.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Reconcile pandas against SQL</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Rebuild the rep revenue report in pandas and set it beside your SQL output. Any difference is a finding, and finding one is a pass. A clean match you cannot explain is not.</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Rebuild the report with groupby and merge.</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Print the row count after every merge.</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Merge your result against the SQL output with indicator=True.</a:t>
            </a:r>
          </a:p>
        </p:txBody>
      </p:sp>
      <p:sp>
        <p:nvSpPr>
          <p:cNvPr id="10" name="TextBox 9"/>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List every difference and name the cause of each.</a:t>
            </a:r>
          </a:p>
        </p:txBody>
      </p:sp>
      <p:sp>
        <p:nvSpPr>
          <p:cNvPr id="11" name="TextBox 10"/>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Submit with the cleaning log from last session.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Reproduce any of your SQL aggregates in pandas and get the same number.</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Merge two frames and check the result rather than hoping.</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Explain a difference between two tools that should agree.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Take one report somebody at work produces by hand every month and write the pandas that would produce it. It does not have to run yet.</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Two tools, one answer</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Getting the same number twice, two different ways, is the only self-check available to somebody working alone. It is also the first thing you will be asked for when a number of yours is doubted.</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week: what the numbers mean, starting from what a statistic 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