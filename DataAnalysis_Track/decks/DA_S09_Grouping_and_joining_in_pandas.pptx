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10006.xml" ContentType="application/vnd.openxmlformats-officedocument.presentationml.notesSlide+xml"/>
  <Override PartName="/ppt/notesSlides/notesSlide1001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0006.xml.rels><?xml version='1.0' encoding='utf-8'?>
<ns0:Relationships xmlns:ns0="http://schemas.openxmlformats.org/package/2006/relationships"><ns0:Relationship Id="rId1" Type="http://schemas.openxmlformats.org/officeDocument/2006/relationships/notesMaster" Target="../notesMasters/notesMaster1.xml" /><ns0:Relationship Id="rId2" Type="http://schemas.openxmlformats.org/officeDocument/2006/relationships/slide" Target="../slides/slide6.xml" /></ns0:Relationships>
</file>

<file path=ppt/notesSlides/_rels/notesSlide10012.xml.rels><?xml version='1.0' encoding='utf-8'?>
<ns0:Relationships xmlns:ns0="http://schemas.openxmlformats.org/package/2006/relationships"><ns0:Relationship Id="rId1" Type="http://schemas.openxmlformats.org/officeDocument/2006/relationships/notesMaster" Target="../notesMasters/notesMaster1.xml" /><ns0:Relationship Id="rId2" Type="http://schemas.openxmlformats.org/officeDocument/2006/relationships/slide" Target="../slides/slide12.xml" /></ns0: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Grouping and joining in pandas</a:t>
            </a:r>
          </a:p>
          <a:p>
            <a:r>
              <a:t/>
            </a:r>
          </a:p>
          <a:p>
            <a:r>
              <a:t>LECTURER CUE</a:t>
            </a:r>
          </a:p>
          <a:p>
            <a:r>
              <a:t>Start on time.</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Where tonight sits.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Where tonight sits</a:t>
            </a:r>
          </a:p>
          <a:p>
            <a:r>
              <a:t/>
            </a:r>
          </a:p>
          <a:p>
            <a:r>
              <a:t>CONNECT</a:t>
            </a:r>
          </a:p>
          <a:p>
            <a:r>
              <a:t>Build on the preceding slide: Grouping and joining in pandas.</a:t>
            </a:r>
          </a:p>
          <a:p>
            <a:r>
              <a:t/>
            </a:r>
          </a:p>
          <a:p>
            <a:r>
              <a:t>LECTURER CUE</a:t>
            </a:r>
          </a:p>
          <a:p>
            <a:r>
              <a:t>Tonight is session 9 of fifteen.</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The words for tonight.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words for tonight</a:t>
            </a:r>
          </a:p>
          <a:p>
            <a:r>
              <a:t/>
            </a:r>
          </a:p>
          <a:p>
            <a:r>
              <a:t>CONNECT</a:t>
            </a:r>
          </a:p>
          <a:p>
            <a:r>
              <a:t>Build on the preceding slide: Where tonight sits.</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By the end of tonight you can….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By the end of tonight you can…</a:t>
            </a:r>
          </a:p>
          <a:p>
            <a:r>
              <a:t/>
            </a:r>
          </a:p>
          <a:p>
            <a:r>
              <a:t>CONNECT</a:t>
            </a:r>
          </a:p>
          <a:p>
            <a:r>
              <a:t>Build on the preceding slide: The words for tonight.</a:t>
            </a:r>
          </a:p>
          <a:p>
            <a:r>
              <a:t/>
            </a:r>
          </a:p>
          <a:p>
            <a:r>
              <a:t>LECTURER CUE</a:t>
            </a:r>
          </a:p>
          <a:p>
            <a:r>
              <a:t>These three are what tonight is marked against, in the sense that the lab checks them.</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Your SQL and your pandas give different answers..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Your SQL and your pandas give different answers.</a:t>
            </a:r>
          </a:p>
          <a:p>
            <a:r>
              <a:t/>
            </a:r>
          </a:p>
          <a:p>
            <a:r>
              <a:t>CONNECT</a:t>
            </a:r>
          </a:p>
          <a:p>
            <a:r>
              <a:t>Build on the preceding slide: By the end of tonight you can….</a:t>
            </a:r>
          </a:p>
          <a:p>
            <a:r>
              <a:t/>
            </a:r>
          </a:p>
          <a:p>
            <a:r>
              <a:t>LECTURER CUE</a:t>
            </a:r>
          </a:p>
          <a:p>
            <a:r>
              <a:t>Usually neither. They are answering slightly different questions, and finding out which is the actual skill.</a:t>
            </a:r>
          </a:p>
          <a:p>
            <a:r>
              <a:t/>
            </a:r>
          </a:p>
          <a:p>
            <a:r>
              <a:t>EXPLAIN IN ORDINARY WORDS</a:t>
            </a:r>
          </a:p>
          <a:p>
            <a:r>
              <a:t>A DataFrame is a labelled table. A Series is a single labelled sequence, often one column. A dtype describes stored values, but the import may infer something unsuitable.</a:t>
            </a:r>
          </a:p>
          <a:p>
            <a:r>
              <a:t/>
            </a:r>
          </a:p>
          <a:p>
            <a:r>
              <a:t>CHECK AND EXPECTED ANSWER</a:t>
            </a:r>
          </a:p>
          <a:p>
            <a:r>
              <a:t>Does a price that looks numeric prove the column is numeric? No. Inspect its dtype and troublesome values before conversion.</a:t>
            </a:r>
          </a:p>
          <a:p>
            <a:r>
              <a:t/>
            </a:r>
          </a:p>
          <a:p>
            <a:r>
              <a:t>IF LEARNERS ARE STUCK</a:t>
            </a:r>
          </a:p>
          <a:p>
            <a:r>
              <a:t>Use head, shape and dtypes to locate the table, count rows/columns and inspect storage. Check units and missing values before calculating.</a:t>
            </a:r>
          </a:p>
          <a:p>
            <a:r>
              <a:t/>
            </a:r>
          </a:p>
          <a:p>
            <a:r>
              <a:t>NEXT</a:t>
            </a:r>
          </a:p>
          <a:p>
            <a:r>
              <a:t>groupby: split, apply, combine.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groupby</a:t>
            </a:r>
          </a:p>
          <a:p>
            <a:r>
              <a:t/>
            </a:r>
          </a:p>
          <a:p>
            <a:r>
              <a:t>CONNECT</a:t>
            </a:r>
          </a:p>
          <a:p>
            <a:r>
              <a:t>Build on the preceding slide: groupby: split, apply, combine.</a:t>
            </a:r>
          </a:p>
          <a:p>
            <a:r>
              <a:t/>
            </a:r>
          </a:p>
          <a:p>
            <a:r>
              <a:t>LECTURER CUE</a:t>
            </a:r>
          </a:p>
          <a:p>
            <a:r>
              <a:t>Split the rows into groups, apply an aggregation to each, combine the results into a new table. It is SQL's GROUP BY and it is your pivot table.</a:t>
            </a:r>
          </a:p>
          <a:p>
            <a:r>
              <a:t/>
            </a:r>
          </a:p>
          <a:p>
            <a:r>
              <a:t>EXPLAIN IN ORDINARY WORDS</a:t>
            </a:r>
          </a:p>
          <a:p>
            <a:r>
              <a:t>Grouping puts rows sharing a key into buckets, then computes a result for each bucket. WHERE filters rows before SQL grouping; HAVING filters grouped results.</a:t>
            </a:r>
          </a:p>
          <a:p>
            <a:r>
              <a:t/>
            </a:r>
          </a:p>
          <a:p>
            <a:r>
              <a:t>CHECK AND EXPECTED ANSWER</a:t>
            </a:r>
          </a:p>
          <a:p>
            <a:r>
              <a:t>Which condition keeps only groups with more than five rows? HAVING COUNT(*) &gt; 5.</a:t>
            </a:r>
          </a:p>
          <a:p>
            <a:r>
              <a:t/>
            </a:r>
          </a:p>
          <a:p>
            <a:r>
              <a:t>IF LEARNERS ARE STUCK</a:t>
            </a:r>
          </a:p>
          <a:p>
            <a:r>
              <a:t>Draw two buckets and count by hand. Name the intended output grain before writing the aggregation.</a:t>
            </a:r>
          </a:p>
          <a:p>
            <a:r>
              <a:t/>
            </a:r>
          </a:p>
          <a:p>
            <a:r>
              <a:t>NEXT</a:t>
            </a:r>
          </a:p>
          <a:p>
            <a:r>
              <a:t>Index.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Index</a:t>
            </a:r>
          </a:p>
          <a:p>
            <a:r>
              <a:t/>
            </a:r>
          </a:p>
          <a:p>
            <a:r>
              <a:t>CONNECT</a:t>
            </a:r>
          </a:p>
          <a:p>
            <a:r>
              <a:t>Build on the preceding slide: groupby.</a:t>
            </a:r>
          </a:p>
          <a:p>
            <a:r>
              <a:t/>
            </a:r>
          </a:p>
          <a:p>
            <a:r>
              <a:t>LECTURER CUE</a:t>
            </a:r>
          </a:p>
          <a:p>
            <a:r>
              <a:t>The labels down the side of a DataFrame. After a groupby your grouping keys become the index rather than columns, which is the commonest confusion in pandas.</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NEXT</a:t>
            </a:r>
          </a:p>
          <a:p>
            <a:r>
              <a:t>merge, and validate.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merge, and validate</a:t>
            </a:r>
          </a:p>
          <a:p>
            <a:r>
              <a:t/>
            </a:r>
          </a:p>
          <a:p>
            <a:r>
              <a:t>CONNECT</a:t>
            </a:r>
          </a:p>
          <a:p>
            <a:r>
              <a:t>Build on the preceding slide: Index.</a:t>
            </a:r>
          </a:p>
          <a:p>
            <a:r>
              <a:t/>
            </a:r>
          </a:p>
          <a:p>
            <a:r>
              <a:t>LECTURER CUE</a:t>
            </a:r>
          </a:p>
          <a:p>
            <a:r>
              <a:t>merge is pandas' join. validate is the argument that makes it REFUSE a join that would multiply rows instead of silently doing it.</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groupby, and the four characters that fix it.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groupby, and the four characters that fix it</a:t>
            </a:r>
          </a:p>
          <a:p>
            <a:r>
              <a:t/>
            </a:r>
          </a:p>
          <a:p>
            <a:r>
              <a:t>CONNECT</a:t>
            </a:r>
          </a:p>
          <a:p>
            <a:r>
              <a:t>Build on the preceding slide: merge, and validate.</a:t>
            </a:r>
          </a:p>
          <a:p>
            <a:r>
              <a:t/>
            </a:r>
          </a:p>
          <a:p>
            <a:r>
              <a:t>EXPLAIN IN ORDINARY WORDS</a:t>
            </a:r>
          </a:p>
          <a:p>
            <a:r>
              <a:t>Grouping puts rows sharing a key into buckets, then computes a result for each bucket. WHERE filters rows before SQL grouping; HAVING filters grouped results.</a:t>
            </a:r>
          </a:p>
          <a:p>
            <a:r>
              <a:t/>
            </a:r>
          </a:p>
          <a:p>
            <a:r>
              <a:t>CHECK AND EXPECTED ANSWER</a:t>
            </a:r>
          </a:p>
          <a:p>
            <a:r>
              <a:t>Which condition keeps only groups with more than five rows? HAVING COUNT(*) &gt; 5.</a:t>
            </a:r>
          </a:p>
          <a:p>
            <a:r>
              <a:t/>
            </a:r>
          </a:p>
          <a:p>
            <a:r>
              <a:t>IF LEARNERS ARE STUCK</a:t>
            </a:r>
          </a:p>
          <a:p>
            <a:r>
              <a:t>Draw two buckets and count by hand. Name the intended output grain before writing the aggregation.</a:t>
            </a:r>
          </a:p>
          <a:p>
            <a:r>
              <a:t/>
            </a:r>
          </a:p>
          <a:p>
            <a:r>
              <a:t>NEXT</a:t>
            </a:r>
          </a:p>
          <a:p>
            <a:r>
              <a:t>Break.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Break</a:t>
            </a:r>
          </a:p>
          <a:p>
            <a:r>
              <a:t/>
            </a:r>
          </a:p>
          <a:p>
            <a:r>
              <a:t>CONNECT</a:t>
            </a:r>
          </a:p>
          <a:p>
            <a:r>
              <a:t>Build on the preceding slide: groupby, and the four characters that fix it.</a:t>
            </a:r>
          </a:p>
          <a:p>
            <a:r>
              <a:t/>
            </a:r>
          </a:p>
          <a:p>
            <a:r>
              <a:t>LECTURER CUE</a:t>
            </a:r>
          </a:p>
          <a:p>
            <a:r>
              <a:t>Ten minutes.</a:t>
            </a:r>
          </a:p>
          <a:p>
            <a:r>
              <a:t/>
            </a:r>
          </a:p>
          <a:p>
            <a:r>
              <a:t>NEXT</a:t>
            </a:r>
          </a:p>
          <a:p>
            <a:r>
              <a:t>merge, and reconciling two tools.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merge, with the guard rails on</a:t>
            </a:r>
          </a:p>
          <a:p>
            <a:r>
              <a:t/>
            </a:r>
          </a:p>
          <a:p>
            <a:r>
              <a:t>CONNECT</a:t>
            </a:r>
          </a:p>
          <a:p>
            <a:r>
              <a:t>Build on the preceding slide: merge, and reconciling two tools.</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The same three tables meeting, so region and month exist.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same three tables meeting, so region and month exist</a:t>
            </a:r>
          </a:p>
          <a:p>
            <a:r>
              <a:t/>
            </a:r>
          </a:p>
          <a:p>
            <a:r>
              <a:t>CONNECT</a:t>
            </a:r>
          </a:p>
          <a:p>
            <a:r>
              <a:t>Build on the preceding slide: merge, with the guard rails on.</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Reconciling two tools, properly.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Reconciling two tools, properly</a:t>
            </a:r>
          </a:p>
          <a:p>
            <a:r>
              <a:t/>
            </a:r>
          </a:p>
          <a:p>
            <a:r>
              <a:t>CONNECT</a:t>
            </a:r>
          </a:p>
          <a:p>
            <a:r>
              <a:t>Build on the preceding slide: The same three tables meeting, so region and month exist.</a:t>
            </a:r>
          </a:p>
          <a:p>
            <a:r>
              <a:t/>
            </a:r>
          </a:p>
          <a:p>
            <a:r>
              <a:t>LECTURER CUE</a:t>
            </a:r>
          </a:p>
          <a:p>
            <a:r>
              <a:t>Same question, same data, different tool. They have to agree, and where they do not you have found something.</a:t>
            </a:r>
          </a:p>
          <a:p>
            <a:r>
              <a:t/>
            </a:r>
          </a:p>
          <a:p>
            <a:r>
              <a:t>EXPLAIN IN ORDINARY WORDS</a:t>
            </a:r>
          </a:p>
          <a:p>
            <a:r>
              <a:t>A category is a label, not an amount. Indicator columns record whether a row belongs to each category, usually with 0 or 1. Fit the encoding on training data and reuse it.</a:t>
            </a:r>
          </a:p>
          <a:p>
            <a:r>
              <a:t/>
            </a:r>
          </a:p>
          <a:p>
            <a:r>
              <a:t>CHECK AND EXPECTED ANSWER</a:t>
            </a:r>
          </a:p>
          <a:p>
            <a:r>
              <a:t>Does assigning red=1 and blue=2 mean blue is twice red? No, those are labels.</a:t>
            </a:r>
          </a:p>
          <a:p>
            <a:r>
              <a:t/>
            </a:r>
          </a:p>
          <a:p>
            <a:r>
              <a:t>IF LEARNERS ARE STUCK</a:t>
            </a:r>
          </a:p>
          <a:p>
            <a:r>
              <a:t>Make two rows and two category columns by hand before showing the encoder.</a:t>
            </a:r>
          </a:p>
          <a:p>
            <a:r>
              <a:t/>
            </a:r>
          </a:p>
          <a:p>
            <a:r>
              <a:t>NEXT</a:t>
            </a:r>
          </a:p>
          <a:p>
            <a:r>
              <a:t>Checkpoint 2.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Checkpoint 2</a:t>
            </a:r>
          </a:p>
          <a:p>
            <a:r>
              <a:t/>
            </a:r>
          </a:p>
          <a:p>
            <a:r>
              <a:t>CONNECT</a:t>
            </a:r>
          </a:p>
          <a:p>
            <a:r>
              <a:t>Build on the preceding slide: Reconciling two tools, properly.</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A merge that silently multiplies rows. validate turns that into an exception instead of a wrong number..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A merge that silently multiplies rows. validate turns that into an exception instead of a wrong number.</a:t>
            </a:r>
          </a:p>
          <a:p>
            <a:r>
              <a:t/>
            </a:r>
          </a:p>
          <a:p>
            <a:r>
              <a:t>CONNECT</a:t>
            </a:r>
          </a:p>
          <a:p>
            <a:r>
              <a:t>Build on the preceding slide: Checkpoint 2.</a:t>
            </a:r>
          </a:p>
          <a:p>
            <a:r>
              <a:t/>
            </a:r>
          </a:p>
          <a:p>
            <a:r>
              <a:t>LECTURER CUE</a:t>
            </a:r>
          </a:p>
          <a:p>
            <a:r>
              <a:t>A merge that silently multiplies rows. validate turns that into an exception instead of a wrong number.</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Can you answer these?.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Can you answer these?</a:t>
            </a:r>
          </a:p>
          <a:p>
            <a:r>
              <a:t/>
            </a:r>
          </a:p>
          <a:p>
            <a:r>
              <a:t>CONNECT</a:t>
            </a:r>
          </a:p>
          <a:p>
            <a:r>
              <a:t>Build on the preceding slide: A merge that silently multiplies rows. validate turns that into an exception instead of a wrong number..</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DISCUSSION KEY FOR THIS SLIDE</a:t>
            </a:r>
          </a:p>
          <a:p>
            <a:r>
              <a:t>ANSWERS</a:t>
            </a:r>
          </a:p>
          <a:p>
            <a:r>
              <a:t>How did you do?</a:t>
            </a:r>
          </a:p>
          <a:p>
            <a:r>
              <a:t>A</a:t>
            </a:r>
          </a:p>
          <a:p>
            <a:r>
              <a:t>Cannot select a column you can see</a:t>
            </a:r>
          </a:p>
          <a:p>
            <a:r>
              <a:t>It is in the index, not the columns. .reset_index() moves the grouping keys back and everything downstream works.</a:t>
            </a:r>
          </a:p>
          <a:p>
            <a:r>
              <a:t>B</a:t>
            </a:r>
          </a:p>
          <a:p>
            <a:r>
              <a:t>A merge that multiplied the rows</a:t>
            </a:r>
          </a:p>
          <a:p>
            <a:r>
              <a:t>Fan-out: the right-hand side had several rows per key, so every left row was repeated once per match. Pass validate="one_to_many" and pandas raises instead. Aggregate the many side first, then merge.</a:t>
            </a:r>
          </a:p>
          <a:p>
            <a:r>
              <a:t>C</a:t>
            </a:r>
          </a:p>
          <a:p>
            <a:r>
              <a:t>A gap between SQL and pandas</a:t>
            </a:r>
          </a:p>
          <a:p>
            <a:r>
              <a:t>The filters, first and always: status, the date window, and whether one side dropped the 172 rows with no customer. That last one alone is UGX 390,632,335. Only look at the arithmetic once the row sets match.</a:t>
            </a:r>
          </a:p>
          <a:p>
            <a:r>
              <a:t>Let learners attempt first; use this to explain the reasoning, not just reveal the answer.</a:t>
            </a:r>
          </a:p>
          <a:p>
            <a:r>
              <a:t/>
            </a:r>
          </a:p>
          <a:p>
            <a:r>
              <a:t>NEXT</a:t>
            </a:r>
          </a:p>
          <a:p>
            <a:r>
              <a:t>How did you do?.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How did you do?</a:t>
            </a:r>
          </a:p>
          <a:p>
            <a:r>
              <a:t/>
            </a:r>
          </a:p>
          <a:p>
            <a:r>
              <a:t>CONNECT</a:t>
            </a:r>
          </a:p>
          <a:p>
            <a:r>
              <a:t>Build on the preceding slide: Can you answer these?.</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Reconcile pandas against SQL.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Reconcile pandas against SQL</a:t>
            </a:r>
          </a:p>
          <a:p>
            <a:r>
              <a:t/>
            </a:r>
          </a:p>
          <a:p>
            <a:r>
              <a:t>CONNECT</a:t>
            </a:r>
          </a:p>
          <a:p>
            <a:r>
              <a:t>Build on the preceding slide: How did you do?.</a:t>
            </a:r>
          </a:p>
          <a:p>
            <a:r>
              <a:t/>
            </a:r>
          </a:p>
          <a:p>
            <a:r>
              <a:t>LECTURER CUE</a:t>
            </a:r>
          </a:p>
          <a:p>
            <a:r>
              <a:t>Rebuild the rep revenue report in pandas and set it beside your SQL output. Any difference is a finding, and finding one is a pass. A clean match you cannot explain is not.</a:t>
            </a:r>
          </a:p>
          <a:p>
            <a:r>
              <a:t/>
            </a:r>
          </a:p>
          <a:p>
            <a:r>
              <a:t>EXPLAIN IN ORDINARY WORDS</a:t>
            </a:r>
          </a:p>
          <a:p>
            <a:r>
              <a:t>A DataFrame is a labelled table. A Series is a single labelled sequence, often one column. A dtype describes stored values, but the import may infer something unsuitable.</a:t>
            </a:r>
          </a:p>
          <a:p>
            <a:r>
              <a:t/>
            </a:r>
          </a:p>
          <a:p>
            <a:r>
              <a:t>CHECK AND EXPECTED ANSWER</a:t>
            </a:r>
          </a:p>
          <a:p>
            <a:r>
              <a:t>Does a price that looks numeric prove the column is numeric? No. Inspect its dtype and troublesome values before conversion.</a:t>
            </a:r>
          </a:p>
          <a:p>
            <a:r>
              <a:t/>
            </a:r>
          </a:p>
          <a:p>
            <a:r>
              <a:t>IF LEARNERS ARE STUCK</a:t>
            </a:r>
          </a:p>
          <a:p>
            <a:r>
              <a:t>Use head, shape and dtypes to locate the table, count rows/columns and inspect storage. Check units and missing values before calculating.</a:t>
            </a:r>
          </a:p>
          <a:p>
            <a:r>
              <a:t/>
            </a:r>
          </a:p>
          <a:p>
            <a:r>
              <a:t>NEXT</a:t>
            </a:r>
          </a:p>
          <a:p>
            <a:r>
              <a:t>What you can do now.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What you can do now</a:t>
            </a:r>
          </a:p>
          <a:p>
            <a:r>
              <a:t/>
            </a:r>
          </a:p>
          <a:p>
            <a:r>
              <a:t>CONNECT</a:t>
            </a:r>
          </a:p>
          <a:p>
            <a:r>
              <a:t>Build on the preceding slide: Reconcile pandas against SQL.</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Before the next session.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Before the next session</a:t>
            </a:r>
          </a:p>
          <a:p>
            <a:r>
              <a:t/>
            </a:r>
          </a:p>
          <a:p>
            <a:r>
              <a:t>CONNECT</a:t>
            </a:r>
          </a:p>
          <a:p>
            <a:r>
              <a:t>Build on the preceding slide: What you can do now.</a:t>
            </a:r>
          </a:p>
          <a:p>
            <a:r>
              <a:t/>
            </a:r>
          </a:p>
          <a:p>
            <a:r>
              <a:t>LECTURER CUE</a:t>
            </a:r>
          </a:p>
          <a:p>
            <a:r>
              <a:t>Take one report somebody at work produces by hand every month and write the pandas that would produce it. It does not have to run yet.</a:t>
            </a:r>
          </a:p>
          <a:p>
            <a:r>
              <a:t/>
            </a:r>
          </a:p>
          <a:p>
            <a:r>
              <a:t>EXPLAIN IN ORDINARY WORDS</a:t>
            </a:r>
          </a:p>
          <a:p>
            <a:r>
              <a:t>A DataFrame is a labelled table. A Series is a single labelled sequence, often one column. A dtype describes stored values, but the import may infer something unsuitable.</a:t>
            </a:r>
          </a:p>
          <a:p>
            <a:r>
              <a:t/>
            </a:r>
          </a:p>
          <a:p>
            <a:r>
              <a:t>CHECK AND EXPECTED ANSWER</a:t>
            </a:r>
          </a:p>
          <a:p>
            <a:r>
              <a:t>Does a price that looks numeric prove the column is numeric? No. Inspect its dtype and troublesome values before conversion.</a:t>
            </a:r>
          </a:p>
          <a:p>
            <a:r>
              <a:t/>
            </a:r>
          </a:p>
          <a:p>
            <a:r>
              <a:t>IF LEARNERS ARE STUCK</a:t>
            </a:r>
          </a:p>
          <a:p>
            <a:r>
              <a:t>Use head, shape and dtypes to locate the table, count rows/columns and inspect storage. Check units and missing values before calculating.</a:t>
            </a:r>
          </a:p>
          <a:p>
            <a:r>
              <a:t/>
            </a:r>
          </a:p>
          <a:p>
            <a:r>
              <a:t>NEXT</a:t>
            </a:r>
          </a:p>
          <a:p>
            <a:r>
              <a:t>Two tools, one answer.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Two tools, one answer</a:t>
            </a:r>
          </a:p>
          <a:p>
            <a:r>
              <a:t/>
            </a:r>
          </a:p>
          <a:p>
            <a:r>
              <a:t>CONNECT</a:t>
            </a:r>
          </a:p>
          <a:p>
            <a:r>
              <a:t>Build on the preceding slide: Before the next session.</a:t>
            </a:r>
          </a:p>
          <a:p>
            <a:r>
              <a:t/>
            </a:r>
          </a:p>
          <a:p>
            <a:r>
              <a:t>LECTURER CUE</a:t>
            </a:r>
          </a:p>
          <a:p>
            <a:r>
              <a:t>Getting the same number twice, two different ways, is the only self-check available to somebody working alone. It is also the first thing you will be asked for when a number of yours is doubted.</a:t>
            </a:r>
          </a:p>
        </p:txBody>
      </p:sp>
      <p:sp>
        <p:nvSpPr>
          <p:cNvPr id="4" name="Slide Number Placeholder 3"/>
          <p:cNvSpPr>
            <a:spLocks noGrp="1"/>
          </p:cNvSpPr>
          <p:nvPr>
            <p:ph type="sldNum" idx="5" sz="quarter"/>
          </p:nvPr>
        </p:nvSpPr>
        <p:spPr/>
      </p:sp>
    </p:spTree>
  </p:cSld>
  <p:clrMapOvr>
    <a:masterClrMapping/>
  </p:clrMapOvr>
</p:notes>
</file>

<file path=ppt/notesSlides/notesSlide1000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groupby: split, apply, combine</a:t>
            </a:r>
          </a:p>
          <a:p>
            <a:r>
              <a:t/>
            </a:r>
          </a:p>
          <a:p>
            <a:r>
              <a:t>CONNECT</a:t>
            </a:r>
          </a:p>
          <a:p>
            <a:r>
              <a:t>Build on the preceding slide: Your SQL and your pandas give different answers..</a:t>
            </a:r>
          </a:p>
          <a:p>
            <a:r>
              <a:t/>
            </a:r>
          </a:p>
          <a:p>
            <a:r>
              <a:t>EXPLAIN IN ORDINARY WORDS</a:t>
            </a:r>
          </a:p>
          <a:p>
            <a:r>
              <a:t>Grouping puts rows sharing a key into buckets, then computes a result for each bucket. WHERE filters rows before SQL grouping; HAVING filters grouped results.</a:t>
            </a:r>
          </a:p>
          <a:p>
            <a:r>
              <a:t/>
            </a:r>
          </a:p>
          <a:p>
            <a:r>
              <a:t>CHECK AND EXPECTED ANSWER</a:t>
            </a:r>
          </a:p>
          <a:p>
            <a:r>
              <a:t>Which condition keeps only groups with more than five rows? HAVING COUNT(*) &gt; 5.</a:t>
            </a:r>
          </a:p>
          <a:p>
            <a:r>
              <a:t/>
            </a:r>
          </a:p>
          <a:p>
            <a:r>
              <a:t>IF LEARNERS ARE STUCK</a:t>
            </a:r>
          </a:p>
          <a:p>
            <a:r>
              <a:t>Draw two buckets and count by hand. Name the intended output grain before writing the aggregation.</a:t>
            </a:r>
          </a:p>
          <a:p>
            <a:r>
              <a:t/>
            </a:r>
          </a:p>
          <a:p>
            <a:r>
              <a:t>NEXT</a:t>
            </a:r>
          </a:p>
          <a:p>
            <a:r>
              <a:t>groupby.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001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merge, and reconciling two tools</a:t>
            </a:r>
          </a:p>
          <a:p>
            <a:r>
              <a:t/>
            </a:r>
          </a:p>
          <a:p>
            <a:r>
              <a:t>CONNECT</a:t>
            </a:r>
          </a:p>
          <a:p>
            <a:r>
              <a:t>Build on the preceding slide: Break.</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merge, with the guard rails on.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notesSlide" Target="../notesSlides/notesSlide10006.xml" /></ns0: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notesSlide" Target="../notesSlides/notesSlide10012.xml" /></ns0: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2103851"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SESSION 9 OF 15</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Grouping and joining in pandas</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Usually neither. They are answering slightly different questions, and finding out which is the actual skill.</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3  ·  PYTHON  ·  3 HOURS</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Data Analysis with Python, SQL and Power BI  ·  roadmap.sh: pandas: groupby, merge; reconciling against SQL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FIFTEEN SESSIONS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tonight sits</a:t>
            </a:r>
          </a:p>
        </p:txBody>
      </p:sp>
      <p:sp>
        <p:nvSpPr>
          <p:cNvPr id="4" name="Rounded Rectangle 3"/>
          <p:cNvSpPr/>
          <p:nvPr/>
        </p:nvSpPr>
        <p:spPr>
          <a:xfrm>
            <a:off x="685800"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2104"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  ·  FOUNDATIONS</a:t>
            </a:r>
          </a:p>
        </p:txBody>
      </p:sp>
      <p:sp>
        <p:nvSpPr>
          <p:cNvPr id="6" name="TextBox 5"/>
          <p:cNvSpPr txBox="1"/>
          <p:nvPr/>
        </p:nvSpPr>
        <p:spPr>
          <a:xfrm>
            <a:off x="832104"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From a spreadsheet to data</a:t>
            </a:r>
          </a:p>
        </p:txBody>
      </p:sp>
      <p:sp>
        <p:nvSpPr>
          <p:cNvPr id="7" name="Rounded Rectangle 6"/>
          <p:cNvSpPr/>
          <p:nvPr/>
        </p:nvSpPr>
        <p:spPr>
          <a:xfrm>
            <a:off x="3459403"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05707"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2  ·  FOUNDATIONS</a:t>
            </a:r>
          </a:p>
        </p:txBody>
      </p:sp>
      <p:sp>
        <p:nvSpPr>
          <p:cNvPr id="9" name="TextBox 8"/>
          <p:cNvSpPr txBox="1"/>
          <p:nvPr/>
        </p:nvSpPr>
        <p:spPr>
          <a:xfrm>
            <a:off x="3605707"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Why data lives in several tables</a:t>
            </a:r>
          </a:p>
        </p:txBody>
      </p:sp>
      <p:sp>
        <p:nvSpPr>
          <p:cNvPr id="10" name="Rounded Rectangle 9"/>
          <p:cNvSpPr/>
          <p:nvPr/>
        </p:nvSpPr>
        <p:spPr>
          <a:xfrm>
            <a:off x="6233007"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9311"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3  ·  SQL</a:t>
            </a:r>
          </a:p>
        </p:txBody>
      </p:sp>
      <p:sp>
        <p:nvSpPr>
          <p:cNvPr id="12" name="TextBox 11"/>
          <p:cNvSpPr txBox="1"/>
          <p:nvPr/>
        </p:nvSpPr>
        <p:spPr>
          <a:xfrm>
            <a:off x="6379311"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Asking a database for rows</a:t>
            </a:r>
          </a:p>
        </p:txBody>
      </p:sp>
      <p:sp>
        <p:nvSpPr>
          <p:cNvPr id="13" name="Rounded Rectangle 12"/>
          <p:cNvSpPr/>
          <p:nvPr/>
        </p:nvSpPr>
        <p:spPr>
          <a:xfrm>
            <a:off x="9006611"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4  ·  SQL</a:t>
            </a:r>
          </a:p>
        </p:txBody>
      </p:sp>
      <p:sp>
        <p:nvSpPr>
          <p:cNvPr id="15" name="TextBox 14"/>
          <p:cNvSpPr txBox="1"/>
          <p:nvPr/>
        </p:nvSpPr>
        <p:spPr>
          <a:xfrm>
            <a:off x="9152915"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Counting and grouping</a:t>
            </a:r>
          </a:p>
        </p:txBody>
      </p:sp>
      <p:sp>
        <p:nvSpPr>
          <p:cNvPr id="16" name="Rounded Rectangle 15"/>
          <p:cNvSpPr/>
          <p:nvPr/>
        </p:nvSpPr>
        <p:spPr>
          <a:xfrm>
            <a:off x="685800"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5  ·  SQL</a:t>
            </a:r>
          </a:p>
        </p:txBody>
      </p:sp>
      <p:sp>
        <p:nvSpPr>
          <p:cNvPr id="18" name="TextBox 17"/>
          <p:cNvSpPr txBox="1"/>
          <p:nvPr/>
        </p:nvSpPr>
        <p:spPr>
          <a:xfrm>
            <a:off x="832104"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Joining tables, carefully</a:t>
            </a:r>
          </a:p>
        </p:txBody>
      </p:sp>
      <p:sp>
        <p:nvSpPr>
          <p:cNvPr id="19" name="Rounded Rectangle 18"/>
          <p:cNvSpPr/>
          <p:nvPr/>
        </p:nvSpPr>
        <p:spPr>
          <a:xfrm>
            <a:off x="3459403"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05707"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6  ·  PYTHON</a:t>
            </a:r>
          </a:p>
        </p:txBody>
      </p:sp>
      <p:sp>
        <p:nvSpPr>
          <p:cNvPr id="21" name="TextBox 20"/>
          <p:cNvSpPr txBox="1"/>
          <p:nvPr/>
        </p:nvSpPr>
        <p:spPr>
          <a:xfrm>
            <a:off x="3605707"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Your first program</a:t>
            </a:r>
          </a:p>
        </p:txBody>
      </p:sp>
      <p:sp>
        <p:nvSpPr>
          <p:cNvPr id="22" name="Rounded Rectangle 21"/>
          <p:cNvSpPr/>
          <p:nvPr/>
        </p:nvSpPr>
        <p:spPr>
          <a:xfrm>
            <a:off x="6233007"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79311"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7  ·  PYTHON</a:t>
            </a:r>
          </a:p>
        </p:txBody>
      </p:sp>
      <p:sp>
        <p:nvSpPr>
          <p:cNvPr id="24" name="TextBox 23"/>
          <p:cNvSpPr txBox="1"/>
          <p:nvPr/>
        </p:nvSpPr>
        <p:spPr>
          <a:xfrm>
            <a:off x="6379311"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Reading a file, and looking at it</a:t>
            </a:r>
          </a:p>
        </p:txBody>
      </p:sp>
      <p:sp>
        <p:nvSpPr>
          <p:cNvPr id="25" name="Rounded Rectangle 24"/>
          <p:cNvSpPr/>
          <p:nvPr/>
        </p:nvSpPr>
        <p:spPr>
          <a:xfrm>
            <a:off x="9006611"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52915"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8  ·  PYTHON</a:t>
            </a:r>
          </a:p>
        </p:txBody>
      </p:sp>
      <p:sp>
        <p:nvSpPr>
          <p:cNvPr id="27" name="TextBox 26"/>
          <p:cNvSpPr txBox="1"/>
          <p:nvPr/>
        </p:nvSpPr>
        <p:spPr>
          <a:xfrm>
            <a:off x="9152915"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Cleaning, and writing down what you did</a:t>
            </a:r>
          </a:p>
        </p:txBody>
      </p:sp>
      <p:sp>
        <p:nvSpPr>
          <p:cNvPr id="28" name="Rounded Rectangle 27"/>
          <p:cNvSpPr/>
          <p:nvPr/>
        </p:nvSpPr>
        <p:spPr>
          <a:xfrm>
            <a:off x="685800" y="4398264"/>
            <a:ext cx="2499283" cy="1060704"/>
          </a:xfrm>
          <a:prstGeom prst="roundRect">
            <a:avLst>
              <a:gd name="adj" fmla="val 6000"/>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2104" y="4471416"/>
            <a:ext cx="2206675" cy="256032"/>
          </a:xfrm>
          <a:prstGeom prst="rect">
            <a:avLst/>
          </a:prstGeom>
          <a:noFill/>
        </p:spPr>
        <p:txBody>
          <a:bodyPr wrap="square" lIns="0" rIns="0" tIns="0" bIns="0" anchor="t">
            <a:spAutoFit/>
          </a:bodyPr>
          <a:lstStyle/>
          <a:p>
            <a:pPr algn="l">
              <a:spcAft>
                <a:spcPts val="600"/>
              </a:spcAft>
            </a:pPr>
            <a:r>
              <a:rPr sz="1254" b="1" i="0">
                <a:solidFill>
                  <a:srgbClr val="FFFFFF"/>
                </a:solidFill>
                <a:latin typeface="Calibri"/>
              </a:rPr>
              <a:t>9  ·  PYTHON</a:t>
            </a:r>
          </a:p>
        </p:txBody>
      </p:sp>
      <p:sp>
        <p:nvSpPr>
          <p:cNvPr id="30" name="TextBox 29"/>
          <p:cNvSpPr txBox="1"/>
          <p:nvPr/>
        </p:nvSpPr>
        <p:spPr>
          <a:xfrm>
            <a:off x="832104" y="4745736"/>
            <a:ext cx="2206675" cy="640080"/>
          </a:xfrm>
          <a:prstGeom prst="rect">
            <a:avLst/>
          </a:prstGeom>
          <a:noFill/>
        </p:spPr>
        <p:txBody>
          <a:bodyPr wrap="square" lIns="0" rIns="0" tIns="0" bIns="0" anchor="t">
            <a:spAutoFit/>
          </a:bodyPr>
          <a:lstStyle/>
          <a:p>
            <a:pPr algn="l">
              <a:lnSpc>
                <a:spcPct val="112000"/>
              </a:lnSpc>
              <a:spcAft>
                <a:spcPts val="600"/>
              </a:spcAft>
            </a:pPr>
            <a:r>
              <a:rPr sz="1452" b="1" i="0">
                <a:solidFill>
                  <a:srgbClr val="FFFFFF"/>
                </a:solidFill>
                <a:latin typeface="Calibri"/>
              </a:rPr>
              <a:t>Grouping and joining in pandas</a:t>
            </a:r>
          </a:p>
        </p:txBody>
      </p:sp>
      <p:sp>
        <p:nvSpPr>
          <p:cNvPr id="31" name="Rounded Rectangle 30"/>
          <p:cNvSpPr/>
          <p:nvPr/>
        </p:nvSpPr>
        <p:spPr>
          <a:xfrm>
            <a:off x="3459403"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05707"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10  ·  STATISTICS</a:t>
            </a:r>
          </a:p>
        </p:txBody>
      </p:sp>
      <p:sp>
        <p:nvSpPr>
          <p:cNvPr id="33" name="TextBox 32"/>
          <p:cNvSpPr txBox="1"/>
          <p:nvPr/>
        </p:nvSpPr>
        <p:spPr>
          <a:xfrm>
            <a:off x="3605707"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Describing one column</a:t>
            </a:r>
          </a:p>
        </p:txBody>
      </p:sp>
      <p:sp>
        <p:nvSpPr>
          <p:cNvPr id="34" name="Rounded Rectangle 33"/>
          <p:cNvSpPr/>
          <p:nvPr/>
        </p:nvSpPr>
        <p:spPr>
          <a:xfrm>
            <a:off x="6233007"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79311"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11  ·  STATISTICS</a:t>
            </a:r>
          </a:p>
        </p:txBody>
      </p:sp>
      <p:sp>
        <p:nvSpPr>
          <p:cNvPr id="36" name="TextBox 35"/>
          <p:cNvSpPr txBox="1"/>
          <p:nvPr/>
        </p:nvSpPr>
        <p:spPr>
          <a:xfrm>
            <a:off x="6379311"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Comparing groups, and reading time</a:t>
            </a:r>
          </a:p>
        </p:txBody>
      </p:sp>
      <p:sp>
        <p:nvSpPr>
          <p:cNvPr id="37" name="Rounded Rectangle 36"/>
          <p:cNvSpPr/>
          <p:nvPr/>
        </p:nvSpPr>
        <p:spPr>
          <a:xfrm>
            <a:off x="9006611"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52915"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12  ·  CHARTS</a:t>
            </a:r>
          </a:p>
        </p:txBody>
      </p:sp>
      <p:sp>
        <p:nvSpPr>
          <p:cNvPr id="39" name="TextBox 38"/>
          <p:cNvSpPr txBox="1"/>
          <p:nvPr/>
        </p:nvSpPr>
        <p:spPr>
          <a:xfrm>
            <a:off x="9152915"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Charts that answer the question</a:t>
            </a:r>
          </a:p>
        </p:txBody>
      </p:sp>
      <p:sp>
        <p:nvSpPr>
          <p:cNvPr id="40" name="Rounded Rectangle 39"/>
          <p:cNvSpPr/>
          <p:nvPr/>
        </p:nvSpPr>
        <p:spPr>
          <a:xfrm>
            <a:off x="685800" y="5623559"/>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2104" y="5696712"/>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13  ·  INVESTIGATION</a:t>
            </a:r>
          </a:p>
        </p:txBody>
      </p:sp>
      <p:sp>
        <p:nvSpPr>
          <p:cNvPr id="42" name="TextBox 41"/>
          <p:cNvSpPr txBox="1"/>
          <p:nvPr/>
        </p:nvSpPr>
        <p:spPr>
          <a:xfrm>
            <a:off x="832104" y="5971031"/>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A whole investigation, end to end</a:t>
            </a:r>
          </a:p>
        </p:txBody>
      </p:sp>
      <p:sp>
        <p:nvSpPr>
          <p:cNvPr id="43" name="Rounded Rectangle 42"/>
          <p:cNvSpPr/>
          <p:nvPr/>
        </p:nvSpPr>
        <p:spPr>
          <a:xfrm>
            <a:off x="3459403" y="5623559"/>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05707" y="5696712"/>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14  ·  POWER BI</a:t>
            </a:r>
          </a:p>
        </p:txBody>
      </p:sp>
      <p:sp>
        <p:nvSpPr>
          <p:cNvPr id="45" name="TextBox 44"/>
          <p:cNvSpPr txBox="1"/>
          <p:nvPr/>
        </p:nvSpPr>
        <p:spPr>
          <a:xfrm>
            <a:off x="3605707" y="5971031"/>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Getting data in, and modelling it</a:t>
            </a:r>
          </a:p>
        </p:txBody>
      </p:sp>
      <p:sp>
        <p:nvSpPr>
          <p:cNvPr id="46" name="Rounded Rectangle 45"/>
          <p:cNvSpPr/>
          <p:nvPr/>
        </p:nvSpPr>
        <p:spPr>
          <a:xfrm>
            <a:off x="6233007" y="5623559"/>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79311" y="5696712"/>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15  ·  POWER BI</a:t>
            </a:r>
          </a:p>
        </p:txBody>
      </p:sp>
      <p:sp>
        <p:nvSpPr>
          <p:cNvPr id="48" name="TextBox 47"/>
          <p:cNvSpPr txBox="1"/>
          <p:nvPr/>
        </p:nvSpPr>
        <p:spPr>
          <a:xfrm>
            <a:off x="6379311" y="5971031"/>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Measures, a dashboard, and presenting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BEFORE WE START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words for tonight</a:t>
            </a:r>
          </a:p>
        </p:txBody>
      </p:sp>
      <p:sp>
        <p:nvSpPr>
          <p:cNvPr id="4" name="TextBox 3"/>
          <p:cNvSpPr txBox="1"/>
          <p:nvPr/>
        </p:nvSpPr>
        <p:spPr>
          <a:xfrm>
            <a:off x="685800" y="1911095"/>
            <a:ext cx="2240280" cy="274320"/>
          </a:xfrm>
          <a:prstGeom prst="rect">
            <a:avLst/>
          </a:prstGeom>
          <a:noFill/>
        </p:spPr>
        <p:txBody>
          <a:bodyPr wrap="square" lIns="0" rIns="0" tIns="0" bIns="0" anchor="t">
            <a:spAutoFit/>
          </a:bodyPr>
          <a:lstStyle/>
          <a:p>
            <a:pPr algn="l">
              <a:spcAft>
                <a:spcPts val="600"/>
              </a:spcAft>
            </a:pPr>
            <a:r>
              <a:rPr sz="1320" b="1" i="0">
                <a:solidFill>
                  <a:srgbClr val="E4572E"/>
                </a:solidFill>
                <a:latin typeface="Calibri"/>
              </a:rPr>
              <a:t>TERM</a:t>
            </a:r>
          </a:p>
        </p:txBody>
      </p:sp>
      <p:sp>
        <p:nvSpPr>
          <p:cNvPr id="5" name="TextBox 4"/>
          <p:cNvSpPr txBox="1"/>
          <p:nvPr/>
        </p:nvSpPr>
        <p:spPr>
          <a:xfrm>
            <a:off x="3154680" y="1911095"/>
            <a:ext cx="4892040" cy="274320"/>
          </a:xfrm>
          <a:prstGeom prst="rect">
            <a:avLst/>
          </a:prstGeom>
          <a:noFill/>
        </p:spPr>
        <p:txBody>
          <a:bodyPr wrap="square" lIns="0" rIns="0" tIns="0" bIns="0" anchor="t">
            <a:spAutoFit/>
          </a:bodyPr>
          <a:lstStyle/>
          <a:p>
            <a:pPr algn="l">
              <a:spcAft>
                <a:spcPts val="600"/>
              </a:spcAft>
            </a:pPr>
            <a:r>
              <a:rPr sz="1320" b="1" i="0">
                <a:solidFill>
                  <a:srgbClr val="E4572E"/>
                </a:solidFill>
                <a:latin typeface="Calibri"/>
              </a:rPr>
              <a:t>WHAT IT MEANS</a:t>
            </a:r>
          </a:p>
        </p:txBody>
      </p:sp>
      <p:sp>
        <p:nvSpPr>
          <p:cNvPr id="6" name="TextBox 5"/>
          <p:cNvSpPr txBox="1"/>
          <p:nvPr/>
        </p:nvSpPr>
        <p:spPr>
          <a:xfrm>
            <a:off x="8275320" y="1911095"/>
            <a:ext cx="3230575" cy="274320"/>
          </a:xfrm>
          <a:prstGeom prst="rect">
            <a:avLst/>
          </a:prstGeom>
          <a:noFill/>
        </p:spPr>
        <p:txBody>
          <a:bodyPr wrap="square" lIns="0" rIns="0" tIns="0" bIns="0" anchor="t">
            <a:spAutoFit/>
          </a:bodyPr>
          <a:lstStyle/>
          <a:p>
            <a:pPr algn="l">
              <a:spcAft>
                <a:spcPts val="600"/>
              </a:spcAft>
            </a:pPr>
            <a:r>
              <a:rPr sz="1320" b="1" i="0">
                <a:solidFill>
                  <a:srgbClr val="E4572E"/>
                </a:solidFill>
                <a:latin typeface="Calibri"/>
              </a:rPr>
              <a:t>IN A SPREADSHEET</a:t>
            </a:r>
          </a:p>
        </p:txBody>
      </p:sp>
      <p:sp>
        <p:nvSpPr>
          <p:cNvPr id="7" name="Rectangle 6"/>
          <p:cNvSpPr/>
          <p:nvPr/>
        </p:nvSpPr>
        <p:spPr>
          <a:xfrm>
            <a:off x="576072" y="2240279"/>
            <a:ext cx="11039551" cy="697336"/>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276856"/>
            <a:ext cx="2240280" cy="651616"/>
          </a:xfrm>
          <a:prstGeom prst="rect">
            <a:avLst/>
          </a:prstGeom>
          <a:noFill/>
        </p:spPr>
        <p:txBody>
          <a:bodyPr wrap="square" lIns="0" rIns="0" tIns="0" bIns="0" anchor="t">
            <a:spAutoFit/>
          </a:bodyPr>
          <a:lstStyle/>
          <a:p>
            <a:pPr algn="l">
              <a:lnSpc>
                <a:spcPct val="114000"/>
              </a:lnSpc>
              <a:spcAft>
                <a:spcPts val="600"/>
              </a:spcAft>
            </a:pPr>
            <a:r>
              <a:rPr sz="1716" b="1" i="0">
                <a:solidFill>
                  <a:srgbClr val="1C3144"/>
                </a:solidFill>
                <a:latin typeface="Calibri"/>
              </a:rPr>
              <a:t>groupby</a:t>
            </a:r>
          </a:p>
        </p:txBody>
      </p:sp>
      <p:sp>
        <p:nvSpPr>
          <p:cNvPr id="9" name="TextBox 8"/>
          <p:cNvSpPr txBox="1"/>
          <p:nvPr/>
        </p:nvSpPr>
        <p:spPr>
          <a:xfrm>
            <a:off x="3154680" y="2276856"/>
            <a:ext cx="4892040" cy="651616"/>
          </a:xfrm>
          <a:prstGeom prst="rect">
            <a:avLst/>
          </a:prstGeom>
          <a:noFill/>
        </p:spPr>
        <p:txBody>
          <a:bodyPr wrap="square" lIns="0" rIns="0" tIns="0" bIns="0" anchor="t">
            <a:spAutoFit/>
          </a:bodyPr>
          <a:lstStyle/>
          <a:p>
            <a:pPr algn="l">
              <a:lnSpc>
                <a:spcPct val="116000"/>
              </a:lnSpc>
              <a:spcAft>
                <a:spcPts val="600"/>
              </a:spcAft>
            </a:pPr>
            <a:r>
              <a:rPr sz="1650" b="0" i="0">
                <a:solidFill>
                  <a:srgbClr val="334657"/>
                </a:solidFill>
                <a:latin typeface="Calibri"/>
              </a:rPr>
              <a:t>pandas' GROUP BY. Split the rows into groups, apply an aggregation, combine the results.</a:t>
            </a:r>
          </a:p>
        </p:txBody>
      </p:sp>
      <p:sp>
        <p:nvSpPr>
          <p:cNvPr id="10" name="TextBox 9"/>
          <p:cNvSpPr txBox="1"/>
          <p:nvPr/>
        </p:nvSpPr>
        <p:spPr>
          <a:xfrm>
            <a:off x="8275320" y="2276856"/>
            <a:ext cx="3230575" cy="651616"/>
          </a:xfrm>
          <a:prstGeom prst="rect">
            <a:avLst/>
          </a:prstGeom>
          <a:noFill/>
        </p:spPr>
        <p:txBody>
          <a:bodyPr wrap="square" lIns="0" rIns="0" tIns="0" bIns="0" anchor="t">
            <a:spAutoFit/>
          </a:bodyPr>
          <a:lstStyle/>
          <a:p>
            <a:pPr algn="l">
              <a:lnSpc>
                <a:spcPct val="116000"/>
              </a:lnSpc>
              <a:spcAft>
                <a:spcPts val="600"/>
              </a:spcAft>
            </a:pPr>
            <a:r>
              <a:rPr sz="1650" b="0" i="0">
                <a:solidFill>
                  <a:srgbClr val="2E7D6F"/>
                </a:solidFill>
                <a:latin typeface="Calibri"/>
              </a:rPr>
              <a:t>A pivot table</a:t>
            </a:r>
          </a:p>
        </p:txBody>
      </p:sp>
      <p:sp>
        <p:nvSpPr>
          <p:cNvPr id="11" name="TextBox 10"/>
          <p:cNvSpPr txBox="1"/>
          <p:nvPr/>
        </p:nvSpPr>
        <p:spPr>
          <a:xfrm>
            <a:off x="685800" y="3010768"/>
            <a:ext cx="2240280" cy="954564"/>
          </a:xfrm>
          <a:prstGeom prst="rect">
            <a:avLst/>
          </a:prstGeom>
          <a:noFill/>
        </p:spPr>
        <p:txBody>
          <a:bodyPr wrap="square" lIns="0" rIns="0" tIns="0" bIns="0" anchor="t">
            <a:spAutoFit/>
          </a:bodyPr>
          <a:lstStyle/>
          <a:p>
            <a:pPr algn="l">
              <a:lnSpc>
                <a:spcPct val="114000"/>
              </a:lnSpc>
              <a:spcAft>
                <a:spcPts val="600"/>
              </a:spcAft>
            </a:pPr>
            <a:r>
              <a:rPr sz="1716" b="1" i="0">
                <a:solidFill>
                  <a:srgbClr val="1C3144"/>
                </a:solidFill>
                <a:latin typeface="Calibri"/>
              </a:rPr>
              <a:t>Index</a:t>
            </a:r>
          </a:p>
        </p:txBody>
      </p:sp>
      <p:sp>
        <p:nvSpPr>
          <p:cNvPr id="12" name="TextBox 11"/>
          <p:cNvSpPr txBox="1"/>
          <p:nvPr/>
        </p:nvSpPr>
        <p:spPr>
          <a:xfrm>
            <a:off x="3154680" y="3010768"/>
            <a:ext cx="4892040" cy="954564"/>
          </a:xfrm>
          <a:prstGeom prst="rect">
            <a:avLst/>
          </a:prstGeom>
          <a:noFill/>
        </p:spPr>
        <p:txBody>
          <a:bodyPr wrap="square" lIns="0" rIns="0" tIns="0" bIns="0" anchor="t">
            <a:spAutoFit/>
          </a:bodyPr>
          <a:lstStyle/>
          <a:p>
            <a:pPr algn="l">
              <a:lnSpc>
                <a:spcPct val="116000"/>
              </a:lnSpc>
              <a:spcAft>
                <a:spcPts val="600"/>
              </a:spcAft>
            </a:pPr>
            <a:r>
              <a:rPr sz="1650" b="0" i="0">
                <a:solidFill>
                  <a:srgbClr val="334657"/>
                </a:solidFill>
                <a:latin typeface="Calibri"/>
              </a:rPr>
              <a:t>The labels down the side of a DataFrame. After a groupby your grouping keys are the index, not columns, which is the commonest pandas confusion.</a:t>
            </a:r>
          </a:p>
        </p:txBody>
      </p:sp>
      <p:sp>
        <p:nvSpPr>
          <p:cNvPr id="13" name="TextBox 12"/>
          <p:cNvSpPr txBox="1"/>
          <p:nvPr/>
        </p:nvSpPr>
        <p:spPr>
          <a:xfrm>
            <a:off x="8275320" y="3010768"/>
            <a:ext cx="3230575" cy="954564"/>
          </a:xfrm>
          <a:prstGeom prst="rect">
            <a:avLst/>
          </a:prstGeom>
          <a:noFill/>
        </p:spPr>
        <p:txBody>
          <a:bodyPr wrap="square" lIns="0" rIns="0" tIns="0" bIns="0" anchor="t">
            <a:spAutoFit/>
          </a:bodyPr>
          <a:lstStyle/>
          <a:p>
            <a:pPr algn="l">
              <a:lnSpc>
                <a:spcPct val="116000"/>
              </a:lnSpc>
              <a:spcAft>
                <a:spcPts val="600"/>
              </a:spcAft>
            </a:pPr>
            <a:r>
              <a:rPr sz="1650" b="0" i="1">
                <a:solidFill>
                  <a:srgbClr val="6B7A8A"/>
                </a:solidFill>
                <a:latin typeface="Calibri"/>
              </a:rPr>
              <a:t>no direct equivalent</a:t>
            </a:r>
          </a:p>
        </p:txBody>
      </p:sp>
      <p:sp>
        <p:nvSpPr>
          <p:cNvPr id="14" name="Rectangle 13"/>
          <p:cNvSpPr/>
          <p:nvPr/>
        </p:nvSpPr>
        <p:spPr>
          <a:xfrm>
            <a:off x="576072" y="4011052"/>
            <a:ext cx="11039551" cy="401073"/>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047628"/>
            <a:ext cx="2240280" cy="355353"/>
          </a:xfrm>
          <a:prstGeom prst="rect">
            <a:avLst/>
          </a:prstGeom>
          <a:noFill/>
        </p:spPr>
        <p:txBody>
          <a:bodyPr wrap="square" lIns="0" rIns="0" tIns="0" bIns="0" anchor="t">
            <a:spAutoFit/>
          </a:bodyPr>
          <a:lstStyle/>
          <a:p>
            <a:pPr algn="l">
              <a:lnSpc>
                <a:spcPct val="114000"/>
              </a:lnSpc>
              <a:spcAft>
                <a:spcPts val="600"/>
              </a:spcAft>
            </a:pPr>
            <a:r>
              <a:rPr sz="1716" b="1" i="0">
                <a:solidFill>
                  <a:srgbClr val="1C3144"/>
                </a:solidFill>
                <a:latin typeface="Calibri"/>
              </a:rPr>
              <a:t>merge</a:t>
            </a:r>
          </a:p>
        </p:txBody>
      </p:sp>
      <p:sp>
        <p:nvSpPr>
          <p:cNvPr id="16" name="TextBox 15"/>
          <p:cNvSpPr txBox="1"/>
          <p:nvPr/>
        </p:nvSpPr>
        <p:spPr>
          <a:xfrm>
            <a:off x="3154680" y="4047628"/>
            <a:ext cx="4892040" cy="355353"/>
          </a:xfrm>
          <a:prstGeom prst="rect">
            <a:avLst/>
          </a:prstGeom>
          <a:noFill/>
        </p:spPr>
        <p:txBody>
          <a:bodyPr wrap="square" lIns="0" rIns="0" tIns="0" bIns="0" anchor="t">
            <a:spAutoFit/>
          </a:bodyPr>
          <a:lstStyle/>
          <a:p>
            <a:pPr algn="l">
              <a:lnSpc>
                <a:spcPct val="116000"/>
              </a:lnSpc>
              <a:spcAft>
                <a:spcPts val="600"/>
              </a:spcAft>
            </a:pPr>
            <a:r>
              <a:rPr sz="1650" b="0" i="0">
                <a:solidFill>
                  <a:srgbClr val="334657"/>
                </a:solidFill>
                <a:latin typeface="Calibri"/>
              </a:rPr>
              <a:t>pandas' JOIN. The how argument is the join type.</a:t>
            </a:r>
          </a:p>
        </p:txBody>
      </p:sp>
      <p:sp>
        <p:nvSpPr>
          <p:cNvPr id="17" name="TextBox 16"/>
          <p:cNvSpPr txBox="1"/>
          <p:nvPr/>
        </p:nvSpPr>
        <p:spPr>
          <a:xfrm>
            <a:off x="8275320" y="4047628"/>
            <a:ext cx="3230575" cy="355353"/>
          </a:xfrm>
          <a:prstGeom prst="rect">
            <a:avLst/>
          </a:prstGeom>
          <a:noFill/>
        </p:spPr>
        <p:txBody>
          <a:bodyPr wrap="square" lIns="0" rIns="0" tIns="0" bIns="0" anchor="t">
            <a:spAutoFit/>
          </a:bodyPr>
          <a:lstStyle/>
          <a:p>
            <a:pPr algn="l">
              <a:lnSpc>
                <a:spcPct val="116000"/>
              </a:lnSpc>
              <a:spcAft>
                <a:spcPts val="600"/>
              </a:spcAft>
            </a:pPr>
            <a:r>
              <a:rPr sz="1650" b="0" i="0">
                <a:solidFill>
                  <a:srgbClr val="2E7D6F"/>
                </a:solidFill>
                <a:latin typeface="Calibri"/>
              </a:rPr>
              <a:t>VLOOKUP</a:t>
            </a:r>
          </a:p>
        </p:txBody>
      </p:sp>
      <p:sp>
        <p:nvSpPr>
          <p:cNvPr id="18" name="TextBox 17"/>
          <p:cNvSpPr txBox="1"/>
          <p:nvPr/>
        </p:nvSpPr>
        <p:spPr>
          <a:xfrm>
            <a:off x="685800" y="4485278"/>
            <a:ext cx="2240280" cy="651616"/>
          </a:xfrm>
          <a:prstGeom prst="rect">
            <a:avLst/>
          </a:prstGeom>
          <a:noFill/>
        </p:spPr>
        <p:txBody>
          <a:bodyPr wrap="square" lIns="0" rIns="0" tIns="0" bIns="0" anchor="t">
            <a:spAutoFit/>
          </a:bodyPr>
          <a:lstStyle/>
          <a:p>
            <a:pPr algn="l">
              <a:lnSpc>
                <a:spcPct val="114000"/>
              </a:lnSpc>
              <a:spcAft>
                <a:spcPts val="600"/>
              </a:spcAft>
            </a:pPr>
            <a:r>
              <a:rPr sz="1716" b="1" i="0">
                <a:solidFill>
                  <a:srgbClr val="1C3144"/>
                </a:solidFill>
                <a:latin typeface="Calibri"/>
              </a:rPr>
              <a:t>validate</a:t>
            </a:r>
          </a:p>
        </p:txBody>
      </p:sp>
      <p:sp>
        <p:nvSpPr>
          <p:cNvPr id="19" name="TextBox 18"/>
          <p:cNvSpPr txBox="1"/>
          <p:nvPr/>
        </p:nvSpPr>
        <p:spPr>
          <a:xfrm>
            <a:off x="3154680" y="4485278"/>
            <a:ext cx="4892040" cy="651616"/>
          </a:xfrm>
          <a:prstGeom prst="rect">
            <a:avLst/>
          </a:prstGeom>
          <a:noFill/>
        </p:spPr>
        <p:txBody>
          <a:bodyPr wrap="square" lIns="0" rIns="0" tIns="0" bIns="0" anchor="t">
            <a:spAutoFit/>
          </a:bodyPr>
          <a:lstStyle/>
          <a:p>
            <a:pPr algn="l">
              <a:lnSpc>
                <a:spcPct val="116000"/>
              </a:lnSpc>
              <a:spcAft>
                <a:spcPts val="600"/>
              </a:spcAft>
            </a:pPr>
            <a:r>
              <a:rPr sz="1650" b="0" i="0">
                <a:solidFill>
                  <a:srgbClr val="334657"/>
                </a:solidFill>
                <a:latin typeface="Calibri"/>
              </a:rPr>
              <a:t>An argument that makes pandas REFUSE a merge that would multiply rows, instead of silently doing it.</a:t>
            </a:r>
          </a:p>
        </p:txBody>
      </p:sp>
      <p:sp>
        <p:nvSpPr>
          <p:cNvPr id="20" name="TextBox 19"/>
          <p:cNvSpPr txBox="1"/>
          <p:nvPr/>
        </p:nvSpPr>
        <p:spPr>
          <a:xfrm>
            <a:off x="8275320" y="4485278"/>
            <a:ext cx="3230575" cy="651616"/>
          </a:xfrm>
          <a:prstGeom prst="rect">
            <a:avLst/>
          </a:prstGeom>
          <a:noFill/>
        </p:spPr>
        <p:txBody>
          <a:bodyPr wrap="square" lIns="0" rIns="0" tIns="0" bIns="0" anchor="t">
            <a:spAutoFit/>
          </a:bodyPr>
          <a:lstStyle/>
          <a:p>
            <a:pPr algn="l">
              <a:lnSpc>
                <a:spcPct val="116000"/>
              </a:lnSpc>
              <a:spcAft>
                <a:spcPts val="600"/>
              </a:spcAft>
            </a:pPr>
            <a:r>
              <a:rPr sz="1650" b="0" i="1">
                <a:solidFill>
                  <a:srgbClr val="6B7A8A"/>
                </a:solidFill>
                <a:latin typeface="Calibri"/>
              </a:rPr>
              <a:t>no direct equivalent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WHAT YOU WILL BE ABLE TO DO</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libri"/>
              </a:rPr>
              <a:t>By the end of tonight you can…</a:t>
            </a:r>
          </a:p>
        </p:txBody>
      </p:sp>
      <p:sp>
        <p:nvSpPr>
          <p:cNvPr id="4" name="Oval 3"/>
          <p:cNvSpPr/>
          <p:nvPr/>
        </p:nvSpPr>
        <p:spPr>
          <a:xfrm>
            <a:off x="685800" y="1956816"/>
            <a:ext cx="329184" cy="329184"/>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1</a:t>
            </a:r>
          </a:p>
        </p:txBody>
      </p:sp>
      <p:sp>
        <p:nvSpPr>
          <p:cNvPr id="5" name="TextBox 4"/>
          <p:cNvSpPr txBox="1"/>
          <p:nvPr/>
        </p:nvSpPr>
        <p:spPr>
          <a:xfrm>
            <a:off x="1234440" y="1920240"/>
            <a:ext cx="10134295" cy="395093"/>
          </a:xfrm>
          <a:prstGeom prst="rect">
            <a:avLst/>
          </a:prstGeom>
          <a:noFill/>
        </p:spPr>
        <p:txBody>
          <a:bodyPr wrap="square" lIns="0" rIns="0" tIns="0" bIns="0" anchor="t">
            <a:spAutoFit/>
          </a:bodyPr>
          <a:lstStyle/>
          <a:p>
            <a:pPr algn="l">
              <a:lnSpc>
                <a:spcPct val="118000"/>
              </a:lnSpc>
              <a:spcAft>
                <a:spcPts val="600"/>
              </a:spcAft>
            </a:pPr>
            <a:r>
              <a:rPr sz="1821" b="0" i="0">
                <a:solidFill>
                  <a:srgbClr val="2A3B4A"/>
                </a:solidFill>
                <a:latin typeface="Calibri"/>
              </a:rPr>
              <a:t>Reproduce any of your SQL aggregates in pandas and get the same number.</a:t>
            </a:r>
          </a:p>
        </p:txBody>
      </p:sp>
      <p:sp>
        <p:nvSpPr>
          <p:cNvPr id="6" name="Oval 5"/>
          <p:cNvSpPr/>
          <p:nvPr/>
        </p:nvSpPr>
        <p:spPr>
          <a:xfrm>
            <a:off x="685800" y="2779776"/>
            <a:ext cx="329184" cy="329184"/>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2</a:t>
            </a:r>
          </a:p>
        </p:txBody>
      </p:sp>
      <p:sp>
        <p:nvSpPr>
          <p:cNvPr id="7" name="TextBox 6"/>
          <p:cNvSpPr txBox="1"/>
          <p:nvPr/>
        </p:nvSpPr>
        <p:spPr>
          <a:xfrm>
            <a:off x="1234440" y="2743200"/>
            <a:ext cx="10134295" cy="395093"/>
          </a:xfrm>
          <a:prstGeom prst="rect">
            <a:avLst/>
          </a:prstGeom>
          <a:noFill/>
        </p:spPr>
        <p:txBody>
          <a:bodyPr wrap="square" lIns="0" rIns="0" tIns="0" bIns="0" anchor="t">
            <a:spAutoFit/>
          </a:bodyPr>
          <a:lstStyle/>
          <a:p>
            <a:pPr algn="l">
              <a:lnSpc>
                <a:spcPct val="118000"/>
              </a:lnSpc>
              <a:spcAft>
                <a:spcPts val="600"/>
              </a:spcAft>
            </a:pPr>
            <a:r>
              <a:rPr sz="1821" b="0" i="0">
                <a:solidFill>
                  <a:srgbClr val="2A3B4A"/>
                </a:solidFill>
                <a:latin typeface="Calibri"/>
              </a:rPr>
              <a:t>Merge two frames and check the result rather than hoping.</a:t>
            </a:r>
          </a:p>
        </p:txBody>
      </p:sp>
      <p:sp>
        <p:nvSpPr>
          <p:cNvPr id="8" name="Oval 7"/>
          <p:cNvSpPr/>
          <p:nvPr/>
        </p:nvSpPr>
        <p:spPr>
          <a:xfrm>
            <a:off x="685800" y="3602736"/>
            <a:ext cx="329184" cy="329184"/>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3</a:t>
            </a:r>
          </a:p>
        </p:txBody>
      </p:sp>
      <p:sp>
        <p:nvSpPr>
          <p:cNvPr id="9" name="TextBox 8"/>
          <p:cNvSpPr txBox="1"/>
          <p:nvPr/>
        </p:nvSpPr>
        <p:spPr>
          <a:xfrm>
            <a:off x="1234440" y="3566160"/>
            <a:ext cx="10134295" cy="395093"/>
          </a:xfrm>
          <a:prstGeom prst="rect">
            <a:avLst/>
          </a:prstGeom>
          <a:noFill/>
        </p:spPr>
        <p:txBody>
          <a:bodyPr wrap="square" lIns="0" rIns="0" tIns="0" bIns="0" anchor="t">
            <a:spAutoFit/>
          </a:bodyPr>
          <a:lstStyle/>
          <a:p>
            <a:pPr algn="l">
              <a:lnSpc>
                <a:spcPct val="118000"/>
              </a:lnSpc>
              <a:spcAft>
                <a:spcPts val="600"/>
              </a:spcAft>
            </a:pPr>
            <a:r>
              <a:rPr sz="1821" b="0" i="0">
                <a:solidFill>
                  <a:srgbClr val="2A3B4A"/>
                </a:solidFill>
                <a:latin typeface="Calibri"/>
              </a:rPr>
              <a:t>Explain a difference between two tools that should agree.</a:t>
            </a:r>
          </a:p>
        </p:txBody>
      </p:sp>
      <p:sp>
        <p:nvSpPr>
          <p:cNvPr id="10" name="TextBox 9"/>
          <p:cNvSpPr txBox="1"/>
          <p:nvPr/>
        </p:nvSpPr>
        <p:spPr>
          <a:xfrm>
            <a:off x="685800" y="6144768"/>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Session 9 of 15  ·  Python  ·  Grouping and joining in pandas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QUESTION TONIGHT ANSWERS</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Your SQL and your pandas give different answers.</a:t>
            </a:r>
          </a:p>
          <a:p>
            <a:pPr algn="l">
              <a:lnSpc>
                <a:spcPct val="115000"/>
              </a:lnSpc>
              <a:spcAft>
                <a:spcPts val="600"/>
              </a:spcAft>
            </a:pPr>
            <a:r>
              <a:rPr sz="3400" b="0" i="1">
                <a:solidFill>
                  <a:srgbClr val="FFFFFF"/>
                </a:solidFill>
                <a:latin typeface="Cambria"/>
              </a:rPr>
              <a:t>Which one is wrong?</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Usually neither. They are answering slightly different questions, and finding out which is the actual skill.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BLOCK ONE · 50 MINUTES</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groupby: split, apply, combine</a:t>
            </a:r>
          </a:p>
        </p:txBody>
      </p:sp>
      <p:sp>
        <p:nvSpPr>
          <p:cNvPr id="5" name="TextBox 4"/>
          <p:cNvSpPr txBox="1"/>
          <p:nvPr/>
        </p:nvSpPr>
        <p:spPr>
          <a:xfrm>
            <a:off x="685800" y="416052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groupby as split, apply, combine, said in those words and then shown.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groupby</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Split the rows into groups, apply an aggregation to each, combine the results into a new table. It is SQL's GROUP BY and it is your pivot table.</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sales.groupby("region")["revenue"].sum() gives one number per region. Add .reset_index() and you get a proper table instead of something with a surprising index.</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pivot table. Third time you have met this idea, and that is deliberate: pivot, then GROUP BY, then groupby.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Index</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The labels down the side of a DataFrame. After a groupby your grouping keys become the index rather than columns, which is the commonest confusion in pandas.</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by_region["region"] raises KeyError because region is the index. .reset_index() moves it back into a column and everything downstream behaves as you expected.</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Row headers. In Excel they are just the leftmost column; in pandas they are a separate thing with its own rules.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merge, and validate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merge is pandas' join. validate is the argument that makes it REFUSE a join that would multiply rows instead of silently doing it.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validate="many_to_one" raises MergeError if the right side has duplicate keys. There is no reason not to pass it, and SQL has no equivalent.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400860"/>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VLOOKUP, with a safety catch VLOOKUP does not have.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groupby, and the four characters that fix it</a:t>
            </a:r>
          </a:p>
        </p:txBody>
      </p:sp>
      <p:sp>
        <p:nvSpPr>
          <p:cNvPr id="4" name="Rounded Rectangle 3"/>
          <p:cNvSpPr/>
          <p:nvPr/>
        </p:nvSpPr>
        <p:spPr>
          <a:xfrm>
            <a:off x="8442655" y="512064"/>
            <a:ext cx="30632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JUPYTER OR COLAB</a:t>
            </a:r>
          </a:p>
        </p:txBody>
      </p:sp>
      <p:sp>
        <p:nvSpPr>
          <p:cNvPr id="5" name="Rectangle 4"/>
          <p:cNvSpPr/>
          <p:nvPr/>
        </p:nvSpPr>
        <p:spPr>
          <a:xfrm>
            <a:off x="685800" y="1911095"/>
            <a:ext cx="10820095" cy="3521049"/>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3228441"/>
          </a:xfrm>
          <a:prstGeom prst="rect">
            <a:avLst/>
          </a:prstGeom>
          <a:noFill/>
        </p:spPr>
        <p:txBody>
          <a:bodyPr wrap="square" lIns="0" rIns="0" tIns="0" bIns="0" anchor="t">
            <a:spAutoFit/>
          </a:bodyPr>
          <a:lstStyle/>
          <a:p>
            <a:pPr algn="l">
              <a:lnSpc>
                <a:spcPts val="1795"/>
              </a:lnSpc>
              <a:spcAft>
                <a:spcPts val="0"/>
              </a:spcAft>
            </a:pPr>
            <a:r>
              <a:rPr sz="1320" b="0" i="0">
                <a:solidFill>
                  <a:srgbClr val="D8E3EC"/>
                </a:solidFill>
                <a:latin typeface="Courier New"/>
              </a:rPr>
              <a:t>sales["revenue"] = (sales["quantity"] * sales["unit_price"]</a:t>
            </a:r>
          </a:p>
          <a:p>
            <a:pPr algn="l">
              <a:lnSpc>
                <a:spcPts val="1795"/>
              </a:lnSpc>
              <a:spcAft>
                <a:spcPts val="0"/>
              </a:spcAft>
            </a:pPr>
            <a:r>
              <a:rPr sz="1320" b="0" i="0">
                <a:solidFill>
                  <a:srgbClr val="D8E3EC"/>
                </a:solidFill>
                <a:latin typeface="Courier New"/>
              </a:rPr>
              <a:t>                     * (1 - sales["discount"]))</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 one key</a:t>
            </a:r>
          </a:p>
          <a:p>
            <a:pPr algn="l">
              <a:lnSpc>
                <a:spcPts val="1795"/>
              </a:lnSpc>
              <a:spcAft>
                <a:spcPts val="0"/>
              </a:spcAft>
            </a:pPr>
            <a:r>
              <a:rPr sz="1320" b="0" i="0">
                <a:solidFill>
                  <a:srgbClr val="D8E3EC"/>
                </a:solidFill>
                <a:latin typeface="Courier New"/>
              </a:rPr>
              <a:t>sales.groupby("product_id")["revenue"].sum().head()</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 several aggregations at once, with readable output names</a:t>
            </a:r>
          </a:p>
          <a:p>
            <a:pPr algn="l">
              <a:lnSpc>
                <a:spcPts val="1795"/>
              </a:lnSpc>
              <a:spcAft>
                <a:spcPts val="0"/>
              </a:spcAft>
            </a:pPr>
            <a:r>
              <a:rPr sz="1320" b="0" i="0">
                <a:solidFill>
                  <a:srgbClr val="D8E3EC"/>
                </a:solidFill>
                <a:latin typeface="Courier New"/>
              </a:rPr>
              <a:t>by_cat = (sales.groupby("category")</a:t>
            </a:r>
          </a:p>
          <a:p>
            <a:pPr algn="l">
              <a:lnSpc>
                <a:spcPts val="1795"/>
              </a:lnSpc>
              <a:spcAft>
                <a:spcPts val="0"/>
              </a:spcAft>
            </a:pPr>
            <a:r>
              <a:rPr sz="1320" b="0" i="0">
                <a:solidFill>
                  <a:srgbClr val="D8E3EC"/>
                </a:solidFill>
                <a:latin typeface="Courier New"/>
              </a:rPr>
              <a:t>          .agg(revenue_ugx=("revenue", "sum"),</a:t>
            </a:r>
          </a:p>
          <a:p>
            <a:pPr algn="l">
              <a:lnSpc>
                <a:spcPts val="1795"/>
              </a:lnSpc>
              <a:spcAft>
                <a:spcPts val="0"/>
              </a:spcAft>
            </a:pPr>
            <a:r>
              <a:rPr sz="1320" b="0" i="0">
                <a:solidFill>
                  <a:srgbClr val="D8E3EC"/>
                </a:solidFill>
                <a:latin typeface="Courier New"/>
              </a:rPr>
              <a:t>               lines=("revenue", "size"),</a:t>
            </a:r>
          </a:p>
          <a:p>
            <a:pPr algn="l">
              <a:lnSpc>
                <a:spcPts val="1795"/>
              </a:lnSpc>
              <a:spcAft>
                <a:spcPts val="0"/>
              </a:spcAft>
            </a:pPr>
            <a:r>
              <a:rPr sz="1320" b="0" i="0">
                <a:solidFill>
                  <a:srgbClr val="D8E3EC"/>
                </a:solidFill>
                <a:latin typeface="Courier New"/>
              </a:rPr>
              <a:t>               mean_line=("revenue", "mean"))</a:t>
            </a:r>
          </a:p>
          <a:p>
            <a:pPr algn="l">
              <a:lnSpc>
                <a:spcPts val="1795"/>
              </a:lnSpc>
              <a:spcAft>
                <a:spcPts val="0"/>
              </a:spcAft>
            </a:pPr>
            <a:r>
              <a:rPr sz="1320" b="0" i="0">
                <a:solidFill>
                  <a:srgbClr val="D8E3EC"/>
                </a:solidFill>
                <a:latin typeface="Courier New"/>
              </a:rPr>
              <a:t>          .reset_index()</a:t>
            </a:r>
          </a:p>
          <a:p>
            <a:pPr algn="l">
              <a:lnSpc>
                <a:spcPts val="1795"/>
              </a:lnSpc>
              <a:spcAft>
                <a:spcPts val="0"/>
              </a:spcAft>
            </a:pPr>
            <a:r>
              <a:rPr sz="1320" b="0" i="0">
                <a:solidFill>
                  <a:srgbClr val="D8E3EC"/>
                </a:solidFill>
                <a:latin typeface="Courier New"/>
              </a:rPr>
              <a:t>          .sort_values("revenue_ugx", ascending=False))</a:t>
            </a:r>
          </a:p>
          <a:p>
            <a:pPr algn="l">
              <a:lnSpc>
                <a:spcPts val="1795"/>
              </a:lnSpc>
              <a:spcAft>
                <a:spcPts val="0"/>
              </a:spcAft>
            </a:pPr>
            <a:r>
              <a:rPr sz="1320" b="0" i="0">
                <a:solidFill>
                  <a:srgbClr val="D8E3EC"/>
                </a:solidFill>
                <a:latin typeface="Courier New"/>
              </a:rPr>
              <a:t>by_cat</a:t>
            </a:r>
          </a:p>
        </p:txBody>
      </p:sp>
      <p:sp>
        <p:nvSpPr>
          <p:cNvPr id="7" name="Rounded Rectangle 6"/>
          <p:cNvSpPr/>
          <p:nvPr/>
        </p:nvSpPr>
        <p:spPr>
          <a:xfrm>
            <a:off x="685800" y="5651601"/>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660745"/>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Leave off .reset_index() and then ask for by_cat["category"]. KeyError, because category is the index and not a column. Four characters, and it is the single most common pandas confusion.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Be back on time: the longest working block of the session is next.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BLOCK TWO · 45 MINUTES</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merge, and reconciling two tools</a:t>
            </a:r>
          </a:p>
        </p:txBody>
      </p:sp>
      <p:sp>
        <p:nvSpPr>
          <p:cNvPr id="5" name="TextBox 4"/>
          <p:cNvSpPr txBox="1"/>
          <p:nvPr/>
        </p:nvSpPr>
        <p:spPr>
          <a:xfrm>
            <a:off x="685800" y="416052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merge: the how argument against SQL's join types, indicator to see what matched, and validate to make pandas raise rather than fan out.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merge, with the guard rails on</a:t>
            </a:r>
          </a:p>
        </p:txBody>
      </p:sp>
      <p:sp>
        <p:nvSpPr>
          <p:cNvPr id="4" name="Rounded Rectangle 3"/>
          <p:cNvSpPr/>
          <p:nvPr/>
        </p:nvSpPr>
        <p:spPr>
          <a:xfrm>
            <a:off x="8442655" y="512064"/>
            <a:ext cx="30632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JUPYTER OR COLAB</a:t>
            </a:r>
          </a:p>
        </p:txBody>
      </p:sp>
      <p:sp>
        <p:nvSpPr>
          <p:cNvPr id="5" name="Rectangle 4"/>
          <p:cNvSpPr/>
          <p:nvPr/>
        </p:nvSpPr>
        <p:spPr>
          <a:xfrm>
            <a:off x="685800" y="1911095"/>
            <a:ext cx="10820095" cy="3293059"/>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3000451"/>
          </a:xfrm>
          <a:prstGeom prst="rect">
            <a:avLst/>
          </a:prstGeom>
          <a:noFill/>
        </p:spPr>
        <p:txBody>
          <a:bodyPr wrap="square" lIns="0" rIns="0" tIns="0" bIns="0" anchor="t">
            <a:spAutoFit/>
          </a:bodyPr>
          <a:lstStyle/>
          <a:p>
            <a:pPr algn="l">
              <a:lnSpc>
                <a:spcPts val="2333"/>
              </a:lnSpc>
              <a:spcAft>
                <a:spcPts val="0"/>
              </a:spcAft>
            </a:pPr>
            <a:r>
              <a:rPr sz="1716" b="0" i="0">
                <a:solidFill>
                  <a:srgbClr val="D8E3EC"/>
                </a:solidFill>
                <a:latin typeface="Courier New"/>
              </a:rPr>
              <a:t>orders = pd.read_csv("data/orders.csv")</a:t>
            </a:r>
          </a:p>
          <a:p>
            <a:pPr algn="l">
              <a:lnSpc>
                <a:spcPts val="2333"/>
              </a:lnSpc>
              <a:spcAft>
                <a:spcPts val="0"/>
              </a:spcAft>
            </a:pPr>
            <a:r>
              <a:rPr sz="1716" b="0" i="0">
                <a:solidFill>
                  <a:srgbClr val="D8E3EC"/>
                </a:solidFill>
                <a:latin typeface="Courier New"/>
              </a:rPr>
              <a:t>cust   = pd.read_csv("data/customers.csv")</a:t>
            </a:r>
          </a:p>
          <a:p>
            <a:pPr algn="l">
              <a:lnSpc>
                <a:spcPts val="2333"/>
              </a:lnSpc>
              <a:spcAft>
                <a:spcPts val="0"/>
              </a:spcAft>
            </a:pPr>
            <a:r>
              <a:rPr sz="1716" b="0" i="0">
                <a:solidFill>
                  <a:srgbClr val="D8E3EC"/>
                </a:solidFill>
                <a:latin typeface="Courier New"/>
              </a:rPr>
              <a:t/>
            </a:r>
          </a:p>
          <a:p>
            <a:pPr algn="l">
              <a:lnSpc>
                <a:spcPts val="2333"/>
              </a:lnSpc>
              <a:spcAft>
                <a:spcPts val="0"/>
              </a:spcAft>
            </a:pPr>
            <a:r>
              <a:rPr sz="1716" b="0" i="0">
                <a:solidFill>
                  <a:srgbClr val="D8E3EC"/>
                </a:solidFill>
                <a:latin typeface="Courier New"/>
              </a:rPr>
              <a:t># how= is SQL's join type. validate= is the guard SQL lacks.</a:t>
            </a:r>
          </a:p>
          <a:p>
            <a:pPr algn="l">
              <a:lnSpc>
                <a:spcPts val="2333"/>
              </a:lnSpc>
              <a:spcAft>
                <a:spcPts val="0"/>
              </a:spcAft>
            </a:pPr>
            <a:r>
              <a:rPr sz="1716" b="0" i="0">
                <a:solidFill>
                  <a:srgbClr val="D8E3EC"/>
                </a:solidFill>
                <a:latin typeface="Courier New"/>
              </a:rPr>
              <a:t>j = orders.merge(cust, on="customer_id", how="left",</a:t>
            </a:r>
          </a:p>
          <a:p>
            <a:pPr algn="l">
              <a:lnSpc>
                <a:spcPts val="2333"/>
              </a:lnSpc>
              <a:spcAft>
                <a:spcPts val="0"/>
              </a:spcAft>
            </a:pPr>
            <a:r>
              <a:rPr sz="1716" b="0" i="0">
                <a:solidFill>
                  <a:srgbClr val="D8E3EC"/>
                </a:solidFill>
                <a:latin typeface="Courier New"/>
              </a:rPr>
              <a:t>                 validate="many_to_one", indicator=True)</a:t>
            </a:r>
          </a:p>
          <a:p>
            <a:pPr algn="l">
              <a:lnSpc>
                <a:spcPts val="2333"/>
              </a:lnSpc>
              <a:spcAft>
                <a:spcPts val="0"/>
              </a:spcAft>
            </a:pPr>
            <a:r>
              <a:rPr sz="1716" b="0" i="0">
                <a:solidFill>
                  <a:srgbClr val="D8E3EC"/>
                </a:solidFill>
                <a:latin typeface="Courier New"/>
              </a:rPr>
              <a:t/>
            </a:r>
          </a:p>
          <a:p>
            <a:pPr algn="l">
              <a:lnSpc>
                <a:spcPts val="2333"/>
              </a:lnSpc>
              <a:spcAft>
                <a:spcPts val="0"/>
              </a:spcAft>
            </a:pPr>
            <a:r>
              <a:rPr sz="1716" b="0" i="0">
                <a:solidFill>
                  <a:srgbClr val="D8E3EC"/>
                </a:solidFill>
                <a:latin typeface="Courier New"/>
              </a:rPr>
              <a:t>len(orders), len(j)          # 6,000, 6,000</a:t>
            </a:r>
          </a:p>
          <a:p>
            <a:pPr algn="l">
              <a:lnSpc>
                <a:spcPts val="2333"/>
              </a:lnSpc>
              <a:spcAft>
                <a:spcPts val="0"/>
              </a:spcAft>
            </a:pPr>
            <a:r>
              <a:rPr sz="1716" b="0" i="0">
                <a:solidFill>
                  <a:srgbClr val="D8E3EC"/>
                </a:solidFill>
                <a:latin typeface="Courier New"/>
              </a:rPr>
              <a:t>j["_merge"].value_counts()</a:t>
            </a:r>
          </a:p>
          <a:p>
            <a:pPr algn="l">
              <a:lnSpc>
                <a:spcPts val="2333"/>
              </a:lnSpc>
              <a:spcAft>
                <a:spcPts val="0"/>
              </a:spcAft>
            </a:pPr>
            <a:r>
              <a:rPr sz="1716" b="0" i="0">
                <a:solidFill>
                  <a:srgbClr val="D8E3EC"/>
                </a:solidFill>
                <a:latin typeface="Courier New"/>
              </a:rPr>
              <a:t># left_only is the 172 walk-in orders, worth UGX 390,632,335</a:t>
            </a:r>
          </a:p>
        </p:txBody>
      </p:sp>
      <p:sp>
        <p:nvSpPr>
          <p:cNvPr id="7" name="Rounded Rectangle 6"/>
          <p:cNvSpPr/>
          <p:nvPr/>
        </p:nvSpPr>
        <p:spPr>
          <a:xfrm>
            <a:off x="685800" y="5423611"/>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432755"/>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Change how="left" to how="inner" and the row count drops to 5,828. Same data, same merge, UGX 390,632,335 gone. Print the length before and after EVERY merge, exactly as you check the row count in SQL.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same three tables meeting, so region and month exist</a:t>
            </a:r>
          </a:p>
        </p:txBody>
      </p:sp>
      <p:sp>
        <p:nvSpPr>
          <p:cNvPr id="4" name="Rounded Rectangle 3"/>
          <p:cNvSpPr/>
          <p:nvPr/>
        </p:nvSpPr>
        <p:spPr>
          <a:xfrm>
            <a:off x="8442655" y="512064"/>
            <a:ext cx="30632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JUPYTER OR COLAB</a:t>
            </a:r>
          </a:p>
        </p:txBody>
      </p:sp>
      <p:sp>
        <p:nvSpPr>
          <p:cNvPr id="5" name="Rectangle 4"/>
          <p:cNvSpPr/>
          <p:nvPr/>
        </p:nvSpPr>
        <p:spPr>
          <a:xfrm>
            <a:off x="685800" y="1911095"/>
            <a:ext cx="10820095" cy="3564785"/>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3272177"/>
          </a:xfrm>
          <a:prstGeom prst="rect">
            <a:avLst/>
          </a:prstGeom>
          <a:noFill/>
        </p:spPr>
        <p:txBody>
          <a:bodyPr wrap="square" lIns="0" rIns="0" tIns="0" bIns="0" anchor="t">
            <a:spAutoFit/>
          </a:bodyPr>
          <a:lstStyle/>
          <a:p>
            <a:pPr algn="l">
              <a:lnSpc>
                <a:spcPts val="1795"/>
              </a:lnSpc>
              <a:spcAft>
                <a:spcPts val="0"/>
              </a:spcAft>
            </a:pPr>
            <a:r>
              <a:rPr sz="1320" b="0" i="0">
                <a:solidFill>
                  <a:srgbClr val="D8E3EC"/>
                </a:solidFill>
                <a:latin typeface="Courier New"/>
              </a:rPr>
              <a:t># revenue is on the LINES, region on the customer, month on</a:t>
            </a:r>
          </a:p>
          <a:p>
            <a:pPr algn="l">
              <a:lnSpc>
                <a:spcPts val="1795"/>
              </a:lnSpc>
              <a:spcAft>
                <a:spcPts val="0"/>
              </a:spcAft>
            </a:pPr>
            <a:r>
              <a:rPr sz="1320" b="0" i="0">
                <a:solidFill>
                  <a:srgbClr val="D8E3EC"/>
                </a:solidFill>
                <a:latin typeface="Courier New"/>
              </a:rPr>
              <a:t># the order. All three have to meet before you can group.</a:t>
            </a:r>
          </a:p>
          <a:p>
            <a:pPr algn="l">
              <a:lnSpc>
                <a:spcPts val="1795"/>
              </a:lnSpc>
              <a:spcAft>
                <a:spcPts val="0"/>
              </a:spcAft>
            </a:pPr>
            <a:r>
              <a:rPr sz="1320" b="0" i="0">
                <a:solidFill>
                  <a:srgbClr val="D8E3EC"/>
                </a:solidFill>
                <a:latin typeface="Courier New"/>
              </a:rPr>
              <a:t>lines = (sales</a:t>
            </a:r>
          </a:p>
          <a:p>
            <a:pPr algn="l">
              <a:lnSpc>
                <a:spcPts val="1795"/>
              </a:lnSpc>
              <a:spcAft>
                <a:spcPts val="0"/>
              </a:spcAft>
            </a:pPr>
            <a:r>
              <a:rPr sz="1320" b="0" i="0">
                <a:solidFill>
                  <a:srgbClr val="D8E3EC"/>
                </a:solidFill>
                <a:latin typeface="Courier New"/>
              </a:rPr>
              <a:t>         .merge(orders[["order_id", "order_date", "status",</a:t>
            </a:r>
          </a:p>
          <a:p>
            <a:pPr algn="l">
              <a:lnSpc>
                <a:spcPts val="1795"/>
              </a:lnSpc>
              <a:spcAft>
                <a:spcPts val="0"/>
              </a:spcAft>
            </a:pPr>
            <a:r>
              <a:rPr sz="1320" b="0" i="0">
                <a:solidFill>
                  <a:srgbClr val="D8E3EC"/>
                </a:solidFill>
                <a:latin typeface="Courier New"/>
              </a:rPr>
              <a:t>                        "customer_id"]],</a:t>
            </a:r>
          </a:p>
          <a:p>
            <a:pPr algn="l">
              <a:lnSpc>
                <a:spcPts val="1795"/>
              </a:lnSpc>
              <a:spcAft>
                <a:spcPts val="0"/>
              </a:spcAft>
            </a:pPr>
            <a:r>
              <a:rPr sz="1320" b="0" i="0">
                <a:solidFill>
                  <a:srgbClr val="D8E3EC"/>
                </a:solidFill>
                <a:latin typeface="Courier New"/>
              </a:rPr>
              <a:t>                on="order_id", how="left")</a:t>
            </a:r>
          </a:p>
          <a:p>
            <a:pPr algn="l">
              <a:lnSpc>
                <a:spcPts val="1795"/>
              </a:lnSpc>
              <a:spcAft>
                <a:spcPts val="0"/>
              </a:spcAft>
            </a:pPr>
            <a:r>
              <a:rPr sz="1320" b="0" i="0">
                <a:solidFill>
                  <a:srgbClr val="D8E3EC"/>
                </a:solidFill>
                <a:latin typeface="Courier New"/>
              </a:rPr>
              <a:t>         .merge(cust[["customer_id", "region"]],</a:t>
            </a:r>
          </a:p>
          <a:p>
            <a:pPr algn="l">
              <a:lnSpc>
                <a:spcPts val="1795"/>
              </a:lnSpc>
              <a:spcAft>
                <a:spcPts val="0"/>
              </a:spcAft>
            </a:pPr>
            <a:r>
              <a:rPr sz="1320" b="0" i="0">
                <a:solidFill>
                  <a:srgbClr val="D8E3EC"/>
                </a:solidFill>
                <a:latin typeface="Courier New"/>
              </a:rPr>
              <a:t>                on="customer_id", how="left"))</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lines["month"] = (pd.to_datetime(lines["order_date"])</a:t>
            </a:r>
          </a:p>
          <a:p>
            <a:pPr algn="l">
              <a:lnSpc>
                <a:spcPts val="1795"/>
              </a:lnSpc>
              <a:spcAft>
                <a:spcPts val="0"/>
              </a:spcAft>
            </a:pPr>
            <a:r>
              <a:rPr sz="1320" b="0" i="0">
                <a:solidFill>
                  <a:srgbClr val="D8E3EC"/>
                </a:solidFill>
                <a:latin typeface="Courier New"/>
              </a:rPr>
              <a:t>                   .dt.strftime("%Y-%m"))</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out = (lines[lines["status"] == "Delivered"]</a:t>
            </a:r>
          </a:p>
          <a:p>
            <a:pPr algn="l">
              <a:lnSpc>
                <a:spcPts val="1795"/>
              </a:lnSpc>
              <a:spcAft>
                <a:spcPts val="0"/>
              </a:spcAft>
            </a:pPr>
            <a:r>
              <a:rPr sz="1320" b="0" i="0">
                <a:solidFill>
                  <a:srgbClr val="D8E3EC"/>
                </a:solidFill>
                <a:latin typeface="Courier New"/>
              </a:rPr>
              <a:t>       .groupby(["region", "month"])["revenue"]</a:t>
            </a:r>
          </a:p>
          <a:p>
            <a:pPr algn="l">
              <a:lnSpc>
                <a:spcPts val="1795"/>
              </a:lnSpc>
              <a:spcAft>
                <a:spcPts val="0"/>
              </a:spcAft>
            </a:pPr>
            <a:r>
              <a:rPr sz="1320" b="0" i="0">
                <a:solidFill>
                  <a:srgbClr val="D8E3EC"/>
                </a:solidFill>
                <a:latin typeface="Courier New"/>
              </a:rPr>
              <a:t>       .sum().reset_index())</a:t>
            </a:r>
          </a:p>
        </p:txBody>
      </p:sp>
      <p:sp>
        <p:nvSpPr>
          <p:cNvPr id="7" name="Rounded Rectangle 6"/>
          <p:cNvSpPr/>
          <p:nvPr/>
        </p:nvSpPr>
        <p:spPr>
          <a:xfrm>
            <a:off x="685800" y="5695337"/>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704481"/>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Check lines["region"].isna().sum(). It is not zero: the walk-in lines have no region because the left merge kept them, which is what you wanted. Now you have to decide what a regional total means, and say so.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Reconciling two tools, properly</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Same question, same data, different tool. They have to agree, and where they do not you have found something.</a:t>
            </a:r>
          </a:p>
        </p:txBody>
      </p:sp>
      <p:sp>
        <p:nvSpPr>
          <p:cNvPr id="5" name="Rounded Rectangle 4"/>
          <p:cNvSpPr/>
          <p:nvPr/>
        </p:nvSpPr>
        <p:spPr>
          <a:xfrm>
            <a:off x="685800" y="2732347"/>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Export the SQL answer to CSV and read both results into pandas.</a:t>
            </a:r>
          </a:p>
        </p:txBody>
      </p:sp>
      <p:sp>
        <p:nvSpPr>
          <p:cNvPr id="8" name="Rounded Rectangle 7"/>
          <p:cNvSpPr/>
          <p:nvPr/>
        </p:nvSpPr>
        <p:spPr>
          <a:xfrm>
            <a:off x="685800" y="3258366"/>
            <a:ext cx="10820095" cy="79600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31323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304086"/>
            <a:ext cx="9814255" cy="704566"/>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Merge them on rep and month with indicator=True. Any left_only or right_only row is a difference in WHICH ROWS, not in the arithmetic.</a:t>
            </a:r>
          </a:p>
        </p:txBody>
      </p:sp>
      <p:sp>
        <p:nvSpPr>
          <p:cNvPr id="11" name="Rounded Rectangle 10"/>
          <p:cNvSpPr/>
          <p:nvPr/>
        </p:nvSpPr>
        <p:spPr>
          <a:xfrm>
            <a:off x="685800" y="4109236"/>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416410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4154956"/>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For rows in both, subtract. A few shillings is rounding; thousands is a filter or a join.</a:t>
            </a:r>
          </a:p>
        </p:txBody>
      </p:sp>
      <p:sp>
        <p:nvSpPr>
          <p:cNvPr id="14" name="Rounded Rectangle 13"/>
          <p:cNvSpPr/>
          <p:nvPr/>
        </p:nvSpPr>
        <p:spPr>
          <a:xfrm>
            <a:off x="685800" y="4635255"/>
            <a:ext cx="10820095" cy="79600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69011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680975"/>
            <a:ext cx="9814255" cy="704566"/>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Check the three usual suspects in order: the status filter, the date window, and whether one side dropped the 172 rows with no customer.</a:t>
            </a:r>
          </a:p>
        </p:txBody>
      </p:sp>
      <p:sp>
        <p:nvSpPr>
          <p:cNvPr id="17" name="Rounded Rectangle 16"/>
          <p:cNvSpPr/>
          <p:nvPr/>
        </p:nvSpPr>
        <p:spPr>
          <a:xfrm>
            <a:off x="685800" y="5486125"/>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554098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5531845"/>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Name every difference. Then stop: a named difference is finished.</a:t>
            </a:r>
          </a:p>
        </p:txBody>
      </p:sp>
      <p:sp>
        <p:nvSpPr>
          <p:cNvPr id="20" name="Rounded Rectangle 19"/>
          <p:cNvSpPr/>
          <p:nvPr/>
        </p:nvSpPr>
        <p:spPr>
          <a:xfrm>
            <a:off x="685800" y="6067008"/>
            <a:ext cx="10820095" cy="640080"/>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6204168"/>
            <a:ext cx="10234879" cy="365759"/>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The commonest cause, by a long way, is one side filtering on status and the other not.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CHECKPOINT 2 · 15% OF THE MARK</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Checkpoint 2</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What to hand in</a:t>
            </a:r>
          </a:p>
        </p:txBody>
      </p:sp>
      <p:sp>
        <p:nvSpPr>
          <p:cNvPr id="5" name="TextBox 4"/>
          <p:cNvSpPr txBox="1"/>
          <p:nvPr/>
        </p:nvSpPr>
        <p:spPr>
          <a:xfrm>
            <a:off x="685800" y="2409332"/>
            <a:ext cx="5204307" cy="406133"/>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The pandas rebuild of the session 5 report.</a:t>
            </a:r>
          </a:p>
        </p:txBody>
      </p:sp>
      <p:sp>
        <p:nvSpPr>
          <p:cNvPr id="6" name="TextBox 5"/>
          <p:cNvSpPr txBox="1"/>
          <p:nvPr/>
        </p:nvSpPr>
        <p:spPr>
          <a:xfrm>
            <a:off x="685800" y="2870329"/>
            <a:ext cx="5204307" cy="766546"/>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A reconciliation against the SQL output, row by row.</a:t>
            </a:r>
          </a:p>
        </p:txBody>
      </p:sp>
      <p:sp>
        <p:nvSpPr>
          <p:cNvPr id="7" name="TextBox 6"/>
          <p:cNvSpPr txBox="1"/>
          <p:nvPr/>
        </p:nvSpPr>
        <p:spPr>
          <a:xfrm>
            <a:off x="685800" y="3691739"/>
            <a:ext cx="5204307" cy="766546"/>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The cleaning log from session 8 that produced your starting numbers.</a:t>
            </a:r>
          </a:p>
        </p:txBody>
      </p:sp>
      <p:sp>
        <p:nvSpPr>
          <p:cNvPr id="8" name="Rounded Rectangle 7"/>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How it is marked</a:t>
            </a:r>
          </a:p>
        </p:txBody>
      </p:sp>
      <p:sp>
        <p:nvSpPr>
          <p:cNvPr id="10" name="TextBox 9"/>
          <p:cNvSpPr txBox="1"/>
          <p:nvPr/>
        </p:nvSpPr>
        <p:spPr>
          <a:xfrm>
            <a:off x="6575907" y="2496312"/>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Do the numbers agree, and where they do not, is every difference named?</a:t>
            </a:r>
          </a:p>
        </p:txBody>
      </p:sp>
      <p:sp>
        <p:nvSpPr>
          <p:cNvPr id="11" name="TextBox 10"/>
          <p:cNvSpPr txBox="1"/>
          <p:nvPr/>
        </p:nvSpPr>
        <p:spPr>
          <a:xfrm>
            <a:off x="6575907" y="3335035"/>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Could somebody else reproduce your starting figures from the log alone?</a:t>
            </a:r>
          </a:p>
        </p:txBody>
      </p:sp>
      <p:sp>
        <p:nvSpPr>
          <p:cNvPr id="12" name="TextBox 11"/>
          <p:cNvSpPr txBox="1"/>
          <p:nvPr/>
        </p:nvSpPr>
        <p:spPr>
          <a:xfrm>
            <a:off x="6575907" y="4173759"/>
            <a:ext cx="4655667" cy="974621"/>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Finding a genuine difference and explaining it scores higher than a clean match you cannot account for.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96012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MISTAKE THIS SESSION PREVENTS</a:t>
            </a:r>
          </a:p>
        </p:txBody>
      </p:sp>
      <p:sp>
        <p:nvSpPr>
          <p:cNvPr id="4" name="TextBox 3"/>
          <p:cNvSpPr txBox="1"/>
          <p:nvPr/>
        </p:nvSpPr>
        <p:spPr>
          <a:xfrm>
            <a:off x="685800" y="1600200"/>
            <a:ext cx="10820095" cy="1603291"/>
          </a:xfrm>
          <a:prstGeom prst="rect">
            <a:avLst/>
          </a:prstGeom>
          <a:noFill/>
        </p:spPr>
        <p:txBody>
          <a:bodyPr wrap="square" lIns="0" rIns="0" tIns="0" bIns="0" anchor="t">
            <a:spAutoFit/>
          </a:bodyPr>
          <a:lstStyle/>
          <a:p>
            <a:pPr algn="l">
              <a:lnSpc>
                <a:spcPct val="114000"/>
              </a:lnSpc>
              <a:spcAft>
                <a:spcPts val="600"/>
              </a:spcAft>
            </a:pPr>
            <a:r>
              <a:rPr sz="2795" b="1" i="0">
                <a:solidFill>
                  <a:srgbClr val="FFFFFF"/>
                </a:solidFill>
                <a:latin typeface="Calibri"/>
              </a:rPr>
              <a:t>A merge that silently multiplies rows. validate turns that into an exception instead of a wrong number.</a:t>
            </a:r>
          </a:p>
        </p:txBody>
      </p:sp>
      <p:sp>
        <p:nvSpPr>
          <p:cNvPr id="5" name="TextBox 4"/>
          <p:cNvSpPr txBox="1"/>
          <p:nvPr/>
        </p:nvSpPr>
        <p:spPr>
          <a:xfrm>
            <a:off x="685800" y="3477811"/>
            <a:ext cx="10820095" cy="457200"/>
          </a:xfrm>
          <a:prstGeom prst="rect">
            <a:avLst/>
          </a:prstGeom>
          <a:noFill/>
        </p:spPr>
        <p:txBody>
          <a:bodyPr wrap="square" lIns="0" rIns="0" tIns="0" bIns="0" anchor="t">
            <a:spAutoFit/>
          </a:bodyPr>
          <a:lstStyle/>
          <a:p>
            <a:pPr algn="l">
              <a:spcAft>
                <a:spcPts val="600"/>
              </a:spcAft>
            </a:pPr>
            <a:r>
              <a:rPr sz="1923" b="0" i="0">
                <a:solidFill>
                  <a:srgbClr val="B8C9D8"/>
                </a:solidFill>
                <a:latin typeface="Calibri"/>
              </a:rPr>
              <a:t>It is in tonight's lab on purpose.</a:t>
            </a:r>
          </a:p>
        </p:txBody>
      </p:sp>
      <p:sp>
        <p:nvSpPr>
          <p:cNvPr id="6" name="TextBox 5"/>
          <p:cNvSpPr txBox="1"/>
          <p:nvPr/>
        </p:nvSpPr>
        <p:spPr>
          <a:xfrm>
            <a:off x="685800" y="608076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Session 9 of 15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groupby result will not let you select a column you can see. Why?</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A merge turned 6,000 rows into 20,234. What happened?</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SQL says one figure and pandas says a smaller one. Where do you look first?</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Cannot select a column you can see</a:t>
            </a:r>
          </a:p>
        </p:txBody>
      </p:sp>
      <p:sp>
        <p:nvSpPr>
          <p:cNvPr id="6" name="TextBox 5"/>
          <p:cNvSpPr txBox="1"/>
          <p:nvPr/>
        </p:nvSpPr>
        <p:spPr>
          <a:xfrm>
            <a:off x="1216152" y="2203703"/>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It is in the index, not the columns. .reset_index() moves the grouping keys back and everything downstream works.</a:t>
            </a:r>
          </a:p>
        </p:txBody>
      </p:sp>
      <p:sp>
        <p:nvSpPr>
          <p:cNvPr id="7" name="Oval 6"/>
          <p:cNvSpPr/>
          <p:nvPr/>
        </p:nvSpPr>
        <p:spPr>
          <a:xfrm>
            <a:off x="685800" y="309686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060289"/>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A merge that multiplied the rows</a:t>
            </a:r>
          </a:p>
        </p:txBody>
      </p:sp>
      <p:sp>
        <p:nvSpPr>
          <p:cNvPr id="9" name="TextBox 8"/>
          <p:cNvSpPr txBox="1"/>
          <p:nvPr/>
        </p:nvSpPr>
        <p:spPr>
          <a:xfrm>
            <a:off x="1216152" y="3352897"/>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Fan-out: the right-hand side had several rows per key, so every left row was repeated once per match. Pass validate="one_to_many" and pandas raises instead. Aggregate the many side first, then merge.</a:t>
            </a:r>
          </a:p>
        </p:txBody>
      </p:sp>
      <p:sp>
        <p:nvSpPr>
          <p:cNvPr id="10" name="Oval 9"/>
          <p:cNvSpPr/>
          <p:nvPr/>
        </p:nvSpPr>
        <p:spPr>
          <a:xfrm>
            <a:off x="685800" y="424605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20948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A gap between SQL and pandas</a:t>
            </a:r>
          </a:p>
        </p:txBody>
      </p:sp>
      <p:sp>
        <p:nvSpPr>
          <p:cNvPr id="12" name="TextBox 11"/>
          <p:cNvSpPr txBox="1"/>
          <p:nvPr/>
        </p:nvSpPr>
        <p:spPr>
          <a:xfrm>
            <a:off x="1216152" y="4502090"/>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The filters, first and always: status, the date window, and whether one side dropped the 172 rows with no customer. That last one alone is UGX 390,632,335. Only look at the arithmetic once the row sets match.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LAB · 50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Reconcile pandas against SQL</a:t>
            </a:r>
          </a:p>
        </p:txBody>
      </p:sp>
      <p:sp>
        <p:nvSpPr>
          <p:cNvPr id="4" name="Rounded Rectangle 3"/>
          <p:cNvSpPr/>
          <p:nvPr/>
        </p:nvSpPr>
        <p:spPr>
          <a:xfrm>
            <a:off x="685800" y="1911095"/>
            <a:ext cx="10820095" cy="1236629"/>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870869"/>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Rebuild the rep revenue report in pandas and set it beside your SQL output. Any difference is a finding, and finding one is a pass. A clean match you cannot explain is not.</a:t>
            </a:r>
          </a:p>
        </p:txBody>
      </p:sp>
      <p:sp>
        <p:nvSpPr>
          <p:cNvPr id="6" name="TextBox 5"/>
          <p:cNvSpPr txBox="1"/>
          <p:nvPr/>
        </p:nvSpPr>
        <p:spPr>
          <a:xfrm>
            <a:off x="685800" y="3422045"/>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3897533"/>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Rebuild the report with groupby and merge.</a:t>
            </a:r>
          </a:p>
        </p:txBody>
      </p:sp>
      <p:sp>
        <p:nvSpPr>
          <p:cNvPr id="8" name="TextBox 7"/>
          <p:cNvSpPr txBox="1"/>
          <p:nvPr/>
        </p:nvSpPr>
        <p:spPr>
          <a:xfrm>
            <a:off x="685800" y="4374475"/>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Print the row count after every merge.</a:t>
            </a:r>
          </a:p>
        </p:txBody>
      </p:sp>
      <p:sp>
        <p:nvSpPr>
          <p:cNvPr id="9" name="TextBox 8"/>
          <p:cNvSpPr txBox="1"/>
          <p:nvPr/>
        </p:nvSpPr>
        <p:spPr>
          <a:xfrm>
            <a:off x="685800" y="4851416"/>
            <a:ext cx="5227167" cy="69785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Merge your result against the SQL output with indicator=True.</a:t>
            </a:r>
          </a:p>
        </p:txBody>
      </p:sp>
      <p:sp>
        <p:nvSpPr>
          <p:cNvPr id="10" name="TextBox 9"/>
          <p:cNvSpPr txBox="1"/>
          <p:nvPr/>
        </p:nvSpPr>
        <p:spPr>
          <a:xfrm>
            <a:off x="6278727" y="3897533"/>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List every difference and name the cause of each.</a:t>
            </a:r>
          </a:p>
        </p:txBody>
      </p:sp>
      <p:sp>
        <p:nvSpPr>
          <p:cNvPr id="11" name="TextBox 10"/>
          <p:cNvSpPr txBox="1"/>
          <p:nvPr/>
        </p:nvSpPr>
        <p:spPr>
          <a:xfrm>
            <a:off x="6278727" y="4374475"/>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Submit with the cleaning log from last session.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TONIGHT IN THREE LINES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can do now</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456345"/>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Reproduce any of your SQL aggregates in pandas and get the same number.</a:t>
            </a:r>
          </a:p>
        </p:txBody>
      </p:sp>
      <p:sp>
        <p:nvSpPr>
          <p:cNvPr id="6" name="Oval 5"/>
          <p:cNvSpPr/>
          <p:nvPr/>
        </p:nvSpPr>
        <p:spPr>
          <a:xfrm>
            <a:off x="685800" y="2468025"/>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413161"/>
            <a:ext cx="10271455" cy="456345"/>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Merge two frames and check the result rather than hoping.</a:t>
            </a:r>
          </a:p>
        </p:txBody>
      </p:sp>
      <p:sp>
        <p:nvSpPr>
          <p:cNvPr id="8" name="Oval 7"/>
          <p:cNvSpPr/>
          <p:nvPr/>
        </p:nvSpPr>
        <p:spPr>
          <a:xfrm>
            <a:off x="685800" y="297009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915227"/>
            <a:ext cx="10271455" cy="456345"/>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Explain a difference between two tools that should agree.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HOMEWORK · 45 TO 60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the next session</a:t>
            </a:r>
          </a:p>
        </p:txBody>
      </p:sp>
      <p:sp>
        <p:nvSpPr>
          <p:cNvPr id="4" name="Rounded Rectangle 3"/>
          <p:cNvSpPr/>
          <p:nvPr/>
        </p:nvSpPr>
        <p:spPr>
          <a:xfrm>
            <a:off x="685800" y="1911095"/>
            <a:ext cx="10820095" cy="1237967"/>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30552"/>
            <a:ext cx="10234879" cy="835631"/>
          </a:xfrm>
          <a:prstGeom prst="rect">
            <a:avLst/>
          </a:prstGeom>
          <a:noFill/>
        </p:spPr>
        <p:txBody>
          <a:bodyPr wrap="square" lIns="0" rIns="0" tIns="0" bIns="0" anchor="t">
            <a:spAutoFit/>
          </a:bodyPr>
          <a:lstStyle/>
          <a:p>
            <a:pPr algn="l">
              <a:lnSpc>
                <a:spcPct val="122000"/>
              </a:lnSpc>
              <a:spcAft>
                <a:spcPts val="600"/>
              </a:spcAft>
            </a:pPr>
            <a:r>
              <a:rPr sz="2021" b="0" i="0">
                <a:solidFill>
                  <a:srgbClr val="1C3144"/>
                </a:solidFill>
                <a:latin typeface="Calibri"/>
              </a:rPr>
              <a:t>Take one report somebody at work produces by hand every month and write the pandas that would produce it. It does not have to run yet.</a:t>
            </a:r>
          </a:p>
        </p:txBody>
      </p:sp>
      <p:sp>
        <p:nvSpPr>
          <p:cNvPr id="6" name="Rounded Rectangle 5"/>
          <p:cNvSpPr/>
          <p:nvPr/>
        </p:nvSpPr>
        <p:spPr>
          <a:xfrm>
            <a:off x="685800" y="3423383"/>
            <a:ext cx="4826861"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WHY IT IS ALWAYS OPTIONAL ON YOUR OWN DATA</a:t>
            </a:r>
          </a:p>
        </p:txBody>
      </p:sp>
      <p:sp>
        <p:nvSpPr>
          <p:cNvPr id="7" name="TextBox 6"/>
          <p:cNvSpPr txBox="1"/>
          <p:nvPr/>
        </p:nvSpPr>
        <p:spPr>
          <a:xfrm>
            <a:off x="685800" y="3990311"/>
            <a:ext cx="10820095" cy="1097280"/>
          </a:xfrm>
          <a:prstGeom prst="rect">
            <a:avLst/>
          </a:prstGeom>
          <a:noFill/>
        </p:spPr>
        <p:txBody>
          <a:bodyPr wrap="square" lIns="0" rIns="0" tIns="0" bIns="0" anchor="t">
            <a:spAutoFit/>
          </a:bodyPr>
          <a:lstStyle/>
          <a:p>
            <a:pPr algn="l">
              <a:lnSpc>
                <a:spcPct val="122000"/>
              </a:lnSpc>
              <a:spcAft>
                <a:spcPts val="600"/>
              </a:spcAft>
            </a:pPr>
            <a:r>
              <a:rPr sz="1923" b="0" i="0">
                <a:solidFill>
                  <a:srgbClr val="334657"/>
                </a:solidFill>
                <a:latin typeface="Calibri"/>
              </a:rPr>
              <a:t>Homework on a dataset you already care about gets done. Homework on a teaching dataset competes with your job and loses. Either version counts, and the one on your own data is worth more to you.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Two tools, one answer</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Getting the same number twice, two different ways, is the only self-check available to somebody working alone. It is also the first thing you will be asked for when a number of yours is doubted.</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what the numbers mean, starting from what a statistic 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