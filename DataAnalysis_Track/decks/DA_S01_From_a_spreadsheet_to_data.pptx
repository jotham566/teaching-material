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1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bad analysis is not a technique failure. It is a correct answer to a question nobody asked.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with three things attached: a NUMBER you will produce, a POPULATION it covers, and a TIME WINDOW. Without all three, two people can agree on the answer and still disagree about what it meant.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one row of a table represents. It is the single most important fact about any table and the one nobody states out 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kind of value a column holds: whole number, decimal, text, date, or true/false. A column has ONE type, all the way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five real rows of orders.csv. Everything you already know about a spreadsheet still applies; the words change and one new idea, the primary key, arrives.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to compute before agreeing what was asked. It is the most expensive habit in the room and the cheapest to fix.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six course files in your spreadsheet. For each one, write down three things: what one row represents in a single sentence, how many rows there are, and which column could never repeat. Then take the three requests on your sheet and turn each into an answerable question.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down the last three things somebody asked you for at work. Rewrite each as a question with a number, a population and a window. Bring them: they are capstone candidates.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here is technique, and technique is teachable in five weeks. Knowing what you are being asked, and what one row means, is the part that separates an analyst from somebody who produces charts.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1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From a spreadsheet to data</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Most bad analysis is not a technique failure. It is a correct answer to a question nobody asked.</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FOUNDATIONS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What is data analysis; the analyst's workflow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55192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Data</a:t>
            </a:r>
          </a:p>
        </p:txBody>
      </p:sp>
      <p:sp>
        <p:nvSpPr>
          <p:cNvPr id="9" name="TextBox 8"/>
          <p:cNvSpPr txBox="1"/>
          <p:nvPr/>
        </p:nvSpPr>
        <p:spPr>
          <a:xfrm>
            <a:off x="3154680" y="2276856"/>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Recorded facts. Numbers, text and dates that something or somebody wrote down.</a:t>
            </a:r>
          </a:p>
        </p:txBody>
      </p:sp>
      <p:sp>
        <p:nvSpPr>
          <p:cNvPr id="10" name="TextBox 9"/>
          <p:cNvSpPr txBox="1"/>
          <p:nvPr/>
        </p:nvSpPr>
        <p:spPr>
          <a:xfrm>
            <a:off x="8275320" y="2276856"/>
            <a:ext cx="3230575" cy="506201"/>
          </a:xfrm>
          <a:prstGeom prst="rect">
            <a:avLst/>
          </a:prstGeom>
          <a:noFill/>
        </p:spPr>
        <p:txBody>
          <a:bodyPr wrap="square" lIns="0" rIns="0" tIns="0" bIns="0" anchor="t">
            <a:spAutoFit/>
          </a:bodyPr>
          <a:lstStyle/>
          <a:p>
            <a:pPr algn="l">
              <a:lnSpc>
                <a:spcPct val="116000"/>
              </a:lnSpc>
              <a:spcAft>
                <a:spcPts val="600"/>
              </a:spcAft>
            </a:pPr>
            <a:r>
              <a:rPr sz="1254" b="0" i="1">
                <a:solidFill>
                  <a:srgbClr val="6B7A8A"/>
                </a:solidFill>
                <a:latin typeface="Calibri"/>
              </a:rPr>
              <a:t>no direct equivalent</a:t>
            </a:r>
          </a:p>
        </p:txBody>
      </p:sp>
      <p:sp>
        <p:nvSpPr>
          <p:cNvPr id="11" name="TextBox 10"/>
          <p:cNvSpPr txBox="1"/>
          <p:nvPr/>
        </p:nvSpPr>
        <p:spPr>
          <a:xfrm>
            <a:off x="685800" y="2865353"/>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Dataset</a:t>
            </a:r>
          </a:p>
        </p:txBody>
      </p:sp>
      <p:sp>
        <p:nvSpPr>
          <p:cNvPr id="12" name="TextBox 11"/>
          <p:cNvSpPr txBox="1"/>
          <p:nvPr/>
        </p:nvSpPr>
        <p:spPr>
          <a:xfrm>
            <a:off x="3154680" y="2865353"/>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One collection of data that belongs together. Usually one or more files, or one database.</a:t>
            </a:r>
          </a:p>
        </p:txBody>
      </p:sp>
      <p:sp>
        <p:nvSpPr>
          <p:cNvPr id="13" name="TextBox 12"/>
          <p:cNvSpPr txBox="1"/>
          <p:nvPr/>
        </p:nvSpPr>
        <p:spPr>
          <a:xfrm>
            <a:off x="8275320" y="2865353"/>
            <a:ext cx="3230575"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 workbook</a:t>
            </a:r>
          </a:p>
        </p:txBody>
      </p:sp>
      <p:sp>
        <p:nvSpPr>
          <p:cNvPr id="14" name="Rectangle 13"/>
          <p:cNvSpPr/>
          <p:nvPr/>
        </p:nvSpPr>
        <p:spPr>
          <a:xfrm>
            <a:off x="576072" y="3417274"/>
            <a:ext cx="11039551" cy="55192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53850"/>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Table</a:t>
            </a:r>
          </a:p>
        </p:txBody>
      </p:sp>
      <p:sp>
        <p:nvSpPr>
          <p:cNvPr id="16" name="TextBox 15"/>
          <p:cNvSpPr txBox="1"/>
          <p:nvPr/>
        </p:nvSpPr>
        <p:spPr>
          <a:xfrm>
            <a:off x="3154680" y="3453850"/>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Rows and columns where every row is the same kind of thing and every column holds the same kind of value.</a:t>
            </a:r>
          </a:p>
        </p:txBody>
      </p:sp>
      <p:sp>
        <p:nvSpPr>
          <p:cNvPr id="17" name="TextBox 16"/>
          <p:cNvSpPr txBox="1"/>
          <p:nvPr/>
        </p:nvSpPr>
        <p:spPr>
          <a:xfrm>
            <a:off x="8275320" y="3453850"/>
            <a:ext cx="3230575"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 sheet with a header row</a:t>
            </a:r>
          </a:p>
        </p:txBody>
      </p:sp>
      <p:sp>
        <p:nvSpPr>
          <p:cNvPr id="18" name="TextBox 17"/>
          <p:cNvSpPr txBox="1"/>
          <p:nvPr/>
        </p:nvSpPr>
        <p:spPr>
          <a:xfrm>
            <a:off x="685800" y="4042347"/>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Row, or record</a:t>
            </a:r>
          </a:p>
        </p:txBody>
      </p:sp>
      <p:sp>
        <p:nvSpPr>
          <p:cNvPr id="19" name="TextBox 18"/>
          <p:cNvSpPr txBox="1"/>
          <p:nvPr/>
        </p:nvSpPr>
        <p:spPr>
          <a:xfrm>
            <a:off x="3154680" y="4042347"/>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One of the things the table is about: one order, one customer, one machine reading.</a:t>
            </a:r>
          </a:p>
        </p:txBody>
      </p:sp>
      <p:sp>
        <p:nvSpPr>
          <p:cNvPr id="20" name="TextBox 19"/>
          <p:cNvSpPr txBox="1"/>
          <p:nvPr/>
        </p:nvSpPr>
        <p:spPr>
          <a:xfrm>
            <a:off x="8275320" y="4042347"/>
            <a:ext cx="3230575"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 row</a:t>
            </a:r>
          </a:p>
        </p:txBody>
      </p:sp>
      <p:sp>
        <p:nvSpPr>
          <p:cNvPr id="21" name="Rectangle 20"/>
          <p:cNvSpPr/>
          <p:nvPr/>
        </p:nvSpPr>
        <p:spPr>
          <a:xfrm>
            <a:off x="576072" y="4594268"/>
            <a:ext cx="11039551" cy="32961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630844"/>
            <a:ext cx="2240280" cy="283899"/>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Column, or field</a:t>
            </a:r>
          </a:p>
        </p:txBody>
      </p:sp>
      <p:sp>
        <p:nvSpPr>
          <p:cNvPr id="23" name="TextBox 22"/>
          <p:cNvSpPr txBox="1"/>
          <p:nvPr/>
        </p:nvSpPr>
        <p:spPr>
          <a:xfrm>
            <a:off x="3154680" y="4630844"/>
            <a:ext cx="4892040"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One fact recorded about every row, with one name and one type.</a:t>
            </a:r>
          </a:p>
        </p:txBody>
      </p:sp>
      <p:sp>
        <p:nvSpPr>
          <p:cNvPr id="24" name="TextBox 23"/>
          <p:cNvSpPr txBox="1"/>
          <p:nvPr/>
        </p:nvSpPr>
        <p:spPr>
          <a:xfrm>
            <a:off x="8275320" y="4630844"/>
            <a:ext cx="3230575"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 column</a:t>
            </a:r>
          </a:p>
        </p:txBody>
      </p:sp>
      <p:sp>
        <p:nvSpPr>
          <p:cNvPr id="25" name="TextBox 24"/>
          <p:cNvSpPr txBox="1"/>
          <p:nvPr/>
        </p:nvSpPr>
        <p:spPr>
          <a:xfrm>
            <a:off x="685800" y="4997040"/>
            <a:ext cx="2240280" cy="283899"/>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Cell, or value</a:t>
            </a:r>
          </a:p>
        </p:txBody>
      </p:sp>
      <p:sp>
        <p:nvSpPr>
          <p:cNvPr id="26" name="TextBox 25"/>
          <p:cNvSpPr txBox="1"/>
          <p:nvPr/>
        </p:nvSpPr>
        <p:spPr>
          <a:xfrm>
            <a:off x="3154680" y="4997040"/>
            <a:ext cx="4892040"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One column of one row. The smallest piece.</a:t>
            </a:r>
          </a:p>
        </p:txBody>
      </p:sp>
      <p:sp>
        <p:nvSpPr>
          <p:cNvPr id="27" name="TextBox 26"/>
          <p:cNvSpPr txBox="1"/>
          <p:nvPr/>
        </p:nvSpPr>
        <p:spPr>
          <a:xfrm>
            <a:off x="8275320" y="4997040"/>
            <a:ext cx="3230575"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 cell</a:t>
            </a:r>
          </a:p>
        </p:txBody>
      </p:sp>
      <p:sp>
        <p:nvSpPr>
          <p:cNvPr id="28" name="Rectangle 27"/>
          <p:cNvSpPr/>
          <p:nvPr/>
        </p:nvSpPr>
        <p:spPr>
          <a:xfrm>
            <a:off x="576072" y="5326660"/>
            <a:ext cx="11039551" cy="55192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363236"/>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Data type</a:t>
            </a:r>
          </a:p>
        </p:txBody>
      </p:sp>
      <p:sp>
        <p:nvSpPr>
          <p:cNvPr id="30" name="TextBox 29"/>
          <p:cNvSpPr txBox="1"/>
          <p:nvPr/>
        </p:nvSpPr>
        <p:spPr>
          <a:xfrm>
            <a:off x="3154680" y="5363236"/>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What kind of value a column holds: whole number, decimal, text, date, or true/false. A column has ONE type, all the way down.</a:t>
            </a:r>
          </a:p>
        </p:txBody>
      </p:sp>
      <p:sp>
        <p:nvSpPr>
          <p:cNvPr id="31" name="TextBox 30"/>
          <p:cNvSpPr txBox="1"/>
          <p:nvPr/>
        </p:nvSpPr>
        <p:spPr>
          <a:xfrm>
            <a:off x="8275320" y="5363236"/>
            <a:ext cx="3230575"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Cell format, but enforced rather than cosmetic</a:t>
            </a:r>
          </a:p>
        </p:txBody>
      </p:sp>
      <p:sp>
        <p:nvSpPr>
          <p:cNvPr id="32" name="TextBox 31"/>
          <p:cNvSpPr txBox="1"/>
          <p:nvPr/>
        </p:nvSpPr>
        <p:spPr>
          <a:xfrm>
            <a:off x="685800" y="5951733"/>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Grain</a:t>
            </a:r>
          </a:p>
        </p:txBody>
      </p:sp>
      <p:sp>
        <p:nvSpPr>
          <p:cNvPr id="33" name="TextBox 32"/>
          <p:cNvSpPr txBox="1"/>
          <p:nvPr/>
        </p:nvSpPr>
        <p:spPr>
          <a:xfrm>
            <a:off x="3154680" y="5951733"/>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What one row represents. The single most important fact about any table, and the one nobody states.</a:t>
            </a:r>
          </a:p>
        </p:txBody>
      </p:sp>
      <p:sp>
        <p:nvSpPr>
          <p:cNvPr id="34" name="TextBox 33"/>
          <p:cNvSpPr txBox="1"/>
          <p:nvPr/>
        </p:nvSpPr>
        <p:spPr>
          <a:xfrm>
            <a:off x="8275320" y="5951733"/>
            <a:ext cx="3230575" cy="506201"/>
          </a:xfrm>
          <a:prstGeom prst="rect">
            <a:avLst/>
          </a:prstGeom>
          <a:noFill/>
        </p:spPr>
        <p:txBody>
          <a:bodyPr wrap="square" lIns="0" rIns="0" tIns="0" bIns="0" anchor="t">
            <a:spAutoFit/>
          </a:bodyPr>
          <a:lstStyle/>
          <a:p>
            <a:pPr algn="l">
              <a:lnSpc>
                <a:spcPct val="116000"/>
              </a:lnSpc>
              <a:spcAft>
                <a:spcPts val="600"/>
              </a:spcAft>
            </a:pPr>
            <a:r>
              <a:rPr sz="1254"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73532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Name the parts of a table using the words the rest of the field uses, and say what each one is called in Excel.</a:t>
            </a:r>
          </a:p>
        </p:txBody>
      </p:sp>
      <p:sp>
        <p:nvSpPr>
          <p:cNvPr id="6" name="Oval 5"/>
          <p:cNvSpPr/>
          <p:nvPr/>
        </p:nvSpPr>
        <p:spPr>
          <a:xfrm>
            <a:off x="685800" y="2801867"/>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65291"/>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Say what one row of a file represents, in one sentence, before doing anything else with it.</a:t>
            </a:r>
          </a:p>
        </p:txBody>
      </p:sp>
      <p:sp>
        <p:nvSpPr>
          <p:cNvPr id="8" name="Oval 7"/>
          <p:cNvSpPr/>
          <p:nvPr/>
        </p:nvSpPr>
        <p:spPr>
          <a:xfrm>
            <a:off x="685800" y="3624827"/>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88251"/>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Turn a vague request into a question with a number, a population and a time window attached.</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1 of 15  ·  Foundations  ·  From a spreadsheet to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What is the difference between what you were asked</a:t>
            </a:r>
          </a:p>
          <a:p>
            <a:pPr algn="l">
              <a:lnSpc>
                <a:spcPct val="115000"/>
              </a:lnSpc>
              <a:spcAft>
                <a:spcPts val="600"/>
              </a:spcAft>
            </a:pPr>
            <a:r>
              <a:rPr sz="3400" b="0" i="1">
                <a:solidFill>
                  <a:srgbClr val="FFFFFF"/>
                </a:solidFill>
                <a:latin typeface="Cambria"/>
              </a:rPr>
              <a:t>and what you can actually answer?</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Most bad analysis is not a technique failure. It is a correct answer to a question nobody asked.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you were asked, and what you can answer</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Requests against questions. Four real requests from a manager, each rewritten into a question you could actually answer, and one rewritten three different ways to show the original was ambiguous. The rule for the rest 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REQUESTS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requests, as they actually arrive</a:t>
            </a:r>
          </a:p>
        </p:txBody>
      </p:sp>
      <p:sp>
        <p:nvSpPr>
          <p:cNvPr id="4" name="Rounded Rectangle 3"/>
          <p:cNvSpPr/>
          <p:nvPr/>
        </p:nvSpPr>
        <p:spPr>
          <a:xfrm>
            <a:off x="685800" y="1911095"/>
            <a:ext cx="10820095" cy="92054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17934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"Can you look at the sales numbers?"</a:t>
            </a:r>
          </a:p>
        </p:txBody>
      </p:sp>
      <p:sp>
        <p:nvSpPr>
          <p:cNvPr id="7" name="TextBox 6"/>
          <p:cNvSpPr txBox="1"/>
          <p:nvPr/>
        </p:nvSpPr>
        <p:spPr>
          <a:xfrm>
            <a:off x="1554480" y="2295144"/>
            <a:ext cx="9631375" cy="445060"/>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Which sales, over what period, compared with what? Three people asking this want three different things.</a:t>
            </a:r>
          </a:p>
        </p:txBody>
      </p:sp>
      <p:sp>
        <p:nvSpPr>
          <p:cNvPr id="8" name="Rounded Rectangle 7"/>
          <p:cNvSpPr/>
          <p:nvPr/>
        </p:nvSpPr>
        <p:spPr>
          <a:xfrm>
            <a:off x="685800" y="2886508"/>
            <a:ext cx="10820095" cy="1187143"/>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28805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300538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"Why are sales down?"</a:t>
            </a:r>
          </a:p>
        </p:txBody>
      </p:sp>
      <p:sp>
        <p:nvSpPr>
          <p:cNvPr id="11" name="TextBox 10"/>
          <p:cNvSpPr txBox="1"/>
          <p:nvPr/>
        </p:nvSpPr>
        <p:spPr>
          <a:xfrm>
            <a:off x="1554480" y="3270556"/>
            <a:ext cx="9631375" cy="711655"/>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Are they? Down against last month, last year, or budget? Down in shillings or in units? The question assumes its own answer.</a:t>
            </a:r>
          </a:p>
        </p:txBody>
      </p:sp>
      <p:sp>
        <p:nvSpPr>
          <p:cNvPr id="12" name="Rounded Rectangle 11"/>
          <p:cNvSpPr/>
          <p:nvPr/>
        </p:nvSpPr>
        <p:spPr>
          <a:xfrm>
            <a:off x="685800" y="4128515"/>
            <a:ext cx="10820095" cy="92054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439676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4247388"/>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"Send me a dashboard."</a:t>
            </a:r>
          </a:p>
        </p:txBody>
      </p:sp>
      <p:sp>
        <p:nvSpPr>
          <p:cNvPr id="15" name="TextBox 14"/>
          <p:cNvSpPr txBox="1"/>
          <p:nvPr/>
        </p:nvSpPr>
        <p:spPr>
          <a:xfrm>
            <a:off x="1554480" y="4512564"/>
            <a:ext cx="9631375" cy="445060"/>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 dashboard is a delivery format. Nobody wants one. They want to stop asking somebody for a number every Monday.</a:t>
            </a:r>
          </a:p>
        </p:txBody>
      </p:sp>
      <p:sp>
        <p:nvSpPr>
          <p:cNvPr id="16" name="Rounded Rectangle 15"/>
          <p:cNvSpPr/>
          <p:nvPr/>
        </p:nvSpPr>
        <p:spPr>
          <a:xfrm>
            <a:off x="685800" y="5103928"/>
            <a:ext cx="10820095" cy="1187143"/>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550547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522280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"How many customers do we have?"</a:t>
            </a:r>
          </a:p>
        </p:txBody>
      </p:sp>
      <p:sp>
        <p:nvSpPr>
          <p:cNvPr id="19" name="TextBox 18"/>
          <p:cNvSpPr txBox="1"/>
          <p:nvPr/>
        </p:nvSpPr>
        <p:spPr>
          <a:xfrm>
            <a:off x="1554480" y="5487976"/>
            <a:ext cx="9631375" cy="711655"/>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easiest-looking one and the worst. Customers on our books, customers who bought this year, or customers who owe us money? Three numbers from one 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BRING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You are not starting from nothing</a:t>
            </a:r>
          </a:p>
        </p:txBody>
      </p:sp>
      <p:sp>
        <p:nvSpPr>
          <p:cNvPr id="4" name="Rounded Rectangle 3"/>
          <p:cNvSpPr/>
          <p:nvPr/>
        </p:nvSpPr>
        <p:spPr>
          <a:xfrm>
            <a:off x="685800" y="1911095"/>
            <a:ext cx="10820095" cy="112049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279319"/>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You already know what a row is</a:t>
            </a:r>
          </a:p>
        </p:txBody>
      </p:sp>
      <p:sp>
        <p:nvSpPr>
          <p:cNvPr id="7" name="TextBox 6"/>
          <p:cNvSpPr txBox="1"/>
          <p:nvPr/>
        </p:nvSpPr>
        <p:spPr>
          <a:xfrm>
            <a:off x="1554480" y="2295144"/>
            <a:ext cx="9631375" cy="64500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You have sorted one, filtered one and deleted one by accident. Tonight it gets a second name, RECORD, and that is most of what changes.</a:t>
            </a:r>
          </a:p>
        </p:txBody>
      </p:sp>
      <p:sp>
        <p:nvSpPr>
          <p:cNvPr id="8" name="Rounded Rectangle 7"/>
          <p:cNvSpPr/>
          <p:nvPr/>
        </p:nvSpPr>
        <p:spPr>
          <a:xfrm>
            <a:off x="685800" y="3086454"/>
            <a:ext cx="10820095" cy="112049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454677"/>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3205326"/>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You already write code</a:t>
            </a:r>
          </a:p>
        </p:txBody>
      </p:sp>
      <p:sp>
        <p:nvSpPr>
          <p:cNvPr id="11" name="TextBox 10"/>
          <p:cNvSpPr txBox="1"/>
          <p:nvPr/>
        </p:nvSpPr>
        <p:spPr>
          <a:xfrm>
            <a:off x="1554480" y="3470502"/>
            <a:ext cx="9631375" cy="64500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=IF(B2&gt;1000,"large","small") is a function, two arguments, a condition and a result. Session 6 puts the brackets somewhere else.</a:t>
            </a:r>
          </a:p>
        </p:txBody>
      </p:sp>
      <p:sp>
        <p:nvSpPr>
          <p:cNvPr id="12" name="Rounded Rectangle 11"/>
          <p:cNvSpPr/>
          <p:nvPr/>
        </p:nvSpPr>
        <p:spPr>
          <a:xfrm>
            <a:off x="685800" y="4261813"/>
            <a:ext cx="10820095" cy="112049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463003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4380685"/>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You already do joins</a:t>
            </a:r>
          </a:p>
        </p:txBody>
      </p:sp>
      <p:sp>
        <p:nvSpPr>
          <p:cNvPr id="15" name="TextBox 14"/>
          <p:cNvSpPr txBox="1"/>
          <p:nvPr/>
        </p:nvSpPr>
        <p:spPr>
          <a:xfrm>
            <a:off x="1554480" y="4645861"/>
            <a:ext cx="9631375" cy="64500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VLOOKUP is a join. It has one behaviour that differs from a real join, and in session 2 that difference is the whole lesson.</a:t>
            </a:r>
          </a:p>
        </p:txBody>
      </p:sp>
      <p:sp>
        <p:nvSpPr>
          <p:cNvPr id="16" name="Rounded Rectangle 15"/>
          <p:cNvSpPr/>
          <p:nvPr/>
        </p:nvSpPr>
        <p:spPr>
          <a:xfrm>
            <a:off x="685800" y="5437171"/>
            <a:ext cx="10820095" cy="85390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5672097"/>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5556043"/>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You already aggregate</a:t>
            </a:r>
          </a:p>
        </p:txBody>
      </p:sp>
      <p:sp>
        <p:nvSpPr>
          <p:cNvPr id="19" name="TextBox 18"/>
          <p:cNvSpPr txBox="1"/>
          <p:nvPr/>
        </p:nvSpPr>
        <p:spPr>
          <a:xfrm>
            <a:off x="1554480" y="5821219"/>
            <a:ext cx="9631375" cy="37841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 pivot table is GROUP BY. Session 4 is your pivot table, written down so it runs again next month without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An answerable question</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question with three things attached: a NUMBER you will produce, a POPULATION it covers, and a TIME WINDOW. Without all three, two people can agree on the answer and still disagree about what it meant.</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Not "why are sales down" but "was delivered revenue in October to December 2025 lower than the same quarter a year earlier, across all four regions, in shillings?" That has an answer, and you can be shown to be wrong.</a:t>
            </a:r>
          </a:p>
        </p:txBody>
      </p:sp>
      <p:sp>
        <p:nvSpPr>
          <p:cNvPr id="8" name="Rounded Rectangle 7"/>
          <p:cNvSpPr/>
          <p:nvPr/>
        </p:nvSpPr>
        <p:spPr>
          <a:xfrm>
            <a:off x="685800" y="503351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501523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KPI. A KPI is a number somebody watches. A question is something you can be wrong about, and this course is about the second kind.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Grain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What one row of a table represents. It is the single most important fact about any table and the one nobody states out loud.</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In orders, one row is one order: 6,000 rows. In order_items, one row is one product on one order: 20,234 rows. Same business, same two years, two different tables, and a number that is right in one and wrong in the other.</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Row count. Two tables about the same thing can have very different row counts and both be complete. What differs is the grain.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Data type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What kind of value a column holds: whole number, decimal, text, date, or true/false. A column has ONE type, all the way down.</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order_date is a date, so the database can sort it, subtract one from another and pull the month out. If it were text, "2025-03-10" and "10/03/2025" would be two unrelated pieces of text and none of that would work.</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Cell formatting. Formatting changes how a value LOOKS. A type changes what the value IS, and the software will refuse to break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words, on a real table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words, on a real table. The anatomy figure on the screen and the same five rows open in Excel: row, column, cell, header, primary key, and the Excel word beside each. Then data types, and grain, which is the one that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One table. Five words you will hear all term.</a:t>
            </a:r>
          </a:p>
        </p:txBody>
      </p:sp>
      <p:pic>
        <p:nvPicPr>
          <p:cNvPr id="4" name="Picture 3" descr="fig_table_anatomy.png"/>
          <p:cNvPicPr>
            <a:picLocks noChangeAspect="1"/>
          </p:cNvPicPr>
          <p:nvPr/>
        </p:nvPicPr>
        <p:blipFill>
          <a:blip r:embed="rId2"/>
          <a:stretch>
            <a:fillRect/>
          </a:stretch>
        </p:blipFill>
        <p:spPr>
          <a:xfrm>
            <a:off x="2733594" y="1911095"/>
            <a:ext cx="6724505"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The first five real rows of orders.csv. Everything you already know about a spreadsheet still applies; the words change and one new idea, the primary key, arrives.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DATASET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are working with for five weeks</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Riverside Distributors</a:t>
            </a:r>
          </a:p>
        </p:txBody>
      </p:sp>
      <p:sp>
        <p:nvSpPr>
          <p:cNvPr id="5" name="TextBox 4"/>
          <p:cNvSpPr txBox="1"/>
          <p:nvPr/>
        </p:nvSpPr>
        <p:spPr>
          <a:xfrm>
            <a:off x="685800" y="2409332"/>
            <a:ext cx="5204307" cy="1126959"/>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A wholesale distributor. Six tables, two years of trading, and it behaves like a real system because it was built to.</a:t>
            </a:r>
          </a:p>
        </p:txBody>
      </p:sp>
      <p:sp>
        <p:nvSpPr>
          <p:cNvPr id="6" name="TextBox 5"/>
          <p:cNvSpPr txBox="1"/>
          <p:nvPr/>
        </p:nvSpPr>
        <p:spPr>
          <a:xfrm>
            <a:off x="685800" y="3591155"/>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6,000 orders, 20,234 order lines, 401 customers, 120 products, 12 sales reps, 501 returns.</a:t>
            </a:r>
          </a:p>
        </p:txBody>
      </p:sp>
      <p:sp>
        <p:nvSpPr>
          <p:cNvPr id="7" name="TextBox 6"/>
          <p:cNvSpPr txBox="1"/>
          <p:nvPr/>
        </p:nvSpPr>
        <p:spPr>
          <a:xfrm>
            <a:off x="685800" y="4412565"/>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Small enough that you can check it by hand, which is why you will trust what you learn on it.</a:t>
            </a:r>
          </a:p>
        </p:txBody>
      </p:sp>
      <p:sp>
        <p:nvSpPr>
          <p:cNvPr id="8" name="Rounded Rectangle 7"/>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By the end of tonight</a:t>
            </a:r>
          </a:p>
        </p:txBody>
      </p:sp>
      <p:sp>
        <p:nvSpPr>
          <p:cNvPr id="10" name="TextBox 9"/>
          <p:cNvSpPr txBox="1"/>
          <p:nvPr/>
        </p:nvSpPr>
        <p:spPr>
          <a:xfrm>
            <a:off x="6575907" y="2496312"/>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The data open on your own machine, in a spreadsheet.</a:t>
            </a:r>
          </a:p>
        </p:txBody>
      </p:sp>
      <p:sp>
        <p:nvSpPr>
          <p:cNvPr id="11" name="TextBox 10"/>
          <p:cNvSpPr txBox="1"/>
          <p:nvPr/>
        </p:nvSpPr>
        <p:spPr>
          <a:xfrm>
            <a:off x="6575907" y="333503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Six sentences: what one row is, in each of the six files.</a:t>
            </a:r>
          </a:p>
        </p:txBody>
      </p:sp>
      <p:sp>
        <p:nvSpPr>
          <p:cNvPr id="12" name="TextBox 11"/>
          <p:cNvSpPr txBox="1"/>
          <p:nvPr/>
        </p:nvSpPr>
        <p:spPr>
          <a:xfrm>
            <a:off x="6575907" y="417375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Three requests rewritten as answerable questions.</a:t>
            </a:r>
          </a:p>
        </p:txBody>
      </p:sp>
      <p:sp>
        <p:nvSpPr>
          <p:cNvPr id="13" name="TextBox 12"/>
          <p:cNvSpPr txBox="1"/>
          <p:nvPr/>
        </p:nvSpPr>
        <p:spPr>
          <a:xfrm>
            <a:off x="6575907" y="4702849"/>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One question from your own work, written down. It is a capstone candidate.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SHAPE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the five weeks go</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Week 1 — the words, and getting the data</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Tonight and next session have no code at all. Then your first SQL, which is a written-down filter.</a:t>
            </a:r>
          </a:p>
        </p:txBody>
      </p:sp>
      <p:sp>
        <p:nvSpPr>
          <p:cNvPr id="6" name="TextBox 5"/>
          <p:cNvSpPr txBox="1"/>
          <p:nvPr/>
        </p:nvSpPr>
        <p:spPr>
          <a:xfrm>
            <a:off x="685800" y="3309683"/>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Week 2 — SQL, then your first program</a:t>
            </a:r>
          </a:p>
        </p:txBody>
      </p:sp>
      <p:sp>
        <p:nvSpPr>
          <p:cNvPr id="7" name="TextBox 6"/>
          <p:cNvSpPr txBox="1"/>
          <p:nvPr/>
        </p:nvSpPr>
        <p:spPr>
          <a:xfrm>
            <a:off x="685800" y="3751217"/>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Grouping, joining, and the report a sales manager would actually ask for. Then Python from the beginning.</a:t>
            </a:r>
          </a:p>
        </p:txBody>
      </p:sp>
      <p:sp>
        <p:nvSpPr>
          <p:cNvPr id="8" name="TextBox 7"/>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Week 3 — Python on real files</a:t>
            </a:r>
          </a:p>
        </p:txBody>
      </p:sp>
      <p:sp>
        <p:nvSpPr>
          <p:cNvPr id="9" name="TextBox 8"/>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Read a file too big for Excel, clean it without destroying it, and get the same answer as your SQL.</a:t>
            </a:r>
          </a:p>
        </p:txBody>
      </p:sp>
      <p:sp>
        <p:nvSpPr>
          <p:cNvPr id="10" name="TextBox 9"/>
          <p:cNvSpPr txBox="1"/>
          <p:nvPr/>
        </p:nvSpPr>
        <p:spPr>
          <a:xfrm>
            <a:off x="6347307" y="3309683"/>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Week 4 — what the numbers mean</a:t>
            </a:r>
          </a:p>
        </p:txBody>
      </p:sp>
      <p:sp>
        <p:nvSpPr>
          <p:cNvPr id="11" name="TextBox 10"/>
          <p:cNvSpPr txBox="1"/>
          <p:nvPr/>
        </p:nvSpPr>
        <p:spPr>
          <a:xfrm>
            <a:off x="6347307" y="3751217"/>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Statistics from what a statistic is. Then charts, from what an axis is.</a:t>
            </a:r>
          </a:p>
        </p:txBody>
      </p:sp>
      <p:sp>
        <p:nvSpPr>
          <p:cNvPr id="12" name="TextBox 11"/>
          <p:cNvSpPr txBox="1"/>
          <p:nvPr/>
        </p:nvSpPr>
        <p:spPr>
          <a:xfrm>
            <a:off x="6347307" y="4708270"/>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Week 5 — shipping it</a:t>
            </a:r>
          </a:p>
        </p:txBody>
      </p:sp>
      <p:sp>
        <p:nvSpPr>
          <p:cNvPr id="13" name="TextBox 12"/>
          <p:cNvSpPr txBox="1"/>
          <p:nvPr/>
        </p:nvSpPr>
        <p:spPr>
          <a:xfrm>
            <a:off x="6347307" y="5149804"/>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 full investigation, then Power BI, then five minutes in front of the room.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Starting to compute before agreeing what was asked. It is the most expensive habit in the room and the cheapest to fix.</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1 of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manager says the Eastern region is underperforming. What three things are missing before that is answerable?</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Somebody asks how many customers we have. Name two defensible answers that differ.</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orders has 6,000 rows and order_items has 20,234. Is one of them incomplete?</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"The Eastern region is underperforming"</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A number, a population and a window. Underperforming on what measure, against which comparison, over what period. As it stands it is a conclusion with no question underneath it.</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Two answers to "how many customers"</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Everyone in the customers table, which is 401 here, or everyone who placed an order in a given window, which is smaller. Both are right. Which one was wanted is the question you have to go and ask.</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Different row counts in two tables</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No. They have different GRAIN. One row of orders is one order; one row of order_items is one product on one order. Both tables are complete, and a total computed on the wrong one is wrong.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Say what one row is, six times</a:t>
            </a:r>
          </a:p>
        </p:txBody>
      </p:sp>
      <p:sp>
        <p:nvSpPr>
          <p:cNvPr id="4" name="Rounded Rectangle 3"/>
          <p:cNvSpPr/>
          <p:nvPr/>
        </p:nvSpPr>
        <p:spPr>
          <a:xfrm>
            <a:off x="685800" y="1911095"/>
            <a:ext cx="10820095" cy="124358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877823"/>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Open the six course files in your spreadsheet. For each one, write down three things: what one row represents in a single sentence, how many rows there are, and which column could never repeat. Then take the three requests on your sheet and turn each into an answerable question.</a:t>
            </a:r>
          </a:p>
        </p:txBody>
      </p:sp>
      <p:sp>
        <p:nvSpPr>
          <p:cNvPr id="6" name="TextBox 5"/>
          <p:cNvSpPr txBox="1"/>
          <p:nvPr/>
        </p:nvSpPr>
        <p:spPr>
          <a:xfrm>
            <a:off x="685800" y="3465575"/>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88620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One row of this file is ___ .</a:t>
            </a:r>
          </a:p>
        </p:txBody>
      </p:sp>
      <p:sp>
        <p:nvSpPr>
          <p:cNvPr id="8" name="TextBox 7"/>
          <p:cNvSpPr txBox="1"/>
          <p:nvPr/>
        </p:nvSpPr>
        <p:spPr>
          <a:xfrm>
            <a:off x="685800" y="430682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How many rows? Write the number down.</a:t>
            </a:r>
          </a:p>
        </p:txBody>
      </p:sp>
      <p:sp>
        <p:nvSpPr>
          <p:cNvPr id="9" name="TextBox 8"/>
          <p:cNvSpPr txBox="1"/>
          <p:nvPr/>
        </p:nvSpPr>
        <p:spPr>
          <a:xfrm>
            <a:off x="685800" y="472744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column never repeats? That is the primary key.</a:t>
            </a:r>
          </a:p>
        </p:txBody>
      </p:sp>
      <p:sp>
        <p:nvSpPr>
          <p:cNvPr id="10" name="TextBox 9"/>
          <p:cNvSpPr txBox="1"/>
          <p:nvPr/>
        </p:nvSpPr>
        <p:spPr>
          <a:xfrm>
            <a:off x="6278727" y="388620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column points at another table?</a:t>
            </a:r>
          </a:p>
        </p:txBody>
      </p:sp>
      <p:sp>
        <p:nvSpPr>
          <p:cNvPr id="11" name="TextBox 10"/>
          <p:cNvSpPr txBox="1"/>
          <p:nvPr/>
        </p:nvSpPr>
        <p:spPr>
          <a:xfrm>
            <a:off x="6278727" y="430682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Then: the three requests, rewritten with a number, a population and a window.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81210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Name the parts of a table using the words the rest of the field uses, and say what each one is called in Excel.</a:t>
            </a:r>
          </a:p>
        </p:txBody>
      </p:sp>
      <p:sp>
        <p:nvSpPr>
          <p:cNvPr id="6" name="Oval 5"/>
          <p:cNvSpPr/>
          <p:nvPr/>
        </p:nvSpPr>
        <p:spPr>
          <a:xfrm>
            <a:off x="685800" y="282378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68923"/>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Say what one row of a file represents, in one sentence, before doing anything else with it.</a:t>
            </a:r>
          </a:p>
        </p:txBody>
      </p:sp>
      <p:sp>
        <p:nvSpPr>
          <p:cNvPr id="8" name="Oval 7"/>
          <p:cNvSpPr/>
          <p:nvPr/>
        </p:nvSpPr>
        <p:spPr>
          <a:xfrm>
            <a:off x="685800" y="3325852"/>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270988"/>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Turn a vague request into a question with a number, a population and a time window attached.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Write down the last three things somebody asked you for at work. Rewrite each as a question with a number, a population and a window. Bring them: they are capstone candidates.</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You now have a question, and the words to describe the data</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is technique, and technique is teachable in five weeks. Knowing what you are being asked, and what one row means, is the part that separates an analyst from somebody who produces charts.</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why the data is in six tables and not one. Still no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