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Tonight is session 6 of twelve.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are what tonight is marked against, in the sense that the lab checks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ninety minutes. Tonight you load a real file and print how many rows it 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name that holds a value, so you can use it again without retyping it. You choose the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named instruction that takes inputs, does something, and gives back a result. You use other people's and you write your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Somebody else's functions, loaded when you need them. You will use one library, pandas, for almost everything in weeks three and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error message Python prints when something goes wrong. It is long, it looks alarming, and the LAST line is the one that names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counts from 0, so the first row is row 0 and the first item of a list is item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Copying code you cannot read. It works, you learn nothing, and the first time it breaks you are stuck. Type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pasted tonight. Open an empty notebook and type every line. It is slower and it is the only version that teaches you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Retype tonight's notebook from scratch without looking. It takes fifteen minutes and it is worth more than an hour of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loaded a real file of 6,000 rows and told you something true about it. The rest of this course is more of the same, in bigger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960120"/>
            <a:ext cx="2103851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SESSION 6 OF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2009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Your first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033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93" b="0" i="0">
                <a:solidFill>
                  <a:srgbClr val="A8BCCE"/>
                </a:solidFill>
                <a:latin typeface="Calibri"/>
              </a:rPr>
              <a:t>About ninety minutes. Tonight you load a real file and print how many rows it has.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49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WEEK 2  ·  PYTHON  ·  3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0">
                <a:solidFill>
                  <a:srgbClr val="7E93A6"/>
                </a:solidFill>
                <a:latin typeface="Calibri"/>
              </a:rPr>
              <a:t>Data Analysis with Python, SQL and Power BI  ·  roadmap.sh: Python basics: variables, types, functions, errors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THE FIFTEEN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Where tonight sits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  · 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From a spreadsheet to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9403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5707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2  ·  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5707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Why data lives in several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9311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3  ·  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9311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Asking a database for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611" y="1947672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2915" y="2020824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4  · 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915" y="2295144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Counting and grouping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5  · 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Joining tables, carefully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9403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5707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FFFFFF"/>
                </a:solidFill>
                <a:latin typeface="Calibri"/>
              </a:rPr>
              <a:t>6  · 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5707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1" i="0">
                <a:solidFill>
                  <a:srgbClr val="FFFFFF"/>
                </a:solidFill>
                <a:latin typeface="Calibri"/>
              </a:rPr>
              <a:t>Your first program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9311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7  ·  PYTHON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Reading a file, and looking at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611" y="3172968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2915" y="3246120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8  ·  PYTHON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2915" y="3520439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Cleaning, and writing down what you did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9  ·  PYTHON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Grouping and joining in pandas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59403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5707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10  ·  STATISTICS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5707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Describing one column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9311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11  ·  STATISTICS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Comparing groups, and reading time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611" y="4398264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52915" y="4471416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12  ·  CHARTS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2915" y="4745736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Charts that answer the question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623559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" y="5696712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13  ·  INVESTIGATION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" y="5971031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A whole investigation, end to end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59403" y="5623559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5707" y="5696712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14  ·  POWER BI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5707" y="5971031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Getting data in, and modelling 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33007" y="5623559"/>
            <a:ext cx="2499283" cy="106070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79311" y="5696712"/>
            <a:ext cx="22066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4" b="1" i="0">
                <a:solidFill>
                  <a:srgbClr val="6B7A8A"/>
                </a:solidFill>
                <a:latin typeface="Calibri"/>
              </a:rPr>
              <a:t>15  ·  POWER BI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9311" y="5971031"/>
            <a:ext cx="22066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2" b="0" i="0">
                <a:solidFill>
                  <a:srgbClr val="2A3B4A"/>
                </a:solidFill>
                <a:latin typeface="Calibri"/>
              </a:rPr>
              <a:t>Measures, a dashboard, and presenting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The words for tonight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1109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20" b="1" i="0">
                <a:solidFill>
                  <a:srgbClr val="E4572E"/>
                </a:solidFill>
                <a:latin typeface="Calibri"/>
              </a:rPr>
              <a:t>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911095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20" b="1" i="0">
                <a:solidFill>
                  <a:srgbClr val="E4572E"/>
                </a:solidFill>
                <a:latin typeface="Calibri"/>
              </a:rPr>
              <a:t>WHAT IT MEANS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11095"/>
            <a:ext cx="32305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20" b="1" i="0">
                <a:solidFill>
                  <a:srgbClr val="E4572E"/>
                </a:solidFill>
                <a:latin typeface="Calibri"/>
              </a:rPr>
              <a:t>IN A SPREADSHEET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" y="2240279"/>
            <a:ext cx="11039551" cy="3296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76856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276856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A list of instructions, run in order, top to bottom.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276856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2E7D6F"/>
                </a:solidFill>
                <a:latin typeface="Calibri"/>
              </a:rPr>
              <a:t>A macro, or a formula that got long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43051"/>
            <a:ext cx="224028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Variable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643051"/>
            <a:ext cx="489204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A name that holds a value, so you can use it again without retyping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643051"/>
            <a:ext cx="3230575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2E7D6F"/>
                </a:solidFill>
                <a:latin typeface="Calibri"/>
              </a:rPr>
              <a:t>A named cell or a named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" y="3194973"/>
            <a:ext cx="11039551" cy="3296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31549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231549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What kind of value: whole number, decimal, text, true/false, date.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31549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97744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Function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597744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A named instruction that takes inputs and gives back a result.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597744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2E7D6F"/>
                </a:solidFill>
                <a:latin typeface="Calibri"/>
              </a:rPr>
              <a:t>SUM, VLOOKUP, IF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3927364"/>
            <a:ext cx="11039551" cy="3296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63940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Argument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3963940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An input you hand to a function.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963940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2E7D6F"/>
                </a:solidFill>
                <a:latin typeface="Calibri"/>
              </a:rPr>
              <a:t>What goes inside the brackets of a formula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0136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Library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4330136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Somebody else's functions, loaded when you need them.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330136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2E7D6F"/>
                </a:solidFill>
                <a:latin typeface="Calibri"/>
              </a:rPr>
              <a:t>An add-in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" y="4659756"/>
            <a:ext cx="11039551" cy="55192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696332"/>
            <a:ext cx="224028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pandas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4696332"/>
            <a:ext cx="489204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The library that gives Python tables. Almost everything in weeks three and four is pandas.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696332"/>
            <a:ext cx="3230575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284829"/>
            <a:ext cx="224028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DataFrame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5284829"/>
            <a:ext cx="4892040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A table in Python: named columns, each with one type.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284829"/>
            <a:ext cx="3230575" cy="283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2E7D6F"/>
                </a:solidFill>
                <a:latin typeface="Calibri"/>
              </a:rPr>
              <a:t>A sheet, with the rules enforced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" y="5614449"/>
            <a:ext cx="11039551" cy="55192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51025"/>
            <a:ext cx="224028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Traceback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5651025"/>
            <a:ext cx="489204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The error message. It is long, and the LAST line is the one that names the problem.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5651025"/>
            <a:ext cx="3230575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2E7D6F"/>
                </a:solidFill>
                <a:latin typeface="Calibri"/>
              </a:rPr>
              <a:t>#VALUE!, with an explanation attached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239522"/>
            <a:ext cx="224028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320" b="1" i="0">
                <a:solidFill>
                  <a:srgbClr val="1C3144"/>
                </a:solidFill>
                <a:latin typeface="Calibri"/>
              </a:rPr>
              <a:t>Zero-based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6239522"/>
            <a:ext cx="4892040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0">
                <a:solidFill>
                  <a:srgbClr val="334657"/>
                </a:solidFill>
                <a:latin typeface="Calibri"/>
              </a:rPr>
              <a:t>Counting from 0. The first row is row 0. It is a real difference from Excel and it catches everybody once.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6239522"/>
            <a:ext cx="3230575" cy="506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254" b="0" i="1">
                <a:solidFill>
                  <a:srgbClr val="6B7A8A"/>
                </a:solidFill>
                <a:latin typeface="Calibri"/>
              </a:rPr>
              <a:t>no direct equivalent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WHAT YOU WILL BE ABLE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3144"/>
                </a:solidFill>
                <a:latin typeface="Calibri"/>
              </a:rPr>
              <a:t>By the end of tonight you can…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56816"/>
            <a:ext cx="329184" cy="329184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920240"/>
            <a:ext cx="10134295" cy="395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Say what a variable, a function and a library are, in your own words.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779776"/>
            <a:ext cx="329184" cy="329184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43200"/>
            <a:ext cx="10134295" cy="395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Read an error message and find the line that caused it.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602736"/>
            <a:ext cx="329184" cy="329184"/>
          </a:xfrm>
          <a:prstGeom prst="ellipse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66160"/>
            <a:ext cx="10134295" cy="395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Load a file into pandas and print how many rows it has.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4476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1">
                <a:solidFill>
                  <a:srgbClr val="6B7A8A"/>
                </a:solidFill>
                <a:latin typeface="Calibri"/>
              </a:rPr>
              <a:t>Session 6 of 15  ·  Python  ·  Your first program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THE QUESTION TONIGHT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2009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0" i="1">
                <a:solidFill>
                  <a:srgbClr val="FFFFFF"/>
                </a:solidFill>
                <a:latin typeface="Cambria"/>
              </a:rPr>
              <a:t>You have never programmed.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0" i="1">
                <a:solidFill>
                  <a:srgbClr val="FFFFFF"/>
                </a:solidFill>
                <a:latin typeface="Cambria"/>
              </a:rPr>
              <a:t>How long until Python is useful to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892040"/>
            <a:ext cx="108200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23" b="0" i="0">
                <a:solidFill>
                  <a:srgbClr val="B8C9D8"/>
                </a:solidFill>
                <a:latin typeface="Calibri"/>
              </a:rPr>
              <a:t>About ninety minutes. Tonight you load a real file and print how many rows it has.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BLOCK ONE · 50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You already write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21" b="0" i="0">
                <a:solidFill>
                  <a:srgbClr val="B8C9D8"/>
                </a:solidFill>
                <a:latin typeface="Calibri"/>
              </a:rPr>
              <a:t>You already write code. Open a spreadsheet formula, =IF(B2&gt;1000, "large", "small"), and name its parts: a function, its arguments, a condition, a result. Python is that with the brackets in different places. Then, live: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WHAT YOU ALREADY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A spreadsheet formula, with the parts named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11095"/>
            <a:ext cx="10820095" cy="8321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2" y="2135124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29967"/>
            <a:ext cx="9631375" cy="3474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23" b="1" i="0">
                <a:solidFill>
                  <a:srgbClr val="1C3144"/>
                </a:solidFill>
                <a:latin typeface="Calibri"/>
              </a:rPr>
              <a:t>=IF(B2&gt;1000, "large", "small")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95144"/>
            <a:ext cx="963137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452" b="0" i="0">
                <a:solidFill>
                  <a:srgbClr val="3C4E5E"/>
                </a:solidFill>
                <a:latin typeface="Calibri"/>
              </a:rPr>
              <a:t>You have written this. Every part of it has a name in programming, and you already understand all of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98064"/>
            <a:ext cx="10820095" cy="8321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3022092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16936"/>
            <a:ext cx="9631375" cy="3474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23" b="1" i="0">
                <a:solidFill>
                  <a:srgbClr val="1C3144"/>
                </a:solidFill>
                <a:latin typeface="Calibri"/>
              </a:rPr>
              <a:t>IF is a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182112"/>
            <a:ext cx="963137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452" b="0" i="0">
                <a:solidFill>
                  <a:srgbClr val="3C4E5E"/>
                </a:solidFill>
                <a:latin typeface="Calibri"/>
              </a:rPr>
              <a:t>A named instruction that takes inputs and gives back a result. SUM, VLOOKUP and AVERAGE are functions too.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85032"/>
            <a:ext cx="10820095" cy="8321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1832" y="3909060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803904"/>
            <a:ext cx="9631375" cy="3474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23" b="1" i="0">
                <a:solidFill>
                  <a:srgbClr val="1C3144"/>
                </a:solidFill>
                <a:latin typeface="Calibri"/>
              </a:rPr>
              <a:t>B2&gt;1000 and the two words are ARGUMENTS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69080"/>
            <a:ext cx="963137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452" b="0" i="0">
                <a:solidFill>
                  <a:srgbClr val="3C4E5E"/>
                </a:solidFill>
                <a:latin typeface="Calibri"/>
              </a:rPr>
              <a:t>The inputs you hand the function, inside its brackets, separated by commas. Python is identical.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72000"/>
            <a:ext cx="10820095" cy="8321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4796028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90872"/>
            <a:ext cx="9631375" cy="3474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23" b="1" i="0">
                <a:solidFill>
                  <a:srgbClr val="1C3144"/>
                </a:solidFill>
                <a:latin typeface="Calibri"/>
              </a:rPr>
              <a:t>B2 is a REFERENCE; in Python it is a VARIABLE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956048"/>
            <a:ext cx="963137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452" b="0" i="0">
                <a:solidFill>
                  <a:srgbClr val="3C4E5E"/>
                </a:solidFill>
                <a:latin typeface="Calibri"/>
              </a:rPr>
              <a:t>A name that stands for a value. The difference is that you choose the name, so it can say what it means.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458968"/>
            <a:ext cx="10820095" cy="8321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1832" y="568299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577840"/>
            <a:ext cx="9631375" cy="3474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23" b="1" i="0">
                <a:solidFill>
                  <a:srgbClr val="1C3144"/>
                </a:solidFill>
                <a:latin typeface="Calibri"/>
              </a:rPr>
              <a:t>The whole thing is an EXPRESSION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843016"/>
            <a:ext cx="963137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452" b="0" i="0">
                <a:solidFill>
                  <a:srgbClr val="3C4E5E"/>
                </a:solidFill>
                <a:latin typeface="Calibri"/>
              </a:rPr>
              <a:t>Something that produces a value. A program is mostly expressions, run top to bottom.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Variable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A name that holds a value, so you can use it again without retyping it. You choose the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rate = 3780.0 then price_ugx = price_usd * rate. If the rate changes you edit one line, and everything that used it follows.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290739"/>
            <a:ext cx="246888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DO NOT CONFUSE WITH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272451"/>
            <a:ext cx="798545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A named cell or a named range. You have probably called a cell TaxRate and referred to it by name.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Function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A named instruction that takes inputs, does something, and gives back a result. You use other people's and you write your 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round(8751705520 / 3780, 2) uses two built-in functions. Writing your own takes one line: def to_usd(ugx): return ugx / 3780.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290739"/>
            <a:ext cx="246888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DO NOT CONFUSE WITH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272451"/>
            <a:ext cx="798545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SUM, IF, VLOOKUP. Identical idea; the brackets sit in a different place and you can make new 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Library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Somebody else's functions, loaded when you need them. You will use one library, pandas, for almost everything in weeks three and four.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import pandas as pd loads it and gives it the short name pd. Every pandas command in this course starts with pd or with the name of a 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290739"/>
            <a:ext cx="246888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DO NOT CONFUSE WITH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272451"/>
            <a:ext cx="798545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An add-in. The difference is that these are free, universal, and the one you are learning is the most widely used data tool in the world.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Traceback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1195902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848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The error message Python prints when something goes wrong. It is long, it looks alarming, and the LAST line is the one that names the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324426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306138"/>
            <a:ext cx="8808415" cy="10928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KeyError: 'Western' means you asked for something that is not there. NameError means a name does not exist. FileNotFoundError means the path is wrong. Three messages cover most of your first month.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636735"/>
            <a:ext cx="246888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DO NOT CONFUSE WITH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618447"/>
            <a:ext cx="798545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#VALUE! or #REF!, with an explanation attached and the line number. It is genuinely more helpful than Excel here.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820095" cy="702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C3144"/>
                </a:solidFill>
                <a:latin typeface="Cambria"/>
              </a:rPr>
              <a:t>Zero-based counting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54203"/>
            <a:ext cx="10820095" cy="799119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055371"/>
            <a:ext cx="10234879" cy="451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Python counts from 0, so the first row is row 0 and the first item of a list is item 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27642"/>
            <a:ext cx="16459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FOR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909354"/>
            <a:ext cx="880841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regions[0] is the first region. df.iloc[0] is the first row. It feels wrong for about a week and then it stops being noticeable.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93955"/>
            <a:ext cx="246888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DO NOT CONFUSE WITH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875667"/>
            <a:ext cx="7985455" cy="7468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334657"/>
                </a:solidFill>
                <a:latin typeface="Calibri"/>
              </a:rPr>
              <a:t>Excel counts from 1. This is a genuine difference and it catches everybody once, so it is worth being told rather than discovering.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LIVE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Everything in the left half, in fourteen 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42655" y="512064"/>
            <a:ext cx="306324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JUPYTER OR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11095"/>
            <a:ext cx="10820095" cy="3564785"/>
          </a:xfrm>
          <a:prstGeom prst="rect">
            <a:avLst/>
          </a:prstGeom>
          <a:solidFill>
            <a:srgbClr val="16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57400"/>
            <a:ext cx="10234879" cy="3272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a variable: a name holding a value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rate = 3780.0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region = "Eastern"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a list: several values in order, counted from ZERO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regions = ["Central", "Eastern", "Northern", "Western"]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print(regions[0])            # Central, not Eastern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print(len(regions))          # 4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a function you write yourself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def to_usd(ugx):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    return round(ugx / rate, 2)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print(to_usd(8751705520))    # delivered revenue, in dollars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a condition, which is the IF you already know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if to_usd(8751705520) &gt; 1000000: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    print("over a million dollars")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695337"/>
            <a:ext cx="30175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NOW BREAK IT ON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704481"/>
            <a:ext cx="7208215" cy="10163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16" b="0" i="0">
                <a:solidFill>
                  <a:srgbClr val="1C3144"/>
                </a:solidFill>
                <a:latin typeface="Calibri"/>
              </a:rPr>
              <a:t>Now ask for regions[4]. IndexError: list index out of range, because there are four items numbered 0 to 3. Read the last line of the traceback first. That habit is worth more tonight than any of the syntax.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49039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531" b="0" i="0">
                <a:solidFill>
                  <a:srgbClr val="E4572E"/>
                </a:solidFill>
                <a:latin typeface="Calibri"/>
              </a:rPr>
              <a:t>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7200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21" b="0" i="0">
                <a:solidFill>
                  <a:srgbClr val="8EA4B8"/>
                </a:solidFill>
                <a:latin typeface="Calibri"/>
              </a:rPr>
              <a:t>Stretch, and talk to someone you have not worked with. Be back on time: the longest working block of the session is next.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BLOCK TWO · 45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Your first DataFrame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21" b="0" i="0">
                <a:solidFill>
                  <a:srgbClr val="B8C9D8"/>
                </a:solidFill>
                <a:latin typeface="Calibri"/>
              </a:rPr>
              <a:t>import pandas as pd, and the first DataFrame. read_csv, then shape, then head. Three commands, and the room can see their own data in a new tool. Then the two things that catch every Excel user: counting from zero, and 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LIVE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Make three errors on purpose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42655" y="512064"/>
            <a:ext cx="306324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JUPYTER OR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11095"/>
            <a:ext cx="10820095" cy="3464052"/>
          </a:xfrm>
          <a:prstGeom prst="rect">
            <a:avLst/>
          </a:prstGeom>
          <a:solidFill>
            <a:srgbClr val="16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57400"/>
            <a:ext cx="10234879" cy="3171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># 1. a name that does not exist</a:t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>print(reigon)          # NameError: name 'reigon' is not defined</a:t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># 2. a file that is not there</a:t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>pd.read_csv("orders.csv")   # FileNotFoundError</a:t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># 3. a key that is not in the dictionary</a:t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>target = {"Central": 2.0e9, "Eastern": 2.4e9}</a:t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>print(target["Western"])    # KeyError: 'Western'</a:t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2244"/>
              </a:lnSpc>
              <a:spcAft>
                <a:spcPts val="0"/>
              </a:spcAft>
            </a:pPr>
            <a:r>
              <a:rPr sz="1650" b="0" i="0">
                <a:solidFill>
                  <a:srgbClr val="D8E3EC"/>
                </a:solidFill>
                <a:latin typeface="Courier New"/>
              </a:rPr>
              <a:t># every one of those told you exactly what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594604"/>
            <a:ext cx="30175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NOW BREAK IT ON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603748"/>
            <a:ext cx="7208215" cy="10163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16" b="0" i="0">
                <a:solidFill>
                  <a:srgbClr val="1C3144"/>
                </a:solidFill>
                <a:latin typeface="Calibri"/>
              </a:rPr>
              <a:t>Do this deliberately now, in a safe room, and the first real error next week is an inconvenience instead of a wall. Every message above names both the problem and the thing that caused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LIVE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Your first DataFrame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42655" y="512064"/>
            <a:ext cx="3063240" cy="384048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84" b="1">
                <a:solidFill>
                  <a:srgbClr val="FFFFFF"/>
                </a:solidFill>
                <a:latin typeface="Calibri"/>
              </a:rPr>
              <a:t>JUPYTER OR COLAB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11095"/>
            <a:ext cx="10820095" cy="3521049"/>
          </a:xfrm>
          <a:prstGeom prst="rect">
            <a:avLst/>
          </a:prstGeom>
          <a:solidFill>
            <a:srgbClr val="16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057400"/>
            <a:ext cx="10234879" cy="3228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import pandas as pd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orders = pd.read_csv("data/orders.csv")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orders.shape        # (6,000, 6)  rows, then columns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orders.head(5)      # the first five rows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orders.dtypes       # what type each column is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one column, which pandas calls a Series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orders["status"].value_counts()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/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# rows by condition: this is autofilter, written down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delivered = orders[orders["status"] == "Delivered"]</a:t>
            </a:r>
          </a:p>
          <a:p>
            <a:pPr algn="l">
              <a:lnSpc>
                <a:spcPts val="1795"/>
              </a:lnSpc>
              <a:spcAft>
                <a:spcPts val="0"/>
              </a:spcAft>
            </a:pPr>
            <a:r>
              <a:rPr sz="1320" b="0" i="0">
                <a:solidFill>
                  <a:srgbClr val="D8E3EC"/>
                </a:solidFill>
                <a:latin typeface="Courier New"/>
              </a:rPr>
              <a:t>delivered.shape     # (4,837, 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651601"/>
            <a:ext cx="3017520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NOW BREAK IT ON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660745"/>
            <a:ext cx="7208215" cy="10163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16" b="0" i="0">
                <a:solidFill>
                  <a:srgbClr val="1C3144"/>
                </a:solidFill>
                <a:latin typeface="Calibri"/>
              </a:rPr>
              <a:t>shape says (6,000, 6): always rows first, then columns. Then try orders["Status"] with a capital S. KeyError, because column names are case sensitive. Excel would have found it; pandas will not.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8200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THE MISTAKE THIS SESSION PREVENTS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20095" cy="1100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2795" b="1" i="0">
                <a:solidFill>
                  <a:srgbClr val="FFFFFF"/>
                </a:solidFill>
                <a:latin typeface="Calibri"/>
              </a:rPr>
              <a:t>Copying code you cannot read. It works, you learn nothing, and the first time it breaks you are stuck. Type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92011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23" b="0" i="0">
                <a:solidFill>
                  <a:srgbClr val="B8C9D8"/>
                </a:solidFill>
                <a:latin typeface="Calibri"/>
              </a:rPr>
              <a:t>It is in tonight's lab on purpose.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080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0">
                <a:solidFill>
                  <a:srgbClr val="7E93A6"/>
                </a:solidFill>
                <a:latin typeface="Calibri"/>
              </a:rPr>
              <a:t>Session 6 of 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Can you answer these?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47672"/>
            <a:ext cx="329184" cy="329184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911095"/>
            <a:ext cx="10134295" cy="48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What is a variable, in your own words?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486313"/>
            <a:ext cx="329184" cy="329184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449737"/>
            <a:ext cx="10134295" cy="48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Python says NameError: name 'reigon' is not defined. What do you do?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024955"/>
            <a:ext cx="329184" cy="329184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88379"/>
            <a:ext cx="10134295" cy="4837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regions has four items. Why does regions[4] fail?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0" i="1">
                <a:solidFill>
                  <a:srgbClr val="6B7A8A"/>
                </a:solidFill>
                <a:latin typeface="Calibri"/>
              </a:rPr>
              <a:t>Answers are on the next slide — try first, then look.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How did you do?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47672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911095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6B7A8A"/>
                </a:solidFill>
                <a:latin typeface="Calibri"/>
              </a:rPr>
              <a:t>A variable, in your own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6152" y="2203703"/>
            <a:ext cx="10253167" cy="820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A name that holds a value so you can use it again. Like naming a cell, except you pick the name and it can say what it means.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096865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3060289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6B7A8A"/>
                </a:solidFill>
                <a:latin typeface="Calibri"/>
              </a:rPr>
              <a:t>NameError on a name you thought you had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3352897"/>
            <a:ext cx="10253167" cy="820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Read it literally: that name does not exist. Nine times in ten it is a typo, or a cell you have not run yet. Scroll up, find where you meant to create it, and run that cell.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424605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4209482"/>
            <a:ext cx="10253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6B7A8A"/>
                </a:solidFill>
                <a:latin typeface="Calibri"/>
              </a:rPr>
              <a:t>Why regions[4] fails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4502090"/>
            <a:ext cx="10253167" cy="820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21" b="0" i="0">
                <a:solidFill>
                  <a:srgbClr val="2A3B4A"/>
                </a:solidFill>
                <a:latin typeface="Calibri"/>
              </a:rPr>
              <a:t>Because counting starts at 0, so four items are numbered 0, 1, 2 and 3. There is no item 4. This is the one real difference from Excel and it catches everybody once.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LAB · 50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Type it yourself, from a blank notebook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11095"/>
            <a:ext cx="10820095" cy="969264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112264"/>
            <a:ext cx="10234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23" b="0" i="0">
                <a:solidFill>
                  <a:srgbClr val="1C3144"/>
                </a:solidFill>
                <a:latin typeface="Calibri"/>
              </a:rPr>
              <a:t>Nothing is pasted tonight. Open an empty notebook and type every line. It is slower and it is the only version that teaches you anything.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91256"/>
            <a:ext cx="108200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21" b="1" i="0">
                <a:solidFill>
                  <a:srgbClr val="E4572E"/>
                </a:solidFill>
                <a:latin typeface="Calibri"/>
              </a:rPr>
              <a:t>Work these questions in order: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79"/>
            <a:ext cx="52271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→  Three variables, of three different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32504"/>
            <a:ext cx="52271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→  A list, and print its first item and its length.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53128"/>
            <a:ext cx="52271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→  A function you write, and call twice with different inputs.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611879"/>
            <a:ext cx="52271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→  Load data/orders.csv and print its shape and its first five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032504"/>
            <a:ext cx="52271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→  Make all three errors from the slide on purpose, and write down what the last line of each traceback said.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4453128"/>
            <a:ext cx="52271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16" b="0" i="0">
                <a:solidFill>
                  <a:srgbClr val="334657"/>
                </a:solidFill>
                <a:latin typeface="Calibri"/>
              </a:rPr>
              <a:t>→  Filter to delivered orders and check you get 4,837.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TONIGHT IN THREE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What you can do now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65960"/>
            <a:ext cx="182880" cy="18288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11095"/>
            <a:ext cx="10271455" cy="45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Say what a variable, a function and a library are, in your own words.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468025"/>
            <a:ext cx="182880" cy="18288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13161"/>
            <a:ext cx="10271455" cy="45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Read an error message and find the line that caused it.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970091"/>
            <a:ext cx="182880" cy="18288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15227"/>
            <a:ext cx="10271455" cy="456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73" b="0" i="0">
                <a:solidFill>
                  <a:srgbClr val="2A3B4A"/>
                </a:solidFill>
                <a:latin typeface="Calibri"/>
              </a:rPr>
              <a:t>Load a file into pandas and print how many rows it has.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84" b="1" i="0">
                <a:solidFill>
                  <a:srgbClr val="E4572E"/>
                </a:solidFill>
                <a:latin typeface="Calibri"/>
              </a:rPr>
              <a:t>HOMEWORK · 45 TO 60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50976"/>
            <a:ext cx="108200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C3144"/>
                </a:solidFill>
                <a:latin typeface="Cambria"/>
              </a:rPr>
              <a:t>Before the next session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11095"/>
            <a:ext cx="10820095" cy="1237967"/>
          </a:xfrm>
          <a:prstGeom prst="roundRect">
            <a:avLst>
              <a:gd name="adj" fmla="val 6000"/>
            </a:avLst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130552"/>
            <a:ext cx="10234879" cy="835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2021" b="0" i="0">
                <a:solidFill>
                  <a:srgbClr val="1C3144"/>
                </a:solidFill>
                <a:latin typeface="Calibri"/>
              </a:rPr>
              <a:t>Retype tonight's notebook from scratch without looking. It takes fifteen minutes and it is worth more than an hour of reading.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423383"/>
            <a:ext cx="4826861" cy="384048"/>
          </a:xfrm>
          <a:prstGeom prst="round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52" b="1">
                <a:solidFill>
                  <a:srgbClr val="FFFFFF"/>
                </a:solidFill>
                <a:latin typeface="Calibri"/>
              </a:rPr>
              <a:t>WHY IT IS ALWAYS OPTIONAL ON YOUR OWN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90311"/>
            <a:ext cx="108200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923" b="0" i="0">
                <a:solidFill>
                  <a:srgbClr val="334657"/>
                </a:solidFill>
                <a:latin typeface="Calibri"/>
              </a:rPr>
              <a:t>Homework on a dataset you already care about gets done. Homework on a teaching dataset competes with your job and loses. Either version counts, and the one on your own data is worth more to you.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3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16" b="1" i="0">
                <a:solidFill>
                  <a:srgbClr val="E4572E"/>
                </a:solidFill>
                <a:latin typeface="Calibri"/>
              </a:rPr>
              <a:t>THE ONE THING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82009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You wrote a program tonight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34840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21" b="0" i="0">
                <a:solidFill>
                  <a:srgbClr val="B8C9D8"/>
                </a:solidFill>
                <a:latin typeface="Calibri"/>
              </a:rPr>
              <a:t>It loaded a real file of 6,000 rows and told you something true about it. The rest of this course is more of the same, in bigger steps.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2" b="0" i="0">
                <a:solidFill>
                  <a:srgbClr val="7E93A6"/>
                </a:solidFill>
                <a:latin typeface="Calibri"/>
              </a:rPr>
              <a:t>Next session: the six-command routine you run on any file you have never seen.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