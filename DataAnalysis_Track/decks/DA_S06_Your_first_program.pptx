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10006.xml" ContentType="application/vnd.openxmlformats-officedocument.presentationml.notesSlide+xml"/>
  <Override PartName="/ppt/notesSlides/notesSlide100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006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6.xml" /></ns0:Relationships>
</file>

<file path=ppt/notesSlides/_rels/notesSlide10015.xml.rels><?xml version='1.0' encoding='utf-8'?>
<ns0:Relationships xmlns:ns0="http://schemas.openxmlformats.org/package/2006/relationships"><ns0:Relationship Id="rId1" Type="http://schemas.openxmlformats.org/officeDocument/2006/relationships/notesMaster" Target="../notesMasters/notesMaster1.xml" /><ns0:Relationship Id="rId2" Type="http://schemas.openxmlformats.org/officeDocument/2006/relationships/slide" Target="../slides/slide15.xml" /></ns0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Your first program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Start on time.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function is a named set of instructions. def defines it; a call runs it with inputs. Parameters are input names, arguments are supplied values, and return sends the result back.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print(8) return the number 8 to the caller? No; it displays 8 and returns None. A function needing a numeric result should return it.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Trace one call: bind input names, run the indented body, reach return, then put the returned result back into the calling expression.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Where tonight sits.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Where tonight sits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Your first program.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Tonight is session 6 of fifteen.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Grain means what one row represents. A key identifies a row; a primary key may use more than one column. A join matches keys, and multiple matches can multiply rows.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One order has two lines. After joining orders to lines, how many rows for it? Two. Summing a repeated order-level total would double-count.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Write one example row from each table. Circle keys and trace each match. Aggregate to the intended grain and check counts and totals.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The words for tonight.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The words for tonight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Where tonight sits.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By the end of tonight you can….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By the end of tonight you can…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The words for tonight.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These three are what tonight is marked against, in the sense that the lab checks them.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You have never programmed..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 have never programmed.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By the end of tonight you can….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About ninety minutes. Tonight you load a real file and print how many rows it has.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An observation describes the data. A finding answers a defined question with evidence. A recommendation adds an action, its justification and limits.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difference between two groups prove one caused the other? No. Other differences or selection may explain it.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Ask for the population, time period, number and comparison. Then ask what additional evidence could change the recommendation.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You already write code.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A spreadsheet formula, with the parts named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You already write code.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function is a named set of instructions. def defines it; a call runs it with inputs. Parameters are input names, arguments are supplied values, and return sends the result back.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print(8) return the number 8 to the caller? No; it displays 8 and returns None. A function needing a numeric result should return it.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Trace one call: bind input names, run the indented body, reach return, then put the returned result back into the calling expression.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Variable.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Variable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A spreadsheet formula, with the parts named.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A name that holds a value, so you can use it again without retyping it. You choose the name.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value is a piece of information. A variable is a name referring to a value. In length_m = 5, Python evaluates the right side and binds that result to the name on the left.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After x=3 then x=5, what does print(x) display? 5. The earlier value is not added automatically.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Write the name on a card and the current value beside it. Distinguish number 3 from quoted text "3".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Function.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Function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Variable.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A named instruction that takes inputs, does something, and gives back a result. You use other people's and you write your own.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function is a named set of instructions. def defines it; a call runs it with inputs. Parameters are input names, arguments are supplied values, and return sends the result back.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print(8) return the number 8 to the caller? No; it displays 8 and returns None. A function needing a numeric result should return it.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Trace one call: bind input names, run the indented body, reach return, then put the returned result back into the calling expression.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Library.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Library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Function.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Somebody else's functions, loaded when you need them. You will use one library, pandas, for almost everything in weeks three and four.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Traceback.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Traceback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Library.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The error message Python prints when something goes wrong. It is long, it looks alarming, and the LAST line is the one that names the problem.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Zero-based counting.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Zero-based counting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Traceback.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Python counts from 0, so the first row is row 0 and the first item of a list is item 0.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list keeps items in order. Python positions start at zero. In [2,4,6], position 0 contains 2 and position 2 contains 6. A slice excludes its stop position.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What is [2,4,6][1]? 4. Is there a position 3? No.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Draw three numbered boxes starting at zero. Keep the position separate from the value stored in it.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Everything in the left half, in fourteen lines.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Everything in the left half, in fourteen lines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Zero-based counting.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list keeps items in order. Python positions start at zero. In [2,4,6], position 0 contains 2 and position 2 contains 6. A slice excludes its stop position.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What is [2,4,6][1]? 4. Is there a position 3? No.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Draw three numbered boxes starting at zero. Keep the position separate from the value stored in it.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Break.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Break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Everything in the left half, in fourteen lines.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Ten minutes.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Your first DataFrame.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Make three errors on purpose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Your first DataFrame.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CSV is a text table. The header supplies column names. With csv.DictReader, values start as text, even if they look like numbers. A path tells Python where the file is.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Can "2.5" from csv.DictReader be added as a number without conversion? No; convert valid numeric text first.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Show the file in the runtime folder and compare its exact filename, case and column headers. Upload data again after a fresh Colab runtime.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Your first DataFrame.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Your first DataFrame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Make three errors on purpose.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TYPE NUANCE</a:t>
            </a:r>
          </a:p>
          <a:p>
            <a:r>
              <a:t>An object dtype alone does not prove that a column contains bad numeric values; it can hold Python objects, including numbers. Inspect values and conversion results. Missing values may display as NaN, None, NaT or pandas NA depending on dtype.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Copying code you cannot read. It works, you learn nothing, and the first time it breaks you are stuck. Type it..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Copying code you cannot read. It works, you learn nothing, and the first time it breaks you are stuck. Type it.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Your first DataFrame.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Copying code you cannot read. It works, you learn nothing, and the first time it breaks you are stuck. Type it.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Can you answer these?.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Can you answer these?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Copying code you cannot read. It works, you learn nothing, and the first time it breaks you are stuck. Type it..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value is a piece of information. A variable is a name referring to a value. In length_m = 5, Python evaluates the right side and binds that result to the name on the left.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After x=3 then x=5, what does print(x) display? 5. The earlier value is not added automatically.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Write the name on a card and the current value beside it. Distinguish number 3 from quoted text "3".</a:t>
            </a:r>
          </a:p>
          <a:p>
            <a:r>
              <a:t/>
            </a:r>
          </a:p>
          <a:p>
            <a:r>
              <a:t>DISCUSSION KEY FOR THIS SLIDE</a:t>
            </a:r>
          </a:p>
          <a:p>
            <a:r>
              <a:t>ANSWERS</a:t>
            </a:r>
          </a:p>
          <a:p>
            <a:r>
              <a:t>How did you do?</a:t>
            </a:r>
          </a:p>
          <a:p>
            <a:r>
              <a:t>A</a:t>
            </a:r>
          </a:p>
          <a:p>
            <a:r>
              <a:t>A variable, in your own words</a:t>
            </a:r>
          </a:p>
          <a:p>
            <a:r>
              <a:t>A name that holds a value so you can use it again. Like naming a cell, except you pick the name and it can say what it means.</a:t>
            </a:r>
          </a:p>
          <a:p>
            <a:r>
              <a:t>B</a:t>
            </a:r>
          </a:p>
          <a:p>
            <a:r>
              <a:t>NameError on a name you thought you had</a:t>
            </a:r>
          </a:p>
          <a:p>
            <a:r>
              <a:t>Read it literally: that name does not exist. Nine times in ten it is a typo, or a cell you have not run yet. Scroll up, find where you meant to create it, and run that cell.</a:t>
            </a:r>
          </a:p>
          <a:p>
            <a:r>
              <a:t>C</a:t>
            </a:r>
          </a:p>
          <a:p>
            <a:r>
              <a:t>Why regions[4] fails</a:t>
            </a:r>
          </a:p>
          <a:p>
            <a:r>
              <a:t>Because counting starts at 0, so four items are numbered 0, 1, 2 and 3. There is no item 4. This is the one real difference from Excel and it catches everybody once.</a:t>
            </a:r>
          </a:p>
          <a:p>
            <a:r>
              <a:t>Let learners attempt first; use this to explain the reasoning, not just reveal the answer.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How did you do?.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How did you do?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Can you answer these?.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value is a piece of information. A variable is a name referring to a value. In length_m = 5, Python evaluates the right side and binds that result to the name on the left.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After x=3 then x=5, what does print(x) display? 5. The earlier value is not added automatically.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Write the name on a card and the current value beside it. Distinguish number 3 from quoted text "3".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Type it yourself, from a blank notebook.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Type it yourself, from a blank notebook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How did you do?.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Nothing is pasted tonight. Open an empty notebook and type every line. It is slower and it is the only version that teaches you anything.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Missing means not recorded, not automatically zero. Decide why it is missing and document the rule. Fitted fill values must come from training data when evaluating a model.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Is an unrecorded energy reading evidence of zero consumption? No.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three rows: a recorded zero, a recorded positive value and a blank. Explain their different meanings before cleaning.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What you can do now.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What you can do now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Type it yourself, from a blank notebook.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Before the next session.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Before the next session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What you can do now.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Retype tonight's notebook from scratch without looking. It takes fifteen minutes and it is worth more than an hour of reading.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notebook contains code cells and explanatory text cells. The runtime remembers values from cells that actually ran, which may differ from their visual order.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editing a cell update a value already stored in memory? No; the cell must run.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Outside an assessment restriction, restart and run from the top after loading data. Fix the first error before later cells; save the successful notebook.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You wrote a program tonight.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 wrote a program tonight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Before the next session.</a:t>
            </a:r>
          </a:p>
          <a:p>
            <a:r>
              <a:t/>
            </a:r>
          </a:p>
          <a:p>
            <a:r>
              <a:t>LECTURER CUE</a:t>
            </a:r>
          </a:p>
          <a:p>
            <a:r>
              <a:t>It loaded a real file of 6,000 rows and told you something true about it. The rest of this course is more of the same, in bigger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0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 already write code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You have never programmed..</a:t>
            </a:r>
          </a:p>
          <a:p>
            <a:r>
              <a:t/>
            </a:r>
          </a:p>
          <a:p>
            <a:r>
              <a:t>DELIVER THIS SLIDE</a:t>
            </a:r>
          </a:p>
          <a:p>
            <a:r>
              <a:t>Read the stated purpose, then point to the named example or action on the slide. Ask learners to describe what they will do before moving on. For a break slide, announce the return time; for a section divider, name the next concrete task.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A spreadsheet formula, with the parts named.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PURPOSE</a:t>
            </a:r>
          </a:p>
          <a:p>
            <a:r>
              <a:t>Your first DataFrame</a:t>
            </a:r>
          </a:p>
          <a:p>
            <a:r>
              <a:t/>
            </a:r>
          </a:p>
          <a:p>
            <a:r>
              <a:t>CONNECT</a:t>
            </a:r>
          </a:p>
          <a:p>
            <a:r>
              <a:t>Build on the preceding slide: Break.</a:t>
            </a:r>
          </a:p>
          <a:p>
            <a:r>
              <a:t/>
            </a:r>
          </a:p>
          <a:p>
            <a:r>
              <a:t>EXPLAIN IN ORDINARY WORDS</a:t>
            </a:r>
          </a:p>
          <a:p>
            <a:r>
              <a:t>A DataFrame is a labelled table. A Series is a single labelled sequence, often one column. A dtype describes stored values, but the import may infer something unsuitable.</a:t>
            </a:r>
          </a:p>
          <a:p>
            <a:r>
              <a:t/>
            </a:r>
          </a:p>
          <a:p>
            <a:r>
              <a:t>CHECK AND EXPECTED ANSWER</a:t>
            </a:r>
          </a:p>
          <a:p>
            <a:r>
              <a:t>Does a price that looks numeric prove the column is numeric? No. Inspect its dtype and troublesome values before conversion.</a:t>
            </a:r>
          </a:p>
          <a:p>
            <a:r>
              <a:t/>
            </a:r>
          </a:p>
          <a:p>
            <a:r>
              <a:t>IF LEARNERS ARE STUCK</a:t>
            </a:r>
          </a:p>
          <a:p>
            <a:r>
              <a:t>Use head, shape and dtypes to locate the table, count rows/columns and inspect storage. Check units and missing values before calculating.</a:t>
            </a:r>
          </a:p>
          <a:p>
            <a:r>
              <a:t/>
            </a:r>
          </a:p>
          <a:p>
            <a:r>
              <a:t>NEXT</a:t>
            </a:r>
          </a:p>
          <a:p>
            <a:r>
              <a:t>Make three errors on purpose. Move on after a learner can explain the current example or required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0006.xml" /></ns0: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0015.xml" /></ns0: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60120"/>
            <a:ext cx="2103851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SESSION 6 OF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Your first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033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93" b="0" i="0">
                <a:solidFill>
                  <a:srgbClr val="A8BCCE"/>
                </a:solidFill>
                <a:latin typeface="Calibri"/>
              </a:rPr>
              <a:t>About ninety minutes. Tonight you load a real file and print how many rows it 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WEEK 2  ·  PYTHON  ·  3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Data Analysis with Python, SQL and Power BI  ·  roadmap.sh: Python basics: variables, types, functions,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THE FIFTEEN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Where tonight sits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  · 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From a spreadsheet to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9403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5707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2  · 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5707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Why data lives in several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9311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3  · 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9311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Asking a database for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611" y="1947672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2915" y="2020824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4  · 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2915" y="2295144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Counting and grouping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5  · 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Joining tables, carefully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9403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5707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FFFFFF"/>
                </a:solidFill>
                <a:latin typeface="Calibri"/>
              </a:rPr>
              <a:t>6  · 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707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1" i="0">
                <a:solidFill>
                  <a:srgbClr val="FFFFFF"/>
                </a:solidFill>
                <a:latin typeface="Calibri"/>
              </a:rPr>
              <a:t>Your first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9311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7  · 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Reading a file, and looking at 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611" y="3172968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2915" y="3246120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8  ·  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2915" y="3520439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Cleaning, and writing down what you did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9  · 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Grouping and joining in 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9403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5707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10  ·  STATISTICS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5707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Describing one column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9311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11  ·  STATISTICS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Comparing groups, and reading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611" y="4398264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2915" y="4471416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12  · 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2915" y="4745736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Charts that answer the question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13  ·  INVESTIGATION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A whole investigation, end to 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9403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5707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14  ·  POWER 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5707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Getting data in, and modelling 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5623559"/>
            <a:ext cx="2499283" cy="1060704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9311" y="5696712"/>
            <a:ext cx="22066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4" b="1" i="0">
                <a:solidFill>
                  <a:srgbClr val="6B7A8A"/>
                </a:solidFill>
                <a:latin typeface="Calibri"/>
              </a:rPr>
              <a:t>15  ·  POWER 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9311" y="5971031"/>
            <a:ext cx="22066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2" b="0" i="0">
                <a:solidFill>
                  <a:srgbClr val="2A3B4A"/>
                </a:solidFill>
                <a:latin typeface="Calibri"/>
              </a:rPr>
              <a:t>Measures, a dashboard, and presenting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BEFORE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The words for tonight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11095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11095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WHAT 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911095"/>
            <a:ext cx="32305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20" b="1" i="0">
                <a:solidFill>
                  <a:srgbClr val="E4572E"/>
                </a:solidFill>
                <a:latin typeface="Calibri"/>
              </a:rPr>
              <a:t>IN A SPREADSHEET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" y="2240279"/>
            <a:ext cx="11039551" cy="3296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76856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276856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list of instructions, run in order, top to bottom.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276856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A macro, or a formula that got long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43051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43051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name that holds a value, so you can use it again without retyping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43051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A named cell or a named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194973"/>
            <a:ext cx="11039551" cy="3296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31549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231549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What kind of value: whole number, decimal, text, true/false, 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31549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97744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597744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named instruction that takes inputs and gives back a result.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97744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SUM, VLOOKUP, 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3927364"/>
            <a:ext cx="11039551" cy="32961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63940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Argument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63940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An input you hand to a function.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963940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What goes inside the brackets of a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0136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330136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Somebody else's functions, loaded when you need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330136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An add-in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4659756"/>
            <a:ext cx="11039551" cy="55192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96332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696332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The library that gives Python tables. Almost everything in weeks three and four is pandas.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96332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84829"/>
            <a:ext cx="224028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DataFrame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284829"/>
            <a:ext cx="4892040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A table in Python: named columns, each with one type.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284829"/>
            <a:ext cx="3230575" cy="283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A sheet, with the rules enforced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5614449"/>
            <a:ext cx="11039551" cy="55192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51025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Traceback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5651025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The error message. It is long, and the LAST line is the one that names the problem.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651025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2E7D6F"/>
                </a:solidFill>
                <a:latin typeface="Calibri"/>
              </a:rPr>
              <a:t>#VALUE!, with an explanation attached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39522"/>
            <a:ext cx="224028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20" b="1" i="0">
                <a:solidFill>
                  <a:srgbClr val="1C3144"/>
                </a:solidFill>
                <a:latin typeface="Calibri"/>
              </a:rPr>
              <a:t>Zero-based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6239522"/>
            <a:ext cx="4892040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0">
                <a:solidFill>
                  <a:srgbClr val="334657"/>
                </a:solidFill>
                <a:latin typeface="Calibri"/>
              </a:rPr>
              <a:t>Counting from 0. The first row is row 0. It is a real difference from Excel and it catches everybody once.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6239522"/>
            <a:ext cx="3230575" cy="5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4" b="0" i="1">
                <a:solidFill>
                  <a:srgbClr val="6B7A8A"/>
                </a:solidFill>
                <a:latin typeface="Calibri"/>
              </a:rPr>
              <a:t>no direct equivalent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WHAT YOU WILL BE ABLE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3144"/>
                </a:solidFill>
                <a:latin typeface="Calibri"/>
              </a:rPr>
              <a:t>By the end of tonight you can…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5681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Say what a variable, a function and a library are, in your own words.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77977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Read an error message and find the line that caused it.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602736"/>
            <a:ext cx="329184" cy="329184"/>
          </a:xfrm>
          <a:prstGeom prst="ellipse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10134295" cy="395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Load a file into pandas and print how many rows it 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4476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1">
                <a:solidFill>
                  <a:srgbClr val="6B7A8A"/>
                </a:solidFill>
                <a:latin typeface="Calibri"/>
              </a:rPr>
              <a:t>Session 6 of 15  ·  Python  ·  Your first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QUESTION TONIGHT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82009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0" i="1">
                <a:solidFill>
                  <a:srgbClr val="FFFFFF"/>
                </a:solidFill>
                <a:latin typeface="Cambria"/>
              </a:rPr>
              <a:t>You have never programmed.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0" i="1">
                <a:solidFill>
                  <a:srgbClr val="FFFFFF"/>
                </a:solidFill>
                <a:latin typeface="Cambria"/>
              </a:rPr>
              <a:t>How long until Python is useful to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9204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About ninety minutes. Tonight you load a real file and print how many rows it 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ONE · 50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You already write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You already write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WHAT YOU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A spreadsheet formula, with the parts named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8321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" y="2135124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7"/>
            <a:ext cx="9631375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=IF(B2&gt;1000, "large", "small")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95144"/>
            <a:ext cx="9631375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452" b="0" i="0">
                <a:solidFill>
                  <a:srgbClr val="3C4E5E"/>
                </a:solidFill>
                <a:latin typeface="Calibri"/>
              </a:rPr>
              <a:t>You have written this. Every part of it has a name in programming, and you already understand all of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98064"/>
            <a:ext cx="10820095" cy="8321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3022092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16936"/>
            <a:ext cx="9631375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IF is a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82112"/>
            <a:ext cx="9631375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452" b="0" i="0">
                <a:solidFill>
                  <a:srgbClr val="3C4E5E"/>
                </a:solidFill>
                <a:latin typeface="Calibri"/>
              </a:rPr>
              <a:t>A named instruction that takes inputs and gives back a result. SUM, VLOOKUP and AVERAGE are functions too.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85032"/>
            <a:ext cx="10820095" cy="8321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909060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03904"/>
            <a:ext cx="9631375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B2&gt;1000 and the two words are ARGUMENTS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69080"/>
            <a:ext cx="9631375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452" b="0" i="0">
                <a:solidFill>
                  <a:srgbClr val="3C4E5E"/>
                </a:solidFill>
                <a:latin typeface="Calibri"/>
              </a:rPr>
              <a:t>The inputs you hand the function, inside its brackets, separated by commas. Python is identical.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72000"/>
            <a:ext cx="10820095" cy="8321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4796028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9631375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B2 is a REFERENCE; in Python it is a 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56048"/>
            <a:ext cx="9631375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452" b="0" i="0">
                <a:solidFill>
                  <a:srgbClr val="3C4E5E"/>
                </a:solidFill>
                <a:latin typeface="Calibri"/>
              </a:rPr>
              <a:t>A name that stands for a value. The difference is that you choose the name, so it can say what it means.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58968"/>
            <a:ext cx="10820095" cy="8321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5682996"/>
            <a:ext cx="384048" cy="384048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577840"/>
            <a:ext cx="9631375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1" i="0">
                <a:solidFill>
                  <a:srgbClr val="1C3144"/>
                </a:solidFill>
                <a:latin typeface="Calibri"/>
              </a:rPr>
              <a:t>The whole thing is an EXPRESSION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43016"/>
            <a:ext cx="9631375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452" b="0" i="0">
                <a:solidFill>
                  <a:srgbClr val="3C4E5E"/>
                </a:solidFill>
                <a:latin typeface="Calibri"/>
              </a:rPr>
              <a:t>Something that produces a value. A program is mostly expressions, run top to bottom.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Variable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A name that holds a value, so you can use it again without retyping it. You choose the 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rate = 3780.0 then price_ugx = price_usd * rate. If the rate changes you edit one line, and everything that used it follows.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A named cell or a named range. You have probably called a cell TaxRate and referred to it by 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A named instruction that takes inputs, does something, and gives back a result. You use other people's and you write your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round(8751705520 / 3780, 2) uses two built-in functions. Writing your own takes one line: def to_usd(ugx): return ugx / 3780.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SUM, IF, VLOOKUP. Identical idea; the brackets sit in a different place and you can make new 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Library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Somebody else's functions, loaded when you need them. You will use one library, pandas, for almost everything in weeks three and four.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import pandas as pd loads it and gives it the short name pd. Every pandas command in this course starts with pd or with the name of a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0739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272451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An add-in. The difference is that these are free, universal, and the one you are learning is the most widely used data tool in the world.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Traceback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1195902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848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The error message Python prints when something goes wrong. It is long, it looks alarming, and the LAST line is the one that names the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24426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306138"/>
            <a:ext cx="8808415" cy="1092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KeyError: 'Western' means you asked for something that is not there. NameError means a name does not exist. FileNotFoundError means the path is wrong. Three messages cover most of your first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636735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618447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#VALUE! or #REF!, with an explanation attached and the line number. It is genuinely more helpful than Excel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10820095" cy="702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1C3144"/>
                </a:solidFill>
                <a:latin typeface="Cambria"/>
              </a:rPr>
              <a:t>Zero-based counting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54203"/>
            <a:ext cx="10820095" cy="799119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55371"/>
            <a:ext cx="10234879" cy="451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Python counts from 0, so the first row is row 0 and the first item of a list is item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7642"/>
            <a:ext cx="16459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FOR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909354"/>
            <a:ext cx="880841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regions[0] is the first region. df.iloc[0] is the first row. It feels wrong for about a week and then it stops being noticeable.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93955"/>
            <a:ext cx="246888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DO NOT CONFUSE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875667"/>
            <a:ext cx="7985455" cy="7468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334657"/>
                </a:solidFill>
                <a:latin typeface="Calibri"/>
              </a:rPr>
              <a:t>Excel counts from 1. This is a genuine difference and it catches everybody once, so it is worth being told rather than discovering.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Everything in the left half, in fourteen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564785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272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a variable: a name holding a value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rate = 3780.0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region = "Eastern"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a list: several values in order, counted from ZERO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regions = ["Central", "Eastern", "Northern", "Western"]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print(regions[0])            # Central, not Eastern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print(len(regions))          # 4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a function you write yourself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def to_usd(ugx):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    return round(ugx / rate, 2)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print(to_usd(8751705520))    # delivered revenue, in dollars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a condition, which is the IF you already know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if to_usd(8751705520) &gt; 1000000: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    print("over a million dollars")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95337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704481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Now ask for regions[4]. IndexError: list index out of range, because there are four items numbered 0 to 3. Read the last line of the traceback first. That habit is worth more tonight than any of the syntax.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200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49039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531" b="0" i="0">
                <a:solidFill>
                  <a:srgbClr val="E4572E"/>
                </a:solidFill>
                <a:latin typeface="Calibri"/>
              </a:rP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21" b="0" i="0">
                <a:solidFill>
                  <a:srgbClr val="8EA4B8"/>
                </a:solidFill>
                <a:latin typeface="Calibri"/>
              </a:rPr>
              <a:t>Stretch, and talk to someone you have not worked with. Be back on time: the longest working block of the session is next.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BLOCK TWO · 45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Your first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import pandas as pd, and the first DataFrame.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Make three errors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464052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171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# 1. a name that does not exist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print(reigon)          # NameError: name 'reigon' is not defined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# 2. a file that is not there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pd.read_csv("orders.csv")   # FileNotFoundError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# 3. a key that is not in the dictionary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target = {"Central": 2.0e9, "Eastern": 2.4e9}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print(target["Western"])    # KeyError: 'Western'</a:t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2244"/>
              </a:lnSpc>
              <a:spcAft>
                <a:spcPts val="0"/>
              </a:spcAft>
            </a:pPr>
            <a:r>
              <a:rPr sz="1650" b="0" i="0">
                <a:solidFill>
                  <a:srgbClr val="D8E3EC"/>
                </a:solidFill>
                <a:latin typeface="Courier New"/>
              </a:rPr>
              <a:t># every one of those told you exactly what was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594604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603748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Do this deliberately now, in a safe room, and the first real error next week is an inconvenience instead of a wall. Every message above names both the problem and the thing that caused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LIVE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Your first DataFrame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2655" y="512064"/>
            <a:ext cx="3063240" cy="384048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84" b="1">
                <a:solidFill>
                  <a:srgbClr val="FFFFFF"/>
                </a:solidFill>
                <a:latin typeface="Calibri"/>
              </a:rPr>
              <a:t>JUPYTER OR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11095"/>
            <a:ext cx="10820095" cy="3521049"/>
          </a:xfrm>
          <a:prstGeom prst="rect">
            <a:avLst/>
          </a:prstGeom>
          <a:solidFill>
            <a:srgbClr val="16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10234879" cy="3228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import pandas as pd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orders = pd.read_csv("data/orders.csv")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orders.shape        # (6,000, 6)  rows, then columns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orders.head(5)      # the first five rows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orders.dtypes       # what type each column is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one column, which pandas calls a Series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orders["status"].value_counts()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/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# rows by condition: this is autofilter, written down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delivered = orders[orders["status"] == "Delivered"]</a:t>
            </a:r>
          </a:p>
          <a:p>
            <a:pPr algn="l">
              <a:lnSpc>
                <a:spcPts val="1795"/>
              </a:lnSpc>
              <a:spcAft>
                <a:spcPts val="0"/>
              </a:spcAft>
            </a:pPr>
            <a:r>
              <a:rPr sz="1320" b="0" i="0">
                <a:solidFill>
                  <a:srgbClr val="D8E3EC"/>
                </a:solidFill>
                <a:latin typeface="Courier New"/>
              </a:rPr>
              <a:t>delivered.shape     # (4,837, 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651601"/>
            <a:ext cx="3017520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NOW BREAK IT ON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660745"/>
            <a:ext cx="7208215" cy="10163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16" b="0" i="0">
                <a:solidFill>
                  <a:srgbClr val="1C3144"/>
                </a:solidFill>
                <a:latin typeface="Calibri"/>
              </a:rPr>
              <a:t>shape says (6,000, 6): always rows first, then columns. Then try orders["Status"] with a capital S. KeyError, because column names are case sensitive. Excel would have found it; pandas will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4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MISTAKE THIS SESSION PREVENTS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160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2795" b="1" i="0">
                <a:solidFill>
                  <a:srgbClr val="FFFFFF"/>
                </a:solidFill>
                <a:latin typeface="Calibri"/>
              </a:rPr>
              <a:t>Copying code you cannot read. It works, you learn nothing, and the first time it breaks you are stuck. Type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7811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23" b="0" i="0">
                <a:solidFill>
                  <a:srgbClr val="B8C9D8"/>
                </a:solidFill>
                <a:latin typeface="Calibri"/>
              </a:rPr>
              <a:t>It is in tonight's lab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0807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Session 6 of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Can you answer these?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What is a variable, in your own words?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86313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449737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Python says NameError: name 'reigon' is not defined. What do you do?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024955"/>
            <a:ext cx="329184" cy="329184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988379"/>
            <a:ext cx="10134295" cy="483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regions has four items. Why does regions[4] fail?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0819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0" i="1">
                <a:solidFill>
                  <a:srgbClr val="6B7A8A"/>
                </a:solidFill>
                <a:latin typeface="Calibri"/>
              </a:rPr>
              <a:t>Answers are on the next slide — try first, then look.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How did you do?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47672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911095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A variable, in your own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2203703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A name that holds a value so you can use it again. Like naming a cell, except you pick the name and it can say what it means.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096865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060289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NameError on a name you thought you had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352897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Read it literally: that name does not exist. Nine times in ten it is a typo, or a cell you have not run yet. Scroll up, find where you meant to create it, and run that cell.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246058"/>
            <a:ext cx="329184" cy="32918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4209482"/>
            <a:ext cx="102531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6B7A8A"/>
                </a:solidFill>
                <a:latin typeface="Calibri"/>
              </a:rPr>
              <a:t>Why regions[4]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4502090"/>
            <a:ext cx="10253167" cy="8200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21" b="0" i="0">
                <a:solidFill>
                  <a:srgbClr val="2A3B4A"/>
                </a:solidFill>
                <a:latin typeface="Calibri"/>
              </a:rPr>
              <a:t>Because counting starts at 0, so four items are numbered 0, 1, 2 and 3. There is no item 4. This is the one real difference from Excel and it catches everybody once.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LAB · 50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Type it yourself, from a blank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1236629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12264"/>
            <a:ext cx="10234879" cy="870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23" b="0" i="0">
                <a:solidFill>
                  <a:srgbClr val="1C3144"/>
                </a:solidFill>
                <a:latin typeface="Calibri"/>
              </a:rPr>
              <a:t>Nothing is pasted tonight. Open an empty notebook and type every line. It is slower and it is the only version that teaches you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2045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21" b="1" i="0">
                <a:solidFill>
                  <a:srgbClr val="E4572E"/>
                </a:solidFill>
                <a:latin typeface="Calibri"/>
              </a:rPr>
              <a:t>Work these questions in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97533"/>
            <a:ext cx="5227167" cy="385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Three variables, of three different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74475"/>
            <a:ext cx="5227167" cy="385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A list, and print its first item and its length.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51416"/>
            <a:ext cx="5227167" cy="697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A function you write, and call twice with different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897533"/>
            <a:ext cx="5227167" cy="697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Load data/orders.csv and print its shape and its first five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686824"/>
            <a:ext cx="5227167" cy="6978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Make all three errors from the slide on purpose, and write down what the last line of each traceback said.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5476116"/>
            <a:ext cx="5227167" cy="385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16" b="0" i="0">
                <a:solidFill>
                  <a:srgbClr val="334657"/>
                </a:solidFill>
                <a:latin typeface="Calibri"/>
              </a:rPr>
              <a:t>Filter to delivered orders and check you get 4,837.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TONIGHT IN THREE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What you can do now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65960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11095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Say what a variable, a function and a library are, in your own words.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468025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13161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Read an error message and find the line that caused it.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970091"/>
            <a:ext cx="182880" cy="182880"/>
          </a:xfrm>
          <a:prstGeom prst="ellipse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15227"/>
            <a:ext cx="10271455" cy="456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73" b="0" i="0">
                <a:solidFill>
                  <a:srgbClr val="2A3B4A"/>
                </a:solidFill>
                <a:latin typeface="Calibri"/>
              </a:rPr>
              <a:t>Load a file into pandas and print how many rows it has.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84" b="1" i="0">
                <a:solidFill>
                  <a:srgbClr val="E4572E"/>
                </a:solidFill>
                <a:latin typeface="Calibri"/>
              </a:rPr>
              <a:t>HOMEWORK · 45 TO 60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50976"/>
            <a:ext cx="108200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C3144"/>
                </a:solidFill>
                <a:latin typeface="Cambria"/>
              </a:rPr>
              <a:t>Before the next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11095"/>
            <a:ext cx="10820095" cy="1237967"/>
          </a:xfrm>
          <a:prstGeom prst="roundRect">
            <a:avLst>
              <a:gd name="adj" fmla="val 6000"/>
            </a:avLst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30552"/>
            <a:ext cx="10234879" cy="835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2021" b="0" i="0">
                <a:solidFill>
                  <a:srgbClr val="1C3144"/>
                </a:solidFill>
                <a:latin typeface="Calibri"/>
              </a:rPr>
              <a:t>Retype tonight's notebook from scratch without looking. It takes fifteen minutes and it is worth more than an hour of reading.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23383"/>
            <a:ext cx="4826861" cy="384048"/>
          </a:xfrm>
          <a:prstGeom prst="roundRect">
            <a:avLst/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452" b="1">
                <a:solidFill>
                  <a:srgbClr val="FFFFFF"/>
                </a:solidFill>
                <a:latin typeface="Calibri"/>
              </a:rPr>
              <a:t>WHY IT IS ALWAYS OPTIONAL ON YOUR OWN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90311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923" b="0" i="0">
                <a:solidFill>
                  <a:srgbClr val="334657"/>
                </a:solidFill>
                <a:latin typeface="Calibri"/>
              </a:rPr>
              <a:t>Homework on a dataset you already care about gets done. Homework on a teaching dataset competes with your job and loses. Either version counts, and the one on your own data is worth more to you.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16" b="1" i="0">
                <a:solidFill>
                  <a:srgbClr val="E4572E"/>
                </a:solidFill>
                <a:latin typeface="Calibri"/>
              </a:rPr>
              <a:t>THE ONE THING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200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You wrote a program 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3484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21" b="0" i="0">
                <a:solidFill>
                  <a:srgbClr val="B8C9D8"/>
                </a:solidFill>
                <a:latin typeface="Calibri"/>
              </a:rPr>
              <a:t>It loaded a real file of 6,000 rows and told you something true about it. The rest of this course is more of the same, in bigger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2" b="0" i="0">
                <a:solidFill>
                  <a:srgbClr val="7E93A6"/>
                </a:solidFill>
                <a:latin typeface="Calibri"/>
              </a:rPr>
              <a:t>Next session: the six-command routine you run on any file you have never 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