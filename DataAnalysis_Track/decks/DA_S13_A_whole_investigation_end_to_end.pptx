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notesSlides/notesSlide10006.xml" ContentType="application/vnd.openxmlformats-officedocument.presentationml.notesSlide+xml"/>
  <Override PartName="/ppt/notesSlides/notesSlide10013.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0006.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6.xml" /></ns0:Relationships>
</file>

<file path=ppt/notesSlides/_rels/notesSlide10013.xml.rels><?xml version='1.0' encoding='utf-8'?>
<ns0:Relationships xmlns:ns0="http://schemas.openxmlformats.org/package/2006/relationships"><ns0:Relationship Id="rId1" Type="http://schemas.openxmlformats.org/officeDocument/2006/relationships/notesMaster" Target="../notesMasters/notesMaster1.xml" /><ns0:Relationship Id="rId2" Type="http://schemas.openxmlformats.org/officeDocument/2006/relationships/slide" Target="../slides/slide13.xml" /></ns0: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whole investigation, end to end</a:t>
            </a:r>
          </a:p>
          <a:p>
            <a:r>
              <a:t/>
            </a:r>
          </a:p>
          <a:p>
            <a:r>
              <a:t>LECTURER CUE</a:t>
            </a:r>
          </a:p>
          <a:p>
            <a:r>
              <a:t>Start on time.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Where tonight sits.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Where tonight sits</a:t>
            </a:r>
          </a:p>
          <a:p>
            <a:r>
              <a:t/>
            </a:r>
          </a:p>
          <a:p>
            <a:r>
              <a:t>CONNECT</a:t>
            </a:r>
          </a:p>
          <a:p>
            <a:r>
              <a:t>Build on the preceding slide: A whole investigation, end to end.</a:t>
            </a:r>
          </a:p>
          <a:p>
            <a:r>
              <a:t/>
            </a:r>
          </a:p>
          <a:p>
            <a:r>
              <a:t>LECTURER CUE</a:t>
            </a:r>
          </a:p>
          <a:p>
            <a:r>
              <a:t>Tonight is session 13 of fifteen.</a:t>
            </a:r>
          </a:p>
          <a:p>
            <a:r>
              <a:t/>
            </a:r>
          </a:p>
          <a:p>
            <a:r>
              <a:t>EXPLAIN IN ORDINARY WORDS</a:t>
            </a:r>
          </a:p>
          <a:p>
            <a:r>
              <a:t>Grain means what one row represents. A key identifies a row; a primary key may use more than one column. A join matches keys, and multiple matches can multiply rows.</a:t>
            </a:r>
          </a:p>
          <a:p>
            <a:r>
              <a:t/>
            </a:r>
          </a:p>
          <a:p>
            <a:r>
              <a:t>CHECK AND EXPECTED ANSWER</a:t>
            </a:r>
          </a:p>
          <a:p>
            <a:r>
              <a:t>One order has two lines. After joining orders to lines, how many rows for it? Two. Summing a repeated order-level total would double-count.</a:t>
            </a:r>
          </a:p>
          <a:p>
            <a:r>
              <a:t/>
            </a:r>
          </a:p>
          <a:p>
            <a:r>
              <a:t>IF LEARNERS ARE STUCK</a:t>
            </a:r>
          </a:p>
          <a:p>
            <a:r>
              <a:t>Write one example row from each table. Circle keys and trace each match. Aggregate to the intended grain and check counts and totals.</a:t>
            </a:r>
          </a:p>
          <a:p>
            <a:r>
              <a:t/>
            </a:r>
          </a:p>
          <a:p>
            <a:r>
              <a:t>NEXT</a:t>
            </a:r>
          </a:p>
          <a:p>
            <a:r>
              <a:t>The words for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words for tonight</a:t>
            </a:r>
          </a:p>
          <a:p>
            <a:r>
              <a:t/>
            </a:r>
          </a:p>
          <a:p>
            <a:r>
              <a:t>CONNECT</a:t>
            </a:r>
          </a:p>
          <a:p>
            <a:r>
              <a:t>Build on the preceding slide: Where tonight sits.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By the end of tonight you can….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By the end of tonight you can…</a:t>
            </a:r>
          </a:p>
          <a:p>
            <a:r>
              <a:t/>
            </a:r>
          </a:p>
          <a:p>
            <a:r>
              <a:t>CONNECT</a:t>
            </a:r>
          </a:p>
          <a:p>
            <a:r>
              <a:t>Build on the preceding slide: The words for tonight.</a:t>
            </a:r>
          </a:p>
          <a:p>
            <a:r>
              <a:t/>
            </a:r>
          </a:p>
          <a:p>
            <a:r>
              <a:t>LECTURER CUE</a:t>
            </a:r>
          </a:p>
          <a:p>
            <a:r>
              <a:t>These three are what tonight is marked against, in the sense that the lab checks them.</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You have a file you have never seen and three hours..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You have a file you have never seen and three hours.</a:t>
            </a:r>
          </a:p>
          <a:p>
            <a:r>
              <a:t/>
            </a:r>
          </a:p>
          <a:p>
            <a:r>
              <a:t>CONNECT</a:t>
            </a:r>
          </a:p>
          <a:p>
            <a:r>
              <a:t>Build on the preceding slide: By the end of tonight you can….</a:t>
            </a:r>
          </a:p>
          <a:p>
            <a:r>
              <a:t/>
            </a:r>
          </a:p>
          <a:p>
            <a:r>
              <a:t>LECTURER CUE</a:t>
            </a:r>
          </a:p>
          <a:p>
            <a:r>
              <a:t>In the same place every time. The routine is what stops an investigation becoming forty cells and no conclusion.</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The routine, in a fixed order.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routine. Same order, every dataset, every time.</a:t>
            </a:r>
          </a:p>
          <a:p>
            <a:r>
              <a:t/>
            </a:r>
          </a:p>
          <a:p>
            <a:r>
              <a:t>CONNECT</a:t>
            </a:r>
          </a:p>
          <a:p>
            <a:r>
              <a:t>Build on the preceding slide: The routine, in a fixed order.</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A finding.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finding</a:t>
            </a:r>
          </a:p>
          <a:p>
            <a:r>
              <a:t/>
            </a:r>
          </a:p>
          <a:p>
            <a:r>
              <a:t>CONNECT</a:t>
            </a:r>
          </a:p>
          <a:p>
            <a:r>
              <a:t>Build on the preceding slide: The routine. Same order, every dataset, every time..</a:t>
            </a:r>
          </a:p>
          <a:p>
            <a:r>
              <a:t/>
            </a:r>
          </a:p>
          <a:p>
            <a:r>
              <a:t>LECTURER CUE</a:t>
            </a:r>
          </a:p>
          <a:p>
            <a:r>
              <a:t>A sentence with a number in it that somebody could act on or dispute. It is about the business, not about the data.</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An observation.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An observation</a:t>
            </a:r>
          </a:p>
          <a:p>
            <a:r>
              <a:t/>
            </a:r>
          </a:p>
          <a:p>
            <a:r>
              <a:t>CONNECT</a:t>
            </a:r>
          </a:p>
          <a:p>
            <a:r>
              <a:t>Build on the preceding slide: A finding.</a:t>
            </a:r>
          </a:p>
          <a:p>
            <a:r>
              <a:t/>
            </a:r>
          </a:p>
          <a:p>
            <a:r>
              <a:t>LECTURER CUE</a:t>
            </a:r>
          </a:p>
          <a:p>
            <a:r>
              <a:t>Something true about the data rather than about the business. It belongs in your notebook and not in your findings.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A stated limitation.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stated limitation</a:t>
            </a:r>
          </a:p>
          <a:p>
            <a:r>
              <a:t/>
            </a:r>
          </a:p>
          <a:p>
            <a:r>
              <a:t>CONNECT</a:t>
            </a:r>
          </a:p>
          <a:p>
            <a:r>
              <a:t>Build on the preceding slide: An observation.</a:t>
            </a:r>
          </a:p>
          <a:p>
            <a:r>
              <a:t/>
            </a:r>
          </a:p>
          <a:p>
            <a:r>
              <a:t>LECTURER CUE</a:t>
            </a:r>
          </a:p>
          <a:p>
            <a:r>
              <a:t>The sentence beside a finding saying where it stops being reliable. Beside it, not in a footnote, because that is where the person acting on it will read.</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Leakage.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Leakage</a:t>
            </a:r>
          </a:p>
          <a:p>
            <a:r>
              <a:t/>
            </a:r>
          </a:p>
          <a:p>
            <a:r>
              <a:t>CONNECT</a:t>
            </a:r>
          </a:p>
          <a:p>
            <a:r>
              <a:t>Build on the preceding slide: A stated limitation.</a:t>
            </a:r>
          </a:p>
          <a:p>
            <a:r>
              <a:t/>
            </a:r>
          </a:p>
          <a:p>
            <a:r>
              <a:t>LECTURER CUE</a:t>
            </a:r>
          </a:p>
          <a:p>
            <a:r>
              <a:t>Using a column you would not have had at decision time, which makes the answer look far better than it is.</a:t>
            </a:r>
          </a:p>
          <a:p>
            <a:r>
              <a:t/>
            </a:r>
          </a:p>
          <a:p>
            <a:r>
              <a:t>EXPLAIN IN ORDINARY WORDS</a:t>
            </a:r>
          </a:p>
          <a:p>
            <a:r>
              <a:t>Training fits rules. Validation helps choose among rules. The final test estimates performance after choices are fixed. Information that would be unavailable at the real prediction time must stay out of the inputs.</a:t>
            </a:r>
          </a:p>
          <a:p>
            <a:r>
              <a:t/>
            </a:r>
          </a:p>
          <a:p>
            <a:r>
              <a:t>CHECK AND EXPECTED ANSWER</a:t>
            </a:r>
          </a:p>
          <a:p>
            <a:r>
              <a:t>May two readings of the same machine appear on both sides when evaluating new machines? No; split by machine. For forecasting, train on the past and evaluate later time.</a:t>
            </a:r>
          </a:p>
          <a:p>
            <a:r>
              <a:t/>
            </a:r>
          </a:p>
          <a:p>
            <a:r>
              <a:t>IF LEARNERS ARE STUCK</a:t>
            </a:r>
          </a:p>
          <a:p>
            <a:r>
              <a:t>Use three envelopes. Keep the final-test envelope closed while selecting features or settings.</a:t>
            </a:r>
          </a:p>
          <a:p>
            <a:r>
              <a:t/>
            </a:r>
          </a:p>
          <a:p>
            <a:r>
              <a:t>NEXT</a:t>
            </a:r>
          </a:p>
          <a:p>
            <a:r>
              <a:t>Break.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Break</a:t>
            </a:r>
          </a:p>
          <a:p>
            <a:r>
              <a:t/>
            </a:r>
          </a:p>
          <a:p>
            <a:r>
              <a:t>CONNECT</a:t>
            </a:r>
          </a:p>
          <a:p>
            <a:r>
              <a:t>Build on the preceding slide: Leakage.</a:t>
            </a:r>
          </a:p>
          <a:p>
            <a:r>
              <a:t/>
            </a:r>
          </a:p>
          <a:p>
            <a:r>
              <a:t>LECTURER CUE</a:t>
            </a:r>
          </a:p>
          <a:p>
            <a:r>
              <a:t>Ten minutes.</a:t>
            </a:r>
          </a:p>
          <a:p>
            <a:r>
              <a:t/>
            </a:r>
          </a:p>
          <a:p>
            <a:r>
              <a:t>NEXT</a:t>
            </a:r>
          </a:p>
          <a:p>
            <a:r>
              <a:t>From eleven observations to five findings.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Turning eleven observations into five findings</a:t>
            </a:r>
          </a:p>
          <a:p>
            <a:r>
              <a:t/>
            </a:r>
          </a:p>
          <a:p>
            <a:r>
              <a:t>CONNECT</a:t>
            </a:r>
          </a:p>
          <a:p>
            <a:r>
              <a:t>Build on the preceding slide: From eleven observations to five findings.</a:t>
            </a:r>
          </a:p>
          <a:p>
            <a:r>
              <a:t/>
            </a:r>
          </a:p>
          <a:p>
            <a:r>
              <a:t>LECTURER CUE</a:t>
            </a:r>
          </a:p>
          <a:p>
            <a:r>
              <a:t>An investigation produces far more observations than findings. Choosing between them is part of the work.</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TYPE NUANCE</a:t>
            </a:r>
          </a:p>
          <a:p>
            <a:r>
              <a:t>An object dtype alone does not prove that a column contains bad numeric values; it can hold Python objects, including numbers. Inspect values and conversion results. Missing values may display as NaN, None, NaT or pandas NA depending on dtype.</a:t>
            </a:r>
          </a:p>
          <a:p>
            <a:r>
              <a:t/>
            </a:r>
          </a:p>
          <a:p>
            <a:r>
              <a:t>NEXT</a:t>
            </a:r>
          </a:p>
          <a:p>
            <a:r>
              <a:t>Choose your sector dataset tonight.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Choose your sector dataset tonight</a:t>
            </a:r>
          </a:p>
          <a:p>
            <a:r>
              <a:t/>
            </a:r>
          </a:p>
          <a:p>
            <a:r>
              <a:t>CONNECT</a:t>
            </a:r>
          </a:p>
          <a:p>
            <a:r>
              <a:t>Build on the preceding slide: Turning eleven observations into five findings.</a:t>
            </a:r>
          </a:p>
          <a:p>
            <a:r>
              <a:t/>
            </a:r>
          </a:p>
          <a:p>
            <a:r>
              <a:t>EXPLAIN IN ORDINARY WORDS</a:t>
            </a:r>
          </a:p>
          <a:p>
            <a:r>
              <a:t>Grouping puts rows sharing a key into buckets, then computes a result for each bucket. WHERE filters rows before SQL grouping; HAVING filters grouped results.</a:t>
            </a:r>
          </a:p>
          <a:p>
            <a:r>
              <a:t/>
            </a:r>
          </a:p>
          <a:p>
            <a:r>
              <a:t>CHECK AND EXPECTED ANSWER</a:t>
            </a:r>
          </a:p>
          <a:p>
            <a:r>
              <a:t>Which condition keeps only groups with more than five rows? HAVING COUNT(*) &gt; 5.</a:t>
            </a:r>
          </a:p>
          <a:p>
            <a:r>
              <a:t/>
            </a:r>
          </a:p>
          <a:p>
            <a:r>
              <a:t>IF LEARNERS ARE STUCK</a:t>
            </a:r>
          </a:p>
          <a:p>
            <a:r>
              <a:t>Draw two buckets and count by hand. Name the intended output grain before writing the aggregation.</a:t>
            </a:r>
          </a:p>
          <a:p>
            <a:r>
              <a:t/>
            </a:r>
          </a:p>
          <a:p>
            <a:r>
              <a:t>NEXT</a:t>
            </a:r>
          </a:p>
          <a:p>
            <a:r>
              <a:t>A notebook with forty cells and no conclusion. The routine exists to stop exactly that..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notebook with forty cells and no conclusion. The routine exists to stop exactly that.</a:t>
            </a:r>
          </a:p>
          <a:p>
            <a:r>
              <a:t/>
            </a:r>
          </a:p>
          <a:p>
            <a:r>
              <a:t>CONNECT</a:t>
            </a:r>
          </a:p>
          <a:p>
            <a:r>
              <a:t>Build on the preceding slide: Choose your sector dataset tonight.</a:t>
            </a:r>
          </a:p>
          <a:p>
            <a:r>
              <a:t/>
            </a:r>
          </a:p>
          <a:p>
            <a:r>
              <a:t>LECTURER CUE</a:t>
            </a:r>
          </a:p>
          <a:p>
            <a:r>
              <a:t>A notebook with forty cells and no conclusion. The routine exists to stop exactly that.</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Can you answer these?.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Can you answer these?</a:t>
            </a:r>
          </a:p>
          <a:p>
            <a:r>
              <a:t/>
            </a:r>
          </a:p>
          <a:p>
            <a:r>
              <a:t>CONNECT</a:t>
            </a:r>
          </a:p>
          <a:p>
            <a:r>
              <a:t>Build on the preceding slide: A notebook with forty cells and no conclusion. The routine exists to stop exactly that..</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DISCUSSION KEY FOR THIS SLIDE</a:t>
            </a:r>
          </a:p>
          <a:p>
            <a:r>
              <a:t>ANSWERS</a:t>
            </a:r>
          </a:p>
          <a:p>
            <a:r>
              <a:t>How did you do?</a:t>
            </a:r>
          </a:p>
          <a:p>
            <a:r>
              <a:t>A</a:t>
            </a:r>
          </a:p>
          <a:p>
            <a:r>
              <a:t>Finding against observation</a:t>
            </a:r>
          </a:p>
          <a:p>
            <a:r>
              <a:t>A finding is about the business, has a number in it, and somebody could act on it or dispute it. An observation is about the data. Both belong in the notebook; only findings belong in the summary.</a:t>
            </a:r>
          </a:p>
          <a:p>
            <a:r>
              <a:t>B</a:t>
            </a:r>
          </a:p>
          <a:p>
            <a:r>
              <a:t>An investigation with no surprises</a:t>
            </a:r>
          </a:p>
          <a:p>
            <a:r>
              <a:t>No. Confirming what the room believed, with numbers attached, converts an assumption into something checkable. What IS a failure is not knowing which of the two you produced.</a:t>
            </a:r>
          </a:p>
          <a:p>
            <a:r>
              <a:t>C</a:t>
            </a:r>
          </a:p>
          <a:p>
            <a:r>
              <a:t>Why the limitation sits beside the finding</a:t>
            </a:r>
          </a:p>
          <a:p>
            <a:r>
              <a:t>Because that is where the person acting on it reads. A limitation at the end of a document is a limitation nobody saw, and you will still be the one defending the number.</a:t>
            </a:r>
          </a:p>
          <a:p>
            <a:r>
              <a:t>Let learners attempt first; use this to explain the reasoning, not just reveal the answer.</a:t>
            </a:r>
          </a:p>
          <a:p>
            <a:r>
              <a:t/>
            </a:r>
          </a:p>
          <a:p>
            <a:r>
              <a:t>NEXT</a:t>
            </a:r>
          </a:p>
          <a:p>
            <a:r>
              <a:t>How did you do?.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How did you do?</a:t>
            </a:r>
          </a:p>
          <a:p>
            <a:r>
              <a:t/>
            </a:r>
          </a:p>
          <a:p>
            <a:r>
              <a:t>CONNECT</a:t>
            </a:r>
          </a:p>
          <a:p>
            <a:r>
              <a:t>Build on the preceding slide: Can you answer these?.</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Run the routine on your sector dataset.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Run the routine on your sector dataset</a:t>
            </a:r>
          </a:p>
          <a:p>
            <a:r>
              <a:t/>
            </a:r>
          </a:p>
          <a:p>
            <a:r>
              <a:t>CONNECT</a:t>
            </a:r>
          </a:p>
          <a:p>
            <a:r>
              <a:t>Build on the preceding slide: How did you do?.</a:t>
            </a:r>
          </a:p>
          <a:p>
            <a:r>
              <a:t/>
            </a:r>
          </a:p>
          <a:p>
            <a:r>
              <a:t>LECTURER CUE</a:t>
            </a:r>
          </a:p>
          <a:p>
            <a:r>
              <a:t>This is the sector assessment, worth 30%. Six questions in order, then five findings. Marked on the findings and the limitations beside them, not on the code.</a:t>
            </a:r>
          </a:p>
          <a:p>
            <a:r>
              <a:t/>
            </a:r>
          </a:p>
          <a:p>
            <a:r>
              <a:t>EXPLAIN IN ORDINARY WORDS</a:t>
            </a:r>
          </a:p>
          <a:p>
            <a:r>
              <a:t>Mean is total divided by count. Median is the middle of sorted values. A percentile locates a position in that ordered distribution; interpolation conventions can differ. Match the summary to the question.</a:t>
            </a:r>
          </a:p>
          <a:p>
            <a:r>
              <a:t/>
            </a:r>
          </a:p>
          <a:p>
            <a:r>
              <a:t>CHECK AND EXPECTED ANSWER</a:t>
            </a:r>
          </a:p>
          <a:p>
            <a:r>
              <a:t>For [2,3,4,5,100], median=4 and mean=22.8. The large value pulls the mean up.</a:t>
            </a:r>
          </a:p>
          <a:p>
            <a:r>
              <a:t/>
            </a:r>
          </a:p>
          <a:p>
            <a:r>
              <a:t>IF LEARNERS ARE STUCK</a:t>
            </a:r>
          </a:p>
          <a:p>
            <a:r>
              <a:t>Sort five values by hand. A skewed distribution does not make the mean wrong if the question concerns totals or expected cost.</a:t>
            </a:r>
          </a:p>
          <a:p>
            <a:r>
              <a:t/>
            </a:r>
          </a:p>
          <a:p>
            <a:r>
              <a:t>NEXT</a:t>
            </a:r>
          </a:p>
          <a:p>
            <a:r>
              <a:t>What you can do now.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What you can do now</a:t>
            </a:r>
          </a:p>
          <a:p>
            <a:r>
              <a:t/>
            </a:r>
          </a:p>
          <a:p>
            <a:r>
              <a:t>CONNECT</a:t>
            </a:r>
          </a:p>
          <a:p>
            <a:r>
              <a:t>Build on the preceding slide: Run the routine on your sector dataset.</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Before the next session.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Before the next session</a:t>
            </a:r>
          </a:p>
          <a:p>
            <a:r>
              <a:t/>
            </a:r>
          </a:p>
          <a:p>
            <a:r>
              <a:t>CONNECT</a:t>
            </a:r>
          </a:p>
          <a:p>
            <a:r>
              <a:t>Build on the preceding slide: What you can do now.</a:t>
            </a:r>
          </a:p>
          <a:p>
            <a:r>
              <a:t/>
            </a:r>
          </a:p>
          <a:p>
            <a:r>
              <a:t>LECTURER CUE</a:t>
            </a:r>
          </a:p>
          <a:p>
            <a:r>
              <a:t>Finish and submit the investigation: half a page of findings plus the notebook behind it.</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NEXT</a:t>
            </a:r>
          </a:p>
          <a:p>
            <a:r>
              <a:t>A routine beats talent under time pressure.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A routine beats talent under time pressure</a:t>
            </a:r>
          </a:p>
          <a:p>
            <a:r>
              <a:t/>
            </a:r>
          </a:p>
          <a:p>
            <a:r>
              <a:t>CONNECT</a:t>
            </a:r>
          </a:p>
          <a:p>
            <a:r>
              <a:t>Build on the preceding slide: Before the next session.</a:t>
            </a:r>
          </a:p>
          <a:p>
            <a:r>
              <a:t/>
            </a:r>
          </a:p>
          <a:p>
            <a:r>
              <a:t>LECTURER CUE</a:t>
            </a:r>
          </a:p>
          <a:p>
            <a:r>
              <a:t>Every analyst you would want to hire has one. It is what lets them open an unfamiliar file at nine and say something defensible by eleven, which is the actual job.</a:t>
            </a:r>
          </a:p>
        </p:txBody>
      </p:sp>
      <p:sp>
        <p:nvSpPr>
          <p:cNvPr id="4" name="Slide Number Placeholder 3"/>
          <p:cNvSpPr>
            <a:spLocks noGrp="1"/>
          </p:cNvSpPr>
          <p:nvPr>
            <p:ph type="sldNum" idx="5" sz="quarter"/>
          </p:nvPr>
        </p:nvSpPr>
        <p:spPr/>
      </p:sp>
    </p:spTree>
  </p:cSld>
  <p:clrMapOvr>
    <a:masterClrMapping/>
  </p:clrMapOvr>
</p:notes>
</file>

<file path=ppt/notesSlides/notesSlide10006.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The routine, in a fixed order</a:t>
            </a:r>
          </a:p>
          <a:p>
            <a:r>
              <a:t/>
            </a:r>
          </a:p>
          <a:p>
            <a:r>
              <a:t>CONNECT</a:t>
            </a:r>
          </a:p>
          <a:p>
            <a:r>
              <a:t>Build on the preceding slide: You have a file you have never seen and three hours..</a:t>
            </a:r>
          </a:p>
          <a:p>
            <a:r>
              <a:t/>
            </a:r>
          </a:p>
          <a:p>
            <a:r>
              <a:t>EXPLAIN IN ORDINARY WORDS</a:t>
            </a:r>
          </a:p>
          <a:p>
            <a:r>
              <a:t>Missing means not recorded, not automatically zero. Decide why it is missing and document the rule. Fitted fill values must come from training data when evaluating a model.</a:t>
            </a:r>
          </a:p>
          <a:p>
            <a:r>
              <a:t/>
            </a:r>
          </a:p>
          <a:p>
            <a:r>
              <a:t>CHECK AND EXPECTED ANSWER</a:t>
            </a:r>
          </a:p>
          <a:p>
            <a:r>
              <a:t>Is an unrecorded energy reading evidence of zero consumption? No.</a:t>
            </a:r>
          </a:p>
          <a:p>
            <a:r>
              <a:t/>
            </a:r>
          </a:p>
          <a:p>
            <a:r>
              <a:t>IF LEARNERS ARE STUCK</a:t>
            </a:r>
          </a:p>
          <a:p>
            <a:r>
              <a:t>Use three rows: a recorded zero, a recorded positive value and a blank. Explain their different meanings before cleaning.</a:t>
            </a:r>
          </a:p>
          <a:p>
            <a:r>
              <a:t/>
            </a:r>
          </a:p>
          <a:p>
            <a:r>
              <a:t>NEXT</a:t>
            </a:r>
          </a:p>
          <a:p>
            <a:r>
              <a:t>The routine. Same order, every dataset, every time..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notesSlides/notesSlide10013.xml><?xml version="1.0" encoding="utf-8"?>
<p:notes xmlns:a="http://schemas.openxmlformats.org/drawingml/2006/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TEACHING PURPOSE</a:t>
            </a:r>
          </a:p>
          <a:p>
            <a:r>
              <a:t>From eleven observations to five findings</a:t>
            </a:r>
          </a:p>
          <a:p>
            <a:r>
              <a:t/>
            </a:r>
          </a:p>
          <a:p>
            <a:r>
              <a:t>CONNECT</a:t>
            </a:r>
          </a:p>
          <a:p>
            <a:r>
              <a:t>Build on the preceding slide: Break.</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NEXT</a:t>
            </a:r>
          </a:p>
          <a:p>
            <a:r>
              <a:t>Turning eleven observations into five findings. Move on after a learner can explain the current example or required action.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06.xml" /></ns0: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ns0:Relationships xmlns:ns0="http://schemas.openxmlformats.org/package/2006/relationships"><ns0:Relationship Id="rId1" Type="http://schemas.openxmlformats.org/officeDocument/2006/relationships/slideLayout" Target="../slideLayouts/slideLayout7.xml" /><ns0:Relationship Id="rId2" Type="http://schemas.openxmlformats.org/officeDocument/2006/relationships/notesSlide" Target="../notesSlides/notesSlide10013.xml" /></ns0: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685800" y="960120"/>
            <a:ext cx="2219724"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584" b="1">
                <a:solidFill>
                  <a:srgbClr val="FFFFFF"/>
                </a:solidFill>
                <a:latin typeface="Calibri"/>
              </a:rPr>
              <a:t>SESSION 13 OF 15</a:t>
            </a:r>
          </a:p>
        </p:txBody>
      </p:sp>
      <p:sp>
        <p:nvSpPr>
          <p:cNvPr id="4" name="TextBox 3"/>
          <p:cNvSpPr txBox="1"/>
          <p:nvPr/>
        </p:nvSpPr>
        <p:spPr>
          <a:xfrm>
            <a:off x="685800" y="1600200"/>
            <a:ext cx="10820095" cy="2011680"/>
          </a:xfrm>
          <a:prstGeom prst="rect">
            <a:avLst/>
          </a:prstGeom>
          <a:noFill/>
        </p:spPr>
        <p:txBody>
          <a:bodyPr wrap="square" lIns="0" rIns="0" tIns="0" bIns="0" anchor="t">
            <a:spAutoFit/>
          </a:bodyPr>
          <a:lstStyle/>
          <a:p>
            <a:pPr algn="l">
              <a:lnSpc>
                <a:spcPct val="105000"/>
              </a:lnSpc>
              <a:spcAft>
                <a:spcPts val="600"/>
              </a:spcAft>
            </a:pPr>
            <a:r>
              <a:rPr sz="4400" b="1" i="0">
                <a:solidFill>
                  <a:srgbClr val="FFFFFF"/>
                </a:solidFill>
                <a:latin typeface="Cambria"/>
              </a:rPr>
              <a:t>A whole investigation, end to end</a:t>
            </a:r>
          </a:p>
        </p:txBody>
      </p:sp>
      <p:sp>
        <p:nvSpPr>
          <p:cNvPr id="5" name="TextBox 4"/>
          <p:cNvSpPr txBox="1"/>
          <p:nvPr/>
        </p:nvSpPr>
        <p:spPr>
          <a:xfrm>
            <a:off x="685800" y="3703320"/>
            <a:ext cx="10820095" cy="548640"/>
          </a:xfrm>
          <a:prstGeom prst="rect">
            <a:avLst/>
          </a:prstGeom>
          <a:noFill/>
        </p:spPr>
        <p:txBody>
          <a:bodyPr wrap="square" lIns="0" rIns="0" tIns="0" bIns="0" anchor="t">
            <a:spAutoFit/>
          </a:bodyPr>
          <a:lstStyle/>
          <a:p>
            <a:pPr algn="l">
              <a:spcAft>
                <a:spcPts val="600"/>
              </a:spcAft>
            </a:pPr>
            <a:r>
              <a:rPr sz="2293" b="0" i="0">
                <a:solidFill>
                  <a:srgbClr val="A8BCCE"/>
                </a:solidFill>
                <a:latin typeface="Calibri"/>
              </a:rPr>
              <a:t>In the same place every time. The routine is what stops an investigation becoming forty cells and no conclusion.</a:t>
            </a:r>
          </a:p>
        </p:txBody>
      </p:sp>
      <p:sp>
        <p:nvSpPr>
          <p:cNvPr id="6" name="TextBox 5"/>
          <p:cNvSpPr txBox="1"/>
          <p:nvPr/>
        </p:nvSpPr>
        <p:spPr>
          <a:xfrm>
            <a:off x="685800" y="5349240"/>
            <a:ext cx="5486400"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WEEK 5  ·  INVESTIGATION  ·  3 HOURS</a:t>
            </a:r>
          </a:p>
        </p:txBody>
      </p:sp>
      <p:sp>
        <p:nvSpPr>
          <p:cNvPr id="7" name="TextBox 6"/>
          <p:cNvSpPr txBox="1"/>
          <p:nvPr/>
        </p:nvSpPr>
        <p:spPr>
          <a:xfrm>
            <a:off x="685800" y="5715000"/>
            <a:ext cx="8229600"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Data Analysis with Python, SQL and Power BI  ·  roadmap.sh: Exploratory data analysis; the write-up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FIFTEEN SESSIONS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Where tonight sits</a:t>
            </a:r>
          </a:p>
        </p:txBody>
      </p:sp>
      <p:sp>
        <p:nvSpPr>
          <p:cNvPr id="4" name="Rounded Rectangle 3"/>
          <p:cNvSpPr/>
          <p:nvPr/>
        </p:nvSpPr>
        <p:spPr>
          <a:xfrm>
            <a:off x="685800"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32104"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  ·  FOUNDATIONS</a:t>
            </a:r>
          </a:p>
        </p:txBody>
      </p:sp>
      <p:sp>
        <p:nvSpPr>
          <p:cNvPr id="6" name="TextBox 5"/>
          <p:cNvSpPr txBox="1"/>
          <p:nvPr/>
        </p:nvSpPr>
        <p:spPr>
          <a:xfrm>
            <a:off x="832104"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From a spreadsheet to data</a:t>
            </a:r>
          </a:p>
        </p:txBody>
      </p:sp>
      <p:sp>
        <p:nvSpPr>
          <p:cNvPr id="7" name="Rounded Rectangle 6"/>
          <p:cNvSpPr/>
          <p:nvPr/>
        </p:nvSpPr>
        <p:spPr>
          <a:xfrm>
            <a:off x="3459403"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05707"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2  ·  FOUNDATIONS</a:t>
            </a:r>
          </a:p>
        </p:txBody>
      </p:sp>
      <p:sp>
        <p:nvSpPr>
          <p:cNvPr id="9" name="TextBox 8"/>
          <p:cNvSpPr txBox="1"/>
          <p:nvPr/>
        </p:nvSpPr>
        <p:spPr>
          <a:xfrm>
            <a:off x="3605707"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Why data lives in several tables</a:t>
            </a:r>
          </a:p>
        </p:txBody>
      </p:sp>
      <p:sp>
        <p:nvSpPr>
          <p:cNvPr id="10" name="Rounded Rectangle 9"/>
          <p:cNvSpPr/>
          <p:nvPr/>
        </p:nvSpPr>
        <p:spPr>
          <a:xfrm>
            <a:off x="6233007"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79311"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3  ·  SQL</a:t>
            </a:r>
          </a:p>
        </p:txBody>
      </p:sp>
      <p:sp>
        <p:nvSpPr>
          <p:cNvPr id="12" name="TextBox 11"/>
          <p:cNvSpPr txBox="1"/>
          <p:nvPr/>
        </p:nvSpPr>
        <p:spPr>
          <a:xfrm>
            <a:off x="6379311"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Asking a database for rows</a:t>
            </a:r>
          </a:p>
        </p:txBody>
      </p:sp>
      <p:sp>
        <p:nvSpPr>
          <p:cNvPr id="13" name="Rounded Rectangle 12"/>
          <p:cNvSpPr/>
          <p:nvPr/>
        </p:nvSpPr>
        <p:spPr>
          <a:xfrm>
            <a:off x="9006611" y="1947672"/>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52915" y="2020824"/>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4  ·  SQL</a:t>
            </a:r>
          </a:p>
        </p:txBody>
      </p:sp>
      <p:sp>
        <p:nvSpPr>
          <p:cNvPr id="15" name="TextBox 14"/>
          <p:cNvSpPr txBox="1"/>
          <p:nvPr/>
        </p:nvSpPr>
        <p:spPr>
          <a:xfrm>
            <a:off x="9152915" y="2295144"/>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Counting and grouping</a:t>
            </a:r>
          </a:p>
        </p:txBody>
      </p:sp>
      <p:sp>
        <p:nvSpPr>
          <p:cNvPr id="16" name="Rounded Rectangle 15"/>
          <p:cNvSpPr/>
          <p:nvPr/>
        </p:nvSpPr>
        <p:spPr>
          <a:xfrm>
            <a:off x="685800"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2104"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5  ·  SQL</a:t>
            </a:r>
          </a:p>
        </p:txBody>
      </p:sp>
      <p:sp>
        <p:nvSpPr>
          <p:cNvPr id="18" name="TextBox 17"/>
          <p:cNvSpPr txBox="1"/>
          <p:nvPr/>
        </p:nvSpPr>
        <p:spPr>
          <a:xfrm>
            <a:off x="832104"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Joining tables, carefully</a:t>
            </a:r>
          </a:p>
        </p:txBody>
      </p:sp>
      <p:sp>
        <p:nvSpPr>
          <p:cNvPr id="19" name="Rounded Rectangle 18"/>
          <p:cNvSpPr/>
          <p:nvPr/>
        </p:nvSpPr>
        <p:spPr>
          <a:xfrm>
            <a:off x="3459403"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605707"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6  ·  PYTHON</a:t>
            </a:r>
          </a:p>
        </p:txBody>
      </p:sp>
      <p:sp>
        <p:nvSpPr>
          <p:cNvPr id="21" name="TextBox 20"/>
          <p:cNvSpPr txBox="1"/>
          <p:nvPr/>
        </p:nvSpPr>
        <p:spPr>
          <a:xfrm>
            <a:off x="3605707"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Your first program</a:t>
            </a:r>
          </a:p>
        </p:txBody>
      </p:sp>
      <p:sp>
        <p:nvSpPr>
          <p:cNvPr id="22" name="Rounded Rectangle 21"/>
          <p:cNvSpPr/>
          <p:nvPr/>
        </p:nvSpPr>
        <p:spPr>
          <a:xfrm>
            <a:off x="6233007"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79311"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7  ·  PYTHON</a:t>
            </a:r>
          </a:p>
        </p:txBody>
      </p:sp>
      <p:sp>
        <p:nvSpPr>
          <p:cNvPr id="24" name="TextBox 23"/>
          <p:cNvSpPr txBox="1"/>
          <p:nvPr/>
        </p:nvSpPr>
        <p:spPr>
          <a:xfrm>
            <a:off x="6379311"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Reading a file, and looking at it</a:t>
            </a:r>
          </a:p>
        </p:txBody>
      </p:sp>
      <p:sp>
        <p:nvSpPr>
          <p:cNvPr id="25" name="Rounded Rectangle 24"/>
          <p:cNvSpPr/>
          <p:nvPr/>
        </p:nvSpPr>
        <p:spPr>
          <a:xfrm>
            <a:off x="9006611" y="3172968"/>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52915" y="3246120"/>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8  ·  PYTHON</a:t>
            </a:r>
          </a:p>
        </p:txBody>
      </p:sp>
      <p:sp>
        <p:nvSpPr>
          <p:cNvPr id="27" name="TextBox 26"/>
          <p:cNvSpPr txBox="1"/>
          <p:nvPr/>
        </p:nvSpPr>
        <p:spPr>
          <a:xfrm>
            <a:off x="9152915" y="3520439"/>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Cleaning, and writing down what you did</a:t>
            </a:r>
          </a:p>
        </p:txBody>
      </p:sp>
      <p:sp>
        <p:nvSpPr>
          <p:cNvPr id="28" name="Rounded Rectangle 27"/>
          <p:cNvSpPr/>
          <p:nvPr/>
        </p:nvSpPr>
        <p:spPr>
          <a:xfrm>
            <a:off x="685800"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32104"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9  ·  PYTHON</a:t>
            </a:r>
          </a:p>
        </p:txBody>
      </p:sp>
      <p:sp>
        <p:nvSpPr>
          <p:cNvPr id="30" name="TextBox 29"/>
          <p:cNvSpPr txBox="1"/>
          <p:nvPr/>
        </p:nvSpPr>
        <p:spPr>
          <a:xfrm>
            <a:off x="832104"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Grouping and joining in pandas</a:t>
            </a:r>
          </a:p>
        </p:txBody>
      </p:sp>
      <p:sp>
        <p:nvSpPr>
          <p:cNvPr id="31" name="Rounded Rectangle 30"/>
          <p:cNvSpPr/>
          <p:nvPr/>
        </p:nvSpPr>
        <p:spPr>
          <a:xfrm>
            <a:off x="3459403"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605707"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10  ·  STATISTICS</a:t>
            </a:r>
          </a:p>
        </p:txBody>
      </p:sp>
      <p:sp>
        <p:nvSpPr>
          <p:cNvPr id="33" name="TextBox 32"/>
          <p:cNvSpPr txBox="1"/>
          <p:nvPr/>
        </p:nvSpPr>
        <p:spPr>
          <a:xfrm>
            <a:off x="3605707"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Describing one column</a:t>
            </a:r>
          </a:p>
        </p:txBody>
      </p:sp>
      <p:sp>
        <p:nvSpPr>
          <p:cNvPr id="34" name="Rounded Rectangle 33"/>
          <p:cNvSpPr/>
          <p:nvPr/>
        </p:nvSpPr>
        <p:spPr>
          <a:xfrm>
            <a:off x="6233007"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79311"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11  ·  STATISTICS</a:t>
            </a:r>
          </a:p>
        </p:txBody>
      </p:sp>
      <p:sp>
        <p:nvSpPr>
          <p:cNvPr id="36" name="TextBox 35"/>
          <p:cNvSpPr txBox="1"/>
          <p:nvPr/>
        </p:nvSpPr>
        <p:spPr>
          <a:xfrm>
            <a:off x="6379311"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Comparing groups, and reading time</a:t>
            </a:r>
          </a:p>
        </p:txBody>
      </p:sp>
      <p:sp>
        <p:nvSpPr>
          <p:cNvPr id="37" name="Rounded Rectangle 36"/>
          <p:cNvSpPr/>
          <p:nvPr/>
        </p:nvSpPr>
        <p:spPr>
          <a:xfrm>
            <a:off x="9006611" y="4398264"/>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52915" y="4471416"/>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12  ·  CHARTS</a:t>
            </a:r>
          </a:p>
        </p:txBody>
      </p:sp>
      <p:sp>
        <p:nvSpPr>
          <p:cNvPr id="39" name="TextBox 38"/>
          <p:cNvSpPr txBox="1"/>
          <p:nvPr/>
        </p:nvSpPr>
        <p:spPr>
          <a:xfrm>
            <a:off x="9152915" y="4745736"/>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Charts that answer the question</a:t>
            </a:r>
          </a:p>
        </p:txBody>
      </p:sp>
      <p:sp>
        <p:nvSpPr>
          <p:cNvPr id="40" name="Rounded Rectangle 39"/>
          <p:cNvSpPr/>
          <p:nvPr/>
        </p:nvSpPr>
        <p:spPr>
          <a:xfrm>
            <a:off x="685800" y="5623559"/>
            <a:ext cx="2499283" cy="1060704"/>
          </a:xfrm>
          <a:prstGeom prst="roundRect">
            <a:avLst>
              <a:gd name="adj" fmla="val 6000"/>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32104" y="5696712"/>
            <a:ext cx="2206675" cy="256032"/>
          </a:xfrm>
          <a:prstGeom prst="rect">
            <a:avLst/>
          </a:prstGeom>
          <a:noFill/>
        </p:spPr>
        <p:txBody>
          <a:bodyPr wrap="square" lIns="0" rIns="0" tIns="0" bIns="0" anchor="t">
            <a:spAutoFit/>
          </a:bodyPr>
          <a:lstStyle/>
          <a:p>
            <a:pPr algn="l">
              <a:spcAft>
                <a:spcPts val="600"/>
              </a:spcAft>
            </a:pPr>
            <a:r>
              <a:rPr sz="1254" b="1" i="0">
                <a:solidFill>
                  <a:srgbClr val="FFFFFF"/>
                </a:solidFill>
                <a:latin typeface="Calibri"/>
              </a:rPr>
              <a:t>13  ·  INVESTIGATION</a:t>
            </a:r>
          </a:p>
        </p:txBody>
      </p:sp>
      <p:sp>
        <p:nvSpPr>
          <p:cNvPr id="42" name="TextBox 41"/>
          <p:cNvSpPr txBox="1"/>
          <p:nvPr/>
        </p:nvSpPr>
        <p:spPr>
          <a:xfrm>
            <a:off x="832104" y="5971031"/>
            <a:ext cx="2206675" cy="640080"/>
          </a:xfrm>
          <a:prstGeom prst="rect">
            <a:avLst/>
          </a:prstGeom>
          <a:noFill/>
        </p:spPr>
        <p:txBody>
          <a:bodyPr wrap="square" lIns="0" rIns="0" tIns="0" bIns="0" anchor="t">
            <a:spAutoFit/>
          </a:bodyPr>
          <a:lstStyle/>
          <a:p>
            <a:pPr algn="l">
              <a:lnSpc>
                <a:spcPct val="112000"/>
              </a:lnSpc>
              <a:spcAft>
                <a:spcPts val="600"/>
              </a:spcAft>
            </a:pPr>
            <a:r>
              <a:rPr sz="1452" b="1" i="0">
                <a:solidFill>
                  <a:srgbClr val="FFFFFF"/>
                </a:solidFill>
                <a:latin typeface="Calibri"/>
              </a:rPr>
              <a:t>A whole investigation, end to end</a:t>
            </a:r>
          </a:p>
        </p:txBody>
      </p:sp>
      <p:sp>
        <p:nvSpPr>
          <p:cNvPr id="43" name="Rounded Rectangle 42"/>
          <p:cNvSpPr/>
          <p:nvPr/>
        </p:nvSpPr>
        <p:spPr>
          <a:xfrm>
            <a:off x="3459403"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3605707"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14  ·  POWER BI</a:t>
            </a:r>
          </a:p>
        </p:txBody>
      </p:sp>
      <p:sp>
        <p:nvSpPr>
          <p:cNvPr id="45" name="TextBox 44"/>
          <p:cNvSpPr txBox="1"/>
          <p:nvPr/>
        </p:nvSpPr>
        <p:spPr>
          <a:xfrm>
            <a:off x="3605707"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Getting data in, and modelling it</a:t>
            </a:r>
          </a:p>
        </p:txBody>
      </p:sp>
      <p:sp>
        <p:nvSpPr>
          <p:cNvPr id="46" name="Rounded Rectangle 45"/>
          <p:cNvSpPr/>
          <p:nvPr/>
        </p:nvSpPr>
        <p:spPr>
          <a:xfrm>
            <a:off x="6233007" y="5623559"/>
            <a:ext cx="2499283" cy="1060704"/>
          </a:xfrm>
          <a:prstGeom prst="roundRect">
            <a:avLst>
              <a:gd name="adj" fmla="val 6000"/>
            </a:avLst>
          </a:prstGeom>
          <a:solidFill>
            <a:srgbClr val="E8ED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79311" y="5696712"/>
            <a:ext cx="2206675" cy="256032"/>
          </a:xfrm>
          <a:prstGeom prst="rect">
            <a:avLst/>
          </a:prstGeom>
          <a:noFill/>
        </p:spPr>
        <p:txBody>
          <a:bodyPr wrap="square" lIns="0" rIns="0" tIns="0" bIns="0" anchor="t">
            <a:spAutoFit/>
          </a:bodyPr>
          <a:lstStyle/>
          <a:p>
            <a:pPr algn="l">
              <a:spcAft>
                <a:spcPts val="600"/>
              </a:spcAft>
            </a:pPr>
            <a:r>
              <a:rPr sz="1254" b="1" i="0">
                <a:solidFill>
                  <a:srgbClr val="6B7A8A"/>
                </a:solidFill>
                <a:latin typeface="Calibri"/>
              </a:rPr>
              <a:t>15  ·  POWER BI</a:t>
            </a:r>
          </a:p>
        </p:txBody>
      </p:sp>
      <p:sp>
        <p:nvSpPr>
          <p:cNvPr id="48" name="TextBox 47"/>
          <p:cNvSpPr txBox="1"/>
          <p:nvPr/>
        </p:nvSpPr>
        <p:spPr>
          <a:xfrm>
            <a:off x="6379311" y="5971031"/>
            <a:ext cx="2206675" cy="640080"/>
          </a:xfrm>
          <a:prstGeom prst="rect">
            <a:avLst/>
          </a:prstGeom>
          <a:noFill/>
        </p:spPr>
        <p:txBody>
          <a:bodyPr wrap="square" lIns="0" rIns="0" tIns="0" bIns="0" anchor="t">
            <a:spAutoFit/>
          </a:bodyPr>
          <a:lstStyle/>
          <a:p>
            <a:pPr algn="l">
              <a:lnSpc>
                <a:spcPct val="112000"/>
              </a:lnSpc>
              <a:spcAft>
                <a:spcPts val="600"/>
              </a:spcAft>
            </a:pPr>
            <a:r>
              <a:rPr sz="1452" b="0" i="0">
                <a:solidFill>
                  <a:srgbClr val="2A3B4A"/>
                </a:solidFill>
                <a:latin typeface="Calibri"/>
              </a:rPr>
              <a:t>Measures, a dashboard, and presenting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BEFORE WE START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words for tonight</a:t>
            </a:r>
          </a:p>
        </p:txBody>
      </p:sp>
      <p:sp>
        <p:nvSpPr>
          <p:cNvPr id="4" name="TextBox 3"/>
          <p:cNvSpPr txBox="1"/>
          <p:nvPr/>
        </p:nvSpPr>
        <p:spPr>
          <a:xfrm>
            <a:off x="685800" y="1911095"/>
            <a:ext cx="224028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TERM</a:t>
            </a:r>
          </a:p>
        </p:txBody>
      </p:sp>
      <p:sp>
        <p:nvSpPr>
          <p:cNvPr id="5" name="TextBox 4"/>
          <p:cNvSpPr txBox="1"/>
          <p:nvPr/>
        </p:nvSpPr>
        <p:spPr>
          <a:xfrm>
            <a:off x="3154680" y="1911095"/>
            <a:ext cx="4892040"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WHAT IT MEANS</a:t>
            </a:r>
          </a:p>
        </p:txBody>
      </p:sp>
      <p:sp>
        <p:nvSpPr>
          <p:cNvPr id="6" name="TextBox 5"/>
          <p:cNvSpPr txBox="1"/>
          <p:nvPr/>
        </p:nvSpPr>
        <p:spPr>
          <a:xfrm>
            <a:off x="8275320" y="1911095"/>
            <a:ext cx="3230575" cy="274320"/>
          </a:xfrm>
          <a:prstGeom prst="rect">
            <a:avLst/>
          </a:prstGeom>
          <a:noFill/>
        </p:spPr>
        <p:txBody>
          <a:bodyPr wrap="square" lIns="0" rIns="0" tIns="0" bIns="0" anchor="t">
            <a:spAutoFit/>
          </a:bodyPr>
          <a:lstStyle/>
          <a:p>
            <a:pPr algn="l">
              <a:spcAft>
                <a:spcPts val="600"/>
              </a:spcAft>
            </a:pPr>
            <a:r>
              <a:rPr sz="1320" b="1" i="0">
                <a:solidFill>
                  <a:srgbClr val="E4572E"/>
                </a:solidFill>
                <a:latin typeface="Calibri"/>
              </a:rPr>
              <a:t>IN A SPREADSHEET</a:t>
            </a:r>
          </a:p>
        </p:txBody>
      </p:sp>
      <p:sp>
        <p:nvSpPr>
          <p:cNvPr id="7" name="Rectangle 6"/>
          <p:cNvSpPr/>
          <p:nvPr/>
        </p:nvSpPr>
        <p:spPr>
          <a:xfrm>
            <a:off x="576072" y="2240279"/>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276856"/>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Finding</a:t>
            </a:r>
          </a:p>
        </p:txBody>
      </p:sp>
      <p:sp>
        <p:nvSpPr>
          <p:cNvPr id="9" name="TextBox 8"/>
          <p:cNvSpPr txBox="1"/>
          <p:nvPr/>
        </p:nvSpPr>
        <p:spPr>
          <a:xfrm>
            <a:off x="3154680" y="2276856"/>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A sentence with a number in it that somebody could act on or dispute.</a:t>
            </a:r>
          </a:p>
        </p:txBody>
      </p:sp>
      <p:sp>
        <p:nvSpPr>
          <p:cNvPr id="10" name="TextBox 9"/>
          <p:cNvSpPr txBox="1"/>
          <p:nvPr/>
        </p:nvSpPr>
        <p:spPr>
          <a:xfrm>
            <a:off x="8275320" y="2276856"/>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1" name="TextBox 10"/>
          <p:cNvSpPr txBox="1"/>
          <p:nvPr/>
        </p:nvSpPr>
        <p:spPr>
          <a:xfrm>
            <a:off x="685800" y="3010768"/>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Observation</a:t>
            </a:r>
          </a:p>
        </p:txBody>
      </p:sp>
      <p:sp>
        <p:nvSpPr>
          <p:cNvPr id="12" name="TextBox 11"/>
          <p:cNvSpPr txBox="1"/>
          <p:nvPr/>
        </p:nvSpPr>
        <p:spPr>
          <a:xfrm>
            <a:off x="3154680" y="3010768"/>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Something true about the data rather than about the business. It belongs in the notebook.</a:t>
            </a:r>
          </a:p>
        </p:txBody>
      </p:sp>
      <p:sp>
        <p:nvSpPr>
          <p:cNvPr id="13" name="TextBox 12"/>
          <p:cNvSpPr txBox="1"/>
          <p:nvPr/>
        </p:nvSpPr>
        <p:spPr>
          <a:xfrm>
            <a:off x="8275320" y="3010768"/>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4" name="Rectangle 13"/>
          <p:cNvSpPr/>
          <p:nvPr/>
        </p:nvSpPr>
        <p:spPr>
          <a:xfrm>
            <a:off x="576072" y="3708104"/>
            <a:ext cx="11039551" cy="697336"/>
          </a:xfrm>
          <a:prstGeom prst="rect">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5800" y="3744680"/>
            <a:ext cx="2240280" cy="651616"/>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Limitation</a:t>
            </a:r>
          </a:p>
        </p:txBody>
      </p:sp>
      <p:sp>
        <p:nvSpPr>
          <p:cNvPr id="16" name="TextBox 15"/>
          <p:cNvSpPr txBox="1"/>
          <p:nvPr/>
        </p:nvSpPr>
        <p:spPr>
          <a:xfrm>
            <a:off x="3154680" y="3744680"/>
            <a:ext cx="4892040" cy="651616"/>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Where a finding stops being reliable, written beside it rather than in a footnote.</a:t>
            </a:r>
          </a:p>
        </p:txBody>
      </p:sp>
      <p:sp>
        <p:nvSpPr>
          <p:cNvPr id="17" name="TextBox 16"/>
          <p:cNvSpPr txBox="1"/>
          <p:nvPr/>
        </p:nvSpPr>
        <p:spPr>
          <a:xfrm>
            <a:off x="8275320" y="3744680"/>
            <a:ext cx="3230575" cy="651616"/>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
        <p:nvSpPr>
          <p:cNvPr id="18" name="TextBox 17"/>
          <p:cNvSpPr txBox="1"/>
          <p:nvPr/>
        </p:nvSpPr>
        <p:spPr>
          <a:xfrm>
            <a:off x="685800" y="4478592"/>
            <a:ext cx="2240280" cy="954564"/>
          </a:xfrm>
          <a:prstGeom prst="rect">
            <a:avLst/>
          </a:prstGeom>
          <a:noFill/>
        </p:spPr>
        <p:txBody>
          <a:bodyPr wrap="square" lIns="0" rIns="0" tIns="0" bIns="0" anchor="t">
            <a:spAutoFit/>
          </a:bodyPr>
          <a:lstStyle/>
          <a:p>
            <a:pPr algn="l">
              <a:lnSpc>
                <a:spcPct val="114000"/>
              </a:lnSpc>
              <a:spcAft>
                <a:spcPts val="600"/>
              </a:spcAft>
            </a:pPr>
            <a:r>
              <a:rPr sz="1716" b="1" i="0">
                <a:solidFill>
                  <a:srgbClr val="1C3144"/>
                </a:solidFill>
                <a:latin typeface="Calibri"/>
              </a:rPr>
              <a:t>Leakage</a:t>
            </a:r>
          </a:p>
        </p:txBody>
      </p:sp>
      <p:sp>
        <p:nvSpPr>
          <p:cNvPr id="19" name="TextBox 18"/>
          <p:cNvSpPr txBox="1"/>
          <p:nvPr/>
        </p:nvSpPr>
        <p:spPr>
          <a:xfrm>
            <a:off x="3154680" y="4478592"/>
            <a:ext cx="4892040" cy="954564"/>
          </a:xfrm>
          <a:prstGeom prst="rect">
            <a:avLst/>
          </a:prstGeom>
          <a:noFill/>
        </p:spPr>
        <p:txBody>
          <a:bodyPr wrap="square" lIns="0" rIns="0" tIns="0" bIns="0" anchor="t">
            <a:spAutoFit/>
          </a:bodyPr>
          <a:lstStyle/>
          <a:p>
            <a:pPr algn="l">
              <a:lnSpc>
                <a:spcPct val="116000"/>
              </a:lnSpc>
              <a:spcAft>
                <a:spcPts val="600"/>
              </a:spcAft>
            </a:pPr>
            <a:r>
              <a:rPr sz="1650" b="0" i="0">
                <a:solidFill>
                  <a:srgbClr val="334657"/>
                </a:solidFill>
                <a:latin typeface="Calibri"/>
              </a:rPr>
              <a:t>When a column you would not have at decision time is used to answer the question, making the answer look far better than it is.</a:t>
            </a:r>
          </a:p>
        </p:txBody>
      </p:sp>
      <p:sp>
        <p:nvSpPr>
          <p:cNvPr id="20" name="TextBox 19"/>
          <p:cNvSpPr txBox="1"/>
          <p:nvPr/>
        </p:nvSpPr>
        <p:spPr>
          <a:xfrm>
            <a:off x="8275320" y="4478592"/>
            <a:ext cx="3230575" cy="954564"/>
          </a:xfrm>
          <a:prstGeom prst="rect">
            <a:avLst/>
          </a:prstGeom>
          <a:noFill/>
        </p:spPr>
        <p:txBody>
          <a:bodyPr wrap="square" lIns="0" rIns="0" tIns="0" bIns="0" anchor="t">
            <a:spAutoFit/>
          </a:bodyPr>
          <a:lstStyle/>
          <a:p>
            <a:pPr algn="l">
              <a:lnSpc>
                <a:spcPct val="116000"/>
              </a:lnSpc>
              <a:spcAft>
                <a:spcPts val="600"/>
              </a:spcAft>
            </a:pPr>
            <a:r>
              <a:rPr sz="1650" b="0" i="1">
                <a:solidFill>
                  <a:srgbClr val="6B7A8A"/>
                </a:solidFill>
                <a:latin typeface="Calibri"/>
              </a:rPr>
              <a:t>no direct equivalent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WHAT YOU WILL BE ABLE TO DO</a:t>
            </a:r>
          </a:p>
        </p:txBody>
      </p:sp>
      <p:sp>
        <p:nvSpPr>
          <p:cNvPr id="3" name="TextBox 2"/>
          <p:cNvSpPr txBox="1"/>
          <p:nvPr/>
        </p:nvSpPr>
        <p:spPr>
          <a:xfrm>
            <a:off x="685800" y="950976"/>
            <a:ext cx="10820095" cy="731520"/>
          </a:xfrm>
          <a:prstGeom prst="rect">
            <a:avLst/>
          </a:prstGeom>
          <a:noFill/>
        </p:spPr>
        <p:txBody>
          <a:bodyPr wrap="square" lIns="0" rIns="0" tIns="0" bIns="0" anchor="t">
            <a:spAutoFit/>
          </a:bodyPr>
          <a:lstStyle/>
          <a:p>
            <a:pPr algn="l">
              <a:spcAft>
                <a:spcPts val="600"/>
              </a:spcAft>
            </a:pPr>
            <a:r>
              <a:rPr sz="3000" b="1" i="0">
                <a:solidFill>
                  <a:srgbClr val="1C3144"/>
                </a:solidFill>
                <a:latin typeface="Calibri"/>
              </a:rPr>
              <a:t>By the end of tonight you can…</a:t>
            </a:r>
          </a:p>
        </p:txBody>
      </p:sp>
      <p:sp>
        <p:nvSpPr>
          <p:cNvPr id="4" name="Oval 3"/>
          <p:cNvSpPr/>
          <p:nvPr/>
        </p:nvSpPr>
        <p:spPr>
          <a:xfrm>
            <a:off x="685800" y="195681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5" name="TextBox 4"/>
          <p:cNvSpPr txBox="1"/>
          <p:nvPr/>
        </p:nvSpPr>
        <p:spPr>
          <a:xfrm>
            <a:off x="1234440" y="192024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Run a structured investigation on an unfamiliar dataset, in a fixed order.</a:t>
            </a:r>
          </a:p>
        </p:txBody>
      </p:sp>
      <p:sp>
        <p:nvSpPr>
          <p:cNvPr id="6" name="Oval 5"/>
          <p:cNvSpPr/>
          <p:nvPr/>
        </p:nvSpPr>
        <p:spPr>
          <a:xfrm>
            <a:off x="685800" y="277977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7" name="TextBox 6"/>
          <p:cNvSpPr txBox="1"/>
          <p:nvPr/>
        </p:nvSpPr>
        <p:spPr>
          <a:xfrm>
            <a:off x="1234440" y="274320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Produce five findings, each with a number and a stated limitation.</a:t>
            </a:r>
          </a:p>
        </p:txBody>
      </p:sp>
      <p:sp>
        <p:nvSpPr>
          <p:cNvPr id="8" name="Oval 7"/>
          <p:cNvSpPr/>
          <p:nvPr/>
        </p:nvSpPr>
        <p:spPr>
          <a:xfrm>
            <a:off x="685800" y="3602736"/>
            <a:ext cx="329184" cy="329184"/>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9" name="TextBox 8"/>
          <p:cNvSpPr txBox="1"/>
          <p:nvPr/>
        </p:nvSpPr>
        <p:spPr>
          <a:xfrm>
            <a:off x="1234440" y="3566160"/>
            <a:ext cx="10134295" cy="395093"/>
          </a:xfrm>
          <a:prstGeom prst="rect">
            <a:avLst/>
          </a:prstGeom>
          <a:noFill/>
        </p:spPr>
        <p:txBody>
          <a:bodyPr wrap="square" lIns="0" rIns="0" tIns="0" bIns="0" anchor="t">
            <a:spAutoFit/>
          </a:bodyPr>
          <a:lstStyle/>
          <a:p>
            <a:pPr algn="l">
              <a:lnSpc>
                <a:spcPct val="118000"/>
              </a:lnSpc>
              <a:spcAft>
                <a:spcPts val="600"/>
              </a:spcAft>
            </a:pPr>
            <a:r>
              <a:rPr sz="1821" b="0" i="0">
                <a:solidFill>
                  <a:srgbClr val="2A3B4A"/>
                </a:solidFill>
                <a:latin typeface="Calibri"/>
              </a:rPr>
              <a:t>Write the half page a decision maker reads instead of the notebook.</a:t>
            </a:r>
          </a:p>
        </p:txBody>
      </p:sp>
      <p:sp>
        <p:nvSpPr>
          <p:cNvPr id="10" name="TextBox 9"/>
          <p:cNvSpPr txBox="1"/>
          <p:nvPr/>
        </p:nvSpPr>
        <p:spPr>
          <a:xfrm>
            <a:off x="685800" y="6144768"/>
            <a:ext cx="10820095" cy="365760"/>
          </a:xfrm>
          <a:prstGeom prst="rect">
            <a:avLst/>
          </a:prstGeom>
          <a:noFill/>
        </p:spPr>
        <p:txBody>
          <a:bodyPr wrap="square" lIns="0" rIns="0" tIns="0" bIns="0" anchor="t">
            <a:spAutoFit/>
          </a:bodyPr>
          <a:lstStyle/>
          <a:p>
            <a:pPr algn="l">
              <a:spcAft>
                <a:spcPts val="600"/>
              </a:spcAft>
            </a:pPr>
            <a:r>
              <a:rPr sz="1452" b="0" i="1">
                <a:solidFill>
                  <a:srgbClr val="6B7A8A"/>
                </a:solidFill>
                <a:latin typeface="Calibri"/>
              </a:rPr>
              <a:t>Session 13 of 15  ·  Investigation  ·  A whole investigation, end to end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05156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QUESTION TONIGHT ANSWERS</a:t>
            </a:r>
          </a:p>
        </p:txBody>
      </p:sp>
      <p:sp>
        <p:nvSpPr>
          <p:cNvPr id="4" name="TextBox 3"/>
          <p:cNvSpPr txBox="1"/>
          <p:nvPr/>
        </p:nvSpPr>
        <p:spPr>
          <a:xfrm>
            <a:off x="685800" y="1691640"/>
            <a:ext cx="10820095" cy="2743200"/>
          </a:xfrm>
          <a:prstGeom prst="rect">
            <a:avLst/>
          </a:prstGeom>
          <a:noFill/>
        </p:spPr>
        <p:txBody>
          <a:bodyPr wrap="square" lIns="0" rIns="0" tIns="0" bIns="0" anchor="t">
            <a:spAutoFit/>
          </a:bodyPr>
          <a:lstStyle/>
          <a:p>
            <a:pPr algn="l">
              <a:lnSpc>
                <a:spcPct val="115000"/>
              </a:lnSpc>
              <a:spcAft>
                <a:spcPts val="600"/>
              </a:spcAft>
            </a:pPr>
            <a:r>
              <a:rPr sz="3400" b="0" i="1">
                <a:solidFill>
                  <a:srgbClr val="FFFFFF"/>
                </a:solidFill>
                <a:latin typeface="Cambria"/>
              </a:rPr>
              <a:t>You have a file you have never seen and three hours.</a:t>
            </a:r>
          </a:p>
          <a:p>
            <a:pPr algn="l">
              <a:lnSpc>
                <a:spcPct val="115000"/>
              </a:lnSpc>
              <a:spcAft>
                <a:spcPts val="600"/>
              </a:spcAft>
            </a:pPr>
            <a:r>
              <a:rPr sz="3400" b="0" i="1">
                <a:solidFill>
                  <a:srgbClr val="FFFFFF"/>
                </a:solidFill>
                <a:latin typeface="Cambria"/>
              </a:rPr>
              <a:t>Where do you start?</a:t>
            </a:r>
          </a:p>
        </p:txBody>
      </p:sp>
      <p:sp>
        <p:nvSpPr>
          <p:cNvPr id="5" name="TextBox 4"/>
          <p:cNvSpPr txBox="1"/>
          <p:nvPr/>
        </p:nvSpPr>
        <p:spPr>
          <a:xfrm>
            <a:off x="685800" y="4892040"/>
            <a:ext cx="10820095" cy="1097280"/>
          </a:xfrm>
          <a:prstGeom prst="rect">
            <a:avLst/>
          </a:prstGeom>
          <a:noFill/>
        </p:spPr>
        <p:txBody>
          <a:bodyPr wrap="square" lIns="0" rIns="0" tIns="0" bIns="0" anchor="t">
            <a:spAutoFit/>
          </a:bodyPr>
          <a:lstStyle/>
          <a:p>
            <a:pPr algn="l">
              <a:lnSpc>
                <a:spcPct val="120000"/>
              </a:lnSpc>
              <a:spcAft>
                <a:spcPts val="600"/>
              </a:spcAft>
            </a:pPr>
            <a:r>
              <a:rPr sz="1923" b="0" i="0">
                <a:solidFill>
                  <a:srgbClr val="B8C9D8"/>
                </a:solidFill>
                <a:latin typeface="Calibri"/>
              </a:rPr>
              <a:t>In the same place every time. The routine is what stops an investigation becoming forty cells and no conclusion.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ONE · 50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The routine, in a fixed order</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The routine, written up and followed live on a dataset nobody has seen: what is this file a record of, what is one row, what is the window, what is missing, what does the main quantity look like, what moves with what, and what would change my mind..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SIX QUESTIONS, IN THIS ORDER</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The routine. Same order, every dataset, every time.</a:t>
            </a:r>
          </a:p>
        </p:txBody>
      </p:sp>
      <p:sp>
        <p:nvSpPr>
          <p:cNvPr id="4" name="Rounded Rectangle 3"/>
          <p:cNvSpPr/>
          <p:nvPr/>
        </p:nvSpPr>
        <p:spPr>
          <a:xfrm>
            <a:off x="685800" y="1911095"/>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41832" y="2043142"/>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1</a:t>
            </a:r>
          </a:p>
        </p:txBody>
      </p:sp>
      <p:sp>
        <p:nvSpPr>
          <p:cNvPr id="6" name="TextBox 5"/>
          <p:cNvSpPr txBox="1"/>
          <p:nvPr/>
        </p:nvSpPr>
        <p:spPr>
          <a:xfrm>
            <a:off x="1554480" y="2029967"/>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this file a record of, and what is one row?</a:t>
            </a:r>
          </a:p>
        </p:txBody>
      </p:sp>
      <p:sp>
        <p:nvSpPr>
          <p:cNvPr id="7" name="TextBox 6"/>
          <p:cNvSpPr txBox="1"/>
          <p:nvPr/>
        </p:nvSpPr>
        <p:spPr>
          <a:xfrm>
            <a:off x="1554480" y="2295144"/>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One sentence each, written down. You have been doing this since session 1. If you cannot write them, stop and find out.</a:t>
            </a:r>
          </a:p>
        </p:txBody>
      </p:sp>
      <p:sp>
        <p:nvSpPr>
          <p:cNvPr id="8" name="Rounded Rectangle 7"/>
          <p:cNvSpPr/>
          <p:nvPr/>
        </p:nvSpPr>
        <p:spPr>
          <a:xfrm>
            <a:off x="685800" y="2614100"/>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41832" y="2746146"/>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2</a:t>
            </a:r>
          </a:p>
        </p:txBody>
      </p:sp>
      <p:sp>
        <p:nvSpPr>
          <p:cNvPr id="10" name="TextBox 9"/>
          <p:cNvSpPr txBox="1"/>
          <p:nvPr/>
        </p:nvSpPr>
        <p:spPr>
          <a:xfrm>
            <a:off x="1554480" y="2732972"/>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the time window, and is it complete?</a:t>
            </a:r>
          </a:p>
        </p:txBody>
      </p:sp>
      <p:sp>
        <p:nvSpPr>
          <p:cNvPr id="11" name="TextBox 10"/>
          <p:cNvSpPr txBox="1"/>
          <p:nvPr/>
        </p:nvSpPr>
        <p:spPr>
          <a:xfrm>
            <a:off x="1554480" y="2998148"/>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Earliest, latest, and whether any period in between is missing. A missing month is a finding on its own.</a:t>
            </a:r>
          </a:p>
        </p:txBody>
      </p:sp>
      <p:sp>
        <p:nvSpPr>
          <p:cNvPr id="12" name="Rounded Rectangle 11"/>
          <p:cNvSpPr/>
          <p:nvPr/>
        </p:nvSpPr>
        <p:spPr>
          <a:xfrm>
            <a:off x="685800" y="3317104"/>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41832" y="3449150"/>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3</a:t>
            </a:r>
          </a:p>
        </p:txBody>
      </p:sp>
      <p:sp>
        <p:nvSpPr>
          <p:cNvPr id="14" name="TextBox 13"/>
          <p:cNvSpPr txBox="1"/>
          <p:nvPr/>
        </p:nvSpPr>
        <p:spPr>
          <a:xfrm>
            <a:off x="1554480" y="3435976"/>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is missing, and is it missing for a reason?</a:t>
            </a:r>
          </a:p>
        </p:txBody>
      </p:sp>
      <p:sp>
        <p:nvSpPr>
          <p:cNvPr id="15" name="TextBox 14"/>
          <p:cNvSpPr txBox="1"/>
          <p:nvPr/>
        </p:nvSpPr>
        <p:spPr>
          <a:xfrm>
            <a:off x="1554480" y="3701152"/>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Per column, count and percentage. Missing at random and missing by design need different handling.</a:t>
            </a:r>
          </a:p>
        </p:txBody>
      </p:sp>
      <p:sp>
        <p:nvSpPr>
          <p:cNvPr id="16" name="Rounded Rectangle 15"/>
          <p:cNvSpPr/>
          <p:nvPr/>
        </p:nvSpPr>
        <p:spPr>
          <a:xfrm>
            <a:off x="685800" y="4020108"/>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41832" y="4152154"/>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4</a:t>
            </a:r>
          </a:p>
        </p:txBody>
      </p:sp>
      <p:sp>
        <p:nvSpPr>
          <p:cNvPr id="18" name="TextBox 17"/>
          <p:cNvSpPr txBox="1"/>
          <p:nvPr/>
        </p:nvSpPr>
        <p:spPr>
          <a:xfrm>
            <a:off x="1554480" y="4138980"/>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does the thing that matters look like?</a:t>
            </a:r>
          </a:p>
        </p:txBody>
      </p:sp>
      <p:sp>
        <p:nvSpPr>
          <p:cNvPr id="19" name="TextBox 18"/>
          <p:cNvSpPr txBox="1"/>
          <p:nvPr/>
        </p:nvSpPr>
        <p:spPr>
          <a:xfrm>
            <a:off x="1554480" y="4404156"/>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The distribution of your main quantity, drawn, then a decision about mean or median. Sessions 10 and 11.</a:t>
            </a:r>
          </a:p>
        </p:txBody>
      </p:sp>
      <p:sp>
        <p:nvSpPr>
          <p:cNvPr id="20" name="Rounded Rectangle 19"/>
          <p:cNvSpPr/>
          <p:nvPr/>
        </p:nvSpPr>
        <p:spPr>
          <a:xfrm>
            <a:off x="685800" y="4723112"/>
            <a:ext cx="10820095" cy="648140"/>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941832" y="4855158"/>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5</a:t>
            </a:r>
          </a:p>
        </p:txBody>
      </p:sp>
      <p:sp>
        <p:nvSpPr>
          <p:cNvPr id="22" name="TextBox 21"/>
          <p:cNvSpPr txBox="1"/>
          <p:nvPr/>
        </p:nvSpPr>
        <p:spPr>
          <a:xfrm>
            <a:off x="1554480" y="4841984"/>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moves with what?</a:t>
            </a:r>
          </a:p>
        </p:txBody>
      </p:sp>
      <p:sp>
        <p:nvSpPr>
          <p:cNvPr id="23" name="TextBox 22"/>
          <p:cNvSpPr txBox="1"/>
          <p:nvPr/>
        </p:nvSpPr>
        <p:spPr>
          <a:xfrm>
            <a:off x="1554480" y="5107160"/>
            <a:ext cx="9631375" cy="172652"/>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Two or three comparisons the domain suggests. Not every pair: a correlation matrix of forty columns is not analysis.</a:t>
            </a:r>
          </a:p>
        </p:txBody>
      </p:sp>
      <p:sp>
        <p:nvSpPr>
          <p:cNvPr id="24" name="Rounded Rectangle 23"/>
          <p:cNvSpPr/>
          <p:nvPr/>
        </p:nvSpPr>
        <p:spPr>
          <a:xfrm>
            <a:off x="685800" y="5426116"/>
            <a:ext cx="10820095" cy="8649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941832" y="5666570"/>
            <a:ext cx="384048" cy="384048"/>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6</a:t>
            </a:r>
          </a:p>
        </p:txBody>
      </p:sp>
      <p:sp>
        <p:nvSpPr>
          <p:cNvPr id="26" name="TextBox 25"/>
          <p:cNvSpPr txBox="1"/>
          <p:nvPr/>
        </p:nvSpPr>
        <p:spPr>
          <a:xfrm>
            <a:off x="1554480" y="5544988"/>
            <a:ext cx="9631375" cy="347471"/>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What would change my mind?</a:t>
            </a:r>
          </a:p>
        </p:txBody>
      </p:sp>
      <p:sp>
        <p:nvSpPr>
          <p:cNvPr id="27" name="TextBox 26"/>
          <p:cNvSpPr txBox="1"/>
          <p:nvPr/>
        </p:nvSpPr>
        <p:spPr>
          <a:xfrm>
            <a:off x="1554480" y="5810164"/>
            <a:ext cx="9631375" cy="389467"/>
          </a:xfrm>
          <a:prstGeom prst="rect">
            <a:avLst/>
          </a:prstGeom>
          <a:noFill/>
        </p:spPr>
        <p:txBody>
          <a:bodyPr wrap="square" lIns="0" rIns="0" tIns="0" bIns="0" anchor="t">
            <a:spAutoFit/>
          </a:bodyPr>
          <a:lstStyle/>
          <a:p>
            <a:pPr algn="l">
              <a:lnSpc>
                <a:spcPct val="116000"/>
              </a:lnSpc>
              <a:spcAft>
                <a:spcPts val="600"/>
              </a:spcAft>
            </a:pPr>
            <a:r>
              <a:rPr sz="1452" b="0" i="0">
                <a:solidFill>
                  <a:srgbClr val="3C4E5E"/>
                </a:solidFill>
                <a:latin typeface="Calibri"/>
              </a:rPr>
              <a:t>Written down before you present. It is the question you will be asked, and having the answer ready is the whole difference in a defence.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finding</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A sentence with a number in it that somebody could act on or dispute. It is about the business, not about the data.</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"Returns are highest in Western at 2.70%, against 2.26% in Eastern." That can be acted on and it can be argued with.</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sentence you would put in an email, rather than the pivot table you would attach.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An observation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Something true about the data rather than about the business. It belongs in your notebook and not in your findings.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"The returns table has 501 rows" is an observation. "Two and a half per cent of order lines come back, and it is worse in one region" is a finding.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A stated limitation</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The sentence beside a finding saying where it stops being reliable. Beside it, not in a footnote, because that is where the person acting on it will read.</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"This excludes the 172 walk-in orders, worth UGX 390,632,335, because they carry no customer and therefore no region."</a:t>
            </a:r>
          </a:p>
        </p:txBody>
      </p:sp>
      <p:sp>
        <p:nvSpPr>
          <p:cNvPr id="8" name="Rounded Rectangle 7"/>
          <p:cNvSpPr/>
          <p:nvPr/>
        </p:nvSpPr>
        <p:spPr>
          <a:xfrm>
            <a:off x="685800" y="4290739"/>
            <a:ext cx="2468880" cy="384048"/>
          </a:xfrm>
          <a:prstGeom prst="roundRect">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DO NOT CONFUSE WITH</a:t>
            </a:r>
          </a:p>
        </p:txBody>
      </p:sp>
      <p:sp>
        <p:nvSpPr>
          <p:cNvPr id="9" name="TextBox 8"/>
          <p:cNvSpPr txBox="1"/>
          <p:nvPr/>
        </p:nvSpPr>
        <p:spPr>
          <a:xfrm>
            <a:off x="3383280" y="4272451"/>
            <a:ext cx="7985455" cy="746857"/>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A disclaimer protects you. A limitation tells the reader how far they can push the number, which is useful to them.</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DEFINITION</a:t>
            </a:r>
          </a:p>
        </p:txBody>
      </p:sp>
      <p:sp>
        <p:nvSpPr>
          <p:cNvPr id="3" name="TextBox 2"/>
          <p:cNvSpPr txBox="1"/>
          <p:nvPr/>
        </p:nvSpPr>
        <p:spPr>
          <a:xfrm>
            <a:off x="685800" y="932688"/>
            <a:ext cx="10820095" cy="702059"/>
          </a:xfrm>
          <a:prstGeom prst="rect">
            <a:avLst/>
          </a:prstGeom>
          <a:noFill/>
        </p:spPr>
        <p:txBody>
          <a:bodyPr wrap="square" lIns="0" rIns="0" tIns="0" bIns="0" anchor="t">
            <a:spAutoFit/>
          </a:bodyPr>
          <a:lstStyle/>
          <a:p>
            <a:pPr algn="l">
              <a:spcAft>
                <a:spcPts val="600"/>
              </a:spcAft>
            </a:pPr>
            <a:r>
              <a:rPr sz="3800" b="1" i="0">
                <a:solidFill>
                  <a:srgbClr val="1C3144"/>
                </a:solidFill>
                <a:latin typeface="Cambria"/>
              </a:rPr>
              <a:t>Leakage</a:t>
            </a:r>
          </a:p>
        </p:txBody>
      </p:sp>
      <p:sp>
        <p:nvSpPr>
          <p:cNvPr id="4" name="Rounded Rectangle 3"/>
          <p:cNvSpPr/>
          <p:nvPr/>
        </p:nvSpPr>
        <p:spPr>
          <a:xfrm>
            <a:off x="685800" y="1854203"/>
            <a:ext cx="10820095" cy="119590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055371"/>
            <a:ext cx="10234879" cy="848430"/>
          </a:xfrm>
          <a:prstGeom prst="rect">
            <a:avLst/>
          </a:prstGeom>
          <a:noFill/>
        </p:spPr>
        <p:txBody>
          <a:bodyPr wrap="square" lIns="0" rIns="0" tIns="0" bIns="0" anchor="t">
            <a:spAutoFit/>
          </a:bodyPr>
          <a:lstStyle/>
          <a:p>
            <a:pPr algn="l">
              <a:lnSpc>
                <a:spcPct val="124000"/>
              </a:lnSpc>
              <a:spcAft>
                <a:spcPts val="600"/>
              </a:spcAft>
            </a:pPr>
            <a:r>
              <a:rPr sz="2021" b="0" i="0">
                <a:solidFill>
                  <a:srgbClr val="1C3144"/>
                </a:solidFill>
                <a:latin typeface="Calibri"/>
              </a:rPr>
              <a:t>Using a column you would not have had at decision time, which makes the answer look far better than it is.</a:t>
            </a:r>
          </a:p>
        </p:txBody>
      </p:sp>
      <p:sp>
        <p:nvSpPr>
          <p:cNvPr id="6" name="Rounded Rectangle 5"/>
          <p:cNvSpPr/>
          <p:nvPr/>
        </p:nvSpPr>
        <p:spPr>
          <a:xfrm>
            <a:off x="685800" y="3324426"/>
            <a:ext cx="1645920"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FOR EXAMPLE</a:t>
            </a:r>
          </a:p>
        </p:txBody>
      </p:sp>
      <p:sp>
        <p:nvSpPr>
          <p:cNvPr id="7" name="TextBox 6"/>
          <p:cNvSpPr txBox="1"/>
          <p:nvPr/>
        </p:nvSpPr>
        <p:spPr>
          <a:xfrm>
            <a:off x="2560320" y="3306138"/>
            <a:ext cx="8808415" cy="1092853"/>
          </a:xfrm>
          <a:prstGeom prst="rect">
            <a:avLst/>
          </a:prstGeom>
          <a:noFill/>
        </p:spPr>
        <p:txBody>
          <a:bodyPr wrap="square" lIns="0" rIns="0" tIns="0" bIns="0" anchor="t">
            <a:spAutoFit/>
          </a:bodyPr>
          <a:lstStyle/>
          <a:p>
            <a:pPr algn="l">
              <a:lnSpc>
                <a:spcPct val="120000"/>
              </a:lnSpc>
              <a:spcAft>
                <a:spcPts val="600"/>
              </a:spcAft>
            </a:pPr>
            <a:r>
              <a:rPr sz="1821" b="0" i="0">
                <a:solidFill>
                  <a:srgbClr val="334657"/>
                </a:solidFill>
                <a:latin typeface="Calibri"/>
              </a:rPr>
              <a:t>In the Bank Marketing dataset, the duration column records how long the sales call lasted. You only know it AFTER the call, so using it to predict the call's outcome is cheating, and it is the commonest beginner mistake on that file.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377440"/>
            <a:ext cx="10820095" cy="1280160"/>
          </a:xfrm>
          <a:prstGeom prst="rect">
            <a:avLst/>
          </a:prstGeom>
          <a:noFill/>
        </p:spPr>
        <p:txBody>
          <a:bodyPr wrap="square" lIns="0" rIns="0" tIns="0" bIns="0" anchor="t">
            <a:spAutoFit/>
          </a:bodyPr>
          <a:lstStyle/>
          <a:p>
            <a:pPr algn="ctr">
              <a:spcAft>
                <a:spcPts val="600"/>
              </a:spcAft>
            </a:pPr>
            <a:r>
              <a:rPr sz="5400" b="1" i="0">
                <a:solidFill>
                  <a:srgbClr val="FFFFFF"/>
                </a:solidFill>
                <a:latin typeface="Cambria"/>
              </a:rPr>
              <a:t>Break</a:t>
            </a:r>
          </a:p>
        </p:txBody>
      </p:sp>
      <p:sp>
        <p:nvSpPr>
          <p:cNvPr id="4" name="TextBox 3"/>
          <p:cNvSpPr txBox="1"/>
          <p:nvPr/>
        </p:nvSpPr>
        <p:spPr>
          <a:xfrm>
            <a:off x="685800" y="3749039"/>
            <a:ext cx="10820095" cy="548640"/>
          </a:xfrm>
          <a:prstGeom prst="rect">
            <a:avLst/>
          </a:prstGeom>
          <a:noFill/>
        </p:spPr>
        <p:txBody>
          <a:bodyPr wrap="square" lIns="0" rIns="0" tIns="0" bIns="0" anchor="t">
            <a:spAutoFit/>
          </a:bodyPr>
          <a:lstStyle/>
          <a:p>
            <a:pPr algn="ctr">
              <a:spcAft>
                <a:spcPts val="600"/>
              </a:spcAft>
            </a:pPr>
            <a:r>
              <a:rPr sz="2531" b="0" i="0">
                <a:solidFill>
                  <a:srgbClr val="E4572E"/>
                </a:solidFill>
                <a:latin typeface="Calibri"/>
              </a:rPr>
              <a:t>10 minutes</a:t>
            </a:r>
          </a:p>
        </p:txBody>
      </p:sp>
      <p:sp>
        <p:nvSpPr>
          <p:cNvPr id="5" name="TextBox 4"/>
          <p:cNvSpPr txBox="1"/>
          <p:nvPr/>
        </p:nvSpPr>
        <p:spPr>
          <a:xfrm>
            <a:off x="685800" y="4572000"/>
            <a:ext cx="10820095" cy="548640"/>
          </a:xfrm>
          <a:prstGeom prst="rect">
            <a:avLst/>
          </a:prstGeom>
          <a:noFill/>
        </p:spPr>
        <p:txBody>
          <a:bodyPr wrap="square" lIns="0" rIns="0" tIns="0" bIns="0" anchor="t">
            <a:spAutoFit/>
          </a:bodyPr>
          <a:lstStyle/>
          <a:p>
            <a:pPr algn="ctr">
              <a:spcAft>
                <a:spcPts val="600"/>
              </a:spcAft>
            </a:pPr>
            <a:r>
              <a:rPr sz="1821" b="0" i="0">
                <a:solidFill>
                  <a:srgbClr val="8EA4B8"/>
                </a:solidFill>
                <a:latin typeface="Calibri"/>
              </a:rPr>
              <a:t>Stretch, and talk to someone you have not worked with. Be back on time: the longest working block of the session is next.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2588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BLOCK TWO · 45 MINUTES</a:t>
            </a:r>
          </a:p>
        </p:txBody>
      </p:sp>
      <p:sp>
        <p:nvSpPr>
          <p:cNvPr id="4" name="TextBox 3"/>
          <p:cNvSpPr txBox="1"/>
          <p:nvPr/>
        </p:nvSpPr>
        <p:spPr>
          <a:xfrm>
            <a:off x="685800" y="1874519"/>
            <a:ext cx="10820095" cy="1737360"/>
          </a:xfrm>
          <a:prstGeom prst="rect">
            <a:avLst/>
          </a:prstGeom>
          <a:noFill/>
        </p:spPr>
        <p:txBody>
          <a:bodyPr wrap="square" lIns="0" rIns="0" tIns="0" bIns="0" anchor="t">
            <a:spAutoFit/>
          </a:bodyPr>
          <a:lstStyle/>
          <a:p>
            <a:pPr algn="l">
              <a:lnSpc>
                <a:spcPct val="108000"/>
              </a:lnSpc>
              <a:spcAft>
                <a:spcPts val="600"/>
              </a:spcAft>
            </a:pPr>
            <a:r>
              <a:rPr sz="3600" b="1" i="0">
                <a:solidFill>
                  <a:srgbClr val="FFFFFF"/>
                </a:solidFill>
                <a:latin typeface="Cambria"/>
              </a:rPr>
              <a:t>From eleven observations to five findings</a:t>
            </a:r>
          </a:p>
        </p:txBody>
      </p:sp>
      <p:sp>
        <p:nvSpPr>
          <p:cNvPr id="5" name="TextBox 4"/>
          <p:cNvSpPr txBox="1"/>
          <p:nvPr/>
        </p:nvSpPr>
        <p:spPr>
          <a:xfrm>
            <a:off x="685800" y="416052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From notebook to finding.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WORKED EXAMPLE</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Turning eleven observations into five findings</a:t>
            </a:r>
          </a:p>
        </p:txBody>
      </p:sp>
      <p:sp>
        <p:nvSpPr>
          <p:cNvPr id="4" name="TextBox 3"/>
          <p:cNvSpPr txBox="1"/>
          <p:nvPr/>
        </p:nvSpPr>
        <p:spPr>
          <a:xfrm>
            <a:off x="685800" y="1911095"/>
            <a:ext cx="10820095" cy="766387"/>
          </a:xfrm>
          <a:prstGeom prst="rect">
            <a:avLst/>
          </a:prstGeom>
          <a:noFill/>
        </p:spPr>
        <p:txBody>
          <a:bodyPr wrap="square" lIns="0" rIns="0" tIns="0" bIns="0" anchor="t">
            <a:spAutoFit/>
          </a:bodyPr>
          <a:lstStyle/>
          <a:p>
            <a:pPr algn="l">
              <a:lnSpc>
                <a:spcPct val="120000"/>
              </a:lnSpc>
              <a:spcAft>
                <a:spcPts val="600"/>
              </a:spcAft>
            </a:pPr>
            <a:r>
              <a:rPr sz="1873" b="0" i="0">
                <a:solidFill>
                  <a:srgbClr val="334657"/>
                </a:solidFill>
                <a:latin typeface="Calibri"/>
              </a:rPr>
              <a:t>An investigation produces far more observations than findings. Choosing between them is part of the work.</a:t>
            </a:r>
          </a:p>
        </p:txBody>
      </p:sp>
      <p:sp>
        <p:nvSpPr>
          <p:cNvPr id="5" name="Rounded Rectangle 4"/>
          <p:cNvSpPr/>
          <p:nvPr/>
        </p:nvSpPr>
        <p:spPr>
          <a:xfrm>
            <a:off x="685800" y="2732347"/>
            <a:ext cx="10820095" cy="796006"/>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05256" y="278721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1</a:t>
            </a:r>
          </a:p>
        </p:txBody>
      </p:sp>
      <p:sp>
        <p:nvSpPr>
          <p:cNvPr id="7" name="TextBox 6"/>
          <p:cNvSpPr txBox="1"/>
          <p:nvPr/>
        </p:nvSpPr>
        <p:spPr>
          <a:xfrm>
            <a:off x="1435607" y="2778067"/>
            <a:ext cx="9814255" cy="704566"/>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every observation down as you go, without judging it. Eleven or twelve is normal for three hours.</a:t>
            </a:r>
          </a:p>
        </p:txBody>
      </p:sp>
      <p:sp>
        <p:nvSpPr>
          <p:cNvPr id="8" name="Rounded Rectangle 7"/>
          <p:cNvSpPr/>
          <p:nvPr/>
        </p:nvSpPr>
        <p:spPr>
          <a:xfrm>
            <a:off x="685800" y="3583217"/>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905256" y="3638081"/>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2</a:t>
            </a:r>
          </a:p>
        </p:txBody>
      </p:sp>
      <p:sp>
        <p:nvSpPr>
          <p:cNvPr id="10" name="TextBox 9"/>
          <p:cNvSpPr txBox="1"/>
          <p:nvPr/>
        </p:nvSpPr>
        <p:spPr>
          <a:xfrm>
            <a:off x="1435607" y="3628937"/>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Strike anything about the DATA rather than the BUSINESS. Null counts and dtypes are not findings.</a:t>
            </a:r>
          </a:p>
        </p:txBody>
      </p:sp>
      <p:sp>
        <p:nvSpPr>
          <p:cNvPr id="11" name="Rounded Rectangle 10"/>
          <p:cNvSpPr/>
          <p:nvPr/>
        </p:nvSpPr>
        <p:spPr>
          <a:xfrm>
            <a:off x="685800" y="4109236"/>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05256" y="4164100"/>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3</a:t>
            </a:r>
          </a:p>
        </p:txBody>
      </p:sp>
      <p:sp>
        <p:nvSpPr>
          <p:cNvPr id="13" name="TextBox 12"/>
          <p:cNvSpPr txBox="1"/>
          <p:nvPr/>
        </p:nvSpPr>
        <p:spPr>
          <a:xfrm>
            <a:off x="1435607" y="4154956"/>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Merge the ones that are the same finding seen twice. Two charts of one fact is one finding.</a:t>
            </a:r>
          </a:p>
        </p:txBody>
      </p:sp>
      <p:sp>
        <p:nvSpPr>
          <p:cNvPr id="14" name="Rounded Rectangle 13"/>
          <p:cNvSpPr/>
          <p:nvPr/>
        </p:nvSpPr>
        <p:spPr>
          <a:xfrm>
            <a:off x="685800" y="4635255"/>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05256" y="4690119"/>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4</a:t>
            </a:r>
          </a:p>
        </p:txBody>
      </p:sp>
      <p:sp>
        <p:nvSpPr>
          <p:cNvPr id="16" name="TextBox 15"/>
          <p:cNvSpPr txBox="1"/>
          <p:nvPr/>
        </p:nvSpPr>
        <p:spPr>
          <a:xfrm>
            <a:off x="1435607" y="4680975"/>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Rank what is left by what somebody could DO about it. The top five are your findings.</a:t>
            </a:r>
          </a:p>
        </p:txBody>
      </p:sp>
      <p:sp>
        <p:nvSpPr>
          <p:cNvPr id="17" name="Rounded Rectangle 16"/>
          <p:cNvSpPr/>
          <p:nvPr/>
        </p:nvSpPr>
        <p:spPr>
          <a:xfrm>
            <a:off x="685800" y="5161274"/>
            <a:ext cx="10820095" cy="471155"/>
          </a:xfrm>
          <a:prstGeom prst="roundRect">
            <a:avLst>
              <a:gd name="adj" fmla="val 6000"/>
            </a:avLst>
          </a:prstGeom>
          <a:solidFill>
            <a:srgbClr val="F4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05256" y="5216138"/>
            <a:ext cx="310896" cy="310896"/>
          </a:xfrm>
          <a:prstGeom prst="ellipse">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320" b="1">
                <a:solidFill>
                  <a:srgbClr val="FFFFFF"/>
                </a:solidFill>
                <a:latin typeface="Calibri"/>
              </a:rPr>
              <a:t>5</a:t>
            </a:r>
          </a:p>
        </p:txBody>
      </p:sp>
      <p:sp>
        <p:nvSpPr>
          <p:cNvPr id="19" name="TextBox 18"/>
          <p:cNvSpPr txBox="1"/>
          <p:nvPr/>
        </p:nvSpPr>
        <p:spPr>
          <a:xfrm>
            <a:off x="1435607" y="5206994"/>
            <a:ext cx="9814255" cy="379715"/>
          </a:xfrm>
          <a:prstGeom prst="rect">
            <a:avLst/>
          </a:prstGeom>
          <a:noFill/>
        </p:spPr>
        <p:txBody>
          <a:bodyPr wrap="square" lIns="0" rIns="0" tIns="0" bIns="0" anchor="t">
            <a:spAutoFit/>
          </a:bodyPr>
          <a:lstStyle/>
          <a:p>
            <a:pPr algn="l">
              <a:lnSpc>
                <a:spcPct val="116000"/>
              </a:lnSpc>
              <a:spcAft>
                <a:spcPts val="600"/>
              </a:spcAft>
            </a:pPr>
            <a:r>
              <a:rPr sz="1769" b="0" i="0">
                <a:solidFill>
                  <a:srgbClr val="1C3144"/>
                </a:solidFill>
                <a:latin typeface="Calibri"/>
              </a:rPr>
              <a:t>Write each as one sentence with a number, and put the limitation beside it.</a:t>
            </a:r>
          </a:p>
        </p:txBody>
      </p:sp>
      <p:sp>
        <p:nvSpPr>
          <p:cNvPr id="20" name="Rounded Rectangle 19"/>
          <p:cNvSpPr/>
          <p:nvPr/>
        </p:nvSpPr>
        <p:spPr>
          <a:xfrm>
            <a:off x="685800" y="5742157"/>
            <a:ext cx="10820095" cy="992912"/>
          </a:xfrm>
          <a:prstGeom prst="roundRect">
            <a:avLst>
              <a:gd name="adj" fmla="val 6000"/>
            </a:avLst>
          </a:prstGeom>
          <a:solidFill>
            <a:srgbClr val="E457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78408" y="5879317"/>
            <a:ext cx="10234879" cy="718592"/>
          </a:xfrm>
          <a:prstGeom prst="rect">
            <a:avLst/>
          </a:prstGeom>
          <a:noFill/>
        </p:spPr>
        <p:txBody>
          <a:bodyPr wrap="square" lIns="0" rIns="0" tIns="0" bIns="0" anchor="t">
            <a:spAutoFit/>
          </a:bodyPr>
          <a:lstStyle/>
          <a:p>
            <a:pPr algn="l">
              <a:lnSpc>
                <a:spcPct val="118000"/>
              </a:lnSpc>
              <a:spcAft>
                <a:spcPts val="600"/>
              </a:spcAft>
            </a:pPr>
            <a:r>
              <a:rPr sz="2021" b="1" i="0">
                <a:solidFill>
                  <a:srgbClr val="FFFFFF"/>
                </a:solidFill>
                <a:latin typeface="Calibri"/>
              </a:rPr>
              <a:t>Five findings with numbers beat eleven observations without them, and the marking reflects that.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THE SECTOR ASSESSMENT</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Choose your sector dataset tonight</a:t>
            </a:r>
          </a:p>
        </p:txBody>
      </p:sp>
      <p:sp>
        <p:nvSpPr>
          <p:cNvPr id="4" name="TextBox 3"/>
          <p:cNvSpPr txBox="1"/>
          <p:nvPr/>
        </p:nvSpPr>
        <p:spPr>
          <a:xfrm>
            <a:off x="685800" y="1911095"/>
            <a:ext cx="5204307" cy="425084"/>
          </a:xfrm>
          <a:prstGeom prst="rect">
            <a:avLst/>
          </a:prstGeom>
          <a:noFill/>
        </p:spPr>
        <p:txBody>
          <a:bodyPr wrap="square" lIns="0" rIns="0" tIns="0" bIns="0" anchor="t">
            <a:spAutoFit/>
          </a:bodyPr>
          <a:lstStyle/>
          <a:p>
            <a:pPr algn="l">
              <a:spcAft>
                <a:spcPts val="600"/>
              </a:spcAft>
            </a:pPr>
            <a:r>
              <a:rPr sz="2116" b="1" i="0">
                <a:solidFill>
                  <a:srgbClr val="1C3144"/>
                </a:solidFill>
                <a:latin typeface="Calibri"/>
              </a:rPr>
              <a:t>Three fixed course snapshots</a:t>
            </a:r>
          </a:p>
        </p:txBody>
      </p:sp>
      <p:sp>
        <p:nvSpPr>
          <p:cNvPr id="5" name="TextBox 4"/>
          <p:cNvSpPr txBox="1"/>
          <p:nvPr/>
        </p:nvSpPr>
        <p:spPr>
          <a:xfrm>
            <a:off x="685800" y="2409332"/>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BANKING, FINANCE, TELECOM</a:t>
            </a:r>
          </a:p>
        </p:txBody>
      </p:sp>
      <p:sp>
        <p:nvSpPr>
          <p:cNvPr id="6" name="TextBox 5"/>
          <p:cNvSpPr txBox="1"/>
          <p:nvPr/>
        </p:nvSpPr>
        <p:spPr>
          <a:xfrm>
            <a:off x="685800" y="2777590"/>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Bank Marketing, UCI 222. 45,211 rows x 17. Campaign contacts against an outcome. Duration is post-call; exclude it from pre-call decisions.</a:t>
            </a:r>
          </a:p>
        </p:txBody>
      </p:sp>
      <p:sp>
        <p:nvSpPr>
          <p:cNvPr id="7" name="TextBox 6"/>
          <p:cNvSpPr txBox="1"/>
          <p:nvPr/>
        </p:nvSpPr>
        <p:spPr>
          <a:xfrm>
            <a:off x="685800" y="3772638"/>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ENERGY, MINING, MANUFACTURING</a:t>
            </a:r>
          </a:p>
        </p:txBody>
      </p:sp>
      <p:sp>
        <p:nvSpPr>
          <p:cNvPr id="8" name="TextBox 7"/>
          <p:cNvSpPr txBox="1"/>
          <p:nvPr/>
        </p:nvSpPr>
        <p:spPr>
          <a:xfrm>
            <a:off x="685800" y="4140896"/>
            <a:ext cx="5204307" cy="672509"/>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AI4I 2020, UCI 601. 10,000 rows x 14. Synthetic observations against a failure flag, only 3.4% of which are failures.</a:t>
            </a:r>
          </a:p>
        </p:txBody>
      </p:sp>
      <p:sp>
        <p:nvSpPr>
          <p:cNvPr id="9" name="TextBox 8"/>
          <p:cNvSpPr txBox="1"/>
          <p:nvPr/>
        </p:nvSpPr>
        <p:spPr>
          <a:xfrm>
            <a:off x="685800" y="4822550"/>
            <a:ext cx="5204307" cy="359114"/>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PUBLIC SECTOR AND DEVELOPMENT</a:t>
            </a:r>
          </a:p>
        </p:txBody>
      </p:sp>
      <p:sp>
        <p:nvSpPr>
          <p:cNvPr id="10" name="TextBox 9"/>
          <p:cNvSpPr txBox="1"/>
          <p:nvPr/>
        </p:nvSpPr>
        <p:spPr>
          <a:xfrm>
            <a:off x="685800" y="5190808"/>
            <a:ext cx="5204307" cy="985903"/>
          </a:xfrm>
          <a:prstGeom prst="rect">
            <a:avLst/>
          </a:prstGeom>
          <a:noFill/>
        </p:spPr>
        <p:txBody>
          <a:bodyPr wrap="square" lIns="0" rIns="0" tIns="0" bIns="0" anchor="t">
            <a:spAutoFit/>
          </a:bodyPr>
          <a:lstStyle/>
          <a:p>
            <a:pPr algn="l">
              <a:lnSpc>
                <a:spcPct val="125000"/>
              </a:lnSpc>
              <a:spcAft>
                <a:spcPts val="600"/>
              </a:spcAft>
            </a:pPr>
            <a:r>
              <a:rPr sz="1584" b="0" i="0">
                <a:solidFill>
                  <a:srgbClr val="3C4E5E"/>
                </a:solidFill>
                <a:latin typeface="Calibri"/>
              </a:rPr>
              <a:t>Uganda GDP in current USD, World Bank. One row per year, 2000–2023. Nominal dollar changes are not real growth or health outcomes.</a:t>
            </a:r>
          </a:p>
        </p:txBody>
      </p:sp>
      <p:sp>
        <p:nvSpPr>
          <p:cNvPr id="11" name="Rounded Rectangle 10"/>
          <p:cNvSpPr/>
          <p:nvPr/>
        </p:nvSpPr>
        <p:spPr>
          <a:xfrm>
            <a:off x="6301587" y="1801367"/>
            <a:ext cx="5204307" cy="4553712"/>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75907" y="1984248"/>
            <a:ext cx="4655667" cy="402336"/>
          </a:xfrm>
          <a:prstGeom prst="rect">
            <a:avLst/>
          </a:prstGeom>
          <a:noFill/>
        </p:spPr>
        <p:txBody>
          <a:bodyPr wrap="square" lIns="0" rIns="0" tIns="0" bIns="0" anchor="t">
            <a:spAutoFit/>
          </a:bodyPr>
          <a:lstStyle/>
          <a:p>
            <a:pPr algn="l">
              <a:spcAft>
                <a:spcPts val="600"/>
              </a:spcAft>
            </a:pPr>
            <a:r>
              <a:rPr sz="1923" b="1" i="0">
                <a:solidFill>
                  <a:srgbClr val="1C3144"/>
                </a:solidFill>
                <a:latin typeface="Calibri"/>
              </a:rPr>
              <a:t>Use the supplied files and source notes</a:t>
            </a:r>
          </a:p>
        </p:txBody>
      </p:sp>
      <p:sp>
        <p:nvSpPr>
          <p:cNvPr id="13" name="TextBox 12"/>
          <p:cNvSpPr txBox="1"/>
          <p:nvPr/>
        </p:nvSpPr>
        <p:spPr>
          <a:xfrm>
            <a:off x="6575907" y="2496312"/>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Read data/sector_snapshots/README.md for attribution, source terms and interpretation limits.</a:t>
            </a:r>
          </a:p>
        </p:txBody>
      </p:sp>
      <p:sp>
        <p:nvSpPr>
          <p:cNvPr id="14" name="TextBox 13"/>
          <p:cNvSpPr txBox="1"/>
          <p:nvPr/>
        </p:nvSpPr>
        <p:spPr>
          <a:xfrm>
            <a:off x="6575907" y="3335035"/>
            <a:ext cx="4655667" cy="974621"/>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Pick the one closest to your own work. The capstone is worth more to you if the data looks like your data.</a:t>
            </a:r>
          </a:p>
        </p:txBody>
      </p:sp>
      <p:sp>
        <p:nvSpPr>
          <p:cNvPr id="15" name="TextBox 14"/>
          <p:cNvSpPr txBox="1"/>
          <p:nvPr/>
        </p:nvSpPr>
        <p:spPr>
          <a:xfrm>
            <a:off x="6575907" y="4483393"/>
            <a:ext cx="4655667" cy="664987"/>
          </a:xfrm>
          <a:prstGeom prst="rect">
            <a:avLst/>
          </a:prstGeom>
          <a:noFill/>
        </p:spPr>
        <p:txBody>
          <a:bodyPr wrap="square" lIns="0" rIns="0" tIns="0" bIns="0" anchor="t">
            <a:spAutoFit/>
          </a:bodyPr>
          <a:lstStyle/>
          <a:p>
            <a:pPr algn="l">
              <a:lnSpc>
                <a:spcPct val="114000"/>
              </a:lnSpc>
              <a:spcAft>
                <a:spcPts val="600"/>
              </a:spcAft>
            </a:pPr>
            <a:r>
              <a:rPr sz="1716" b="0" i="0">
                <a:solidFill>
                  <a:srgbClr val="334657"/>
                </a:solidFill>
                <a:latin typeface="Calibri"/>
              </a:rPr>
              <a:t>Whichever you pick, the routine is the same. That is the point of having a routine.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2A45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960120"/>
            <a:ext cx="10820095" cy="310896"/>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MISTAKE THIS SESSION PREVENTS</a:t>
            </a:r>
          </a:p>
        </p:txBody>
      </p:sp>
      <p:sp>
        <p:nvSpPr>
          <p:cNvPr id="4" name="TextBox 3"/>
          <p:cNvSpPr txBox="1"/>
          <p:nvPr/>
        </p:nvSpPr>
        <p:spPr>
          <a:xfrm>
            <a:off x="685800" y="1600200"/>
            <a:ext cx="10820095" cy="1603291"/>
          </a:xfrm>
          <a:prstGeom prst="rect">
            <a:avLst/>
          </a:prstGeom>
          <a:noFill/>
        </p:spPr>
        <p:txBody>
          <a:bodyPr wrap="square" lIns="0" rIns="0" tIns="0" bIns="0" anchor="t">
            <a:spAutoFit/>
          </a:bodyPr>
          <a:lstStyle/>
          <a:p>
            <a:pPr algn="l">
              <a:lnSpc>
                <a:spcPct val="114000"/>
              </a:lnSpc>
              <a:spcAft>
                <a:spcPts val="600"/>
              </a:spcAft>
            </a:pPr>
            <a:r>
              <a:rPr sz="2795" b="1" i="0">
                <a:solidFill>
                  <a:srgbClr val="FFFFFF"/>
                </a:solidFill>
                <a:latin typeface="Calibri"/>
              </a:rPr>
              <a:t>A notebook with forty cells and no conclusion. The routine exists to stop exactly that.</a:t>
            </a:r>
          </a:p>
        </p:txBody>
      </p:sp>
      <p:sp>
        <p:nvSpPr>
          <p:cNvPr id="5" name="TextBox 4"/>
          <p:cNvSpPr txBox="1"/>
          <p:nvPr/>
        </p:nvSpPr>
        <p:spPr>
          <a:xfrm>
            <a:off x="685800" y="3477811"/>
            <a:ext cx="10820095" cy="457200"/>
          </a:xfrm>
          <a:prstGeom prst="rect">
            <a:avLst/>
          </a:prstGeom>
          <a:noFill/>
        </p:spPr>
        <p:txBody>
          <a:bodyPr wrap="square" lIns="0" rIns="0" tIns="0" bIns="0" anchor="t">
            <a:spAutoFit/>
          </a:bodyPr>
          <a:lstStyle/>
          <a:p>
            <a:pPr algn="l">
              <a:spcAft>
                <a:spcPts val="600"/>
              </a:spcAft>
            </a:pPr>
            <a:r>
              <a:rPr sz="1923" b="0" i="0">
                <a:solidFill>
                  <a:srgbClr val="B8C9D8"/>
                </a:solidFill>
                <a:latin typeface="Calibri"/>
              </a:rPr>
              <a:t>It is in tonight's lab on purpose.</a:t>
            </a:r>
          </a:p>
        </p:txBody>
      </p:sp>
      <p:sp>
        <p:nvSpPr>
          <p:cNvPr id="6" name="TextBox 5"/>
          <p:cNvSpPr txBox="1"/>
          <p:nvPr/>
        </p:nvSpPr>
        <p:spPr>
          <a:xfrm>
            <a:off x="685800" y="608076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Session 13 of 15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CHECK YOUR UNDERSTANDING</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Can you answer these?</a:t>
            </a:r>
          </a:p>
        </p:txBody>
      </p:sp>
      <p:sp>
        <p:nvSpPr>
          <p:cNvPr id="4" name="Oval 3"/>
          <p:cNvSpPr/>
          <p:nvPr/>
        </p:nvSpPr>
        <p:spPr>
          <a:xfrm>
            <a:off x="685800" y="1947672"/>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What makes a sentence a finding rather than an observation?</a:t>
            </a:r>
          </a:p>
        </p:txBody>
      </p:sp>
      <p:sp>
        <p:nvSpPr>
          <p:cNvPr id="6" name="Oval 5"/>
          <p:cNvSpPr/>
          <p:nvPr/>
        </p:nvSpPr>
        <p:spPr>
          <a:xfrm>
            <a:off x="685800" y="2486313"/>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7" name="TextBox 6"/>
          <p:cNvSpPr txBox="1"/>
          <p:nvPr/>
        </p:nvSpPr>
        <p:spPr>
          <a:xfrm>
            <a:off x="1216152" y="2449737"/>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Your investigation produced no surprises. Is that a failure?</a:t>
            </a:r>
          </a:p>
        </p:txBody>
      </p:sp>
      <p:sp>
        <p:nvSpPr>
          <p:cNvPr id="8" name="Oval 7"/>
          <p:cNvSpPr/>
          <p:nvPr/>
        </p:nvSpPr>
        <p:spPr>
          <a:xfrm>
            <a:off x="685800" y="3024955"/>
            <a:ext cx="329184" cy="329184"/>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9" name="TextBox 8"/>
          <p:cNvSpPr txBox="1"/>
          <p:nvPr/>
        </p:nvSpPr>
        <p:spPr>
          <a:xfrm>
            <a:off x="1216152" y="2988379"/>
            <a:ext cx="10134295" cy="483777"/>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Why does the limitation belong beside the finding?</a:t>
            </a:r>
          </a:p>
        </p:txBody>
      </p:sp>
      <p:sp>
        <p:nvSpPr>
          <p:cNvPr id="10" name="TextBox 9"/>
          <p:cNvSpPr txBox="1"/>
          <p:nvPr/>
        </p:nvSpPr>
        <p:spPr>
          <a:xfrm>
            <a:off x="685800" y="6108192"/>
            <a:ext cx="10820095" cy="365760"/>
          </a:xfrm>
          <a:prstGeom prst="rect">
            <a:avLst/>
          </a:prstGeom>
          <a:noFill/>
        </p:spPr>
        <p:txBody>
          <a:bodyPr wrap="square" lIns="0" rIns="0" tIns="0" bIns="0" anchor="t">
            <a:spAutoFit/>
          </a:bodyPr>
          <a:lstStyle/>
          <a:p>
            <a:pPr algn="l">
              <a:spcAft>
                <a:spcPts val="600"/>
              </a:spcAft>
            </a:pPr>
            <a:r>
              <a:rPr sz="1584" b="0" i="1">
                <a:solidFill>
                  <a:srgbClr val="6B7A8A"/>
                </a:solidFill>
                <a:latin typeface="Calibri"/>
              </a:rPr>
              <a:t>Answers are on the next slide — try first, then look.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ANSWERS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How did you do?</a:t>
            </a:r>
          </a:p>
        </p:txBody>
      </p:sp>
      <p:sp>
        <p:nvSpPr>
          <p:cNvPr id="4" name="Oval 3"/>
          <p:cNvSpPr/>
          <p:nvPr/>
        </p:nvSpPr>
        <p:spPr>
          <a:xfrm>
            <a:off x="685800" y="1947672"/>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A</a:t>
            </a:r>
          </a:p>
        </p:txBody>
      </p:sp>
      <p:sp>
        <p:nvSpPr>
          <p:cNvPr id="5" name="TextBox 4"/>
          <p:cNvSpPr txBox="1"/>
          <p:nvPr/>
        </p:nvSpPr>
        <p:spPr>
          <a:xfrm>
            <a:off x="1216152" y="1911095"/>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Finding against observation</a:t>
            </a:r>
          </a:p>
        </p:txBody>
      </p:sp>
      <p:sp>
        <p:nvSpPr>
          <p:cNvPr id="6" name="TextBox 5"/>
          <p:cNvSpPr txBox="1"/>
          <p:nvPr/>
        </p:nvSpPr>
        <p:spPr>
          <a:xfrm>
            <a:off x="1216152" y="2203703"/>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A finding is about the business, has a number in it, and somebody could act on it or dispute it. An observation is about the data. Both belong in the notebook; only findings belong in the summary.</a:t>
            </a:r>
          </a:p>
        </p:txBody>
      </p:sp>
      <p:sp>
        <p:nvSpPr>
          <p:cNvPr id="7" name="Oval 6"/>
          <p:cNvSpPr/>
          <p:nvPr/>
        </p:nvSpPr>
        <p:spPr>
          <a:xfrm>
            <a:off x="685800" y="3096865"/>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B</a:t>
            </a:r>
          </a:p>
        </p:txBody>
      </p:sp>
      <p:sp>
        <p:nvSpPr>
          <p:cNvPr id="8" name="TextBox 7"/>
          <p:cNvSpPr txBox="1"/>
          <p:nvPr/>
        </p:nvSpPr>
        <p:spPr>
          <a:xfrm>
            <a:off x="1216152" y="3060289"/>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An investigation with no surprises</a:t>
            </a:r>
          </a:p>
        </p:txBody>
      </p:sp>
      <p:sp>
        <p:nvSpPr>
          <p:cNvPr id="9" name="TextBox 8"/>
          <p:cNvSpPr txBox="1"/>
          <p:nvPr/>
        </p:nvSpPr>
        <p:spPr>
          <a:xfrm>
            <a:off x="1216152" y="3352897"/>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No. Confirming what the room believed, with numbers attached, converts an assumption into something checkable. What IS a failure is not knowing which of the two you produced.</a:t>
            </a:r>
          </a:p>
        </p:txBody>
      </p:sp>
      <p:sp>
        <p:nvSpPr>
          <p:cNvPr id="10" name="Oval 9"/>
          <p:cNvSpPr/>
          <p:nvPr/>
        </p:nvSpPr>
        <p:spPr>
          <a:xfrm>
            <a:off x="685800" y="4246058"/>
            <a:ext cx="329184" cy="329184"/>
          </a:xfrm>
          <a:prstGeom prst="ellipse">
            <a:avLst/>
          </a:prstGeom>
          <a:solidFill>
            <a:srgbClr val="E4572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C</a:t>
            </a:r>
          </a:p>
        </p:txBody>
      </p:sp>
      <p:sp>
        <p:nvSpPr>
          <p:cNvPr id="11" name="TextBox 10"/>
          <p:cNvSpPr txBox="1"/>
          <p:nvPr/>
        </p:nvSpPr>
        <p:spPr>
          <a:xfrm>
            <a:off x="1216152" y="4209482"/>
            <a:ext cx="10253167" cy="274320"/>
          </a:xfrm>
          <a:prstGeom prst="rect">
            <a:avLst/>
          </a:prstGeom>
          <a:noFill/>
        </p:spPr>
        <p:txBody>
          <a:bodyPr wrap="square" lIns="0" rIns="0" tIns="0" bIns="0" anchor="t">
            <a:spAutoFit/>
          </a:bodyPr>
          <a:lstStyle/>
          <a:p>
            <a:pPr algn="l">
              <a:spcAft>
                <a:spcPts val="600"/>
              </a:spcAft>
            </a:pPr>
            <a:r>
              <a:rPr sz="1650" b="1" i="0">
                <a:solidFill>
                  <a:srgbClr val="6B7A8A"/>
                </a:solidFill>
                <a:latin typeface="Calibri"/>
              </a:rPr>
              <a:t>Why the limitation sits beside the finding</a:t>
            </a:r>
          </a:p>
        </p:txBody>
      </p:sp>
      <p:sp>
        <p:nvSpPr>
          <p:cNvPr id="12" name="TextBox 11"/>
          <p:cNvSpPr txBox="1"/>
          <p:nvPr/>
        </p:nvSpPr>
        <p:spPr>
          <a:xfrm>
            <a:off x="1216152" y="4502090"/>
            <a:ext cx="10253167" cy="820009"/>
          </a:xfrm>
          <a:prstGeom prst="rect">
            <a:avLst/>
          </a:prstGeom>
          <a:noFill/>
        </p:spPr>
        <p:txBody>
          <a:bodyPr wrap="square" lIns="0" rIns="0" tIns="0" bIns="0" anchor="t">
            <a:spAutoFit/>
          </a:bodyPr>
          <a:lstStyle/>
          <a:p>
            <a:pPr algn="l">
              <a:lnSpc>
                <a:spcPct val="120000"/>
              </a:lnSpc>
              <a:spcAft>
                <a:spcPts val="600"/>
              </a:spcAft>
            </a:pPr>
            <a:r>
              <a:rPr sz="1821" b="0" i="0">
                <a:solidFill>
                  <a:srgbClr val="2A3B4A"/>
                </a:solidFill>
                <a:latin typeface="Calibri"/>
              </a:rPr>
              <a:t>Because that is where the person acting on it reads. A limitation at the end of a document is a limitation nobody saw, and you will still be the one defending the number.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LAB · 50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Run the routine on your sector dataset</a:t>
            </a:r>
          </a:p>
        </p:txBody>
      </p:sp>
      <p:sp>
        <p:nvSpPr>
          <p:cNvPr id="4" name="Rounded Rectangle 3"/>
          <p:cNvSpPr/>
          <p:nvPr/>
        </p:nvSpPr>
        <p:spPr>
          <a:xfrm>
            <a:off x="685800" y="1911095"/>
            <a:ext cx="10820095" cy="1236629"/>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12264"/>
            <a:ext cx="10234879" cy="870869"/>
          </a:xfrm>
          <a:prstGeom prst="rect">
            <a:avLst/>
          </a:prstGeom>
          <a:noFill/>
        </p:spPr>
        <p:txBody>
          <a:bodyPr wrap="square" lIns="0" rIns="0" tIns="0" bIns="0" anchor="t">
            <a:spAutoFit/>
          </a:bodyPr>
          <a:lstStyle/>
          <a:p>
            <a:pPr algn="l">
              <a:lnSpc>
                <a:spcPct val="125000"/>
              </a:lnSpc>
              <a:spcAft>
                <a:spcPts val="600"/>
              </a:spcAft>
            </a:pPr>
            <a:r>
              <a:rPr sz="1923" b="0" i="0">
                <a:solidFill>
                  <a:srgbClr val="1C3144"/>
                </a:solidFill>
                <a:latin typeface="Calibri"/>
              </a:rPr>
              <a:t>This is the sector assessment, worth 30%. Six questions in order, then five findings. Marked on the findings and the limitations beside them, not on the code.</a:t>
            </a:r>
          </a:p>
        </p:txBody>
      </p:sp>
      <p:sp>
        <p:nvSpPr>
          <p:cNvPr id="6" name="TextBox 5"/>
          <p:cNvSpPr txBox="1"/>
          <p:nvPr/>
        </p:nvSpPr>
        <p:spPr>
          <a:xfrm>
            <a:off x="685800" y="3422045"/>
            <a:ext cx="10820095" cy="310896"/>
          </a:xfrm>
          <a:prstGeom prst="rect">
            <a:avLst/>
          </a:prstGeom>
          <a:noFill/>
        </p:spPr>
        <p:txBody>
          <a:bodyPr wrap="square" lIns="0" rIns="0" tIns="0" bIns="0" anchor="t">
            <a:spAutoFit/>
          </a:bodyPr>
          <a:lstStyle/>
          <a:p>
            <a:pPr algn="l">
              <a:spcAft>
                <a:spcPts val="600"/>
              </a:spcAft>
            </a:pPr>
            <a:r>
              <a:rPr sz="1821" b="1" i="0">
                <a:solidFill>
                  <a:srgbClr val="E4572E"/>
                </a:solidFill>
                <a:latin typeface="Calibri"/>
              </a:rPr>
              <a:t>Work these questions in order</a:t>
            </a:r>
          </a:p>
        </p:txBody>
      </p:sp>
      <p:sp>
        <p:nvSpPr>
          <p:cNvPr id="7" name="TextBox 6"/>
          <p:cNvSpPr txBox="1"/>
          <p:nvPr/>
        </p:nvSpPr>
        <p:spPr>
          <a:xfrm>
            <a:off x="685800"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is the file a record of? What is one row?</a:t>
            </a:r>
          </a:p>
        </p:txBody>
      </p:sp>
      <p:sp>
        <p:nvSpPr>
          <p:cNvPr id="8" name="TextBox 7"/>
          <p:cNvSpPr txBox="1"/>
          <p:nvPr/>
        </p:nvSpPr>
        <p:spPr>
          <a:xfrm>
            <a:off x="685800" y="4374475"/>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Time window, and is it complete?</a:t>
            </a:r>
          </a:p>
        </p:txBody>
      </p:sp>
      <p:sp>
        <p:nvSpPr>
          <p:cNvPr id="9" name="TextBox 8"/>
          <p:cNvSpPr txBox="1"/>
          <p:nvPr/>
        </p:nvSpPr>
        <p:spPr>
          <a:xfrm>
            <a:off x="685800" y="485141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is missing, and is it missing for a reason?</a:t>
            </a:r>
          </a:p>
        </p:txBody>
      </p:sp>
      <p:sp>
        <p:nvSpPr>
          <p:cNvPr id="10" name="TextBox 9"/>
          <p:cNvSpPr txBox="1"/>
          <p:nvPr/>
        </p:nvSpPr>
        <p:spPr>
          <a:xfrm>
            <a:off x="685800" y="5328358"/>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The distribution of the thing that matters, with a chart.</a:t>
            </a:r>
          </a:p>
        </p:txBody>
      </p:sp>
      <p:sp>
        <p:nvSpPr>
          <p:cNvPr id="11" name="TextBox 10"/>
          <p:cNvSpPr txBox="1"/>
          <p:nvPr/>
        </p:nvSpPr>
        <p:spPr>
          <a:xfrm>
            <a:off x="6278727" y="3897533"/>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Two or three comparisons the domain suggests.</a:t>
            </a:r>
          </a:p>
        </p:txBody>
      </p:sp>
      <p:sp>
        <p:nvSpPr>
          <p:cNvPr id="12" name="TextBox 11"/>
          <p:cNvSpPr txBox="1"/>
          <p:nvPr/>
        </p:nvSpPr>
        <p:spPr>
          <a:xfrm>
            <a:off x="6278727" y="4374475"/>
            <a:ext cx="5227167" cy="69785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Five findings, each one sentence with a number and a limitation.</a:t>
            </a:r>
          </a:p>
        </p:txBody>
      </p:sp>
      <p:sp>
        <p:nvSpPr>
          <p:cNvPr id="13" name="TextBox 12"/>
          <p:cNvSpPr txBox="1"/>
          <p:nvPr/>
        </p:nvSpPr>
        <p:spPr>
          <a:xfrm>
            <a:off x="6278727" y="5163766"/>
            <a:ext cx="5227167" cy="385501"/>
          </a:xfrm>
          <a:prstGeom prst="rect">
            <a:avLst/>
          </a:prstGeom>
          <a:noFill/>
        </p:spPr>
        <p:txBody>
          <a:bodyPr wrap="square" lIns="0" rIns="0" tIns="0" bIns="0" anchor="t">
            <a:spAutoFit/>
          </a:bodyPr>
          <a:lstStyle/>
          <a:p>
            <a:pPr algn="l">
              <a:lnSpc>
                <a:spcPct val="115000"/>
              </a:lnSpc>
              <a:spcAft>
                <a:spcPts val="600"/>
              </a:spcAft>
            </a:pPr>
            <a:r>
              <a:rPr sz="1716" b="0" i="0">
                <a:solidFill>
                  <a:srgbClr val="334657"/>
                </a:solidFill>
                <a:latin typeface="Calibri"/>
              </a:rPr>
              <a:t>What would change your mind?</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TONIGHT IN THREE LINES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What you can do now</a:t>
            </a:r>
          </a:p>
        </p:txBody>
      </p:sp>
      <p:sp>
        <p:nvSpPr>
          <p:cNvPr id="4" name="Oval 3"/>
          <p:cNvSpPr/>
          <p:nvPr/>
        </p:nvSpPr>
        <p:spPr>
          <a:xfrm>
            <a:off x="685800" y="1965960"/>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97280" y="1911095"/>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Run a structured investigation on an unfamiliar dataset, in a fixed order.</a:t>
            </a:r>
          </a:p>
        </p:txBody>
      </p:sp>
      <p:sp>
        <p:nvSpPr>
          <p:cNvPr id="6" name="Oval 5"/>
          <p:cNvSpPr/>
          <p:nvPr/>
        </p:nvSpPr>
        <p:spPr>
          <a:xfrm>
            <a:off x="685800" y="2468025"/>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413161"/>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Produce five findings, each with a number and a stated limitation.</a:t>
            </a:r>
          </a:p>
        </p:txBody>
      </p:sp>
      <p:sp>
        <p:nvSpPr>
          <p:cNvPr id="8" name="Oval 7"/>
          <p:cNvSpPr/>
          <p:nvPr/>
        </p:nvSpPr>
        <p:spPr>
          <a:xfrm>
            <a:off x="685800" y="2970091"/>
            <a:ext cx="182880" cy="182880"/>
          </a:xfrm>
          <a:prstGeom prst="ellipse">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915227"/>
            <a:ext cx="10271455" cy="456345"/>
          </a:xfrm>
          <a:prstGeom prst="rect">
            <a:avLst/>
          </a:prstGeom>
          <a:noFill/>
        </p:spPr>
        <p:txBody>
          <a:bodyPr wrap="square" lIns="0" rIns="0" tIns="0" bIns="0" anchor="t">
            <a:spAutoFit/>
          </a:bodyPr>
          <a:lstStyle/>
          <a:p>
            <a:pPr algn="l">
              <a:lnSpc>
                <a:spcPct val="120000"/>
              </a:lnSpc>
              <a:spcAft>
                <a:spcPts val="600"/>
              </a:spcAft>
            </a:pPr>
            <a:r>
              <a:rPr sz="1873" b="0" i="0">
                <a:solidFill>
                  <a:srgbClr val="2A3B4A"/>
                </a:solidFill>
                <a:latin typeface="Calibri"/>
              </a:rPr>
              <a:t>Write the half page a decision maker reads instead of the notebook.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85800" y="566928"/>
            <a:ext cx="10820095" cy="292608"/>
          </a:xfrm>
          <a:prstGeom prst="rect">
            <a:avLst/>
          </a:prstGeom>
          <a:noFill/>
        </p:spPr>
        <p:txBody>
          <a:bodyPr wrap="square" lIns="0" rIns="0" tIns="0" bIns="0" anchor="t">
            <a:spAutoFit/>
          </a:bodyPr>
          <a:lstStyle/>
          <a:p>
            <a:pPr algn="l">
              <a:spcAft>
                <a:spcPts val="600"/>
              </a:spcAft>
            </a:pPr>
            <a:r>
              <a:rPr sz="1584" b="1" i="0">
                <a:solidFill>
                  <a:srgbClr val="E4572E"/>
                </a:solidFill>
                <a:latin typeface="Calibri"/>
              </a:rPr>
              <a:t>HOMEWORK · 45 TO 60 MINUTES</a:t>
            </a:r>
          </a:p>
        </p:txBody>
      </p:sp>
      <p:sp>
        <p:nvSpPr>
          <p:cNvPr id="3" name="TextBox 2"/>
          <p:cNvSpPr txBox="1"/>
          <p:nvPr/>
        </p:nvSpPr>
        <p:spPr>
          <a:xfrm>
            <a:off x="685800" y="950976"/>
            <a:ext cx="10820095" cy="777240"/>
          </a:xfrm>
          <a:prstGeom prst="rect">
            <a:avLst/>
          </a:prstGeom>
          <a:noFill/>
        </p:spPr>
        <p:txBody>
          <a:bodyPr wrap="square" lIns="0" rIns="0" tIns="0" bIns="0" anchor="t">
            <a:spAutoFit/>
          </a:bodyPr>
          <a:lstStyle/>
          <a:p>
            <a:pPr algn="l">
              <a:lnSpc>
                <a:spcPct val="100000"/>
              </a:lnSpc>
              <a:spcAft>
                <a:spcPts val="600"/>
              </a:spcAft>
            </a:pPr>
            <a:r>
              <a:rPr sz="3200" b="1" i="0">
                <a:solidFill>
                  <a:srgbClr val="1C3144"/>
                </a:solidFill>
                <a:latin typeface="Cambria"/>
              </a:rPr>
              <a:t>Before the next session</a:t>
            </a:r>
          </a:p>
        </p:txBody>
      </p:sp>
      <p:sp>
        <p:nvSpPr>
          <p:cNvPr id="4" name="Rounded Rectangle 3"/>
          <p:cNvSpPr/>
          <p:nvPr/>
        </p:nvSpPr>
        <p:spPr>
          <a:xfrm>
            <a:off x="685800" y="1911095"/>
            <a:ext cx="10820095" cy="847583"/>
          </a:xfrm>
          <a:prstGeom prst="roundRect">
            <a:avLst>
              <a:gd name="adj" fmla="val 6000"/>
            </a:avLst>
          </a:prstGeom>
          <a:solidFill>
            <a:srgbClr val="E8ED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78408" y="2130552"/>
            <a:ext cx="10234879" cy="445247"/>
          </a:xfrm>
          <a:prstGeom prst="rect">
            <a:avLst/>
          </a:prstGeom>
          <a:noFill/>
        </p:spPr>
        <p:txBody>
          <a:bodyPr wrap="square" lIns="0" rIns="0" tIns="0" bIns="0" anchor="t">
            <a:spAutoFit/>
          </a:bodyPr>
          <a:lstStyle/>
          <a:p>
            <a:pPr algn="l">
              <a:lnSpc>
                <a:spcPct val="122000"/>
              </a:lnSpc>
              <a:spcAft>
                <a:spcPts val="600"/>
              </a:spcAft>
            </a:pPr>
            <a:r>
              <a:rPr sz="2021" b="0" i="0">
                <a:solidFill>
                  <a:srgbClr val="1C3144"/>
                </a:solidFill>
                <a:latin typeface="Calibri"/>
              </a:rPr>
              <a:t>Finish and submit the investigation: half a page of findings plus the notebook behind it.</a:t>
            </a:r>
          </a:p>
        </p:txBody>
      </p:sp>
      <p:sp>
        <p:nvSpPr>
          <p:cNvPr id="6" name="Rounded Rectangle 5"/>
          <p:cNvSpPr/>
          <p:nvPr/>
        </p:nvSpPr>
        <p:spPr>
          <a:xfrm>
            <a:off x="685800" y="3032999"/>
            <a:ext cx="4826861" cy="384048"/>
          </a:xfrm>
          <a:prstGeom prst="roundRect">
            <a:avLst/>
          </a:prstGeom>
          <a:solidFill>
            <a:srgbClr val="2E7D6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none"/>
          <a:lstStyle/>
          <a:p>
            <a:pPr algn="ctr"/>
            <a:r>
              <a:rPr sz="1452" b="1">
                <a:solidFill>
                  <a:srgbClr val="FFFFFF"/>
                </a:solidFill>
                <a:latin typeface="Calibri"/>
              </a:rPr>
              <a:t>WHY IT IS ALWAYS OPTIONAL ON YOUR OWN DATA</a:t>
            </a:r>
          </a:p>
        </p:txBody>
      </p:sp>
      <p:sp>
        <p:nvSpPr>
          <p:cNvPr id="7" name="TextBox 6"/>
          <p:cNvSpPr txBox="1"/>
          <p:nvPr/>
        </p:nvSpPr>
        <p:spPr>
          <a:xfrm>
            <a:off x="685800" y="3599927"/>
            <a:ext cx="10820095" cy="1097280"/>
          </a:xfrm>
          <a:prstGeom prst="rect">
            <a:avLst/>
          </a:prstGeom>
          <a:noFill/>
        </p:spPr>
        <p:txBody>
          <a:bodyPr wrap="square" lIns="0" rIns="0" tIns="0" bIns="0" anchor="t">
            <a:spAutoFit/>
          </a:bodyPr>
          <a:lstStyle/>
          <a:p>
            <a:pPr algn="l">
              <a:lnSpc>
                <a:spcPct val="122000"/>
              </a:lnSpc>
              <a:spcAft>
                <a:spcPts val="600"/>
              </a:spcAft>
            </a:pPr>
            <a:r>
              <a:rPr sz="1923" b="0" i="0">
                <a:solidFill>
                  <a:srgbClr val="334657"/>
                </a:solidFill>
                <a:latin typeface="Calibri"/>
              </a:rPr>
              <a:t>Homework on a dataset you already care about gets done. Homework on a teaching dataset competes with your job and loses. Either version counts, and the one on your own data is worth more to you.</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31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1371600"/>
            <a:ext cx="10820095" cy="365760"/>
          </a:xfrm>
          <a:prstGeom prst="rect">
            <a:avLst/>
          </a:prstGeom>
          <a:noFill/>
        </p:spPr>
        <p:txBody>
          <a:bodyPr wrap="square" lIns="0" rIns="0" tIns="0" bIns="0" anchor="t">
            <a:spAutoFit/>
          </a:bodyPr>
          <a:lstStyle/>
          <a:p>
            <a:pPr algn="l">
              <a:spcAft>
                <a:spcPts val="600"/>
              </a:spcAft>
            </a:pPr>
            <a:r>
              <a:rPr sz="1716" b="1" i="0">
                <a:solidFill>
                  <a:srgbClr val="E4572E"/>
                </a:solidFill>
                <a:latin typeface="Calibri"/>
              </a:rPr>
              <a:t>THE ONE THING TO REMEMBER</a:t>
            </a:r>
          </a:p>
        </p:txBody>
      </p:sp>
      <p:sp>
        <p:nvSpPr>
          <p:cNvPr id="4" name="TextBox 3"/>
          <p:cNvSpPr txBox="1"/>
          <p:nvPr/>
        </p:nvSpPr>
        <p:spPr>
          <a:xfrm>
            <a:off x="685800" y="1965960"/>
            <a:ext cx="10820095" cy="2194560"/>
          </a:xfrm>
          <a:prstGeom prst="rect">
            <a:avLst/>
          </a:prstGeom>
          <a:noFill/>
        </p:spPr>
        <p:txBody>
          <a:bodyPr wrap="square" lIns="0" rIns="0" tIns="0" bIns="0" anchor="t">
            <a:spAutoFit/>
          </a:bodyPr>
          <a:lstStyle/>
          <a:p>
            <a:pPr algn="l">
              <a:lnSpc>
                <a:spcPct val="110000"/>
              </a:lnSpc>
              <a:spcAft>
                <a:spcPts val="600"/>
              </a:spcAft>
            </a:pPr>
            <a:r>
              <a:rPr sz="3400" b="1" i="0">
                <a:solidFill>
                  <a:srgbClr val="FFFFFF"/>
                </a:solidFill>
                <a:latin typeface="Cambria"/>
              </a:rPr>
              <a:t>A routine beats talent under time pressure</a:t>
            </a:r>
          </a:p>
        </p:txBody>
      </p:sp>
      <p:sp>
        <p:nvSpPr>
          <p:cNvPr id="5" name="TextBox 4"/>
          <p:cNvSpPr txBox="1"/>
          <p:nvPr/>
        </p:nvSpPr>
        <p:spPr>
          <a:xfrm>
            <a:off x="685800" y="4434840"/>
            <a:ext cx="10820095" cy="1188720"/>
          </a:xfrm>
          <a:prstGeom prst="rect">
            <a:avLst/>
          </a:prstGeom>
          <a:noFill/>
        </p:spPr>
        <p:txBody>
          <a:bodyPr wrap="square" lIns="0" rIns="0" tIns="0" bIns="0" anchor="t">
            <a:spAutoFit/>
          </a:bodyPr>
          <a:lstStyle/>
          <a:p>
            <a:pPr algn="l">
              <a:lnSpc>
                <a:spcPct val="125000"/>
              </a:lnSpc>
              <a:spcAft>
                <a:spcPts val="600"/>
              </a:spcAft>
            </a:pPr>
            <a:r>
              <a:rPr sz="2021" b="0" i="0">
                <a:solidFill>
                  <a:srgbClr val="B8C9D8"/>
                </a:solidFill>
                <a:latin typeface="Calibri"/>
              </a:rPr>
              <a:t>Every analyst you would want to hire has one. It is what lets them open an unfamiliar file at nine and say something defensible by eleven, which is the actual job.</a:t>
            </a:r>
          </a:p>
        </p:txBody>
      </p:sp>
      <p:sp>
        <p:nvSpPr>
          <p:cNvPr id="6" name="TextBox 5"/>
          <p:cNvSpPr txBox="1"/>
          <p:nvPr/>
        </p:nvSpPr>
        <p:spPr>
          <a:xfrm>
            <a:off x="685800" y="5943600"/>
            <a:ext cx="10820095" cy="365760"/>
          </a:xfrm>
          <a:prstGeom prst="rect">
            <a:avLst/>
          </a:prstGeom>
          <a:noFill/>
        </p:spPr>
        <p:txBody>
          <a:bodyPr wrap="square" lIns="0" rIns="0" tIns="0" bIns="0" anchor="t">
            <a:spAutoFit/>
          </a:bodyPr>
          <a:lstStyle/>
          <a:p>
            <a:pPr algn="l">
              <a:spcAft>
                <a:spcPts val="600"/>
              </a:spcAft>
            </a:pPr>
            <a:r>
              <a:rPr sz="1452" b="0" i="0">
                <a:solidFill>
                  <a:srgbClr val="7E93A6"/>
                </a:solidFill>
                <a:latin typeface="Calibri"/>
              </a:rPr>
              <a:t>Next session: Power BI, and the model that decides whether your totals are true.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