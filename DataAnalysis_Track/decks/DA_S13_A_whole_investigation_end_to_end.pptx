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on time.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Tonight is session 13 of twelve.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are what tonight is marked against, in the sense that the lab checks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same place every time. The routine is what stops an investigation becoming forty cells and no conclusion.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sentence with a number in it that somebody could act on or dispute. It is about the business, not about the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Something true about the data rather than about the business. It belongs in your notebook and not in your findings.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sentence beside a finding saying where it stops being reliable. Beside it, not in a footnote, because that is where the person acting on it will read.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Using a column you would not have had at decision time, which makes the answer look far better than it 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minutes.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investigation produces far more observations than findings. Choosing between them is part of the work.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notebook with forty cells and no conclusion. The routine exists to stop exactly that.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mid-track assessment, worth 30%. Six questions in order, then five findings. Marked on the findings and the limitations beside them, not on the code.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Finish and submit the investigation: half a page of findings plus the notebook behind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analyst you would want to hire has one. It is what lets them open an unfamiliar file at nine and say something defensible by eleven, which is the actual job.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960120"/>
            <a:ext cx="2219724"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SESSION 13 OF 15</a:t>
            </a:r>
          </a:p>
        </p:txBody>
      </p:sp>
      <p:sp>
        <p:nvSpPr>
          <p:cNvPr id="4" name="TextBox 3"/>
          <p:cNvSpPr txBox="1"/>
          <p:nvPr/>
        </p:nvSpPr>
        <p:spPr>
          <a:xfrm>
            <a:off x="685800" y="1600200"/>
            <a:ext cx="10820095" cy="2011680"/>
          </a:xfrm>
          <a:prstGeom prst="rect">
            <a:avLst/>
          </a:prstGeom>
          <a:noFill/>
        </p:spPr>
        <p:txBody>
          <a:bodyPr wrap="square" lIns="0" rIns="0" tIns="0" bIns="0" anchor="t">
            <a:spAutoFit/>
          </a:bodyPr>
          <a:lstStyle/>
          <a:p>
            <a:pPr algn="l">
              <a:lnSpc>
                <a:spcPct val="105000"/>
              </a:lnSpc>
              <a:spcAft>
                <a:spcPts val="600"/>
              </a:spcAft>
            </a:pPr>
            <a:r>
              <a:rPr sz="4400" b="1" i="0">
                <a:solidFill>
                  <a:srgbClr val="FFFFFF"/>
                </a:solidFill>
                <a:latin typeface="Cambria"/>
              </a:rPr>
              <a:t>A whole investigation, end to end</a:t>
            </a:r>
          </a:p>
        </p:txBody>
      </p:sp>
      <p:sp>
        <p:nvSpPr>
          <p:cNvPr id="5" name="TextBox 4"/>
          <p:cNvSpPr txBox="1"/>
          <p:nvPr/>
        </p:nvSpPr>
        <p:spPr>
          <a:xfrm>
            <a:off x="685800" y="3703320"/>
            <a:ext cx="10820095" cy="548640"/>
          </a:xfrm>
          <a:prstGeom prst="rect">
            <a:avLst/>
          </a:prstGeom>
          <a:noFill/>
        </p:spPr>
        <p:txBody>
          <a:bodyPr wrap="square" lIns="0" rIns="0" tIns="0" bIns="0" anchor="t">
            <a:spAutoFit/>
          </a:bodyPr>
          <a:lstStyle/>
          <a:p>
            <a:pPr algn="l">
              <a:spcAft>
                <a:spcPts val="600"/>
              </a:spcAft>
            </a:pPr>
            <a:r>
              <a:rPr sz="2293" b="0" i="0">
                <a:solidFill>
                  <a:srgbClr val="A8BCCE"/>
                </a:solidFill>
                <a:latin typeface="Calibri"/>
              </a:rPr>
              <a:t>In the same place every time. The routine is what stops an investigation becoming forty cells and no conclusion.</a:t>
            </a:r>
          </a:p>
        </p:txBody>
      </p:sp>
      <p:sp>
        <p:nvSpPr>
          <p:cNvPr id="6" name="TextBox 5"/>
          <p:cNvSpPr txBox="1"/>
          <p:nvPr/>
        </p:nvSpPr>
        <p:spPr>
          <a:xfrm>
            <a:off x="685800" y="5349240"/>
            <a:ext cx="5486400"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WEEK 5  ·  INVESTIGATION  ·  3 HOURS</a:t>
            </a:r>
          </a:p>
        </p:txBody>
      </p:sp>
      <p:sp>
        <p:nvSpPr>
          <p:cNvPr id="7" name="TextBox 6"/>
          <p:cNvSpPr txBox="1"/>
          <p:nvPr/>
        </p:nvSpPr>
        <p:spPr>
          <a:xfrm>
            <a:off x="685800" y="5715000"/>
            <a:ext cx="8229600"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Data Analysis with Python, SQL and Power BI  ·  roadmap.sh: Exploratory data analysis; the write-up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FIFTEEN SESSIONS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Where tonight sits</a:t>
            </a:r>
          </a:p>
        </p:txBody>
      </p:sp>
      <p:sp>
        <p:nvSpPr>
          <p:cNvPr id="4" name="Rounded Rectangle 3"/>
          <p:cNvSpPr/>
          <p:nvPr/>
        </p:nvSpPr>
        <p:spPr>
          <a:xfrm>
            <a:off x="685800"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2104"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  ·  FOUNDATIONS</a:t>
            </a:r>
          </a:p>
        </p:txBody>
      </p:sp>
      <p:sp>
        <p:nvSpPr>
          <p:cNvPr id="6" name="TextBox 5"/>
          <p:cNvSpPr txBox="1"/>
          <p:nvPr/>
        </p:nvSpPr>
        <p:spPr>
          <a:xfrm>
            <a:off x="832104"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From a spreadsheet to data</a:t>
            </a:r>
          </a:p>
        </p:txBody>
      </p:sp>
      <p:sp>
        <p:nvSpPr>
          <p:cNvPr id="7" name="Rounded Rectangle 6"/>
          <p:cNvSpPr/>
          <p:nvPr/>
        </p:nvSpPr>
        <p:spPr>
          <a:xfrm>
            <a:off x="3459403"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5707"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2  ·  FOUNDATIONS</a:t>
            </a:r>
          </a:p>
        </p:txBody>
      </p:sp>
      <p:sp>
        <p:nvSpPr>
          <p:cNvPr id="9" name="TextBox 8"/>
          <p:cNvSpPr txBox="1"/>
          <p:nvPr/>
        </p:nvSpPr>
        <p:spPr>
          <a:xfrm>
            <a:off x="3605707"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Why data lives in several tables</a:t>
            </a:r>
          </a:p>
        </p:txBody>
      </p:sp>
      <p:sp>
        <p:nvSpPr>
          <p:cNvPr id="10" name="Rounded Rectangle 9"/>
          <p:cNvSpPr/>
          <p:nvPr/>
        </p:nvSpPr>
        <p:spPr>
          <a:xfrm>
            <a:off x="6233007"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79311"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3  ·  SQL</a:t>
            </a:r>
          </a:p>
        </p:txBody>
      </p:sp>
      <p:sp>
        <p:nvSpPr>
          <p:cNvPr id="12" name="TextBox 11"/>
          <p:cNvSpPr txBox="1"/>
          <p:nvPr/>
        </p:nvSpPr>
        <p:spPr>
          <a:xfrm>
            <a:off x="6379311"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Asking a database for rows</a:t>
            </a:r>
          </a:p>
        </p:txBody>
      </p:sp>
      <p:sp>
        <p:nvSpPr>
          <p:cNvPr id="13" name="Rounded Rectangle 12"/>
          <p:cNvSpPr/>
          <p:nvPr/>
        </p:nvSpPr>
        <p:spPr>
          <a:xfrm>
            <a:off x="9006611"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2915"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4  ·  SQL</a:t>
            </a:r>
          </a:p>
        </p:txBody>
      </p:sp>
      <p:sp>
        <p:nvSpPr>
          <p:cNvPr id="15" name="TextBox 14"/>
          <p:cNvSpPr txBox="1"/>
          <p:nvPr/>
        </p:nvSpPr>
        <p:spPr>
          <a:xfrm>
            <a:off x="9152915"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Counting and grouping</a:t>
            </a:r>
          </a:p>
        </p:txBody>
      </p:sp>
      <p:sp>
        <p:nvSpPr>
          <p:cNvPr id="16" name="Rounded Rectangle 15"/>
          <p:cNvSpPr/>
          <p:nvPr/>
        </p:nvSpPr>
        <p:spPr>
          <a:xfrm>
            <a:off x="685800"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5  ·  SQL</a:t>
            </a:r>
          </a:p>
        </p:txBody>
      </p:sp>
      <p:sp>
        <p:nvSpPr>
          <p:cNvPr id="18" name="TextBox 17"/>
          <p:cNvSpPr txBox="1"/>
          <p:nvPr/>
        </p:nvSpPr>
        <p:spPr>
          <a:xfrm>
            <a:off x="832104"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Joining tables, carefully</a:t>
            </a:r>
          </a:p>
        </p:txBody>
      </p:sp>
      <p:sp>
        <p:nvSpPr>
          <p:cNvPr id="19" name="Rounded Rectangle 18"/>
          <p:cNvSpPr/>
          <p:nvPr/>
        </p:nvSpPr>
        <p:spPr>
          <a:xfrm>
            <a:off x="3459403"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05707"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6  ·  PYTHON</a:t>
            </a:r>
          </a:p>
        </p:txBody>
      </p:sp>
      <p:sp>
        <p:nvSpPr>
          <p:cNvPr id="21" name="TextBox 20"/>
          <p:cNvSpPr txBox="1"/>
          <p:nvPr/>
        </p:nvSpPr>
        <p:spPr>
          <a:xfrm>
            <a:off x="3605707"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Your first program</a:t>
            </a:r>
          </a:p>
        </p:txBody>
      </p:sp>
      <p:sp>
        <p:nvSpPr>
          <p:cNvPr id="22" name="Rounded Rectangle 21"/>
          <p:cNvSpPr/>
          <p:nvPr/>
        </p:nvSpPr>
        <p:spPr>
          <a:xfrm>
            <a:off x="6233007"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79311"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7  ·  PYTHON</a:t>
            </a:r>
          </a:p>
        </p:txBody>
      </p:sp>
      <p:sp>
        <p:nvSpPr>
          <p:cNvPr id="24" name="TextBox 23"/>
          <p:cNvSpPr txBox="1"/>
          <p:nvPr/>
        </p:nvSpPr>
        <p:spPr>
          <a:xfrm>
            <a:off x="6379311"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Reading a file, and looking at it</a:t>
            </a:r>
          </a:p>
        </p:txBody>
      </p:sp>
      <p:sp>
        <p:nvSpPr>
          <p:cNvPr id="25" name="Rounded Rectangle 24"/>
          <p:cNvSpPr/>
          <p:nvPr/>
        </p:nvSpPr>
        <p:spPr>
          <a:xfrm>
            <a:off x="9006611"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52915"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8  ·  PYTHON</a:t>
            </a:r>
          </a:p>
        </p:txBody>
      </p:sp>
      <p:sp>
        <p:nvSpPr>
          <p:cNvPr id="27" name="TextBox 26"/>
          <p:cNvSpPr txBox="1"/>
          <p:nvPr/>
        </p:nvSpPr>
        <p:spPr>
          <a:xfrm>
            <a:off x="9152915"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Cleaning, and writing down what you did</a:t>
            </a:r>
          </a:p>
        </p:txBody>
      </p:sp>
      <p:sp>
        <p:nvSpPr>
          <p:cNvPr id="28" name="Rounded Rectangle 27"/>
          <p:cNvSpPr/>
          <p:nvPr/>
        </p:nvSpPr>
        <p:spPr>
          <a:xfrm>
            <a:off x="685800"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2104"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9  ·  PYTHON</a:t>
            </a:r>
          </a:p>
        </p:txBody>
      </p:sp>
      <p:sp>
        <p:nvSpPr>
          <p:cNvPr id="30" name="TextBox 29"/>
          <p:cNvSpPr txBox="1"/>
          <p:nvPr/>
        </p:nvSpPr>
        <p:spPr>
          <a:xfrm>
            <a:off x="832104"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Grouping and joining in pandas</a:t>
            </a:r>
          </a:p>
        </p:txBody>
      </p:sp>
      <p:sp>
        <p:nvSpPr>
          <p:cNvPr id="31" name="Rounded Rectangle 30"/>
          <p:cNvSpPr/>
          <p:nvPr/>
        </p:nvSpPr>
        <p:spPr>
          <a:xfrm>
            <a:off x="3459403"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05707"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10  ·  STATISTICS</a:t>
            </a:r>
          </a:p>
        </p:txBody>
      </p:sp>
      <p:sp>
        <p:nvSpPr>
          <p:cNvPr id="33" name="TextBox 32"/>
          <p:cNvSpPr txBox="1"/>
          <p:nvPr/>
        </p:nvSpPr>
        <p:spPr>
          <a:xfrm>
            <a:off x="3605707"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Describing one column</a:t>
            </a:r>
          </a:p>
        </p:txBody>
      </p:sp>
      <p:sp>
        <p:nvSpPr>
          <p:cNvPr id="34" name="Rounded Rectangle 33"/>
          <p:cNvSpPr/>
          <p:nvPr/>
        </p:nvSpPr>
        <p:spPr>
          <a:xfrm>
            <a:off x="6233007"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79311"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11  ·  STATISTICS</a:t>
            </a:r>
          </a:p>
        </p:txBody>
      </p:sp>
      <p:sp>
        <p:nvSpPr>
          <p:cNvPr id="36" name="TextBox 35"/>
          <p:cNvSpPr txBox="1"/>
          <p:nvPr/>
        </p:nvSpPr>
        <p:spPr>
          <a:xfrm>
            <a:off x="6379311"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Comparing groups, and reading time</a:t>
            </a:r>
          </a:p>
        </p:txBody>
      </p:sp>
      <p:sp>
        <p:nvSpPr>
          <p:cNvPr id="37" name="Rounded Rectangle 36"/>
          <p:cNvSpPr/>
          <p:nvPr/>
        </p:nvSpPr>
        <p:spPr>
          <a:xfrm>
            <a:off x="9006611"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52915"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12  ·  CHARTS</a:t>
            </a:r>
          </a:p>
        </p:txBody>
      </p:sp>
      <p:sp>
        <p:nvSpPr>
          <p:cNvPr id="39" name="TextBox 38"/>
          <p:cNvSpPr txBox="1"/>
          <p:nvPr/>
        </p:nvSpPr>
        <p:spPr>
          <a:xfrm>
            <a:off x="9152915"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Charts that answer the question</a:t>
            </a:r>
          </a:p>
        </p:txBody>
      </p:sp>
      <p:sp>
        <p:nvSpPr>
          <p:cNvPr id="40" name="Rounded Rectangle 39"/>
          <p:cNvSpPr/>
          <p:nvPr/>
        </p:nvSpPr>
        <p:spPr>
          <a:xfrm>
            <a:off x="685800" y="5623559"/>
            <a:ext cx="2499283" cy="1060704"/>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2104" y="5696712"/>
            <a:ext cx="2206675" cy="256032"/>
          </a:xfrm>
          <a:prstGeom prst="rect">
            <a:avLst/>
          </a:prstGeom>
          <a:noFill/>
        </p:spPr>
        <p:txBody>
          <a:bodyPr wrap="square" lIns="0" rIns="0" tIns="0" bIns="0" anchor="t">
            <a:spAutoFit/>
          </a:bodyPr>
          <a:lstStyle/>
          <a:p>
            <a:pPr algn="l">
              <a:spcAft>
                <a:spcPts val="600"/>
              </a:spcAft>
            </a:pPr>
            <a:r>
              <a:rPr sz="1254" b="1" i="0">
                <a:solidFill>
                  <a:srgbClr val="FFFFFF"/>
                </a:solidFill>
                <a:latin typeface="Calibri"/>
              </a:rPr>
              <a:t>13  ·  INVESTIGATION</a:t>
            </a:r>
          </a:p>
        </p:txBody>
      </p:sp>
      <p:sp>
        <p:nvSpPr>
          <p:cNvPr id="42" name="TextBox 41"/>
          <p:cNvSpPr txBox="1"/>
          <p:nvPr/>
        </p:nvSpPr>
        <p:spPr>
          <a:xfrm>
            <a:off x="832104" y="5971031"/>
            <a:ext cx="2206675" cy="640080"/>
          </a:xfrm>
          <a:prstGeom prst="rect">
            <a:avLst/>
          </a:prstGeom>
          <a:noFill/>
        </p:spPr>
        <p:txBody>
          <a:bodyPr wrap="square" lIns="0" rIns="0" tIns="0" bIns="0" anchor="t">
            <a:spAutoFit/>
          </a:bodyPr>
          <a:lstStyle/>
          <a:p>
            <a:pPr algn="l">
              <a:lnSpc>
                <a:spcPct val="112000"/>
              </a:lnSpc>
              <a:spcAft>
                <a:spcPts val="600"/>
              </a:spcAft>
            </a:pPr>
            <a:r>
              <a:rPr sz="1452" b="1" i="0">
                <a:solidFill>
                  <a:srgbClr val="FFFFFF"/>
                </a:solidFill>
                <a:latin typeface="Calibri"/>
              </a:rPr>
              <a:t>A whole investigation, end to end</a:t>
            </a:r>
          </a:p>
        </p:txBody>
      </p:sp>
      <p:sp>
        <p:nvSpPr>
          <p:cNvPr id="43" name="Rounded Rectangle 42"/>
          <p:cNvSpPr/>
          <p:nvPr/>
        </p:nvSpPr>
        <p:spPr>
          <a:xfrm>
            <a:off x="3459403" y="5623559"/>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05707" y="5696712"/>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14  ·  POWER BI</a:t>
            </a:r>
          </a:p>
        </p:txBody>
      </p:sp>
      <p:sp>
        <p:nvSpPr>
          <p:cNvPr id="45" name="TextBox 44"/>
          <p:cNvSpPr txBox="1"/>
          <p:nvPr/>
        </p:nvSpPr>
        <p:spPr>
          <a:xfrm>
            <a:off x="3605707" y="5971031"/>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Getting data in, and modelling it</a:t>
            </a:r>
          </a:p>
        </p:txBody>
      </p:sp>
      <p:sp>
        <p:nvSpPr>
          <p:cNvPr id="46" name="Rounded Rectangle 45"/>
          <p:cNvSpPr/>
          <p:nvPr/>
        </p:nvSpPr>
        <p:spPr>
          <a:xfrm>
            <a:off x="6233007" y="5623559"/>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79311" y="5696712"/>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15  ·  POWER BI</a:t>
            </a:r>
          </a:p>
        </p:txBody>
      </p:sp>
      <p:sp>
        <p:nvSpPr>
          <p:cNvPr id="48" name="TextBox 47"/>
          <p:cNvSpPr txBox="1"/>
          <p:nvPr/>
        </p:nvSpPr>
        <p:spPr>
          <a:xfrm>
            <a:off x="6379311" y="5971031"/>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Measures, a dashboard, and presenting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BEFORE WE START</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words for tonight</a:t>
            </a:r>
          </a:p>
        </p:txBody>
      </p:sp>
      <p:sp>
        <p:nvSpPr>
          <p:cNvPr id="4" name="TextBox 3"/>
          <p:cNvSpPr txBox="1"/>
          <p:nvPr/>
        </p:nvSpPr>
        <p:spPr>
          <a:xfrm>
            <a:off x="685800" y="1911095"/>
            <a:ext cx="2240280" cy="274320"/>
          </a:xfrm>
          <a:prstGeom prst="rect">
            <a:avLst/>
          </a:prstGeom>
          <a:noFill/>
        </p:spPr>
        <p:txBody>
          <a:bodyPr wrap="square" lIns="0" rIns="0" tIns="0" bIns="0" anchor="t">
            <a:spAutoFit/>
          </a:bodyPr>
          <a:lstStyle/>
          <a:p>
            <a:pPr algn="l">
              <a:spcAft>
                <a:spcPts val="600"/>
              </a:spcAft>
            </a:pPr>
            <a:r>
              <a:rPr sz="1320" b="1" i="0">
                <a:solidFill>
                  <a:srgbClr val="E4572E"/>
                </a:solidFill>
                <a:latin typeface="Calibri"/>
              </a:rPr>
              <a:t>TERM</a:t>
            </a:r>
          </a:p>
        </p:txBody>
      </p:sp>
      <p:sp>
        <p:nvSpPr>
          <p:cNvPr id="5" name="TextBox 4"/>
          <p:cNvSpPr txBox="1"/>
          <p:nvPr/>
        </p:nvSpPr>
        <p:spPr>
          <a:xfrm>
            <a:off x="3154680" y="1911095"/>
            <a:ext cx="4892040" cy="274320"/>
          </a:xfrm>
          <a:prstGeom prst="rect">
            <a:avLst/>
          </a:prstGeom>
          <a:noFill/>
        </p:spPr>
        <p:txBody>
          <a:bodyPr wrap="square" lIns="0" rIns="0" tIns="0" bIns="0" anchor="t">
            <a:spAutoFit/>
          </a:bodyPr>
          <a:lstStyle/>
          <a:p>
            <a:pPr algn="l">
              <a:spcAft>
                <a:spcPts val="600"/>
              </a:spcAft>
            </a:pPr>
            <a:r>
              <a:rPr sz="1320" b="1" i="0">
                <a:solidFill>
                  <a:srgbClr val="E4572E"/>
                </a:solidFill>
                <a:latin typeface="Calibri"/>
              </a:rPr>
              <a:t>WHAT IT MEANS</a:t>
            </a:r>
          </a:p>
        </p:txBody>
      </p:sp>
      <p:sp>
        <p:nvSpPr>
          <p:cNvPr id="6" name="TextBox 5"/>
          <p:cNvSpPr txBox="1"/>
          <p:nvPr/>
        </p:nvSpPr>
        <p:spPr>
          <a:xfrm>
            <a:off x="8275320" y="1911095"/>
            <a:ext cx="3230575" cy="274320"/>
          </a:xfrm>
          <a:prstGeom prst="rect">
            <a:avLst/>
          </a:prstGeom>
          <a:noFill/>
        </p:spPr>
        <p:txBody>
          <a:bodyPr wrap="square" lIns="0" rIns="0" tIns="0" bIns="0" anchor="t">
            <a:spAutoFit/>
          </a:bodyPr>
          <a:lstStyle/>
          <a:p>
            <a:pPr algn="l">
              <a:spcAft>
                <a:spcPts val="600"/>
              </a:spcAft>
            </a:pPr>
            <a:r>
              <a:rPr sz="1320" b="1" i="0">
                <a:solidFill>
                  <a:srgbClr val="E4572E"/>
                </a:solidFill>
                <a:latin typeface="Calibri"/>
              </a:rPr>
              <a:t>IN A SPREADSHEET</a:t>
            </a:r>
          </a:p>
        </p:txBody>
      </p:sp>
      <p:sp>
        <p:nvSpPr>
          <p:cNvPr id="7" name="Rectangle 6"/>
          <p:cNvSpPr/>
          <p:nvPr/>
        </p:nvSpPr>
        <p:spPr>
          <a:xfrm>
            <a:off x="576072" y="2240279"/>
            <a:ext cx="11039551" cy="697336"/>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276856"/>
            <a:ext cx="2240280" cy="651616"/>
          </a:xfrm>
          <a:prstGeom prst="rect">
            <a:avLst/>
          </a:prstGeom>
          <a:noFill/>
        </p:spPr>
        <p:txBody>
          <a:bodyPr wrap="square" lIns="0" rIns="0" tIns="0" bIns="0" anchor="t">
            <a:spAutoFit/>
          </a:bodyPr>
          <a:lstStyle/>
          <a:p>
            <a:pPr algn="l">
              <a:lnSpc>
                <a:spcPct val="114000"/>
              </a:lnSpc>
              <a:spcAft>
                <a:spcPts val="600"/>
              </a:spcAft>
            </a:pPr>
            <a:r>
              <a:rPr sz="1716" b="1" i="0">
                <a:solidFill>
                  <a:srgbClr val="1C3144"/>
                </a:solidFill>
                <a:latin typeface="Calibri"/>
              </a:rPr>
              <a:t>Finding</a:t>
            </a:r>
          </a:p>
        </p:txBody>
      </p:sp>
      <p:sp>
        <p:nvSpPr>
          <p:cNvPr id="9" name="TextBox 8"/>
          <p:cNvSpPr txBox="1"/>
          <p:nvPr/>
        </p:nvSpPr>
        <p:spPr>
          <a:xfrm>
            <a:off x="3154680" y="2276856"/>
            <a:ext cx="4892040" cy="651616"/>
          </a:xfrm>
          <a:prstGeom prst="rect">
            <a:avLst/>
          </a:prstGeom>
          <a:noFill/>
        </p:spPr>
        <p:txBody>
          <a:bodyPr wrap="square" lIns="0" rIns="0" tIns="0" bIns="0" anchor="t">
            <a:spAutoFit/>
          </a:bodyPr>
          <a:lstStyle/>
          <a:p>
            <a:pPr algn="l">
              <a:lnSpc>
                <a:spcPct val="116000"/>
              </a:lnSpc>
              <a:spcAft>
                <a:spcPts val="600"/>
              </a:spcAft>
            </a:pPr>
            <a:r>
              <a:rPr sz="1650" b="0" i="0">
                <a:solidFill>
                  <a:srgbClr val="334657"/>
                </a:solidFill>
                <a:latin typeface="Calibri"/>
              </a:rPr>
              <a:t>A sentence with a number in it that somebody could act on or dispute.</a:t>
            </a:r>
          </a:p>
        </p:txBody>
      </p:sp>
      <p:sp>
        <p:nvSpPr>
          <p:cNvPr id="10" name="TextBox 9"/>
          <p:cNvSpPr txBox="1"/>
          <p:nvPr/>
        </p:nvSpPr>
        <p:spPr>
          <a:xfrm>
            <a:off x="8275320" y="2276856"/>
            <a:ext cx="3230575" cy="651616"/>
          </a:xfrm>
          <a:prstGeom prst="rect">
            <a:avLst/>
          </a:prstGeom>
          <a:noFill/>
        </p:spPr>
        <p:txBody>
          <a:bodyPr wrap="square" lIns="0" rIns="0" tIns="0" bIns="0" anchor="t">
            <a:spAutoFit/>
          </a:bodyPr>
          <a:lstStyle/>
          <a:p>
            <a:pPr algn="l">
              <a:lnSpc>
                <a:spcPct val="116000"/>
              </a:lnSpc>
              <a:spcAft>
                <a:spcPts val="600"/>
              </a:spcAft>
            </a:pPr>
            <a:r>
              <a:rPr sz="1650" b="0" i="1">
                <a:solidFill>
                  <a:srgbClr val="6B7A8A"/>
                </a:solidFill>
                <a:latin typeface="Calibri"/>
              </a:rPr>
              <a:t>no direct equivalent</a:t>
            </a:r>
          </a:p>
        </p:txBody>
      </p:sp>
      <p:sp>
        <p:nvSpPr>
          <p:cNvPr id="11" name="TextBox 10"/>
          <p:cNvSpPr txBox="1"/>
          <p:nvPr/>
        </p:nvSpPr>
        <p:spPr>
          <a:xfrm>
            <a:off x="685800" y="3010768"/>
            <a:ext cx="2240280" cy="651616"/>
          </a:xfrm>
          <a:prstGeom prst="rect">
            <a:avLst/>
          </a:prstGeom>
          <a:noFill/>
        </p:spPr>
        <p:txBody>
          <a:bodyPr wrap="square" lIns="0" rIns="0" tIns="0" bIns="0" anchor="t">
            <a:spAutoFit/>
          </a:bodyPr>
          <a:lstStyle/>
          <a:p>
            <a:pPr algn="l">
              <a:lnSpc>
                <a:spcPct val="114000"/>
              </a:lnSpc>
              <a:spcAft>
                <a:spcPts val="600"/>
              </a:spcAft>
            </a:pPr>
            <a:r>
              <a:rPr sz="1716" b="1" i="0">
                <a:solidFill>
                  <a:srgbClr val="1C3144"/>
                </a:solidFill>
                <a:latin typeface="Calibri"/>
              </a:rPr>
              <a:t>Observation</a:t>
            </a:r>
          </a:p>
        </p:txBody>
      </p:sp>
      <p:sp>
        <p:nvSpPr>
          <p:cNvPr id="12" name="TextBox 11"/>
          <p:cNvSpPr txBox="1"/>
          <p:nvPr/>
        </p:nvSpPr>
        <p:spPr>
          <a:xfrm>
            <a:off x="3154680" y="3010768"/>
            <a:ext cx="4892040" cy="651616"/>
          </a:xfrm>
          <a:prstGeom prst="rect">
            <a:avLst/>
          </a:prstGeom>
          <a:noFill/>
        </p:spPr>
        <p:txBody>
          <a:bodyPr wrap="square" lIns="0" rIns="0" tIns="0" bIns="0" anchor="t">
            <a:spAutoFit/>
          </a:bodyPr>
          <a:lstStyle/>
          <a:p>
            <a:pPr algn="l">
              <a:lnSpc>
                <a:spcPct val="116000"/>
              </a:lnSpc>
              <a:spcAft>
                <a:spcPts val="600"/>
              </a:spcAft>
            </a:pPr>
            <a:r>
              <a:rPr sz="1650" b="0" i="0">
                <a:solidFill>
                  <a:srgbClr val="334657"/>
                </a:solidFill>
                <a:latin typeface="Calibri"/>
              </a:rPr>
              <a:t>Something true about the data rather than about the business. It belongs in the notebook.</a:t>
            </a:r>
          </a:p>
        </p:txBody>
      </p:sp>
      <p:sp>
        <p:nvSpPr>
          <p:cNvPr id="13" name="TextBox 12"/>
          <p:cNvSpPr txBox="1"/>
          <p:nvPr/>
        </p:nvSpPr>
        <p:spPr>
          <a:xfrm>
            <a:off x="8275320" y="3010768"/>
            <a:ext cx="3230575" cy="651616"/>
          </a:xfrm>
          <a:prstGeom prst="rect">
            <a:avLst/>
          </a:prstGeom>
          <a:noFill/>
        </p:spPr>
        <p:txBody>
          <a:bodyPr wrap="square" lIns="0" rIns="0" tIns="0" bIns="0" anchor="t">
            <a:spAutoFit/>
          </a:bodyPr>
          <a:lstStyle/>
          <a:p>
            <a:pPr algn="l">
              <a:lnSpc>
                <a:spcPct val="116000"/>
              </a:lnSpc>
              <a:spcAft>
                <a:spcPts val="600"/>
              </a:spcAft>
            </a:pPr>
            <a:r>
              <a:rPr sz="1650" b="0" i="1">
                <a:solidFill>
                  <a:srgbClr val="6B7A8A"/>
                </a:solidFill>
                <a:latin typeface="Calibri"/>
              </a:rPr>
              <a:t>no direct equivalent</a:t>
            </a:r>
          </a:p>
        </p:txBody>
      </p:sp>
      <p:sp>
        <p:nvSpPr>
          <p:cNvPr id="14" name="Rectangle 13"/>
          <p:cNvSpPr/>
          <p:nvPr/>
        </p:nvSpPr>
        <p:spPr>
          <a:xfrm>
            <a:off x="576072" y="3708104"/>
            <a:ext cx="11039551" cy="697336"/>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744680"/>
            <a:ext cx="2240280" cy="651616"/>
          </a:xfrm>
          <a:prstGeom prst="rect">
            <a:avLst/>
          </a:prstGeom>
          <a:noFill/>
        </p:spPr>
        <p:txBody>
          <a:bodyPr wrap="square" lIns="0" rIns="0" tIns="0" bIns="0" anchor="t">
            <a:spAutoFit/>
          </a:bodyPr>
          <a:lstStyle/>
          <a:p>
            <a:pPr algn="l">
              <a:lnSpc>
                <a:spcPct val="114000"/>
              </a:lnSpc>
              <a:spcAft>
                <a:spcPts val="600"/>
              </a:spcAft>
            </a:pPr>
            <a:r>
              <a:rPr sz="1716" b="1" i="0">
                <a:solidFill>
                  <a:srgbClr val="1C3144"/>
                </a:solidFill>
                <a:latin typeface="Calibri"/>
              </a:rPr>
              <a:t>Limitation</a:t>
            </a:r>
          </a:p>
        </p:txBody>
      </p:sp>
      <p:sp>
        <p:nvSpPr>
          <p:cNvPr id="16" name="TextBox 15"/>
          <p:cNvSpPr txBox="1"/>
          <p:nvPr/>
        </p:nvSpPr>
        <p:spPr>
          <a:xfrm>
            <a:off x="3154680" y="3744680"/>
            <a:ext cx="4892040" cy="651616"/>
          </a:xfrm>
          <a:prstGeom prst="rect">
            <a:avLst/>
          </a:prstGeom>
          <a:noFill/>
        </p:spPr>
        <p:txBody>
          <a:bodyPr wrap="square" lIns="0" rIns="0" tIns="0" bIns="0" anchor="t">
            <a:spAutoFit/>
          </a:bodyPr>
          <a:lstStyle/>
          <a:p>
            <a:pPr algn="l">
              <a:lnSpc>
                <a:spcPct val="116000"/>
              </a:lnSpc>
              <a:spcAft>
                <a:spcPts val="600"/>
              </a:spcAft>
            </a:pPr>
            <a:r>
              <a:rPr sz="1650" b="0" i="0">
                <a:solidFill>
                  <a:srgbClr val="334657"/>
                </a:solidFill>
                <a:latin typeface="Calibri"/>
              </a:rPr>
              <a:t>Where a finding stops being reliable, written beside it rather than in a footnote.</a:t>
            </a:r>
          </a:p>
        </p:txBody>
      </p:sp>
      <p:sp>
        <p:nvSpPr>
          <p:cNvPr id="17" name="TextBox 16"/>
          <p:cNvSpPr txBox="1"/>
          <p:nvPr/>
        </p:nvSpPr>
        <p:spPr>
          <a:xfrm>
            <a:off x="8275320" y="3744680"/>
            <a:ext cx="3230575" cy="651616"/>
          </a:xfrm>
          <a:prstGeom prst="rect">
            <a:avLst/>
          </a:prstGeom>
          <a:noFill/>
        </p:spPr>
        <p:txBody>
          <a:bodyPr wrap="square" lIns="0" rIns="0" tIns="0" bIns="0" anchor="t">
            <a:spAutoFit/>
          </a:bodyPr>
          <a:lstStyle/>
          <a:p>
            <a:pPr algn="l">
              <a:lnSpc>
                <a:spcPct val="116000"/>
              </a:lnSpc>
              <a:spcAft>
                <a:spcPts val="600"/>
              </a:spcAft>
            </a:pPr>
            <a:r>
              <a:rPr sz="1650" b="0" i="1">
                <a:solidFill>
                  <a:srgbClr val="6B7A8A"/>
                </a:solidFill>
                <a:latin typeface="Calibri"/>
              </a:rPr>
              <a:t>no direct equivalent</a:t>
            </a:r>
          </a:p>
        </p:txBody>
      </p:sp>
      <p:sp>
        <p:nvSpPr>
          <p:cNvPr id="18" name="TextBox 17"/>
          <p:cNvSpPr txBox="1"/>
          <p:nvPr/>
        </p:nvSpPr>
        <p:spPr>
          <a:xfrm>
            <a:off x="685800" y="4478592"/>
            <a:ext cx="2240280" cy="954564"/>
          </a:xfrm>
          <a:prstGeom prst="rect">
            <a:avLst/>
          </a:prstGeom>
          <a:noFill/>
        </p:spPr>
        <p:txBody>
          <a:bodyPr wrap="square" lIns="0" rIns="0" tIns="0" bIns="0" anchor="t">
            <a:spAutoFit/>
          </a:bodyPr>
          <a:lstStyle/>
          <a:p>
            <a:pPr algn="l">
              <a:lnSpc>
                <a:spcPct val="114000"/>
              </a:lnSpc>
              <a:spcAft>
                <a:spcPts val="600"/>
              </a:spcAft>
            </a:pPr>
            <a:r>
              <a:rPr sz="1716" b="1" i="0">
                <a:solidFill>
                  <a:srgbClr val="1C3144"/>
                </a:solidFill>
                <a:latin typeface="Calibri"/>
              </a:rPr>
              <a:t>Leakage</a:t>
            </a:r>
          </a:p>
        </p:txBody>
      </p:sp>
      <p:sp>
        <p:nvSpPr>
          <p:cNvPr id="19" name="TextBox 18"/>
          <p:cNvSpPr txBox="1"/>
          <p:nvPr/>
        </p:nvSpPr>
        <p:spPr>
          <a:xfrm>
            <a:off x="3154680" y="4478592"/>
            <a:ext cx="4892040" cy="954564"/>
          </a:xfrm>
          <a:prstGeom prst="rect">
            <a:avLst/>
          </a:prstGeom>
          <a:noFill/>
        </p:spPr>
        <p:txBody>
          <a:bodyPr wrap="square" lIns="0" rIns="0" tIns="0" bIns="0" anchor="t">
            <a:spAutoFit/>
          </a:bodyPr>
          <a:lstStyle/>
          <a:p>
            <a:pPr algn="l">
              <a:lnSpc>
                <a:spcPct val="116000"/>
              </a:lnSpc>
              <a:spcAft>
                <a:spcPts val="600"/>
              </a:spcAft>
            </a:pPr>
            <a:r>
              <a:rPr sz="1650" b="0" i="0">
                <a:solidFill>
                  <a:srgbClr val="334657"/>
                </a:solidFill>
                <a:latin typeface="Calibri"/>
              </a:rPr>
              <a:t>When a column you would not have at decision time is used to answer the question, making the answer look far better than it is.</a:t>
            </a:r>
          </a:p>
        </p:txBody>
      </p:sp>
      <p:sp>
        <p:nvSpPr>
          <p:cNvPr id="20" name="TextBox 19"/>
          <p:cNvSpPr txBox="1"/>
          <p:nvPr/>
        </p:nvSpPr>
        <p:spPr>
          <a:xfrm>
            <a:off x="8275320" y="4478592"/>
            <a:ext cx="3230575" cy="954564"/>
          </a:xfrm>
          <a:prstGeom prst="rect">
            <a:avLst/>
          </a:prstGeom>
          <a:noFill/>
        </p:spPr>
        <p:txBody>
          <a:bodyPr wrap="square" lIns="0" rIns="0" tIns="0" bIns="0" anchor="t">
            <a:spAutoFit/>
          </a:bodyPr>
          <a:lstStyle/>
          <a:p>
            <a:pPr algn="l">
              <a:lnSpc>
                <a:spcPct val="116000"/>
              </a:lnSpc>
              <a:spcAft>
                <a:spcPts val="600"/>
              </a:spcAft>
            </a:pPr>
            <a:r>
              <a:rPr sz="1650" b="0" i="1">
                <a:solidFill>
                  <a:srgbClr val="6B7A8A"/>
                </a:solidFill>
                <a:latin typeface="Calibri"/>
              </a:rPr>
              <a:t>no direct equivalent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WHAT YOU WILL BE ABLE TO DO</a:t>
            </a:r>
          </a:p>
        </p:txBody>
      </p:sp>
      <p:sp>
        <p:nvSpPr>
          <p:cNvPr id="3" name="TextBox 2"/>
          <p:cNvSpPr txBox="1"/>
          <p:nvPr/>
        </p:nvSpPr>
        <p:spPr>
          <a:xfrm>
            <a:off x="685800" y="950976"/>
            <a:ext cx="10820095" cy="731520"/>
          </a:xfrm>
          <a:prstGeom prst="rect">
            <a:avLst/>
          </a:prstGeom>
          <a:noFill/>
        </p:spPr>
        <p:txBody>
          <a:bodyPr wrap="square" lIns="0" rIns="0" tIns="0" bIns="0" anchor="t">
            <a:spAutoFit/>
          </a:bodyPr>
          <a:lstStyle/>
          <a:p>
            <a:pPr algn="l">
              <a:spcAft>
                <a:spcPts val="600"/>
              </a:spcAft>
            </a:pPr>
            <a:r>
              <a:rPr sz="3000" b="1" i="0">
                <a:solidFill>
                  <a:srgbClr val="1C3144"/>
                </a:solidFill>
                <a:latin typeface="Calibri"/>
              </a:rPr>
              <a:t>By the end of tonight you can…</a:t>
            </a:r>
          </a:p>
        </p:txBody>
      </p:sp>
      <p:sp>
        <p:nvSpPr>
          <p:cNvPr id="4" name="Oval 3"/>
          <p:cNvSpPr/>
          <p:nvPr/>
        </p:nvSpPr>
        <p:spPr>
          <a:xfrm>
            <a:off x="685800" y="1956816"/>
            <a:ext cx="329184" cy="329184"/>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1</a:t>
            </a:r>
          </a:p>
        </p:txBody>
      </p:sp>
      <p:sp>
        <p:nvSpPr>
          <p:cNvPr id="5" name="TextBox 4"/>
          <p:cNvSpPr txBox="1"/>
          <p:nvPr/>
        </p:nvSpPr>
        <p:spPr>
          <a:xfrm>
            <a:off x="1234440" y="1920240"/>
            <a:ext cx="10134295" cy="395093"/>
          </a:xfrm>
          <a:prstGeom prst="rect">
            <a:avLst/>
          </a:prstGeom>
          <a:noFill/>
        </p:spPr>
        <p:txBody>
          <a:bodyPr wrap="square" lIns="0" rIns="0" tIns="0" bIns="0" anchor="t">
            <a:spAutoFit/>
          </a:bodyPr>
          <a:lstStyle/>
          <a:p>
            <a:pPr algn="l">
              <a:lnSpc>
                <a:spcPct val="118000"/>
              </a:lnSpc>
              <a:spcAft>
                <a:spcPts val="600"/>
              </a:spcAft>
            </a:pPr>
            <a:r>
              <a:rPr sz="1821" b="0" i="0">
                <a:solidFill>
                  <a:srgbClr val="2A3B4A"/>
                </a:solidFill>
                <a:latin typeface="Calibri"/>
              </a:rPr>
              <a:t>Run a structured investigation on an unfamiliar dataset, in a fixed order.</a:t>
            </a:r>
          </a:p>
        </p:txBody>
      </p:sp>
      <p:sp>
        <p:nvSpPr>
          <p:cNvPr id="6" name="Oval 5"/>
          <p:cNvSpPr/>
          <p:nvPr/>
        </p:nvSpPr>
        <p:spPr>
          <a:xfrm>
            <a:off x="685800" y="2779776"/>
            <a:ext cx="329184" cy="329184"/>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2</a:t>
            </a:r>
          </a:p>
        </p:txBody>
      </p:sp>
      <p:sp>
        <p:nvSpPr>
          <p:cNvPr id="7" name="TextBox 6"/>
          <p:cNvSpPr txBox="1"/>
          <p:nvPr/>
        </p:nvSpPr>
        <p:spPr>
          <a:xfrm>
            <a:off x="1234440" y="2743200"/>
            <a:ext cx="10134295" cy="395093"/>
          </a:xfrm>
          <a:prstGeom prst="rect">
            <a:avLst/>
          </a:prstGeom>
          <a:noFill/>
        </p:spPr>
        <p:txBody>
          <a:bodyPr wrap="square" lIns="0" rIns="0" tIns="0" bIns="0" anchor="t">
            <a:spAutoFit/>
          </a:bodyPr>
          <a:lstStyle/>
          <a:p>
            <a:pPr algn="l">
              <a:lnSpc>
                <a:spcPct val="118000"/>
              </a:lnSpc>
              <a:spcAft>
                <a:spcPts val="600"/>
              </a:spcAft>
            </a:pPr>
            <a:r>
              <a:rPr sz="1821" b="0" i="0">
                <a:solidFill>
                  <a:srgbClr val="2A3B4A"/>
                </a:solidFill>
                <a:latin typeface="Calibri"/>
              </a:rPr>
              <a:t>Produce five findings, each with a number and a stated limitation.</a:t>
            </a:r>
          </a:p>
        </p:txBody>
      </p:sp>
      <p:sp>
        <p:nvSpPr>
          <p:cNvPr id="8" name="Oval 7"/>
          <p:cNvSpPr/>
          <p:nvPr/>
        </p:nvSpPr>
        <p:spPr>
          <a:xfrm>
            <a:off x="685800" y="3602736"/>
            <a:ext cx="329184" cy="329184"/>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3</a:t>
            </a:r>
          </a:p>
        </p:txBody>
      </p:sp>
      <p:sp>
        <p:nvSpPr>
          <p:cNvPr id="9" name="TextBox 8"/>
          <p:cNvSpPr txBox="1"/>
          <p:nvPr/>
        </p:nvSpPr>
        <p:spPr>
          <a:xfrm>
            <a:off x="1234440" y="3566160"/>
            <a:ext cx="10134295" cy="395093"/>
          </a:xfrm>
          <a:prstGeom prst="rect">
            <a:avLst/>
          </a:prstGeom>
          <a:noFill/>
        </p:spPr>
        <p:txBody>
          <a:bodyPr wrap="square" lIns="0" rIns="0" tIns="0" bIns="0" anchor="t">
            <a:spAutoFit/>
          </a:bodyPr>
          <a:lstStyle/>
          <a:p>
            <a:pPr algn="l">
              <a:lnSpc>
                <a:spcPct val="118000"/>
              </a:lnSpc>
              <a:spcAft>
                <a:spcPts val="600"/>
              </a:spcAft>
            </a:pPr>
            <a:r>
              <a:rPr sz="1821" b="0" i="0">
                <a:solidFill>
                  <a:srgbClr val="2A3B4A"/>
                </a:solidFill>
                <a:latin typeface="Calibri"/>
              </a:rPr>
              <a:t>Write the half page a decision maker reads instead of the notebook.</a:t>
            </a:r>
          </a:p>
        </p:txBody>
      </p:sp>
      <p:sp>
        <p:nvSpPr>
          <p:cNvPr id="10" name="TextBox 9"/>
          <p:cNvSpPr txBox="1"/>
          <p:nvPr/>
        </p:nvSpPr>
        <p:spPr>
          <a:xfrm>
            <a:off x="685800" y="6144768"/>
            <a:ext cx="10820095" cy="365760"/>
          </a:xfrm>
          <a:prstGeom prst="rect">
            <a:avLst/>
          </a:prstGeom>
          <a:noFill/>
        </p:spPr>
        <p:txBody>
          <a:bodyPr wrap="square" lIns="0" rIns="0" tIns="0" bIns="0" anchor="t">
            <a:spAutoFit/>
          </a:bodyPr>
          <a:lstStyle/>
          <a:p>
            <a:pPr algn="l">
              <a:spcAft>
                <a:spcPts val="600"/>
              </a:spcAft>
            </a:pPr>
            <a:r>
              <a:rPr sz="1452" b="0" i="1">
                <a:solidFill>
                  <a:srgbClr val="6B7A8A"/>
                </a:solidFill>
                <a:latin typeface="Calibri"/>
              </a:rPr>
              <a:t>Session 13 of 15  ·  Investigation  ·  A whole investigation, end to end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05156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QUESTION TONIGHT ANSWERS</a:t>
            </a:r>
          </a:p>
        </p:txBody>
      </p:sp>
      <p:sp>
        <p:nvSpPr>
          <p:cNvPr id="4" name="TextBox 3"/>
          <p:cNvSpPr txBox="1"/>
          <p:nvPr/>
        </p:nvSpPr>
        <p:spPr>
          <a:xfrm>
            <a:off x="685800" y="1691640"/>
            <a:ext cx="10820095" cy="2743200"/>
          </a:xfrm>
          <a:prstGeom prst="rect">
            <a:avLst/>
          </a:prstGeom>
          <a:noFill/>
        </p:spPr>
        <p:txBody>
          <a:bodyPr wrap="square" lIns="0" rIns="0" tIns="0" bIns="0" anchor="t">
            <a:spAutoFit/>
          </a:bodyPr>
          <a:lstStyle/>
          <a:p>
            <a:pPr algn="l">
              <a:lnSpc>
                <a:spcPct val="115000"/>
              </a:lnSpc>
              <a:spcAft>
                <a:spcPts val="600"/>
              </a:spcAft>
            </a:pPr>
            <a:r>
              <a:rPr sz="3400" b="0" i="1">
                <a:solidFill>
                  <a:srgbClr val="FFFFFF"/>
                </a:solidFill>
                <a:latin typeface="Cambria"/>
              </a:rPr>
              <a:t>You have a file you have never seen and three hours.</a:t>
            </a:r>
          </a:p>
          <a:p>
            <a:pPr algn="l">
              <a:lnSpc>
                <a:spcPct val="115000"/>
              </a:lnSpc>
              <a:spcAft>
                <a:spcPts val="600"/>
              </a:spcAft>
            </a:pPr>
            <a:r>
              <a:rPr sz="3400" b="0" i="1">
                <a:solidFill>
                  <a:srgbClr val="FFFFFF"/>
                </a:solidFill>
                <a:latin typeface="Cambria"/>
              </a:rPr>
              <a:t>Where do you start?</a:t>
            </a:r>
          </a:p>
        </p:txBody>
      </p:sp>
      <p:sp>
        <p:nvSpPr>
          <p:cNvPr id="5" name="TextBox 4"/>
          <p:cNvSpPr txBox="1"/>
          <p:nvPr/>
        </p:nvSpPr>
        <p:spPr>
          <a:xfrm>
            <a:off x="685800" y="4892040"/>
            <a:ext cx="10820095" cy="1097280"/>
          </a:xfrm>
          <a:prstGeom prst="rect">
            <a:avLst/>
          </a:prstGeom>
          <a:noFill/>
        </p:spPr>
        <p:txBody>
          <a:bodyPr wrap="square" lIns="0" rIns="0" tIns="0" bIns="0" anchor="t">
            <a:spAutoFit/>
          </a:bodyPr>
          <a:lstStyle/>
          <a:p>
            <a:pPr algn="l">
              <a:lnSpc>
                <a:spcPct val="120000"/>
              </a:lnSpc>
              <a:spcAft>
                <a:spcPts val="600"/>
              </a:spcAft>
            </a:pPr>
            <a:r>
              <a:rPr sz="1923" b="0" i="0">
                <a:solidFill>
                  <a:srgbClr val="B8C9D8"/>
                </a:solidFill>
                <a:latin typeface="Calibri"/>
              </a:rPr>
              <a:t>In the same place every time. The routine is what stops an investigation becoming forty cells and no conclusion.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BLOCK ONE · 50 MINUTES</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The routine, in a fixed order</a:t>
            </a:r>
          </a:p>
        </p:txBody>
      </p:sp>
      <p:sp>
        <p:nvSpPr>
          <p:cNvPr id="5" name="TextBox 4"/>
          <p:cNvSpPr txBox="1"/>
          <p:nvPr/>
        </p:nvSpPr>
        <p:spPr>
          <a:xfrm>
            <a:off x="685800" y="416052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The routine, written up and followed live on a dataset nobody has seen: what is this file a record of, what is one row, what is the window, what is missing, what does the main quantity look like, what moves with what, 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SIX QUESTIONS, IN THIS ORDER</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routine. Same order, every dataset, every time.</a:t>
            </a:r>
          </a:p>
        </p:txBody>
      </p:sp>
      <p:sp>
        <p:nvSpPr>
          <p:cNvPr id="4" name="Rounded Rectangle 3"/>
          <p:cNvSpPr/>
          <p:nvPr/>
        </p:nvSpPr>
        <p:spPr>
          <a:xfrm>
            <a:off x="685800" y="1911095"/>
            <a:ext cx="10820095" cy="648140"/>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41832" y="2043142"/>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1</a:t>
            </a:r>
          </a:p>
        </p:txBody>
      </p:sp>
      <p:sp>
        <p:nvSpPr>
          <p:cNvPr id="6" name="TextBox 5"/>
          <p:cNvSpPr txBox="1"/>
          <p:nvPr/>
        </p:nvSpPr>
        <p:spPr>
          <a:xfrm>
            <a:off x="1554480" y="2029967"/>
            <a:ext cx="9631375" cy="347471"/>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What is this file a record of, and what is one row?</a:t>
            </a:r>
          </a:p>
        </p:txBody>
      </p:sp>
      <p:sp>
        <p:nvSpPr>
          <p:cNvPr id="7" name="TextBox 6"/>
          <p:cNvSpPr txBox="1"/>
          <p:nvPr/>
        </p:nvSpPr>
        <p:spPr>
          <a:xfrm>
            <a:off x="1554480" y="2295144"/>
            <a:ext cx="9631375" cy="172652"/>
          </a:xfrm>
          <a:prstGeom prst="rect">
            <a:avLst/>
          </a:prstGeom>
          <a:noFill/>
        </p:spPr>
        <p:txBody>
          <a:bodyPr wrap="square" lIns="0" rIns="0" tIns="0" bIns="0" anchor="t">
            <a:spAutoFit/>
          </a:bodyPr>
          <a:lstStyle/>
          <a:p>
            <a:pPr algn="l">
              <a:lnSpc>
                <a:spcPct val="116000"/>
              </a:lnSpc>
              <a:spcAft>
                <a:spcPts val="600"/>
              </a:spcAft>
            </a:pPr>
            <a:r>
              <a:rPr sz="1452" b="0" i="0">
                <a:solidFill>
                  <a:srgbClr val="3C4E5E"/>
                </a:solidFill>
                <a:latin typeface="Calibri"/>
              </a:rPr>
              <a:t>One sentence each, written down. You have been doing this since session 1. If you cannot write them, stop and find out.</a:t>
            </a:r>
          </a:p>
        </p:txBody>
      </p:sp>
      <p:sp>
        <p:nvSpPr>
          <p:cNvPr id="8" name="Rounded Rectangle 7"/>
          <p:cNvSpPr/>
          <p:nvPr/>
        </p:nvSpPr>
        <p:spPr>
          <a:xfrm>
            <a:off x="685800" y="2614100"/>
            <a:ext cx="10820095" cy="648140"/>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2746146"/>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2</a:t>
            </a:r>
          </a:p>
        </p:txBody>
      </p:sp>
      <p:sp>
        <p:nvSpPr>
          <p:cNvPr id="10" name="TextBox 9"/>
          <p:cNvSpPr txBox="1"/>
          <p:nvPr/>
        </p:nvSpPr>
        <p:spPr>
          <a:xfrm>
            <a:off x="1554480" y="2732972"/>
            <a:ext cx="9631375" cy="347471"/>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What is the time window, and is it complete?</a:t>
            </a:r>
          </a:p>
        </p:txBody>
      </p:sp>
      <p:sp>
        <p:nvSpPr>
          <p:cNvPr id="11" name="TextBox 10"/>
          <p:cNvSpPr txBox="1"/>
          <p:nvPr/>
        </p:nvSpPr>
        <p:spPr>
          <a:xfrm>
            <a:off x="1554480" y="2998148"/>
            <a:ext cx="9631375" cy="172652"/>
          </a:xfrm>
          <a:prstGeom prst="rect">
            <a:avLst/>
          </a:prstGeom>
          <a:noFill/>
        </p:spPr>
        <p:txBody>
          <a:bodyPr wrap="square" lIns="0" rIns="0" tIns="0" bIns="0" anchor="t">
            <a:spAutoFit/>
          </a:bodyPr>
          <a:lstStyle/>
          <a:p>
            <a:pPr algn="l">
              <a:lnSpc>
                <a:spcPct val="116000"/>
              </a:lnSpc>
              <a:spcAft>
                <a:spcPts val="600"/>
              </a:spcAft>
            </a:pPr>
            <a:r>
              <a:rPr sz="1452" b="0" i="0">
                <a:solidFill>
                  <a:srgbClr val="3C4E5E"/>
                </a:solidFill>
                <a:latin typeface="Calibri"/>
              </a:rPr>
              <a:t>Earliest, latest, and whether any period in between is missing. A missing month is a finding on its own.</a:t>
            </a:r>
          </a:p>
        </p:txBody>
      </p:sp>
      <p:sp>
        <p:nvSpPr>
          <p:cNvPr id="12" name="Rounded Rectangle 11"/>
          <p:cNvSpPr/>
          <p:nvPr/>
        </p:nvSpPr>
        <p:spPr>
          <a:xfrm>
            <a:off x="685800" y="3317104"/>
            <a:ext cx="10820095" cy="648140"/>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41832" y="3449150"/>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3</a:t>
            </a:r>
          </a:p>
        </p:txBody>
      </p:sp>
      <p:sp>
        <p:nvSpPr>
          <p:cNvPr id="14" name="TextBox 13"/>
          <p:cNvSpPr txBox="1"/>
          <p:nvPr/>
        </p:nvSpPr>
        <p:spPr>
          <a:xfrm>
            <a:off x="1554480" y="3435976"/>
            <a:ext cx="9631375" cy="347471"/>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What is missing, and is it missing for a reason?</a:t>
            </a:r>
          </a:p>
        </p:txBody>
      </p:sp>
      <p:sp>
        <p:nvSpPr>
          <p:cNvPr id="15" name="TextBox 14"/>
          <p:cNvSpPr txBox="1"/>
          <p:nvPr/>
        </p:nvSpPr>
        <p:spPr>
          <a:xfrm>
            <a:off x="1554480" y="3701152"/>
            <a:ext cx="9631375" cy="172652"/>
          </a:xfrm>
          <a:prstGeom prst="rect">
            <a:avLst/>
          </a:prstGeom>
          <a:noFill/>
        </p:spPr>
        <p:txBody>
          <a:bodyPr wrap="square" lIns="0" rIns="0" tIns="0" bIns="0" anchor="t">
            <a:spAutoFit/>
          </a:bodyPr>
          <a:lstStyle/>
          <a:p>
            <a:pPr algn="l">
              <a:lnSpc>
                <a:spcPct val="116000"/>
              </a:lnSpc>
              <a:spcAft>
                <a:spcPts val="600"/>
              </a:spcAft>
            </a:pPr>
            <a:r>
              <a:rPr sz="1452" b="0" i="0">
                <a:solidFill>
                  <a:srgbClr val="3C4E5E"/>
                </a:solidFill>
                <a:latin typeface="Calibri"/>
              </a:rPr>
              <a:t>Per column, count and percentage. Missing at random and missing by design need different handling.</a:t>
            </a:r>
          </a:p>
        </p:txBody>
      </p:sp>
      <p:sp>
        <p:nvSpPr>
          <p:cNvPr id="16" name="Rounded Rectangle 15"/>
          <p:cNvSpPr/>
          <p:nvPr/>
        </p:nvSpPr>
        <p:spPr>
          <a:xfrm>
            <a:off x="685800" y="4020108"/>
            <a:ext cx="10820095" cy="648140"/>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41832" y="4152154"/>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4</a:t>
            </a:r>
          </a:p>
        </p:txBody>
      </p:sp>
      <p:sp>
        <p:nvSpPr>
          <p:cNvPr id="18" name="TextBox 17"/>
          <p:cNvSpPr txBox="1"/>
          <p:nvPr/>
        </p:nvSpPr>
        <p:spPr>
          <a:xfrm>
            <a:off x="1554480" y="4138980"/>
            <a:ext cx="9631375" cy="347471"/>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What does the thing that matters look like?</a:t>
            </a:r>
          </a:p>
        </p:txBody>
      </p:sp>
      <p:sp>
        <p:nvSpPr>
          <p:cNvPr id="19" name="TextBox 18"/>
          <p:cNvSpPr txBox="1"/>
          <p:nvPr/>
        </p:nvSpPr>
        <p:spPr>
          <a:xfrm>
            <a:off x="1554480" y="4404156"/>
            <a:ext cx="9631375" cy="172652"/>
          </a:xfrm>
          <a:prstGeom prst="rect">
            <a:avLst/>
          </a:prstGeom>
          <a:noFill/>
        </p:spPr>
        <p:txBody>
          <a:bodyPr wrap="square" lIns="0" rIns="0" tIns="0" bIns="0" anchor="t">
            <a:spAutoFit/>
          </a:bodyPr>
          <a:lstStyle/>
          <a:p>
            <a:pPr algn="l">
              <a:lnSpc>
                <a:spcPct val="116000"/>
              </a:lnSpc>
              <a:spcAft>
                <a:spcPts val="600"/>
              </a:spcAft>
            </a:pPr>
            <a:r>
              <a:rPr sz="1452" b="0" i="0">
                <a:solidFill>
                  <a:srgbClr val="3C4E5E"/>
                </a:solidFill>
                <a:latin typeface="Calibri"/>
              </a:rPr>
              <a:t>The distribution of your main quantity, drawn, then a decision about mean or median. Sessions 10 and 11.</a:t>
            </a:r>
          </a:p>
        </p:txBody>
      </p:sp>
      <p:sp>
        <p:nvSpPr>
          <p:cNvPr id="20" name="Rounded Rectangle 19"/>
          <p:cNvSpPr/>
          <p:nvPr/>
        </p:nvSpPr>
        <p:spPr>
          <a:xfrm>
            <a:off x="685800" y="4723112"/>
            <a:ext cx="10820095" cy="648140"/>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41832" y="4855158"/>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5</a:t>
            </a:r>
          </a:p>
        </p:txBody>
      </p:sp>
      <p:sp>
        <p:nvSpPr>
          <p:cNvPr id="22" name="TextBox 21"/>
          <p:cNvSpPr txBox="1"/>
          <p:nvPr/>
        </p:nvSpPr>
        <p:spPr>
          <a:xfrm>
            <a:off x="1554480" y="4841984"/>
            <a:ext cx="9631375" cy="347471"/>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What moves with what?</a:t>
            </a:r>
          </a:p>
        </p:txBody>
      </p:sp>
      <p:sp>
        <p:nvSpPr>
          <p:cNvPr id="23" name="TextBox 22"/>
          <p:cNvSpPr txBox="1"/>
          <p:nvPr/>
        </p:nvSpPr>
        <p:spPr>
          <a:xfrm>
            <a:off x="1554480" y="5107160"/>
            <a:ext cx="9631375" cy="172652"/>
          </a:xfrm>
          <a:prstGeom prst="rect">
            <a:avLst/>
          </a:prstGeom>
          <a:noFill/>
        </p:spPr>
        <p:txBody>
          <a:bodyPr wrap="square" lIns="0" rIns="0" tIns="0" bIns="0" anchor="t">
            <a:spAutoFit/>
          </a:bodyPr>
          <a:lstStyle/>
          <a:p>
            <a:pPr algn="l">
              <a:lnSpc>
                <a:spcPct val="116000"/>
              </a:lnSpc>
              <a:spcAft>
                <a:spcPts val="600"/>
              </a:spcAft>
            </a:pPr>
            <a:r>
              <a:rPr sz="1452" b="0" i="0">
                <a:solidFill>
                  <a:srgbClr val="3C4E5E"/>
                </a:solidFill>
                <a:latin typeface="Calibri"/>
              </a:rPr>
              <a:t>Two or three comparisons the domain suggests. Not every pair: a correlation matrix of forty columns is not analysis.</a:t>
            </a:r>
          </a:p>
        </p:txBody>
      </p:sp>
      <p:sp>
        <p:nvSpPr>
          <p:cNvPr id="24" name="Rounded Rectangle 23"/>
          <p:cNvSpPr/>
          <p:nvPr/>
        </p:nvSpPr>
        <p:spPr>
          <a:xfrm>
            <a:off x="685800" y="5426116"/>
            <a:ext cx="10820095" cy="86495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41832" y="5666570"/>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6</a:t>
            </a:r>
          </a:p>
        </p:txBody>
      </p:sp>
      <p:sp>
        <p:nvSpPr>
          <p:cNvPr id="26" name="TextBox 25"/>
          <p:cNvSpPr txBox="1"/>
          <p:nvPr/>
        </p:nvSpPr>
        <p:spPr>
          <a:xfrm>
            <a:off x="1554480" y="5544988"/>
            <a:ext cx="9631375" cy="347471"/>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What would change my mind?</a:t>
            </a:r>
          </a:p>
        </p:txBody>
      </p:sp>
      <p:sp>
        <p:nvSpPr>
          <p:cNvPr id="27" name="TextBox 26"/>
          <p:cNvSpPr txBox="1"/>
          <p:nvPr/>
        </p:nvSpPr>
        <p:spPr>
          <a:xfrm>
            <a:off x="1554480" y="5810164"/>
            <a:ext cx="9631375" cy="389467"/>
          </a:xfrm>
          <a:prstGeom prst="rect">
            <a:avLst/>
          </a:prstGeom>
          <a:noFill/>
        </p:spPr>
        <p:txBody>
          <a:bodyPr wrap="square" lIns="0" rIns="0" tIns="0" bIns="0" anchor="t">
            <a:spAutoFit/>
          </a:bodyPr>
          <a:lstStyle/>
          <a:p>
            <a:pPr algn="l">
              <a:lnSpc>
                <a:spcPct val="116000"/>
              </a:lnSpc>
              <a:spcAft>
                <a:spcPts val="600"/>
              </a:spcAft>
            </a:pPr>
            <a:r>
              <a:rPr sz="1452" b="0" i="0">
                <a:solidFill>
                  <a:srgbClr val="3C4E5E"/>
                </a:solidFill>
                <a:latin typeface="Calibri"/>
              </a:rPr>
              <a:t>Written down before you present. It is the question you will be asked, and having the answer ready is the whole difference in a defence.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A finding</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A sentence with a number in it that somebody could act on or dispute. It is about the business, not about the data.</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"Returns are highest in Western at 2.70%, against 2.26% in Eastern." That can be acted on and it can be argued with.</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The sentence you would put in an email, rather than the pivot table you would attach.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An observation</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Something true about the data rather than about the business. It belongs in your notebook and not in your findings.</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"The returns table has 501 rows" is an observation. "Two and a half per cent of order lines come back, and it is worse in one region" is a finding.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A stated limitation</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The sentence beside a finding saying where it stops being reliable. Beside it, not in a footnote, because that is where the person acting on it will read.</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"This excludes the 172 walk-in orders, worth UGX 390,632,335, because they carry no customer and therefore no region."</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A disclaimer protects you. A limitation tells the reader how far they can push the number, which is useful to them.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Leakage</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Using a column you would not have had at decision time, which makes the answer look far better than it is.</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1092853"/>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In the Bank Marketing dataset, the duration column records how long the sales call lasted. You only know it AFTER the call, so using it to predict the call's outcome is cheating, and it is the commonest beginner mistake on that file.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20095" cy="1280160"/>
          </a:xfrm>
          <a:prstGeom prst="rect">
            <a:avLst/>
          </a:prstGeom>
          <a:noFill/>
        </p:spPr>
        <p:txBody>
          <a:bodyPr wrap="square" lIns="0" rIns="0" tIns="0" bIns="0" anchor="t">
            <a:spAutoFit/>
          </a:bodyPr>
          <a:lstStyle/>
          <a:p>
            <a:pPr algn="ctr">
              <a:spcAft>
                <a:spcPts val="600"/>
              </a:spcAft>
            </a:pPr>
            <a:r>
              <a:rPr sz="5400" b="1" i="0">
                <a:solidFill>
                  <a:srgbClr val="FFFFFF"/>
                </a:solidFill>
                <a:latin typeface="Cambria"/>
              </a:rPr>
              <a:t>Break</a:t>
            </a:r>
          </a:p>
        </p:txBody>
      </p:sp>
      <p:sp>
        <p:nvSpPr>
          <p:cNvPr id="4" name="TextBox 3"/>
          <p:cNvSpPr txBox="1"/>
          <p:nvPr/>
        </p:nvSpPr>
        <p:spPr>
          <a:xfrm>
            <a:off x="685800" y="3749039"/>
            <a:ext cx="10820095" cy="548640"/>
          </a:xfrm>
          <a:prstGeom prst="rect">
            <a:avLst/>
          </a:prstGeom>
          <a:noFill/>
        </p:spPr>
        <p:txBody>
          <a:bodyPr wrap="square" lIns="0" rIns="0" tIns="0" bIns="0" anchor="t">
            <a:spAutoFit/>
          </a:bodyPr>
          <a:lstStyle/>
          <a:p>
            <a:pPr algn="ctr">
              <a:spcAft>
                <a:spcPts val="600"/>
              </a:spcAft>
            </a:pPr>
            <a:r>
              <a:rPr sz="2531" b="0" i="0">
                <a:solidFill>
                  <a:srgbClr val="E4572E"/>
                </a:solidFill>
                <a:latin typeface="Calibri"/>
              </a:rPr>
              <a:t>10 minutes</a:t>
            </a:r>
          </a:p>
        </p:txBody>
      </p:sp>
      <p:sp>
        <p:nvSpPr>
          <p:cNvPr id="5" name="TextBox 4"/>
          <p:cNvSpPr txBox="1"/>
          <p:nvPr/>
        </p:nvSpPr>
        <p:spPr>
          <a:xfrm>
            <a:off x="685800" y="4572000"/>
            <a:ext cx="10820095" cy="548640"/>
          </a:xfrm>
          <a:prstGeom prst="rect">
            <a:avLst/>
          </a:prstGeom>
          <a:noFill/>
        </p:spPr>
        <p:txBody>
          <a:bodyPr wrap="square" lIns="0" rIns="0" tIns="0" bIns="0" anchor="t">
            <a:spAutoFit/>
          </a:bodyPr>
          <a:lstStyle/>
          <a:p>
            <a:pPr algn="ctr">
              <a:spcAft>
                <a:spcPts val="600"/>
              </a:spcAft>
            </a:pPr>
            <a:r>
              <a:rPr sz="1821" b="0" i="0">
                <a:solidFill>
                  <a:srgbClr val="8EA4B8"/>
                </a:solidFill>
                <a:latin typeface="Calibri"/>
              </a:rPr>
              <a:t>Stretch, and talk to someone you have not worked with. Be back on time: the longest working block of the session is next.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BLOCK TWO · 45 MINUTES</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From eleven observations to five findings</a:t>
            </a:r>
          </a:p>
        </p:txBody>
      </p:sp>
      <p:sp>
        <p:nvSpPr>
          <p:cNvPr id="5" name="TextBox 4"/>
          <p:cNvSpPr txBox="1"/>
          <p:nvPr/>
        </p:nvSpPr>
        <p:spPr>
          <a:xfrm>
            <a:off x="685800" y="416052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From notebook to finding. Eleven observations become five findings by striking anything about the data rather than the business, merging duplicates, and ranking what is left by what somebody could do about it. Then the 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WORKED EXAMPLE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Turning eleven observations into five findings</a:t>
            </a:r>
          </a:p>
        </p:txBody>
      </p:sp>
      <p:sp>
        <p:nvSpPr>
          <p:cNvPr id="4" name="TextBox 3"/>
          <p:cNvSpPr txBox="1"/>
          <p:nvPr/>
        </p:nvSpPr>
        <p:spPr>
          <a:xfrm>
            <a:off x="685800" y="1911095"/>
            <a:ext cx="10820095" cy="766387"/>
          </a:xfrm>
          <a:prstGeom prst="rect">
            <a:avLst/>
          </a:prstGeom>
          <a:noFill/>
        </p:spPr>
        <p:txBody>
          <a:bodyPr wrap="square" lIns="0" rIns="0" tIns="0" bIns="0" anchor="t">
            <a:spAutoFit/>
          </a:bodyPr>
          <a:lstStyle/>
          <a:p>
            <a:pPr algn="l">
              <a:lnSpc>
                <a:spcPct val="120000"/>
              </a:lnSpc>
              <a:spcAft>
                <a:spcPts val="600"/>
              </a:spcAft>
            </a:pPr>
            <a:r>
              <a:rPr sz="1873" b="0" i="0">
                <a:solidFill>
                  <a:srgbClr val="334657"/>
                </a:solidFill>
                <a:latin typeface="Calibri"/>
              </a:rPr>
              <a:t>An investigation produces far more observations than findings. Choosing between them is part of the work.</a:t>
            </a:r>
          </a:p>
        </p:txBody>
      </p:sp>
      <p:sp>
        <p:nvSpPr>
          <p:cNvPr id="5" name="Rounded Rectangle 4"/>
          <p:cNvSpPr/>
          <p:nvPr/>
        </p:nvSpPr>
        <p:spPr>
          <a:xfrm>
            <a:off x="685800" y="2732347"/>
            <a:ext cx="10820095" cy="796006"/>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 y="2787211"/>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1</a:t>
            </a:r>
          </a:p>
        </p:txBody>
      </p:sp>
      <p:sp>
        <p:nvSpPr>
          <p:cNvPr id="7" name="TextBox 6"/>
          <p:cNvSpPr txBox="1"/>
          <p:nvPr/>
        </p:nvSpPr>
        <p:spPr>
          <a:xfrm>
            <a:off x="1435607" y="2778067"/>
            <a:ext cx="9814255" cy="704566"/>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Write every observation down as you go, without judging it. Eleven or twelve is normal for three hours.</a:t>
            </a:r>
          </a:p>
        </p:txBody>
      </p:sp>
      <p:sp>
        <p:nvSpPr>
          <p:cNvPr id="8" name="Rounded Rectangle 7"/>
          <p:cNvSpPr/>
          <p:nvPr/>
        </p:nvSpPr>
        <p:spPr>
          <a:xfrm>
            <a:off x="685800" y="3583217"/>
            <a:ext cx="10820095" cy="47115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3638081"/>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2</a:t>
            </a:r>
          </a:p>
        </p:txBody>
      </p:sp>
      <p:sp>
        <p:nvSpPr>
          <p:cNvPr id="10" name="TextBox 9"/>
          <p:cNvSpPr txBox="1"/>
          <p:nvPr/>
        </p:nvSpPr>
        <p:spPr>
          <a:xfrm>
            <a:off x="1435607" y="3628937"/>
            <a:ext cx="9814255" cy="379715"/>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Strike anything about the DATA rather than the BUSINESS. Null counts and dtypes are not findings.</a:t>
            </a:r>
          </a:p>
        </p:txBody>
      </p:sp>
      <p:sp>
        <p:nvSpPr>
          <p:cNvPr id="11" name="Rounded Rectangle 10"/>
          <p:cNvSpPr/>
          <p:nvPr/>
        </p:nvSpPr>
        <p:spPr>
          <a:xfrm>
            <a:off x="685800" y="4109236"/>
            <a:ext cx="10820095" cy="47115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05256" y="4164100"/>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3</a:t>
            </a:r>
          </a:p>
        </p:txBody>
      </p:sp>
      <p:sp>
        <p:nvSpPr>
          <p:cNvPr id="13" name="TextBox 12"/>
          <p:cNvSpPr txBox="1"/>
          <p:nvPr/>
        </p:nvSpPr>
        <p:spPr>
          <a:xfrm>
            <a:off x="1435607" y="4154956"/>
            <a:ext cx="9814255" cy="379715"/>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Merge the ones that are the same finding seen twice. Two charts of one fact is one finding.</a:t>
            </a:r>
          </a:p>
        </p:txBody>
      </p:sp>
      <p:sp>
        <p:nvSpPr>
          <p:cNvPr id="14" name="Rounded Rectangle 13"/>
          <p:cNvSpPr/>
          <p:nvPr/>
        </p:nvSpPr>
        <p:spPr>
          <a:xfrm>
            <a:off x="685800" y="4635255"/>
            <a:ext cx="10820095" cy="47115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05256" y="4690119"/>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4</a:t>
            </a:r>
          </a:p>
        </p:txBody>
      </p:sp>
      <p:sp>
        <p:nvSpPr>
          <p:cNvPr id="16" name="TextBox 15"/>
          <p:cNvSpPr txBox="1"/>
          <p:nvPr/>
        </p:nvSpPr>
        <p:spPr>
          <a:xfrm>
            <a:off x="1435607" y="4680975"/>
            <a:ext cx="9814255" cy="379715"/>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Rank what is left by what somebody could DO about it. The top five are your findings.</a:t>
            </a:r>
          </a:p>
        </p:txBody>
      </p:sp>
      <p:sp>
        <p:nvSpPr>
          <p:cNvPr id="17" name="Rounded Rectangle 16"/>
          <p:cNvSpPr/>
          <p:nvPr/>
        </p:nvSpPr>
        <p:spPr>
          <a:xfrm>
            <a:off x="685800" y="5161274"/>
            <a:ext cx="10820095" cy="47115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05256" y="5216138"/>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5</a:t>
            </a:r>
          </a:p>
        </p:txBody>
      </p:sp>
      <p:sp>
        <p:nvSpPr>
          <p:cNvPr id="19" name="TextBox 18"/>
          <p:cNvSpPr txBox="1"/>
          <p:nvPr/>
        </p:nvSpPr>
        <p:spPr>
          <a:xfrm>
            <a:off x="1435607" y="5206994"/>
            <a:ext cx="9814255" cy="379715"/>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Write each as one sentence with a number, and put the limitation beside it.</a:t>
            </a:r>
          </a:p>
        </p:txBody>
      </p:sp>
      <p:sp>
        <p:nvSpPr>
          <p:cNvPr id="20" name="Rounded Rectangle 19"/>
          <p:cNvSpPr/>
          <p:nvPr/>
        </p:nvSpPr>
        <p:spPr>
          <a:xfrm>
            <a:off x="685800" y="5742157"/>
            <a:ext cx="10820095" cy="992912"/>
          </a:xfrm>
          <a:prstGeom prst="roundRect">
            <a:avLst>
              <a:gd name="adj" fmla="val 6000"/>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5879317"/>
            <a:ext cx="10234879" cy="718592"/>
          </a:xfrm>
          <a:prstGeom prst="rect">
            <a:avLst/>
          </a:prstGeom>
          <a:noFill/>
        </p:spPr>
        <p:txBody>
          <a:bodyPr wrap="square" lIns="0" rIns="0" tIns="0" bIns="0" anchor="t">
            <a:spAutoFit/>
          </a:bodyPr>
          <a:lstStyle/>
          <a:p>
            <a:pPr algn="l">
              <a:lnSpc>
                <a:spcPct val="118000"/>
              </a:lnSpc>
              <a:spcAft>
                <a:spcPts val="600"/>
              </a:spcAft>
            </a:pPr>
            <a:r>
              <a:rPr sz="2021" b="1" i="0">
                <a:solidFill>
                  <a:srgbClr val="FFFFFF"/>
                </a:solidFill>
                <a:latin typeface="Calibri"/>
              </a:rPr>
              <a:t>Five findings with numbers beat eleven observations without them, and the marking reflects that.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MID-TRACK ASSESSMENT</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Choose your sector dataset tonight</a:t>
            </a:r>
          </a:p>
        </p:txBody>
      </p:sp>
      <p:sp>
        <p:nvSpPr>
          <p:cNvPr id="4" name="TextBox 3"/>
          <p:cNvSpPr txBox="1"/>
          <p:nvPr/>
        </p:nvSpPr>
        <p:spPr>
          <a:xfrm>
            <a:off x="685800" y="1911095"/>
            <a:ext cx="5204307" cy="425084"/>
          </a:xfrm>
          <a:prstGeom prst="rect">
            <a:avLst/>
          </a:prstGeom>
          <a:noFill/>
        </p:spPr>
        <p:txBody>
          <a:bodyPr wrap="square" lIns="0" rIns="0" tIns="0" bIns="0" anchor="t">
            <a:spAutoFit/>
          </a:bodyPr>
          <a:lstStyle/>
          <a:p>
            <a:pPr algn="l">
              <a:spcAft>
                <a:spcPts val="600"/>
              </a:spcAft>
            </a:pPr>
            <a:r>
              <a:rPr sz="2116" b="1" i="0">
                <a:solidFill>
                  <a:srgbClr val="1C3144"/>
                </a:solidFill>
                <a:latin typeface="Calibri"/>
              </a:rPr>
              <a:t>Three, all verified and open</a:t>
            </a:r>
          </a:p>
        </p:txBody>
      </p:sp>
      <p:sp>
        <p:nvSpPr>
          <p:cNvPr id="5" name="TextBox 4"/>
          <p:cNvSpPr txBox="1"/>
          <p:nvPr/>
        </p:nvSpPr>
        <p:spPr>
          <a:xfrm>
            <a:off x="685800" y="2409332"/>
            <a:ext cx="5204307" cy="372172"/>
          </a:xfrm>
          <a:prstGeom prst="rect">
            <a:avLst/>
          </a:prstGeom>
          <a:noFill/>
        </p:spPr>
        <p:txBody>
          <a:bodyPr wrap="square" lIns="0" rIns="0" tIns="0" bIns="0" anchor="t">
            <a:spAutoFit/>
          </a:bodyPr>
          <a:lstStyle/>
          <a:p>
            <a:pPr algn="l">
              <a:lnSpc>
                <a:spcPct val="125000"/>
              </a:lnSpc>
              <a:spcAft>
                <a:spcPts val="600"/>
              </a:spcAft>
            </a:pPr>
            <a:r>
              <a:rPr sz="1650" b="0" i="0">
                <a:solidFill>
                  <a:srgbClr val="3C4E5E"/>
                </a:solidFill>
                <a:latin typeface="Calibri"/>
              </a:rPr>
              <a:t>BANKING, FINANCE, TELECOM</a:t>
            </a:r>
          </a:p>
        </p:txBody>
      </p:sp>
      <p:sp>
        <p:nvSpPr>
          <p:cNvPr id="6" name="TextBox 5"/>
          <p:cNvSpPr txBox="1"/>
          <p:nvPr/>
        </p:nvSpPr>
        <p:spPr>
          <a:xfrm>
            <a:off x="685800" y="2836368"/>
            <a:ext cx="5204307" cy="1025078"/>
          </a:xfrm>
          <a:prstGeom prst="rect">
            <a:avLst/>
          </a:prstGeom>
          <a:noFill/>
        </p:spPr>
        <p:txBody>
          <a:bodyPr wrap="square" lIns="0" rIns="0" tIns="0" bIns="0" anchor="t">
            <a:spAutoFit/>
          </a:bodyPr>
          <a:lstStyle/>
          <a:p>
            <a:pPr algn="l">
              <a:lnSpc>
                <a:spcPct val="125000"/>
              </a:lnSpc>
              <a:spcAft>
                <a:spcPts val="600"/>
              </a:spcAft>
            </a:pPr>
            <a:r>
              <a:rPr sz="1650" b="0" i="0">
                <a:solidFill>
                  <a:srgbClr val="3C4E5E"/>
                </a:solidFill>
                <a:latin typeface="Calibri"/>
              </a:rPr>
              <a:t>Bank Marketing, UCI 222. 45,211 rows x 17. Campaign contacts against an outcome. Drop the duration column: it leaks.</a:t>
            </a:r>
          </a:p>
        </p:txBody>
      </p:sp>
      <p:sp>
        <p:nvSpPr>
          <p:cNvPr id="7" name="TextBox 6"/>
          <p:cNvSpPr txBox="1"/>
          <p:nvPr/>
        </p:nvSpPr>
        <p:spPr>
          <a:xfrm>
            <a:off x="685800" y="3916310"/>
            <a:ext cx="5204307" cy="372172"/>
          </a:xfrm>
          <a:prstGeom prst="rect">
            <a:avLst/>
          </a:prstGeom>
          <a:noFill/>
        </p:spPr>
        <p:txBody>
          <a:bodyPr wrap="square" lIns="0" rIns="0" tIns="0" bIns="0" anchor="t">
            <a:spAutoFit/>
          </a:bodyPr>
          <a:lstStyle/>
          <a:p>
            <a:pPr algn="l">
              <a:lnSpc>
                <a:spcPct val="125000"/>
              </a:lnSpc>
              <a:spcAft>
                <a:spcPts val="600"/>
              </a:spcAft>
            </a:pPr>
            <a:r>
              <a:rPr sz="1650" b="0" i="0">
                <a:solidFill>
                  <a:srgbClr val="3C4E5E"/>
                </a:solidFill>
                <a:latin typeface="Calibri"/>
              </a:rPr>
              <a:t>ENERGY, MINING, MANUFACTURING</a:t>
            </a:r>
          </a:p>
        </p:txBody>
      </p:sp>
      <p:sp>
        <p:nvSpPr>
          <p:cNvPr id="8" name="TextBox 7"/>
          <p:cNvSpPr txBox="1"/>
          <p:nvPr/>
        </p:nvSpPr>
        <p:spPr>
          <a:xfrm>
            <a:off x="685800" y="4343347"/>
            <a:ext cx="5204307" cy="698625"/>
          </a:xfrm>
          <a:prstGeom prst="rect">
            <a:avLst/>
          </a:prstGeom>
          <a:noFill/>
        </p:spPr>
        <p:txBody>
          <a:bodyPr wrap="square" lIns="0" rIns="0" tIns="0" bIns="0" anchor="t">
            <a:spAutoFit/>
          </a:bodyPr>
          <a:lstStyle/>
          <a:p>
            <a:pPr algn="l">
              <a:lnSpc>
                <a:spcPct val="125000"/>
              </a:lnSpc>
              <a:spcAft>
                <a:spcPts val="600"/>
              </a:spcAft>
            </a:pPr>
            <a:r>
              <a:rPr sz="1650" b="0" i="0">
                <a:solidFill>
                  <a:srgbClr val="3C4E5E"/>
                </a:solidFill>
                <a:latin typeface="Calibri"/>
              </a:rPr>
              <a:t>AI4I 2020, UCI 601. 10,000 rows x 14. Machine sensors against a failure flag, only 3.4% of which are failures.</a:t>
            </a:r>
          </a:p>
        </p:txBody>
      </p:sp>
      <p:sp>
        <p:nvSpPr>
          <p:cNvPr id="9" name="TextBox 8"/>
          <p:cNvSpPr txBox="1"/>
          <p:nvPr/>
        </p:nvSpPr>
        <p:spPr>
          <a:xfrm>
            <a:off x="685800" y="5096836"/>
            <a:ext cx="5204307" cy="372172"/>
          </a:xfrm>
          <a:prstGeom prst="rect">
            <a:avLst/>
          </a:prstGeom>
          <a:noFill/>
        </p:spPr>
        <p:txBody>
          <a:bodyPr wrap="square" lIns="0" rIns="0" tIns="0" bIns="0" anchor="t">
            <a:spAutoFit/>
          </a:bodyPr>
          <a:lstStyle/>
          <a:p>
            <a:pPr algn="l">
              <a:lnSpc>
                <a:spcPct val="125000"/>
              </a:lnSpc>
              <a:spcAft>
                <a:spcPts val="600"/>
              </a:spcAft>
            </a:pPr>
            <a:r>
              <a:rPr sz="1650" b="0" i="0">
                <a:solidFill>
                  <a:srgbClr val="3C4E5E"/>
                </a:solidFill>
                <a:latin typeface="Calibri"/>
              </a:rPr>
              <a:t>PUBLIC SECTOR AND HEALTH</a:t>
            </a:r>
          </a:p>
        </p:txBody>
      </p:sp>
      <p:sp>
        <p:nvSpPr>
          <p:cNvPr id="10" name="TextBox 9"/>
          <p:cNvSpPr txBox="1"/>
          <p:nvPr/>
        </p:nvSpPr>
        <p:spPr>
          <a:xfrm>
            <a:off x="685800" y="5523873"/>
            <a:ext cx="5204307" cy="698625"/>
          </a:xfrm>
          <a:prstGeom prst="rect">
            <a:avLst/>
          </a:prstGeom>
          <a:noFill/>
        </p:spPr>
        <p:txBody>
          <a:bodyPr wrap="square" lIns="0" rIns="0" tIns="0" bIns="0" anchor="t">
            <a:spAutoFit/>
          </a:bodyPr>
          <a:lstStyle/>
          <a:p>
            <a:pPr algn="l">
              <a:lnSpc>
                <a:spcPct val="125000"/>
              </a:lnSpc>
              <a:spcAft>
                <a:spcPts val="600"/>
              </a:spcAft>
            </a:pPr>
            <a:r>
              <a:rPr sz="1650" b="0" i="0">
                <a:solidFill>
                  <a:srgbClr val="3C4E5E"/>
                </a:solidFill>
                <a:latin typeface="Calibri"/>
              </a:rPr>
              <a:t>World Bank indicators API, plus Uganda Healthsites: about 7,969 facilities with coordinates.</a:t>
            </a:r>
          </a:p>
        </p:txBody>
      </p:sp>
      <p:sp>
        <p:nvSpPr>
          <p:cNvPr id="11" name="Rounded Rectangle 10"/>
          <p:cNvSpPr/>
          <p:nvPr/>
        </p:nvSpPr>
        <p:spPr>
          <a:xfrm>
            <a:off x="6301587" y="1801367"/>
            <a:ext cx="5204307" cy="455371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75907" y="1984248"/>
            <a:ext cx="4655667" cy="402336"/>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All three are CC BY 4.0 or ODbL</a:t>
            </a:r>
          </a:p>
        </p:txBody>
      </p:sp>
      <p:sp>
        <p:nvSpPr>
          <p:cNvPr id="13" name="TextBox 12"/>
          <p:cNvSpPr txBox="1"/>
          <p:nvPr/>
        </p:nvSpPr>
        <p:spPr>
          <a:xfrm>
            <a:off x="6575907" y="2496312"/>
            <a:ext cx="4655667" cy="664987"/>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No account, no licence problem, and they stay usable after this course ends.</a:t>
            </a:r>
          </a:p>
        </p:txBody>
      </p:sp>
      <p:sp>
        <p:nvSpPr>
          <p:cNvPr id="14" name="TextBox 13"/>
          <p:cNvSpPr txBox="1"/>
          <p:nvPr/>
        </p:nvSpPr>
        <p:spPr>
          <a:xfrm>
            <a:off x="6575907" y="3335035"/>
            <a:ext cx="4655667" cy="974621"/>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Pick the one closest to your own work. The capstone is worth more to you if the data looks like your data.</a:t>
            </a:r>
          </a:p>
        </p:txBody>
      </p:sp>
      <p:sp>
        <p:nvSpPr>
          <p:cNvPr id="15" name="TextBox 14"/>
          <p:cNvSpPr txBox="1"/>
          <p:nvPr/>
        </p:nvSpPr>
        <p:spPr>
          <a:xfrm>
            <a:off x="6575907" y="4483393"/>
            <a:ext cx="4655667" cy="664987"/>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Whichever you pick, the routine is the same. That is the point of having a routine.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960120"/>
            <a:ext cx="10820095" cy="310896"/>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MISTAKE THIS SESSION PREVENTS</a:t>
            </a:r>
          </a:p>
        </p:txBody>
      </p:sp>
      <p:sp>
        <p:nvSpPr>
          <p:cNvPr id="4" name="TextBox 3"/>
          <p:cNvSpPr txBox="1"/>
          <p:nvPr/>
        </p:nvSpPr>
        <p:spPr>
          <a:xfrm>
            <a:off x="685800" y="1600200"/>
            <a:ext cx="10820095" cy="1100371"/>
          </a:xfrm>
          <a:prstGeom prst="rect">
            <a:avLst/>
          </a:prstGeom>
          <a:noFill/>
        </p:spPr>
        <p:txBody>
          <a:bodyPr wrap="square" lIns="0" rIns="0" tIns="0" bIns="0" anchor="t">
            <a:spAutoFit/>
          </a:bodyPr>
          <a:lstStyle/>
          <a:p>
            <a:pPr algn="l">
              <a:lnSpc>
                <a:spcPct val="114000"/>
              </a:lnSpc>
              <a:spcAft>
                <a:spcPts val="600"/>
              </a:spcAft>
            </a:pPr>
            <a:r>
              <a:rPr sz="2795" b="1" i="0">
                <a:solidFill>
                  <a:srgbClr val="FFFFFF"/>
                </a:solidFill>
                <a:latin typeface="Calibri"/>
              </a:rPr>
              <a:t>A notebook with forty cells and no conclusion. The routine exists to stop exactly that.</a:t>
            </a:r>
          </a:p>
        </p:txBody>
      </p:sp>
      <p:sp>
        <p:nvSpPr>
          <p:cNvPr id="5" name="TextBox 4"/>
          <p:cNvSpPr txBox="1"/>
          <p:nvPr/>
        </p:nvSpPr>
        <p:spPr>
          <a:xfrm>
            <a:off x="685800" y="2792011"/>
            <a:ext cx="10820095" cy="457200"/>
          </a:xfrm>
          <a:prstGeom prst="rect">
            <a:avLst/>
          </a:prstGeom>
          <a:noFill/>
        </p:spPr>
        <p:txBody>
          <a:bodyPr wrap="square" lIns="0" rIns="0" tIns="0" bIns="0" anchor="t">
            <a:spAutoFit/>
          </a:bodyPr>
          <a:lstStyle/>
          <a:p>
            <a:pPr algn="l">
              <a:spcAft>
                <a:spcPts val="600"/>
              </a:spcAft>
            </a:pPr>
            <a:r>
              <a:rPr sz="1923" b="0" i="0">
                <a:solidFill>
                  <a:srgbClr val="B8C9D8"/>
                </a:solidFill>
                <a:latin typeface="Calibri"/>
              </a:rPr>
              <a:t>It is in tonight's lab on purpose.</a:t>
            </a:r>
          </a:p>
        </p:txBody>
      </p:sp>
      <p:sp>
        <p:nvSpPr>
          <p:cNvPr id="6" name="TextBox 5"/>
          <p:cNvSpPr txBox="1"/>
          <p:nvPr/>
        </p:nvSpPr>
        <p:spPr>
          <a:xfrm>
            <a:off x="685800" y="6080760"/>
            <a:ext cx="10820095"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Session 13 of 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 YOUR UNDERSTANDING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Can you answer these?</a:t>
            </a:r>
          </a:p>
        </p:txBody>
      </p:sp>
      <p:sp>
        <p:nvSpPr>
          <p:cNvPr id="4" name="Oval 3"/>
          <p:cNvSpPr/>
          <p:nvPr/>
        </p:nvSpPr>
        <p:spPr>
          <a:xfrm>
            <a:off x="685800" y="194767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What makes a sentence a finding rather than an observation?</a:t>
            </a:r>
          </a:p>
        </p:txBody>
      </p:sp>
      <p:sp>
        <p:nvSpPr>
          <p:cNvPr id="6" name="Oval 5"/>
          <p:cNvSpPr/>
          <p:nvPr/>
        </p:nvSpPr>
        <p:spPr>
          <a:xfrm>
            <a:off x="685800" y="2486313"/>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7" name="TextBox 6"/>
          <p:cNvSpPr txBox="1"/>
          <p:nvPr/>
        </p:nvSpPr>
        <p:spPr>
          <a:xfrm>
            <a:off x="1216152" y="2449737"/>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Your investigation produced no surprises. Is that a failure?</a:t>
            </a:r>
          </a:p>
        </p:txBody>
      </p:sp>
      <p:sp>
        <p:nvSpPr>
          <p:cNvPr id="8" name="Oval 7"/>
          <p:cNvSpPr/>
          <p:nvPr/>
        </p:nvSpPr>
        <p:spPr>
          <a:xfrm>
            <a:off x="685800" y="3024955"/>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9" name="TextBox 8"/>
          <p:cNvSpPr txBox="1"/>
          <p:nvPr/>
        </p:nvSpPr>
        <p:spPr>
          <a:xfrm>
            <a:off x="1216152" y="2988379"/>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Why does the limitation belong beside the finding?</a:t>
            </a:r>
          </a:p>
        </p:txBody>
      </p:sp>
      <p:sp>
        <p:nvSpPr>
          <p:cNvPr id="10" name="TextBox 9"/>
          <p:cNvSpPr txBox="1"/>
          <p:nvPr/>
        </p:nvSpPr>
        <p:spPr>
          <a:xfrm>
            <a:off x="685800" y="6108192"/>
            <a:ext cx="10820095" cy="365760"/>
          </a:xfrm>
          <a:prstGeom prst="rect">
            <a:avLst/>
          </a:prstGeom>
          <a:noFill/>
        </p:spPr>
        <p:txBody>
          <a:bodyPr wrap="square" lIns="0" rIns="0" tIns="0" bIns="0" anchor="t">
            <a:spAutoFit/>
          </a:bodyPr>
          <a:lstStyle/>
          <a:p>
            <a:pPr algn="l">
              <a:spcAft>
                <a:spcPts val="600"/>
              </a:spcAft>
            </a:pPr>
            <a:r>
              <a:rPr sz="1584" b="0" i="1">
                <a:solidFill>
                  <a:srgbClr val="6B7A8A"/>
                </a:solidFill>
                <a:latin typeface="Calibri"/>
              </a:rPr>
              <a:t>Answers are on the next slide — try first, then look.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ANSWERS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did you do?</a:t>
            </a:r>
          </a:p>
        </p:txBody>
      </p:sp>
      <p:sp>
        <p:nvSpPr>
          <p:cNvPr id="4" name="Oval 3"/>
          <p:cNvSpPr/>
          <p:nvPr/>
        </p:nvSpPr>
        <p:spPr>
          <a:xfrm>
            <a:off x="685800" y="194767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Finding against observation</a:t>
            </a:r>
          </a:p>
        </p:txBody>
      </p:sp>
      <p:sp>
        <p:nvSpPr>
          <p:cNvPr id="6" name="TextBox 5"/>
          <p:cNvSpPr txBox="1"/>
          <p:nvPr/>
        </p:nvSpPr>
        <p:spPr>
          <a:xfrm>
            <a:off x="1216152" y="2203703"/>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A finding is about the business, has a number in it, and somebody could act on it or dispute it. An observation is about the data. Both belong in the notebook; only findings belong in the summary.</a:t>
            </a:r>
          </a:p>
        </p:txBody>
      </p:sp>
      <p:sp>
        <p:nvSpPr>
          <p:cNvPr id="7" name="Oval 6"/>
          <p:cNvSpPr/>
          <p:nvPr/>
        </p:nvSpPr>
        <p:spPr>
          <a:xfrm>
            <a:off x="685800" y="3096865"/>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8" name="TextBox 7"/>
          <p:cNvSpPr txBox="1"/>
          <p:nvPr/>
        </p:nvSpPr>
        <p:spPr>
          <a:xfrm>
            <a:off x="1216152" y="3060289"/>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An investigation with no surprises</a:t>
            </a:r>
          </a:p>
        </p:txBody>
      </p:sp>
      <p:sp>
        <p:nvSpPr>
          <p:cNvPr id="9" name="TextBox 8"/>
          <p:cNvSpPr txBox="1"/>
          <p:nvPr/>
        </p:nvSpPr>
        <p:spPr>
          <a:xfrm>
            <a:off x="1216152" y="3352897"/>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No. Confirming what the room believed, with numbers attached, converts an assumption into something checkable. What IS a failure is not knowing which of the two you produced.</a:t>
            </a:r>
          </a:p>
        </p:txBody>
      </p:sp>
      <p:sp>
        <p:nvSpPr>
          <p:cNvPr id="10" name="Oval 9"/>
          <p:cNvSpPr/>
          <p:nvPr/>
        </p:nvSpPr>
        <p:spPr>
          <a:xfrm>
            <a:off x="685800" y="4246058"/>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11" name="TextBox 10"/>
          <p:cNvSpPr txBox="1"/>
          <p:nvPr/>
        </p:nvSpPr>
        <p:spPr>
          <a:xfrm>
            <a:off x="1216152" y="4209482"/>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Why the limitation sits beside the finding</a:t>
            </a:r>
          </a:p>
        </p:txBody>
      </p:sp>
      <p:sp>
        <p:nvSpPr>
          <p:cNvPr id="12" name="TextBox 11"/>
          <p:cNvSpPr txBox="1"/>
          <p:nvPr/>
        </p:nvSpPr>
        <p:spPr>
          <a:xfrm>
            <a:off x="1216152" y="4502090"/>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Because that is where the person acting on it reads. A limitation at the end of a document is a limitation nobody saw, and you will still be the one defending the number.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LAB · 50 MINUTES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Run the routine on your sector dataset</a:t>
            </a:r>
          </a:p>
        </p:txBody>
      </p:sp>
      <p:sp>
        <p:nvSpPr>
          <p:cNvPr id="4" name="Rounded Rectangle 3"/>
          <p:cNvSpPr/>
          <p:nvPr/>
        </p:nvSpPr>
        <p:spPr>
          <a:xfrm>
            <a:off x="685800" y="1911095"/>
            <a:ext cx="10820095" cy="969264"/>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112264"/>
            <a:ext cx="10234879" cy="603504"/>
          </a:xfrm>
          <a:prstGeom prst="rect">
            <a:avLst/>
          </a:prstGeom>
          <a:noFill/>
        </p:spPr>
        <p:txBody>
          <a:bodyPr wrap="square" lIns="0" rIns="0" tIns="0" bIns="0" anchor="t">
            <a:spAutoFit/>
          </a:bodyPr>
          <a:lstStyle/>
          <a:p>
            <a:pPr algn="l">
              <a:lnSpc>
                <a:spcPct val="125000"/>
              </a:lnSpc>
              <a:spcAft>
                <a:spcPts val="600"/>
              </a:spcAft>
            </a:pPr>
            <a:r>
              <a:rPr sz="1923" b="0" i="0">
                <a:solidFill>
                  <a:srgbClr val="1C3144"/>
                </a:solidFill>
                <a:latin typeface="Calibri"/>
              </a:rPr>
              <a:t>This is the mid-track assessment, worth 30%. Six questions in order, then five findings. Marked on the findings and the limitations beside them, not on the code.</a:t>
            </a:r>
          </a:p>
        </p:txBody>
      </p:sp>
      <p:sp>
        <p:nvSpPr>
          <p:cNvPr id="6" name="TextBox 5"/>
          <p:cNvSpPr txBox="1"/>
          <p:nvPr/>
        </p:nvSpPr>
        <p:spPr>
          <a:xfrm>
            <a:off x="685800" y="3191256"/>
            <a:ext cx="10820095" cy="310896"/>
          </a:xfrm>
          <a:prstGeom prst="rect">
            <a:avLst/>
          </a:prstGeom>
          <a:noFill/>
        </p:spPr>
        <p:txBody>
          <a:bodyPr wrap="square" lIns="0" rIns="0" tIns="0" bIns="0" anchor="t">
            <a:spAutoFit/>
          </a:bodyPr>
          <a:lstStyle/>
          <a:p>
            <a:pPr algn="l">
              <a:spcAft>
                <a:spcPts val="600"/>
              </a:spcAft>
            </a:pPr>
            <a:r>
              <a:rPr sz="1821" b="1" i="0">
                <a:solidFill>
                  <a:srgbClr val="E4572E"/>
                </a:solidFill>
                <a:latin typeface="Calibri"/>
              </a:rPr>
              <a:t>Work these questions in order:</a:t>
            </a:r>
          </a:p>
        </p:txBody>
      </p:sp>
      <p:sp>
        <p:nvSpPr>
          <p:cNvPr id="7" name="TextBox 6"/>
          <p:cNvSpPr txBox="1"/>
          <p:nvPr/>
        </p:nvSpPr>
        <p:spPr>
          <a:xfrm>
            <a:off x="685800" y="3611879"/>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What is the file a record of? What is one row?</a:t>
            </a:r>
          </a:p>
        </p:txBody>
      </p:sp>
      <p:sp>
        <p:nvSpPr>
          <p:cNvPr id="8" name="TextBox 7"/>
          <p:cNvSpPr txBox="1"/>
          <p:nvPr/>
        </p:nvSpPr>
        <p:spPr>
          <a:xfrm>
            <a:off x="685800" y="4032504"/>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Time window, and is it complete?</a:t>
            </a:r>
          </a:p>
        </p:txBody>
      </p:sp>
      <p:sp>
        <p:nvSpPr>
          <p:cNvPr id="9" name="TextBox 8"/>
          <p:cNvSpPr txBox="1"/>
          <p:nvPr/>
        </p:nvSpPr>
        <p:spPr>
          <a:xfrm>
            <a:off x="685800" y="4453128"/>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What is missing, and is it missing for a reason?</a:t>
            </a:r>
          </a:p>
        </p:txBody>
      </p:sp>
      <p:sp>
        <p:nvSpPr>
          <p:cNvPr id="10" name="TextBox 9"/>
          <p:cNvSpPr txBox="1"/>
          <p:nvPr/>
        </p:nvSpPr>
        <p:spPr>
          <a:xfrm>
            <a:off x="685800" y="4873752"/>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The distribution of the thing that matters, with a chart.</a:t>
            </a:r>
          </a:p>
        </p:txBody>
      </p:sp>
      <p:sp>
        <p:nvSpPr>
          <p:cNvPr id="11" name="TextBox 10"/>
          <p:cNvSpPr txBox="1"/>
          <p:nvPr/>
        </p:nvSpPr>
        <p:spPr>
          <a:xfrm>
            <a:off x="6278727" y="3611879"/>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Two or three comparisons the domain suggests.</a:t>
            </a:r>
          </a:p>
        </p:txBody>
      </p:sp>
      <p:sp>
        <p:nvSpPr>
          <p:cNvPr id="12" name="TextBox 11"/>
          <p:cNvSpPr txBox="1"/>
          <p:nvPr/>
        </p:nvSpPr>
        <p:spPr>
          <a:xfrm>
            <a:off x="6278727" y="4032504"/>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Five findings, each one sentence with a number and a limitation.</a:t>
            </a:r>
          </a:p>
        </p:txBody>
      </p:sp>
      <p:sp>
        <p:nvSpPr>
          <p:cNvPr id="13" name="TextBox 12"/>
          <p:cNvSpPr txBox="1"/>
          <p:nvPr/>
        </p:nvSpPr>
        <p:spPr>
          <a:xfrm>
            <a:off x="6278727" y="4453128"/>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What would change your mind?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TONIGHT IN THREE LINES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What you can do now</a:t>
            </a:r>
          </a:p>
        </p:txBody>
      </p:sp>
      <p:sp>
        <p:nvSpPr>
          <p:cNvPr id="4" name="Oval 3"/>
          <p:cNvSpPr/>
          <p:nvPr/>
        </p:nvSpPr>
        <p:spPr>
          <a:xfrm>
            <a:off x="685800" y="1965960"/>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11095"/>
            <a:ext cx="10271455" cy="456345"/>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Run a structured investigation on an unfamiliar dataset, in a fixed order.</a:t>
            </a:r>
          </a:p>
        </p:txBody>
      </p:sp>
      <p:sp>
        <p:nvSpPr>
          <p:cNvPr id="6" name="Oval 5"/>
          <p:cNvSpPr/>
          <p:nvPr/>
        </p:nvSpPr>
        <p:spPr>
          <a:xfrm>
            <a:off x="685800" y="2468025"/>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413161"/>
            <a:ext cx="10271455" cy="456345"/>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Produce five findings, each with a number and a stated limitation.</a:t>
            </a:r>
          </a:p>
        </p:txBody>
      </p:sp>
      <p:sp>
        <p:nvSpPr>
          <p:cNvPr id="8" name="Oval 7"/>
          <p:cNvSpPr/>
          <p:nvPr/>
        </p:nvSpPr>
        <p:spPr>
          <a:xfrm>
            <a:off x="685800" y="2970091"/>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915227"/>
            <a:ext cx="10271455" cy="456345"/>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Write the half page a decision maker reads instead of the notebook.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HOMEWORK · 45 TO 60 MINUTES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Before the next session</a:t>
            </a:r>
          </a:p>
        </p:txBody>
      </p:sp>
      <p:sp>
        <p:nvSpPr>
          <p:cNvPr id="4" name="Rounded Rectangle 3"/>
          <p:cNvSpPr/>
          <p:nvPr/>
        </p:nvSpPr>
        <p:spPr>
          <a:xfrm>
            <a:off x="685800" y="1911095"/>
            <a:ext cx="10820095" cy="847583"/>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130552"/>
            <a:ext cx="10234879" cy="445247"/>
          </a:xfrm>
          <a:prstGeom prst="rect">
            <a:avLst/>
          </a:prstGeom>
          <a:noFill/>
        </p:spPr>
        <p:txBody>
          <a:bodyPr wrap="square" lIns="0" rIns="0" tIns="0" bIns="0" anchor="t">
            <a:spAutoFit/>
          </a:bodyPr>
          <a:lstStyle/>
          <a:p>
            <a:pPr algn="l">
              <a:lnSpc>
                <a:spcPct val="122000"/>
              </a:lnSpc>
              <a:spcAft>
                <a:spcPts val="600"/>
              </a:spcAft>
            </a:pPr>
            <a:r>
              <a:rPr sz="2021" b="0" i="0">
                <a:solidFill>
                  <a:srgbClr val="1C3144"/>
                </a:solidFill>
                <a:latin typeface="Calibri"/>
              </a:rPr>
              <a:t>Finish and submit the investigation: half a page of findings plus the notebook behind it.</a:t>
            </a:r>
          </a:p>
        </p:txBody>
      </p:sp>
      <p:sp>
        <p:nvSpPr>
          <p:cNvPr id="6" name="Rounded Rectangle 5"/>
          <p:cNvSpPr/>
          <p:nvPr/>
        </p:nvSpPr>
        <p:spPr>
          <a:xfrm>
            <a:off x="685800" y="3032999"/>
            <a:ext cx="4826861"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WHY IT IS ALWAYS OPTIONAL ON YOUR OWN DATA</a:t>
            </a:r>
          </a:p>
        </p:txBody>
      </p:sp>
      <p:sp>
        <p:nvSpPr>
          <p:cNvPr id="7" name="TextBox 6"/>
          <p:cNvSpPr txBox="1"/>
          <p:nvPr/>
        </p:nvSpPr>
        <p:spPr>
          <a:xfrm>
            <a:off x="685800" y="3599927"/>
            <a:ext cx="10820095" cy="1097280"/>
          </a:xfrm>
          <a:prstGeom prst="rect">
            <a:avLst/>
          </a:prstGeom>
          <a:noFill/>
        </p:spPr>
        <p:txBody>
          <a:bodyPr wrap="square" lIns="0" rIns="0" tIns="0" bIns="0" anchor="t">
            <a:spAutoFit/>
          </a:bodyPr>
          <a:lstStyle/>
          <a:p>
            <a:pPr algn="l">
              <a:lnSpc>
                <a:spcPct val="122000"/>
              </a:lnSpc>
              <a:spcAft>
                <a:spcPts val="600"/>
              </a:spcAft>
            </a:pPr>
            <a:r>
              <a:rPr sz="1923" b="0" i="0">
                <a:solidFill>
                  <a:srgbClr val="334657"/>
                </a:solidFill>
                <a:latin typeface="Calibri"/>
              </a:rPr>
              <a:t>Homework on a dataset you already care about gets done. Homework on a teaching dataset competes with your job and loses. Either version counts, and the one on your own data is worth more to you.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7160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ONE THING TO REMEMBER</a:t>
            </a:r>
          </a:p>
        </p:txBody>
      </p:sp>
      <p:sp>
        <p:nvSpPr>
          <p:cNvPr id="4" name="TextBox 3"/>
          <p:cNvSpPr txBox="1"/>
          <p:nvPr/>
        </p:nvSpPr>
        <p:spPr>
          <a:xfrm>
            <a:off x="685800" y="1965960"/>
            <a:ext cx="10820095" cy="2194560"/>
          </a:xfrm>
          <a:prstGeom prst="rect">
            <a:avLst/>
          </a:prstGeom>
          <a:noFill/>
        </p:spPr>
        <p:txBody>
          <a:bodyPr wrap="square" lIns="0" rIns="0" tIns="0" bIns="0" anchor="t">
            <a:spAutoFit/>
          </a:bodyPr>
          <a:lstStyle/>
          <a:p>
            <a:pPr algn="l">
              <a:lnSpc>
                <a:spcPct val="110000"/>
              </a:lnSpc>
              <a:spcAft>
                <a:spcPts val="600"/>
              </a:spcAft>
            </a:pPr>
            <a:r>
              <a:rPr sz="3400" b="1" i="0">
                <a:solidFill>
                  <a:srgbClr val="FFFFFF"/>
                </a:solidFill>
                <a:latin typeface="Cambria"/>
              </a:rPr>
              <a:t>A routine beats talent under time pressure</a:t>
            </a:r>
          </a:p>
        </p:txBody>
      </p:sp>
      <p:sp>
        <p:nvSpPr>
          <p:cNvPr id="5" name="TextBox 4"/>
          <p:cNvSpPr txBox="1"/>
          <p:nvPr/>
        </p:nvSpPr>
        <p:spPr>
          <a:xfrm>
            <a:off x="685800" y="443484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Every analyst you would want to hire has one. It is what lets them open an unfamiliar file at nine and say something defensible by eleven, which is the actual job.</a:t>
            </a:r>
          </a:p>
        </p:txBody>
      </p:sp>
      <p:sp>
        <p:nvSpPr>
          <p:cNvPr id="6" name="TextBox 5"/>
          <p:cNvSpPr txBox="1"/>
          <p:nvPr/>
        </p:nvSpPr>
        <p:spPr>
          <a:xfrm>
            <a:off x="685800" y="5943600"/>
            <a:ext cx="10820095"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Next session: Power BI, and the model that decides whether your totals are true.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