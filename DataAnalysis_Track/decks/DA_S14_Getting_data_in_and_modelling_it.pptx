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3.xml" ContentType="application/vnd.openxmlformats-officedocument.presentationml.notesSlide+xml"/>
  <Override PartName="/ppt/notesSlides/notesSlide1002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3.xml" /></ns0:Relationships>
</file>

<file path=ppt/notesSlides/_rels/notesSlide10021.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21.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Getting data in, and modelling it</a:t>
            </a:r>
          </a:p>
          <a:p>
            <a:r>
              <a:t/>
            </a:r>
          </a:p>
          <a:p>
            <a:r>
              <a:t>LECTURER CUE</a:t>
            </a:r>
          </a:p>
          <a:p>
            <a:r>
              <a:t>Start on time.</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Getting data in, and modelling it.</a:t>
            </a:r>
          </a:p>
          <a:p>
            <a:r>
              <a:t/>
            </a:r>
          </a:p>
          <a:p>
            <a:r>
              <a:t>LECTURER CUE</a:t>
            </a:r>
          </a:p>
          <a:p>
            <a:r>
              <a:t>Tonight is session 14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Why does a Power BI total come out wrong.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Why does a Power BI total come out wrong</a:t>
            </a:r>
          </a:p>
          <a:p>
            <a:r>
              <a:t/>
            </a:r>
          </a:p>
          <a:p>
            <a:r>
              <a:t>CONNECT</a:t>
            </a:r>
          </a:p>
          <a:p>
            <a:r>
              <a:t>Build on the preceding slide: By the end of tonight you can….</a:t>
            </a:r>
          </a:p>
          <a:p>
            <a:r>
              <a:t/>
            </a:r>
          </a:p>
          <a:p>
            <a:r>
              <a:t>LECTURER CUE</a:t>
            </a:r>
          </a:p>
          <a:p>
            <a:r>
              <a:t>Almost always the model: one relationship pointing the wrong way, or no date table.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Power Query: get it in, shape it, keep the recipe.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Power BI is three products, and people confuse them</a:t>
            </a:r>
          </a:p>
          <a:p>
            <a:r>
              <a:t/>
            </a:r>
          </a:p>
          <a:p>
            <a:r>
              <a:t>CONNECT</a:t>
            </a:r>
          </a:p>
          <a:p>
            <a:r>
              <a:t>Build on the preceding slide: Power Query: get it in, shape it, keep the recipe.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A data model.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data model</a:t>
            </a:r>
          </a:p>
          <a:p>
            <a:r>
              <a:t/>
            </a:r>
          </a:p>
          <a:p>
            <a:r>
              <a:t>CONNECT</a:t>
            </a:r>
          </a:p>
          <a:p>
            <a:r>
              <a:t>Build on the preceding slide: Power BI is three products, and people confuse them.</a:t>
            </a:r>
          </a:p>
          <a:p>
            <a:r>
              <a:t/>
            </a:r>
          </a:p>
          <a:p>
            <a:r>
              <a:t>LECTURER CUE</a:t>
            </a:r>
          </a:p>
          <a:p>
            <a:r>
              <a:t>The tables plus the relationships between them, defined once, so you do not write a join in every query.</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A star schema.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star schema</a:t>
            </a:r>
          </a:p>
          <a:p>
            <a:r>
              <a:t/>
            </a:r>
          </a:p>
          <a:p>
            <a:r>
              <a:t>CONNECT</a:t>
            </a:r>
          </a:p>
          <a:p>
            <a:r>
              <a:t>Build on the preceding slide: A data model.</a:t>
            </a:r>
          </a:p>
          <a:p>
            <a:r>
              <a:t/>
            </a:r>
          </a:p>
          <a:p>
            <a:r>
              <a:t>LECTURER CUE</a:t>
            </a:r>
          </a:p>
          <a:p>
            <a:r>
              <a:t>One fact table in the middle holding the events, with dimension tables around it holding the descriptions you slice by. Every dimension points INTO the fact, one-to-many.</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A date table.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date table</a:t>
            </a:r>
          </a:p>
          <a:p>
            <a:r>
              <a:t/>
            </a:r>
          </a:p>
          <a:p>
            <a:r>
              <a:t>CONNECT</a:t>
            </a:r>
          </a:p>
          <a:p>
            <a:r>
              <a:t>Build on the preceding slide: A star schema.</a:t>
            </a:r>
          </a:p>
          <a:p>
            <a:r>
              <a:t/>
            </a:r>
          </a:p>
          <a:p>
            <a:r>
              <a:t>LECTURER CUE</a:t>
            </a:r>
          </a:p>
          <a:p>
            <a:r>
              <a:t>A separate table with one row per date, marked as the date table and related to your fact's date column.</a:t>
            </a:r>
          </a:p>
          <a:p>
            <a:r>
              <a:t/>
            </a:r>
          </a:p>
          <a:p>
            <a:r>
              <a:t>NEXT</a:t>
            </a:r>
          </a:p>
          <a:p>
            <a:r>
              <a:t>The date table, and the step everybody skips.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date table, and the step everybody skips</a:t>
            </a:r>
          </a:p>
          <a:p>
            <a:r>
              <a:t/>
            </a:r>
          </a:p>
          <a:p>
            <a:r>
              <a:t>CONNECT</a:t>
            </a:r>
          </a:p>
          <a:p>
            <a:r>
              <a:t>Build on the preceding slide: A date table.</a:t>
            </a:r>
          </a:p>
          <a:p>
            <a:r>
              <a:t/>
            </a:r>
          </a:p>
          <a:p>
            <a:r>
              <a:t>EXPLAIN IN ORDINARY WORDS</a:t>
            </a:r>
          </a:p>
          <a:p>
            <a:r>
              <a:t>A seasonal pattern repeats at calendar intervals. Compare like periods before calling a change growth; compare counts, coverage and definitions as well.</a:t>
            </a:r>
          </a:p>
          <a:p>
            <a:r>
              <a:t/>
            </a:r>
          </a:p>
          <a:p>
            <a:r>
              <a:t>CHECK AND EXPECTED ANSWER</a:t>
            </a:r>
          </a:p>
          <a:p>
            <a:r>
              <a:t>Does a rise from November to December prove underlying growth? No; compare comparable Decembers and inspect the wider series.</a:t>
            </a:r>
          </a:p>
          <a:p>
            <a:r>
              <a:t/>
            </a:r>
          </a:p>
          <a:p>
            <a:r>
              <a:t>IF LEARNERS ARE STUCK</a:t>
            </a:r>
          </a:p>
          <a:p>
            <a:r>
              <a:t>Draw a two-year timeline and match the same months. Separate description from an explanation of cause.</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The date table, and the step everybody skips.</a:t>
            </a:r>
          </a:p>
          <a:p>
            <a:r>
              <a:t/>
            </a:r>
          </a:p>
          <a:p>
            <a:r>
              <a:t>LECTURER CUE</a:t>
            </a:r>
          </a:p>
          <a:p>
            <a:r>
              <a:t>Ten minutes.</a:t>
            </a:r>
          </a:p>
          <a:p>
            <a:r>
              <a:t/>
            </a:r>
          </a:p>
          <a:p>
            <a:r>
              <a:t>NEXT</a:t>
            </a:r>
          </a:p>
          <a:p>
            <a:r>
              <a:t>The model, which is where the marks are.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are building tonight</a:t>
            </a:r>
          </a:p>
          <a:p>
            <a:r>
              <a:t/>
            </a:r>
          </a:p>
          <a:p>
            <a:r>
              <a:t>CONNECT</a:t>
            </a:r>
          </a:p>
          <a:p>
            <a:r>
              <a:t>Build on the preceding slide: The model, which is where the marks are.</a:t>
            </a:r>
          </a:p>
          <a:p>
            <a:r>
              <a:t/>
            </a:r>
          </a:p>
          <a:p>
            <a:r>
              <a:t>LECTURER CUE</a:t>
            </a:r>
          </a:p>
          <a:p>
            <a:r>
              <a:t>The same six tables you mapped by hand in session 2, now as a model. The arrows all point the same way: many orders to one customer. Row counts are the real ones.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Build these five relationships by hand.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Build these five relationships by hand</a:t>
            </a:r>
          </a:p>
          <a:p>
            <a:r>
              <a:t/>
            </a:r>
          </a:p>
          <a:p>
            <a:r>
              <a:t>CONNECT</a:t>
            </a:r>
          </a:p>
          <a:p>
            <a:r>
              <a:t>Build on the preceding slide: What you are building tonight.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Reconcile against numbers you already have.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Reconcile against numbers you already have</a:t>
            </a:r>
          </a:p>
          <a:p>
            <a:r>
              <a:t/>
            </a:r>
          </a:p>
          <a:p>
            <a:r>
              <a:t>CONNECT</a:t>
            </a:r>
          </a:p>
          <a:p>
            <a:r>
              <a:t>Build on the preceding slide: Build these five relationships by hand.</a:t>
            </a:r>
          </a:p>
          <a:p>
            <a:r>
              <a:t/>
            </a:r>
          </a:p>
          <a:p>
            <a:r>
              <a:t>LECTURER CUE</a:t>
            </a:r>
          </a:p>
          <a:p>
            <a:r>
              <a:t>Reference.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Before you start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you start tonight</a:t>
            </a:r>
          </a:p>
          <a:p>
            <a:r>
              <a:t/>
            </a:r>
          </a:p>
          <a:p>
            <a:r>
              <a:t>CONNECT</a:t>
            </a:r>
          </a:p>
          <a:p>
            <a:r>
              <a:t>Build on the preceding slide: Reconcile against numbers you already have.</a:t>
            </a:r>
          </a:p>
          <a:p>
            <a:r>
              <a:t/>
            </a:r>
          </a:p>
          <a:p>
            <a:r>
              <a:t>LECTURER CUE</a:t>
            </a:r>
          </a:p>
          <a:p>
            <a:r>
              <a:t>Power BI Desktop requires Windows. Rehearse the browser semantic-model editor and Power Query with the actual learner account, workspace permissions and tenant settings. Use the CSV lab route; arrange a Windows lab machine if browser editing is unavailable.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Trusting the relationships Power BI detects for you. Check every direction, then check a total against a number you already trust..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Trusting the relationships Power BI detects for you. Check every direction, then check a total against a number you already trust.</a:t>
            </a:r>
          </a:p>
          <a:p>
            <a:r>
              <a:t/>
            </a:r>
          </a:p>
          <a:p>
            <a:r>
              <a:t>CONNECT</a:t>
            </a:r>
          </a:p>
          <a:p>
            <a:r>
              <a:t>Build on the preceding slide: Before you start tonight.</a:t>
            </a:r>
          </a:p>
          <a:p>
            <a:r>
              <a:t/>
            </a:r>
          </a:p>
          <a:p>
            <a:r>
              <a:t>LECTURER CUE</a:t>
            </a:r>
          </a:p>
          <a:p>
            <a:r>
              <a:t>Trusting the relationships Power BI detects for you. Check every direction, then check a total against a number you already trust.</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Trusting the relationships Power BI detects for you. Check every direction, then check a total against a number you already trust..</a:t>
            </a:r>
          </a:p>
          <a:p>
            <a:r>
              <a:t/>
            </a:r>
          </a:p>
          <a:p>
            <a:r>
              <a:t>DISCUSSION KEY FOR THIS SLIDE</a:t>
            </a:r>
          </a:p>
          <a:p>
            <a:r>
              <a:t>ANSWERS</a:t>
            </a:r>
          </a:p>
          <a:p>
            <a:r>
              <a:t>How did you do?</a:t>
            </a:r>
          </a:p>
          <a:p>
            <a:r>
              <a:t>A</a:t>
            </a:r>
          </a:p>
          <a:p>
            <a:r>
              <a:t>Why a flat table is wrong</a:t>
            </a:r>
          </a:p>
          <a:p>
            <a:r>
              <a:t>It cannot represent something that did not happen. A customer who bought nothing this quarter and a month with no orders both vanish, because the only rows that exist are rows where something occurred. This is session 2, arriving again.</a:t>
            </a:r>
          </a:p>
          <a:p>
            <a:r>
              <a:t>B</a:t>
            </a:r>
          </a:p>
          <a:p>
            <a:r>
              <a:t>Months sorting alphabetically</a:t>
            </a:r>
          </a:p>
          <a:p>
            <a:r>
              <a:t>The Month column is text and has not been told to sort by MonthNo. Column tools, Sort by column, MonthNo. It is not a bug.</a:t>
            </a:r>
          </a:p>
          <a:p>
            <a:r>
              <a:t>C</a:t>
            </a:r>
          </a:p>
          <a:p>
            <a:r>
              <a:t>Revenue three times too big</a:t>
            </a:r>
          </a:p>
          <a:p>
            <a:r>
              <a:t>Fan-out from a relationship, which is session 5's trap in a new tool. Check the direction and cardinality of every one, especially any you did not build yourself.</a:t>
            </a:r>
          </a:p>
          <a:p>
            <a:r>
              <a:t>Let learners attempt first; use this to explain the reasoning, not just reveal the answer.</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Load it, model it, reconcile it.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Load it, model it, reconcile it continued</a:t>
            </a:r>
          </a:p>
          <a:p>
            <a:r>
              <a:t/>
            </a:r>
          </a:p>
          <a:p>
            <a:r>
              <a:t>CONNECT</a:t>
            </a:r>
          </a:p>
          <a:p>
            <a:r>
              <a:t>Build on the preceding slide: Load it, model it, reconcile it.</a:t>
            </a:r>
          </a:p>
          <a:p>
            <a:r>
              <a:t/>
            </a:r>
          </a:p>
          <a:p>
            <a:r>
              <a:t>LECTURER CUE</a:t>
            </a:r>
          </a:p>
          <a:p>
            <a:r>
              <a:t>Five tables in, five relationships built by hand, a date table marked and sorted, and three visuals whose totals match the numbers you already got from SQL and pandas. Reconciliation is your practice check.</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Load it, model it, reconcile it continued.</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Add the Uganda Healthsites file and put a map visual on it. Notice what that file makes easy and what it makes impossible.</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a:p>
            <a:r>
              <a:t/>
            </a:r>
          </a:p>
          <a:p>
            <a:r>
              <a:t>NEXT</a:t>
            </a:r>
          </a:p>
          <a:p>
            <a:r>
              <a:t>The model decides whether the report is true.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model decides whether the report is true</a:t>
            </a:r>
          </a:p>
          <a:p>
            <a:r>
              <a:t/>
            </a:r>
          </a:p>
          <a:p>
            <a:r>
              <a:t>CONNECT</a:t>
            </a:r>
          </a:p>
          <a:p>
            <a:r>
              <a:t>Build on the preceding slide: Before the next session.</a:t>
            </a:r>
          </a:p>
          <a:p>
            <a:r>
              <a:t/>
            </a:r>
          </a:p>
          <a:p>
            <a:r>
              <a:t>LECTURER CUE</a:t>
            </a:r>
          </a:p>
          <a:p>
            <a:r>
              <a:t>Visuals are half an hour of work. The model is the difference between a dashboard and a liability. Get the arrows right, then make it look good.</a:t>
            </a:r>
          </a:p>
          <a:p>
            <a:r>
              <a:t/>
            </a:r>
          </a:p>
          <a:p>
            <a:r>
              <a:t>EXPLAIN IN ORDINARY WORDS</a:t>
            </a:r>
          </a:p>
          <a:p>
            <a:r>
              <a:t>Begin with the question and intended comparison. Identify what an axis, bar, point or colour represents, including its unit. A chart summarises data and may hide variation.</a:t>
            </a:r>
          </a:p>
          <a:p>
            <a:r>
              <a:t/>
            </a:r>
          </a:p>
          <a:p>
            <a:r>
              <a:t>CHECK AND EXPECTED ANSWER</a:t>
            </a:r>
          </a:p>
          <a:p>
            <a:r>
              <a:t>For a bar chart comparing amounts, why normally start the value axis at zero? Bar length encodes magnitude; truncation can exaggerate differences.</a:t>
            </a:r>
          </a:p>
          <a:p>
            <a:r>
              <a:t/>
            </a:r>
          </a:p>
          <a:p>
            <a:r>
              <a:t>IF LEARNERS ARE STUCK</a:t>
            </a:r>
          </a:p>
          <a:p>
            <a:r>
              <a:t>Read one mark aloud as a sentence. Check the population, period, filters and units before stating the finding.</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Power Query: get it in, shape it, keep the recipe</a:t>
            </a:r>
          </a:p>
          <a:p>
            <a:r>
              <a:t/>
            </a:r>
          </a:p>
          <a:p>
            <a:r>
              <a:t>CONNECT</a:t>
            </a:r>
          </a:p>
          <a:p>
            <a:r>
              <a:t>Build on the preceding slide: Why does a Power BI total come out wrong.</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Power BI is three products, and people confuse them.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model, which is where the marks are</a:t>
            </a:r>
          </a:p>
          <a:p>
            <a:r>
              <a:t/>
            </a:r>
          </a:p>
          <a:p>
            <a:r>
              <a:t>CONNECT</a:t>
            </a:r>
          </a:p>
          <a:p>
            <a:r>
              <a:t>Build on the preceding slide: Break.</a:t>
            </a:r>
          </a:p>
          <a:p>
            <a:r>
              <a:t/>
            </a:r>
          </a:p>
          <a:p>
            <a:r>
              <a:t>DELIVER THIS SLIDE</a:t>
            </a:r>
          </a:p>
          <a:p>
            <a:r>
              <a:t>Read the stated purpose, then point to the named example or action on the slide. Ask learners to describe what they will do before moving on. For a break slide, announce the return time; for a section divider, name the next concrete task.</a:t>
            </a:r>
          </a:p>
          <a:p>
            <a:r>
              <a:t/>
            </a:r>
          </a:p>
          <a:p>
            <a:r>
              <a:t>NEXT</a:t>
            </a:r>
          </a:p>
          <a:p>
            <a:r>
              <a:t>What you are building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Load it, model it, reconcile it</a:t>
            </a:r>
          </a:p>
          <a:p>
            <a:r>
              <a:t/>
            </a:r>
          </a:p>
          <a:p>
            <a:r>
              <a:t>CONNECT</a:t>
            </a:r>
          </a:p>
          <a:p>
            <a:r>
              <a:t>Build on the preceding slide: How did you do?.</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Load it, model it, reconcile it continued.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3.xml" /></ns0: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21.xml" /></ns0: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21972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14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Getting data in, and modelling it</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Almost always the model: one relationship pointing the wrong way, or no date table.</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5  ·  POWER BI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BI tools: loading, transformation, data modelling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488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Power Query</a:t>
            </a:r>
          </a:p>
        </p:txBody>
      </p:sp>
      <p:sp>
        <p:nvSpPr>
          <p:cNvPr id="9" name="TextBox 8"/>
          <p:cNvSpPr txBox="1"/>
          <p:nvPr/>
        </p:nvSpPr>
        <p:spPr>
          <a:xfrm>
            <a:off x="3154680" y="2276856"/>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The part of Power BI that gets the data and shapes it. Its Applied Steps list is a recipe that runs again next month.</a:t>
            </a:r>
          </a:p>
        </p:txBody>
      </p:sp>
      <p:sp>
        <p:nvSpPr>
          <p:cNvPr id="10" name="TextBox 9"/>
          <p:cNvSpPr txBox="1"/>
          <p:nvPr/>
        </p:nvSpPr>
        <p:spPr>
          <a:xfrm>
            <a:off x="8275320" y="2276856"/>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11" name="TextBox 10"/>
          <p:cNvSpPr txBox="1"/>
          <p:nvPr/>
        </p:nvSpPr>
        <p:spPr>
          <a:xfrm>
            <a:off x="685800" y="2962296"/>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Data model</a:t>
            </a:r>
          </a:p>
        </p:txBody>
      </p:sp>
      <p:sp>
        <p:nvSpPr>
          <p:cNvPr id="12" name="TextBox 11"/>
          <p:cNvSpPr txBox="1"/>
          <p:nvPr/>
        </p:nvSpPr>
        <p:spPr>
          <a:xfrm>
            <a:off x="3154680" y="2962296"/>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The tables plus the relationships between them. This is what decides whether a total is right.</a:t>
            </a:r>
          </a:p>
        </p:txBody>
      </p:sp>
      <p:sp>
        <p:nvSpPr>
          <p:cNvPr id="13" name="TextBox 12"/>
          <p:cNvSpPr txBox="1"/>
          <p:nvPr/>
        </p:nvSpPr>
        <p:spPr>
          <a:xfrm>
            <a:off x="8275320" y="2962296"/>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14" name="Rectangle 13"/>
          <p:cNvSpPr/>
          <p:nvPr/>
        </p:nvSpPr>
        <p:spPr>
          <a:xfrm>
            <a:off x="576072" y="3611161"/>
            <a:ext cx="11039551" cy="6488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647737"/>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Relationship</a:t>
            </a:r>
          </a:p>
        </p:txBody>
      </p:sp>
      <p:sp>
        <p:nvSpPr>
          <p:cNvPr id="16" name="TextBox 15"/>
          <p:cNvSpPr txBox="1"/>
          <p:nvPr/>
        </p:nvSpPr>
        <p:spPr>
          <a:xfrm>
            <a:off x="3154680" y="3647737"/>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A join defined once in the model rather than written in every query.</a:t>
            </a:r>
          </a:p>
        </p:txBody>
      </p:sp>
      <p:sp>
        <p:nvSpPr>
          <p:cNvPr id="17" name="TextBox 16"/>
          <p:cNvSpPr txBox="1"/>
          <p:nvPr/>
        </p:nvSpPr>
        <p:spPr>
          <a:xfrm>
            <a:off x="8275320" y="3647737"/>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18" name="TextBox 17"/>
          <p:cNvSpPr txBox="1"/>
          <p:nvPr/>
        </p:nvSpPr>
        <p:spPr>
          <a:xfrm>
            <a:off x="685800" y="4333177"/>
            <a:ext cx="2240280" cy="331535"/>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Star schema</a:t>
            </a:r>
          </a:p>
        </p:txBody>
      </p:sp>
      <p:sp>
        <p:nvSpPr>
          <p:cNvPr id="19" name="TextBox 18"/>
          <p:cNvSpPr txBox="1"/>
          <p:nvPr/>
        </p:nvSpPr>
        <p:spPr>
          <a:xfrm>
            <a:off x="3154680" y="4333177"/>
            <a:ext cx="4892040" cy="331535"/>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One fact table in the middle, dimension tables around it.</a:t>
            </a:r>
          </a:p>
        </p:txBody>
      </p:sp>
      <p:sp>
        <p:nvSpPr>
          <p:cNvPr id="20" name="TextBox 19"/>
          <p:cNvSpPr txBox="1"/>
          <p:nvPr/>
        </p:nvSpPr>
        <p:spPr>
          <a:xfrm>
            <a:off x="8275320" y="4333177"/>
            <a:ext cx="3230575" cy="331535"/>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21" name="Rectangle 20"/>
          <p:cNvSpPr/>
          <p:nvPr/>
        </p:nvSpPr>
        <p:spPr>
          <a:xfrm>
            <a:off x="576072" y="4710433"/>
            <a:ext cx="11039551" cy="64886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747009"/>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Fact and dimension</a:t>
            </a:r>
          </a:p>
        </p:txBody>
      </p:sp>
      <p:sp>
        <p:nvSpPr>
          <p:cNvPr id="23" name="TextBox 22"/>
          <p:cNvSpPr txBox="1"/>
          <p:nvPr/>
        </p:nvSpPr>
        <p:spPr>
          <a:xfrm>
            <a:off x="3154680" y="4747009"/>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The fact table holds the events; dimensions hold the descriptions you slice by.</a:t>
            </a:r>
          </a:p>
        </p:txBody>
      </p:sp>
      <p:sp>
        <p:nvSpPr>
          <p:cNvPr id="24" name="TextBox 23"/>
          <p:cNvSpPr txBox="1"/>
          <p:nvPr/>
        </p:nvSpPr>
        <p:spPr>
          <a:xfrm>
            <a:off x="8275320" y="4747009"/>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
        <p:nvSpPr>
          <p:cNvPr id="25" name="TextBox 24"/>
          <p:cNvSpPr txBox="1"/>
          <p:nvPr/>
        </p:nvSpPr>
        <p:spPr>
          <a:xfrm>
            <a:off x="685800" y="5432449"/>
            <a:ext cx="2240280" cy="603144"/>
          </a:xfrm>
          <a:prstGeom prst="rect">
            <a:avLst/>
          </a:prstGeom>
          <a:noFill/>
        </p:spPr>
        <p:txBody>
          <a:bodyPr wrap="square" lIns="0" rIns="0" tIns="0" bIns="0" anchor="t">
            <a:spAutoFit/>
          </a:bodyPr>
          <a:lstStyle/>
          <a:p>
            <a:pPr algn="l">
              <a:lnSpc>
                <a:spcPct val="114000"/>
              </a:lnSpc>
              <a:spcAft>
                <a:spcPts val="600"/>
              </a:spcAft>
            </a:pPr>
            <a:r>
              <a:rPr sz="1584" b="1" i="0">
                <a:solidFill>
                  <a:srgbClr val="1C3144"/>
                </a:solidFill>
                <a:latin typeface="Calibri"/>
              </a:rPr>
              <a:t>Date table</a:t>
            </a:r>
          </a:p>
        </p:txBody>
      </p:sp>
      <p:sp>
        <p:nvSpPr>
          <p:cNvPr id="26" name="TextBox 25"/>
          <p:cNvSpPr txBox="1"/>
          <p:nvPr/>
        </p:nvSpPr>
        <p:spPr>
          <a:xfrm>
            <a:off x="3154680" y="5432449"/>
            <a:ext cx="4892040" cy="603144"/>
          </a:xfrm>
          <a:prstGeom prst="rect">
            <a:avLst/>
          </a:prstGeom>
          <a:noFill/>
        </p:spPr>
        <p:txBody>
          <a:bodyPr wrap="square" lIns="0" rIns="0" tIns="0" bIns="0" anchor="t">
            <a:spAutoFit/>
          </a:bodyPr>
          <a:lstStyle/>
          <a:p>
            <a:pPr algn="l">
              <a:lnSpc>
                <a:spcPct val="116000"/>
              </a:lnSpc>
              <a:spcAft>
                <a:spcPts val="600"/>
              </a:spcAft>
            </a:pPr>
            <a:r>
              <a:rPr sz="1518" b="0" i="0">
                <a:solidFill>
                  <a:srgbClr val="334657"/>
                </a:solidFill>
                <a:latin typeface="Calibri"/>
              </a:rPr>
              <a:t>A table with one row per date for consistent time filtering. Sort month names by month number.</a:t>
            </a:r>
          </a:p>
        </p:txBody>
      </p:sp>
      <p:sp>
        <p:nvSpPr>
          <p:cNvPr id="27" name="TextBox 26"/>
          <p:cNvSpPr txBox="1"/>
          <p:nvPr/>
        </p:nvSpPr>
        <p:spPr>
          <a:xfrm>
            <a:off x="8275320" y="5432449"/>
            <a:ext cx="3230575" cy="603144"/>
          </a:xfrm>
          <a:prstGeom prst="rect">
            <a:avLst/>
          </a:prstGeom>
          <a:noFill/>
        </p:spPr>
        <p:txBody>
          <a:bodyPr wrap="square" lIns="0" rIns="0" tIns="0" bIns="0" anchor="t">
            <a:spAutoFit/>
          </a:bodyPr>
          <a:lstStyle/>
          <a:p>
            <a:pPr algn="l">
              <a:lnSpc>
                <a:spcPct val="116000"/>
              </a:lnSpc>
              <a:spcAft>
                <a:spcPts val="600"/>
              </a:spcAft>
            </a:pPr>
            <a:r>
              <a:rPr sz="1518"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Load several tables and clean them in Power Query without touching the source.</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Build a relational model whose totals reconcile.</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Check a dashboard total against a number you already trust.</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14 of 15  ·  Power BI  ·  Getting data in, and modelling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Why does a Power BI total come out wrong</a:t>
            </a:r>
          </a:p>
          <a:p>
            <a:pPr algn="l">
              <a:lnSpc>
                <a:spcPct val="115000"/>
              </a:lnSpc>
              <a:spcAft>
                <a:spcPts val="600"/>
              </a:spcAft>
            </a:pPr>
            <a:r>
              <a:rPr sz="3400" b="0" i="1">
                <a:solidFill>
                  <a:srgbClr val="FFFFFF"/>
                </a:solidFill>
                <a:latin typeface="Cambria"/>
              </a:rPr>
              <a:t>when every number behind it is right?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Almost always the model: one relationship pointing the wrong way, or no date table.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Power Query: get it in, shape it, keep the recipe</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Power BI is three products people confuse: Power Query gets and shapes, the model relates, the report shows.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THREE PARTS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Power BI is three products, and people confuse them</a:t>
            </a:r>
          </a:p>
        </p:txBody>
      </p:sp>
      <p:sp>
        <p:nvSpPr>
          <p:cNvPr id="4" name="Rounded Rectangle 3"/>
          <p:cNvSpPr/>
          <p:nvPr/>
        </p:nvSpPr>
        <p:spPr>
          <a:xfrm>
            <a:off x="685800" y="1911095"/>
            <a:ext cx="10820095" cy="105384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245995"/>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Power Query gets the data and shapes it</a:t>
            </a:r>
          </a:p>
        </p:txBody>
      </p:sp>
      <p:sp>
        <p:nvSpPr>
          <p:cNvPr id="7" name="TextBox 6"/>
          <p:cNvSpPr txBox="1"/>
          <p:nvPr/>
        </p:nvSpPr>
        <p:spPr>
          <a:xfrm>
            <a:off x="1554480" y="2295144"/>
            <a:ext cx="9631375" cy="578358"/>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Promote headers, set types, trim, remove duplicates. The Applied Steps list is a recipe that runs again next month on new data. It is your cleaning log from session 8, built by clicking.</a:t>
            </a:r>
          </a:p>
        </p:txBody>
      </p:sp>
      <p:sp>
        <p:nvSpPr>
          <p:cNvPr id="8" name="Rounded Rectangle 7"/>
          <p:cNvSpPr/>
          <p:nvPr/>
        </p:nvSpPr>
        <p:spPr>
          <a:xfrm>
            <a:off x="685800" y="3019806"/>
            <a:ext cx="10820095" cy="105384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3354705"/>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313867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model relates the tables</a:t>
            </a:r>
          </a:p>
        </p:txBody>
      </p:sp>
      <p:sp>
        <p:nvSpPr>
          <p:cNvPr id="11" name="TextBox 10"/>
          <p:cNvSpPr txBox="1"/>
          <p:nvPr/>
        </p:nvSpPr>
        <p:spPr>
          <a:xfrm>
            <a:off x="1554480" y="3403854"/>
            <a:ext cx="9631375" cy="578358"/>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One fact table, dimensions around it, relationships with a direction. This is the part that decides whether your totals are right, and it is the part beginners skip.</a:t>
            </a:r>
          </a:p>
        </p:txBody>
      </p:sp>
      <p:sp>
        <p:nvSpPr>
          <p:cNvPr id="12" name="Rounded Rectangle 11"/>
          <p:cNvSpPr/>
          <p:nvPr/>
        </p:nvSpPr>
        <p:spPr>
          <a:xfrm>
            <a:off x="685800" y="4128516"/>
            <a:ext cx="10820095" cy="105384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4463415"/>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424738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report shows the answer</a:t>
            </a:r>
          </a:p>
        </p:txBody>
      </p:sp>
      <p:sp>
        <p:nvSpPr>
          <p:cNvPr id="15" name="TextBox 14"/>
          <p:cNvSpPr txBox="1"/>
          <p:nvPr/>
        </p:nvSpPr>
        <p:spPr>
          <a:xfrm>
            <a:off x="1554480" y="4512564"/>
            <a:ext cx="9631375" cy="578358"/>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Visuals. This is where everybody starts, and starting here is why the first dashboard most people build has wrong totals.</a:t>
            </a:r>
          </a:p>
        </p:txBody>
      </p:sp>
      <p:sp>
        <p:nvSpPr>
          <p:cNvPr id="16" name="Rounded Rectangle 15"/>
          <p:cNvSpPr/>
          <p:nvPr/>
        </p:nvSpPr>
        <p:spPr>
          <a:xfrm>
            <a:off x="685800" y="5237226"/>
            <a:ext cx="10820095" cy="105384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5572125"/>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535609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The browser route needs a readiness check</a:t>
            </a:r>
          </a:p>
        </p:txBody>
      </p:sp>
      <p:sp>
        <p:nvSpPr>
          <p:cNvPr id="19" name="TextBox 18"/>
          <p:cNvSpPr txBox="1"/>
          <p:nvPr/>
        </p:nvSpPr>
        <p:spPr>
          <a:xfrm>
            <a:off x="1554480" y="5621274"/>
            <a:ext cx="9631375" cy="578358"/>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Power BI Desktop is Windows only. The browser Service can edit models and use Power Query when permissions and tenant settings allow it. Test the supplied CSV workflow with the actual student account before class.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data model</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tables plus the relationships between them, defined once, so you do not write a join in every query.</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Five relationships for the course data. Define them once and every visual you build afterwards inherits them.</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Doing your VLOOKUPs once, at the start, instead of in every sheet.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star schema</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One fact table in the middle holding the events, with dimension tables around it holding the descriptions you slice by. Every dimension points INTO the fact, one-to-many.</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order_items is the fact: 20,234 rows, one per product per order. orders, customers, products and reps are dimensions.</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well-organised workbook: one big transaction sheet and several small lookup sheets. You have probably built one without knowing it had a name.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date table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separate table with one row per date, marked as the date table and related to your fact's date column.</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731 days, 1 January 2024 to 31 December 2025. Sort the Month names by MonthNo so that January comes first.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helper column of month names you add by hand every time. This one is built once and reused.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date table, and the step everybody skips</a:t>
            </a:r>
          </a:p>
        </p:txBody>
      </p:sp>
      <p:sp>
        <p:nvSpPr>
          <p:cNvPr id="4" name="Rounded Rectangle 3"/>
          <p:cNvSpPr/>
          <p:nvPr/>
        </p:nvSpPr>
        <p:spPr>
          <a:xfrm>
            <a:off x="7432206" y="512064"/>
            <a:ext cx="4073688"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POWER BI · MODELLING · NEW TABLE</a:t>
            </a:r>
          </a:p>
        </p:txBody>
      </p:sp>
      <p:sp>
        <p:nvSpPr>
          <p:cNvPr id="5" name="Rectangle 4"/>
          <p:cNvSpPr/>
          <p:nvPr/>
        </p:nvSpPr>
        <p:spPr>
          <a:xfrm>
            <a:off x="685800" y="1911095"/>
            <a:ext cx="10820095" cy="344125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48644"/>
          </a:xfrm>
          <a:prstGeom prst="rect">
            <a:avLst/>
          </a:prstGeom>
          <a:noFill/>
        </p:spPr>
        <p:txBody>
          <a:bodyPr wrap="square" lIns="0" rIns="0" tIns="0" bIns="0" anchor="t">
            <a:spAutoFit/>
          </a:bodyPr>
          <a:lstStyle/>
          <a:p>
            <a:pPr algn="l">
              <a:lnSpc>
                <a:spcPts val="1884"/>
              </a:lnSpc>
              <a:spcAft>
                <a:spcPts val="0"/>
              </a:spcAft>
            </a:pPr>
            <a:r>
              <a:rPr sz="1386" b="0" i="0">
                <a:solidFill>
                  <a:srgbClr val="D8E3EC"/>
                </a:solidFill>
                <a:latin typeface="Courier New"/>
              </a:rPr>
              <a:t>Dates =</a:t>
            </a:r>
          </a:p>
          <a:p>
            <a:pPr algn="l">
              <a:lnSpc>
                <a:spcPts val="1884"/>
              </a:lnSpc>
              <a:spcAft>
                <a:spcPts val="0"/>
              </a:spcAft>
            </a:pPr>
            <a:r>
              <a:rPr sz="1386" b="0" i="0">
                <a:solidFill>
                  <a:srgbClr val="D8E3EC"/>
                </a:solidFill>
                <a:latin typeface="Courier New"/>
              </a:rPr>
              <a:t>ADDCOLUMNS(</a:t>
            </a:r>
          </a:p>
          <a:p>
            <a:pPr algn="l">
              <a:lnSpc>
                <a:spcPts val="1884"/>
              </a:lnSpc>
              <a:spcAft>
                <a:spcPts val="0"/>
              </a:spcAft>
            </a:pPr>
            <a:r>
              <a:rPr sz="1386" b="0" i="0">
                <a:solidFill>
                  <a:srgbClr val="D8E3EC"/>
                </a:solidFill>
                <a:latin typeface="Courier New"/>
              </a:rPr>
              <a:t>    CALENDAR(DATE(2024, 1, 1), DATE(2025, 12, 31)),</a:t>
            </a:r>
          </a:p>
          <a:p>
            <a:pPr algn="l">
              <a:lnSpc>
                <a:spcPts val="1884"/>
              </a:lnSpc>
              <a:spcAft>
                <a:spcPts val="0"/>
              </a:spcAft>
            </a:pPr>
            <a:r>
              <a:rPr sz="1386" b="0" i="0">
                <a:solidFill>
                  <a:srgbClr val="D8E3EC"/>
                </a:solidFill>
                <a:latin typeface="Courier New"/>
              </a:rPr>
              <a:t>    "Year",      YEAR([Date]),</a:t>
            </a:r>
          </a:p>
          <a:p>
            <a:pPr algn="l">
              <a:lnSpc>
                <a:spcPts val="1884"/>
              </a:lnSpc>
              <a:spcAft>
                <a:spcPts val="0"/>
              </a:spcAft>
            </a:pPr>
            <a:r>
              <a:rPr sz="1386" b="0" i="0">
                <a:solidFill>
                  <a:srgbClr val="D8E3EC"/>
                </a:solidFill>
                <a:latin typeface="Courier New"/>
              </a:rPr>
              <a:t>    "Month",     FORMAT([Date], "mmm"),</a:t>
            </a:r>
          </a:p>
          <a:p>
            <a:pPr algn="l">
              <a:lnSpc>
                <a:spcPts val="1884"/>
              </a:lnSpc>
              <a:spcAft>
                <a:spcPts val="0"/>
              </a:spcAft>
            </a:pPr>
            <a:r>
              <a:rPr sz="1386" b="0" i="0">
                <a:solidFill>
                  <a:srgbClr val="D8E3EC"/>
                </a:solidFill>
                <a:latin typeface="Courier New"/>
              </a:rPr>
              <a:t>    "MonthNo",   MONTH([Date]),</a:t>
            </a:r>
          </a:p>
          <a:p>
            <a:pPr algn="l">
              <a:lnSpc>
                <a:spcPts val="1884"/>
              </a:lnSpc>
              <a:spcAft>
                <a:spcPts val="0"/>
              </a:spcAft>
            </a:pPr>
            <a:r>
              <a:rPr sz="1386" b="0" i="0">
                <a:solidFill>
                  <a:srgbClr val="D8E3EC"/>
                </a:solidFill>
                <a:latin typeface="Courier New"/>
              </a:rPr>
              <a:t>    "YearMonth", FORMAT([Date], "yyyy-mm")</a:t>
            </a:r>
          </a:p>
          <a:p>
            <a:pPr algn="l">
              <a:lnSpc>
                <a:spcPts val="1884"/>
              </a:lnSpc>
              <a:spcAft>
                <a:spcPts val="0"/>
              </a:spcAft>
            </a:pPr>
            <a:r>
              <a:rPr sz="1386" b="0" i="0">
                <a:solidFill>
                  <a:srgbClr val="D8E3EC"/>
                </a:solidFill>
                <a:latin typeface="Courier New"/>
              </a:rPr>
              <a:t>)</a:t>
            </a:r>
          </a:p>
          <a:p>
            <a:pPr algn="l">
              <a:lnSpc>
                <a:spcPts val="1884"/>
              </a:lnSpc>
              <a:spcAft>
                <a:spcPts val="0"/>
              </a:spcAft>
            </a:pPr>
            <a:r>
              <a:rPr sz="1386" b="0" i="0">
                <a:solidFill>
                  <a:srgbClr val="D8E3EC"/>
                </a:solidFill>
                <a:latin typeface="Courier New"/>
              </a:rPr>
              <a:t/>
            </a:r>
          </a:p>
          <a:p>
            <a:pPr algn="l">
              <a:lnSpc>
                <a:spcPts val="1884"/>
              </a:lnSpc>
              <a:spcAft>
                <a:spcPts val="0"/>
              </a:spcAft>
            </a:pPr>
            <a:r>
              <a:rPr sz="1386" b="0" i="0">
                <a:solidFill>
                  <a:srgbClr val="D8E3EC"/>
                </a:solidFill>
                <a:latin typeface="Courier New"/>
              </a:rPr>
              <a:t>-- then, and this is the step people miss:</a:t>
            </a:r>
          </a:p>
          <a:p>
            <a:pPr algn="l">
              <a:lnSpc>
                <a:spcPts val="1884"/>
              </a:lnSpc>
              <a:spcAft>
                <a:spcPts val="0"/>
              </a:spcAft>
            </a:pPr>
            <a:r>
              <a:rPr sz="1386" b="0" i="0">
                <a:solidFill>
                  <a:srgbClr val="D8E3EC"/>
                </a:solidFill>
                <a:latin typeface="Courier New"/>
              </a:rPr>
              <a:t>--   1. Table tools &gt; Mark as date table &gt; Date</a:t>
            </a:r>
          </a:p>
          <a:p>
            <a:pPr algn="l">
              <a:lnSpc>
                <a:spcPts val="1884"/>
              </a:lnSpc>
              <a:spcAft>
                <a:spcPts val="0"/>
              </a:spcAft>
            </a:pPr>
            <a:r>
              <a:rPr sz="1386" b="0" i="0">
                <a:solidFill>
                  <a:srgbClr val="D8E3EC"/>
                </a:solidFill>
                <a:latin typeface="Courier New"/>
              </a:rPr>
              <a:t>--   2. relate Dates[Date] to orders[order_date]</a:t>
            </a:r>
          </a:p>
          <a:p>
            <a:pPr algn="l">
              <a:lnSpc>
                <a:spcPts val="1884"/>
              </a:lnSpc>
              <a:spcAft>
                <a:spcPts val="0"/>
              </a:spcAft>
            </a:pPr>
            <a:r>
              <a:rPr sz="1386" b="0" i="0">
                <a:solidFill>
                  <a:srgbClr val="D8E3EC"/>
                </a:solidFill>
                <a:latin typeface="Courier New"/>
              </a:rPr>
              <a:t>--   3. Column tools &gt; Month &gt; Sort by column &gt; MonthNo</a:t>
            </a:r>
          </a:p>
        </p:txBody>
      </p:sp>
      <p:sp>
        <p:nvSpPr>
          <p:cNvPr id="7" name="Rounded Rectangle 6"/>
          <p:cNvSpPr/>
          <p:nvPr/>
        </p:nvSpPr>
        <p:spPr>
          <a:xfrm>
            <a:off x="685800" y="557180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580948"/>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Skip step 3 and your months read April, August, December, February. It looks like a bug in Power BI and it is alphabetical sorting doing exactly what it was told.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model, which is where the marks are</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model: orders links order_items to customers and reps.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LOOK AT THIS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are building tonight</a:t>
            </a:r>
          </a:p>
        </p:txBody>
      </p:sp>
      <p:pic>
        <p:nvPicPr>
          <p:cNvPr id="4" name="Picture 3" descr="fig_star_schema.png"/>
          <p:cNvPicPr>
            <a:picLocks noChangeAspect="1"/>
          </p:cNvPicPr>
          <p:nvPr/>
        </p:nvPicPr>
        <p:blipFill>
          <a:blip r:embed="rId2"/>
          <a:stretch>
            <a:fillRect/>
          </a:stretch>
        </p:blipFill>
        <p:spPr>
          <a:xfrm>
            <a:off x="2630905" y="1911095"/>
            <a:ext cx="6929884" cy="3709827"/>
          </a:xfrm>
          <a:prstGeom prst="rect">
            <a:avLst/>
          </a:prstGeom>
        </p:spPr>
      </p:pic>
      <p:sp>
        <p:nvSpPr>
          <p:cNvPr id="5" name="TextBox 4"/>
          <p:cNvSpPr txBox="1"/>
          <p:nvPr/>
        </p:nvSpPr>
        <p:spPr>
          <a:xfrm>
            <a:off x="685800" y="5767227"/>
            <a:ext cx="10820095" cy="706724"/>
          </a:xfrm>
          <a:prstGeom prst="rect">
            <a:avLst/>
          </a:prstGeom>
          <a:noFill/>
        </p:spPr>
        <p:txBody>
          <a:bodyPr wrap="square" lIns="0" rIns="0" tIns="0" bIns="0" anchor="t">
            <a:spAutoFit/>
          </a:bodyPr>
          <a:lstStyle/>
          <a:p>
            <a:pPr algn="l">
              <a:lnSpc>
                <a:spcPct val="120000"/>
              </a:lnSpc>
              <a:spcAft>
                <a:spcPts val="600"/>
              </a:spcAft>
            </a:pPr>
            <a:r>
              <a:rPr sz="1716" b="0" i="0">
                <a:solidFill>
                  <a:srgbClr val="334657"/>
                </a:solidFill>
                <a:latin typeface="Calibri"/>
              </a:rPr>
              <a:t>The same six tables you mapped by hand in session 2, now as a model. The arrows all point the same way: many orders to one customer. Row counts are the real ones.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MODEL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Build these five relationships by hand</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The five, all many-to-one</a:t>
            </a:r>
          </a:p>
        </p:txBody>
      </p:sp>
      <p:sp>
        <p:nvSpPr>
          <p:cNvPr id="5" name="TextBox 4"/>
          <p:cNvSpPr txBox="1"/>
          <p:nvPr/>
        </p:nvSpPr>
        <p:spPr>
          <a:xfrm>
            <a:off x="685800" y="2409332"/>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order_items to orders on order_id</a:t>
            </a:r>
          </a:p>
        </p:txBody>
      </p:sp>
      <p:sp>
        <p:nvSpPr>
          <p:cNvPr id="6" name="TextBox 5"/>
          <p:cNvSpPr txBox="1"/>
          <p:nvPr/>
        </p:nvSpPr>
        <p:spPr>
          <a:xfrm>
            <a:off x="685800" y="2870329"/>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orders to customers on customer_id</a:t>
            </a:r>
          </a:p>
        </p:txBody>
      </p:sp>
      <p:sp>
        <p:nvSpPr>
          <p:cNvPr id="7" name="TextBox 6"/>
          <p:cNvSpPr txBox="1"/>
          <p:nvPr/>
        </p:nvSpPr>
        <p:spPr>
          <a:xfrm>
            <a:off x="685800" y="3331326"/>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orders to reps on rep_id</a:t>
            </a:r>
          </a:p>
        </p:txBody>
      </p:sp>
      <p:sp>
        <p:nvSpPr>
          <p:cNvPr id="8" name="TextBox 7"/>
          <p:cNvSpPr txBox="1"/>
          <p:nvPr/>
        </p:nvSpPr>
        <p:spPr>
          <a:xfrm>
            <a:off x="685800" y="3792323"/>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order_items to products on product_id</a:t>
            </a:r>
          </a:p>
        </p:txBody>
      </p:sp>
      <p:sp>
        <p:nvSpPr>
          <p:cNvPr id="9" name="TextBox 8"/>
          <p:cNvSpPr txBox="1"/>
          <p:nvPr/>
        </p:nvSpPr>
        <p:spPr>
          <a:xfrm>
            <a:off x="685800" y="4253320"/>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orders[order_date] to Dates[Date]</a:t>
            </a:r>
          </a:p>
        </p:txBody>
      </p:sp>
      <p:sp>
        <p:nvSpPr>
          <p:cNvPr id="10" name="Rounded Rectangle 9"/>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Delete the auto-detected ones first</a:t>
            </a:r>
          </a:p>
        </p:txBody>
      </p:sp>
      <p:sp>
        <p:nvSpPr>
          <p:cNvPr id="12" name="TextBox 11"/>
          <p:cNvSpPr txBox="1"/>
          <p:nvPr/>
        </p:nvSpPr>
        <p:spPr>
          <a:xfrm>
            <a:off x="6575907" y="2496312"/>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Power BI guesses relationships on load. It is right about most of them and wrong in a way you will not notice until a total is wrong.</a:t>
            </a:r>
          </a:p>
        </p:txBody>
      </p:sp>
      <p:sp>
        <p:nvSpPr>
          <p:cNvPr id="13" name="TextBox 12"/>
          <p:cNvSpPr txBox="1"/>
          <p:nvPr/>
        </p:nvSpPr>
        <p:spPr>
          <a:xfrm>
            <a:off x="6575907" y="3644669"/>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Delete all of them, build these five yourself, and check every arrow direction.</a:t>
            </a:r>
          </a:p>
        </p:txBody>
      </p:sp>
      <p:sp>
        <p:nvSpPr>
          <p:cNvPr id="14" name="TextBox 13"/>
          <p:cNvSpPr txBox="1"/>
          <p:nvPr/>
        </p:nvSpPr>
        <p:spPr>
          <a:xfrm>
            <a:off x="6575907" y="4483393"/>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Then check a total against a number you already trust. Delivered revenue is UGX 8,751,705,520. If your card says something else, the model is wrong and the visuals cannot save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CHECKING YOUR MODEL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Reconcile against numbers you already have</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Why this matters more here than anywhere else</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dashboard is believed. A wrong number in a notebook gets questioned; the same number in a dashboard with a logo on it gets acted on.</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three you already know</a:t>
            </a:r>
          </a:p>
        </p:txBody>
      </p:sp>
      <p:sp>
        <p:nvSpPr>
          <p:cNvPr id="7" name="TextBox 6"/>
          <p:cNvSpPr txBox="1"/>
          <p:nvPr/>
        </p:nvSpPr>
        <p:spPr>
          <a:xfrm>
            <a:off x="685800" y="4088012"/>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Revenue over everything: UGX 10,758,894,480. Delivered only: UGX 8,751,705,520. Average delivered order: about UGX 1,809,000.</a:t>
            </a:r>
          </a:p>
        </p:txBody>
      </p:sp>
      <p:sp>
        <p:nvSpPr>
          <p:cNvPr id="8" name="TextBox 7"/>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If they do not match</a:t>
            </a:r>
          </a:p>
        </p:txBody>
      </p:sp>
      <p:sp>
        <p:nvSpPr>
          <p:cNvPr id="9" name="TextBox 8"/>
          <p:cNvSpPr txBox="1"/>
          <p:nvPr/>
        </p:nvSpPr>
        <p:spPr>
          <a:xfrm>
            <a:off x="6347307" y="2352629"/>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gap usually names the fault. Far too high means fan-out from a relationship pointing the wrong way. Low by about UGX 390,632,335 means the 172 walk-in orders have been dropped by a join to customers.</a:t>
            </a:r>
          </a:p>
        </p:txBody>
      </p:sp>
      <p:sp>
        <p:nvSpPr>
          <p:cNvPr id="10" name="TextBox 9"/>
          <p:cNvSpPr txBox="1"/>
          <p:nvPr/>
        </p:nvSpPr>
        <p:spPr>
          <a:xfrm>
            <a:off x="6347307" y="3983272"/>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The rule</a:t>
            </a:r>
          </a:p>
        </p:txBody>
      </p:sp>
      <p:sp>
        <p:nvSpPr>
          <p:cNvPr id="11" name="TextBox 10"/>
          <p:cNvSpPr txBox="1"/>
          <p:nvPr/>
        </p:nvSpPr>
        <p:spPr>
          <a:xfrm>
            <a:off x="6347307" y="4424806"/>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Reconcile before you make it look good. A dashboard whose totals do not reconcile is worth less than no dashboard.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NOTE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start tonight</a:t>
            </a:r>
          </a:p>
        </p:txBody>
      </p:sp>
      <p:sp>
        <p:nvSpPr>
          <p:cNvPr id="4" name="Rounded Rectangle 3"/>
          <p:cNvSpPr/>
          <p:nvPr/>
        </p:nvSpPr>
        <p:spPr>
          <a:xfrm>
            <a:off x="685800" y="1911095"/>
            <a:ext cx="10820095" cy="162835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1226014"/>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Power BI Desktop requires Windows. Rehearse the browser semantic-model editor and Power Query with the actual learner account, workspace permissions and tenant settings. Use the CSV lab route; arrange a Windows lab machine if browser editing is unavailable.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Trusting the relationships Power BI detects for you. Check every direction, then check a total against a number you already trust.</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14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a single flat table the wrong shape for a report?</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months sort April, August, December. What is wrong?</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revenue total is about three times too big. Where do you look?</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a flat table is wrong</a:t>
            </a:r>
          </a:p>
        </p:txBody>
      </p:sp>
      <p:sp>
        <p:nvSpPr>
          <p:cNvPr id="6" name="TextBox 5"/>
          <p:cNvSpPr txBox="1"/>
          <p:nvPr/>
        </p:nvSpPr>
        <p:spPr>
          <a:xfrm>
            <a:off x="1216152" y="2203703"/>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It cannot represent something that did not happen. A customer who bought nothing this quarter and a month with no orders both vanish, because the only rows that exist are rows where something occurred. This is session 2, arriving again.</a:t>
            </a:r>
          </a:p>
        </p:txBody>
      </p:sp>
      <p:sp>
        <p:nvSpPr>
          <p:cNvPr id="7" name="Oval 6"/>
          <p:cNvSpPr/>
          <p:nvPr/>
        </p:nvSpPr>
        <p:spPr>
          <a:xfrm>
            <a:off x="685800" y="34428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4062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Months sorting alphabetically</a:t>
            </a:r>
          </a:p>
        </p:txBody>
      </p:sp>
      <p:sp>
        <p:nvSpPr>
          <p:cNvPr id="9" name="TextBox 8"/>
          <p:cNvSpPr txBox="1"/>
          <p:nvPr/>
        </p:nvSpPr>
        <p:spPr>
          <a:xfrm>
            <a:off x="1216152" y="369889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Month column is text and has not been told to sort by MonthNo. Column tools, Sort by column, MonthNo. It is not a bug.</a:t>
            </a:r>
          </a:p>
        </p:txBody>
      </p:sp>
      <p:sp>
        <p:nvSpPr>
          <p:cNvPr id="10" name="Oval 9"/>
          <p:cNvSpPr/>
          <p:nvPr/>
        </p:nvSpPr>
        <p:spPr>
          <a:xfrm>
            <a:off x="685800" y="45920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Revenue three times too big</a:t>
            </a:r>
          </a:p>
        </p:txBody>
      </p:sp>
      <p:sp>
        <p:nvSpPr>
          <p:cNvPr id="12" name="TextBox 11"/>
          <p:cNvSpPr txBox="1"/>
          <p:nvPr/>
        </p:nvSpPr>
        <p:spPr>
          <a:xfrm>
            <a:off x="1216152" y="4848086"/>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Fan-out from a relationship, which is session 5's trap in a new tool. Check the direction and cardinality of every one, especially any you did not build yourself.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Load it, model it, reconcile it</a:t>
            </a:r>
          </a:p>
        </p:txBody>
      </p:sp>
      <p:sp>
        <p:nvSpPr>
          <p:cNvPr id="4" name="Rounded Rectangle 3"/>
          <p:cNvSpPr/>
          <p:nvPr/>
        </p:nvSpPr>
        <p:spPr>
          <a:xfrm>
            <a:off x="685800" y="1911095"/>
            <a:ext cx="10820095" cy="161719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25143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Five tables in, five relationships built by hand, a date table marked and sorted, and three visuals whose totals match the numbers you already got from SQL and pandas. Reconciliation is your practice check.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Load it, model it, reconcile it continued</a:t>
            </a:r>
          </a:p>
        </p:txBody>
      </p:sp>
      <p:sp>
        <p:nvSpPr>
          <p:cNvPr id="4" name="TextBox 3"/>
          <p:cNvSpPr txBox="1"/>
          <p:nvPr/>
        </p:nvSpPr>
        <p:spPr>
          <a:xfrm>
            <a:off x="685800" y="191109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5" name="TextBox 4"/>
          <p:cNvSpPr txBox="1"/>
          <p:nvPr/>
        </p:nvSpPr>
        <p:spPr>
          <a:xfrm>
            <a:off x="685800" y="238658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Get Data: the five CSVs, loaded separately.</a:t>
            </a:r>
          </a:p>
        </p:txBody>
      </p:sp>
      <p:sp>
        <p:nvSpPr>
          <p:cNvPr id="6" name="TextBox 5"/>
          <p:cNvSpPr txBox="1"/>
          <p:nvPr/>
        </p:nvSpPr>
        <p:spPr>
          <a:xfrm>
            <a:off x="685800" y="2863525"/>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Power Query: headers, types, trim. Check the date range.</a:t>
            </a:r>
          </a:p>
        </p:txBody>
      </p:sp>
      <p:sp>
        <p:nvSpPr>
          <p:cNvPr id="7" name="TextBox 6"/>
          <p:cNvSpPr txBox="1"/>
          <p:nvPr/>
        </p:nvSpPr>
        <p:spPr>
          <a:xfrm>
            <a:off x="685800" y="3652817"/>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Delete every auto-detected relationship.</a:t>
            </a:r>
          </a:p>
        </p:txBody>
      </p:sp>
      <p:sp>
        <p:nvSpPr>
          <p:cNvPr id="8" name="TextBox 7"/>
          <p:cNvSpPr txBox="1"/>
          <p:nvPr/>
        </p:nvSpPr>
        <p:spPr>
          <a:xfrm>
            <a:off x="6278727" y="2386584"/>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Build the four source-table relationships and check each direction.</a:t>
            </a:r>
          </a:p>
        </p:txBody>
      </p:sp>
      <p:sp>
        <p:nvSpPr>
          <p:cNvPr id="9" name="TextBox 8"/>
          <p:cNvSpPr txBox="1"/>
          <p:nvPr/>
        </p:nvSpPr>
        <p:spPr>
          <a:xfrm>
            <a:off x="6278727" y="3175875"/>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Add the date table and fifth relationship. Mark it; sort Month by MonthNo.</a:t>
            </a:r>
          </a:p>
        </p:txBody>
      </p:sp>
      <p:sp>
        <p:nvSpPr>
          <p:cNvPr id="10" name="TextBox 9"/>
          <p:cNvSpPr txBox="1"/>
          <p:nvPr/>
        </p:nvSpPr>
        <p:spPr>
          <a:xfrm>
            <a:off x="6278727" y="3965167"/>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Three visuals, each total reconciled against your own earlier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Load several tables and clean them in Power Query without touching the source.</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Build a relational model whose totals reconcile.</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Check a dashboard total against a number you already trust.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Add the Uganda Healthsites file and put a map visual on it. Notice what that file makes easy and what it makes impossible.</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The model decides whether the report is true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Visuals are half an hour of work. The model is the difference between a dashboard and a liability. Get the arrows right, then make it look good.</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three measures, a dashboard, and five minutes in front of the room.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