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on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Tonight is session 14 of twelve.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are what tonight is marked against, in the sense that the lab checks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Almost always the model: one relationship pointing the wrong way, or no date table.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tables plus the relationships between them, defined once, so you do not write a join in every query.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fact table in the middle holding the events, with dimension tables around it holding the descriptions you slice by. Every dimension points INTO the fact, one-to-many.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separate table with one row per date, marked as the date table and related to your fact's date column.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six tables you mapped by hand in session 2, now as a model. The arrows all point the same way: many orders to one customer. Row counts are the real ones.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Power BI Desktop is Windows only. Mac participants work in the browser Service throughout, loading CSVs they have already cleaned in pandas; the lab gives both paths and names the three things the browser cannot do.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Trusting the relationships Power BI detects for you. Check every direction, then check a total against a number you already trust.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tables in, five relationships built by hand, a date table marked and sorted, and three visuals whose totals match the numbers you already got from SQL and pandas. Matching is the mark.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the Uganda Healthsites file and put a map visual on it. Notice what that file makes easy and what it makes impossible.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Visuals are half an hour of work. The model is the difference between a dashboard and a liability. Get the arrows right, then make it look good.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960120"/>
            <a:ext cx="2219724"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SESSION 14 OF 15</a:t>
            </a:r>
          </a:p>
        </p:txBody>
      </p:sp>
      <p:sp>
        <p:nvSpPr>
          <p:cNvPr id="4" name="TextBox 3"/>
          <p:cNvSpPr txBox="1"/>
          <p:nvPr/>
        </p:nvSpPr>
        <p:spPr>
          <a:xfrm>
            <a:off x="685800" y="1600200"/>
            <a:ext cx="10820095" cy="2011680"/>
          </a:xfrm>
          <a:prstGeom prst="rect">
            <a:avLst/>
          </a:prstGeom>
          <a:noFill/>
        </p:spPr>
        <p:txBody>
          <a:bodyPr wrap="square" lIns="0" rIns="0" tIns="0" bIns="0" anchor="t">
            <a:spAutoFit/>
          </a:bodyPr>
          <a:lstStyle/>
          <a:p>
            <a:pPr algn="l">
              <a:lnSpc>
                <a:spcPct val="105000"/>
              </a:lnSpc>
              <a:spcAft>
                <a:spcPts val="600"/>
              </a:spcAft>
            </a:pPr>
            <a:r>
              <a:rPr sz="4400" b="1" i="0">
                <a:solidFill>
                  <a:srgbClr val="FFFFFF"/>
                </a:solidFill>
                <a:latin typeface="Cambria"/>
              </a:rPr>
              <a:t>Getting data in, and modelling it</a:t>
            </a:r>
          </a:p>
        </p:txBody>
      </p:sp>
      <p:sp>
        <p:nvSpPr>
          <p:cNvPr id="5" name="TextBox 4"/>
          <p:cNvSpPr txBox="1"/>
          <p:nvPr/>
        </p:nvSpPr>
        <p:spPr>
          <a:xfrm>
            <a:off x="685800" y="3703320"/>
            <a:ext cx="10820095" cy="548640"/>
          </a:xfrm>
          <a:prstGeom prst="rect">
            <a:avLst/>
          </a:prstGeom>
          <a:noFill/>
        </p:spPr>
        <p:txBody>
          <a:bodyPr wrap="square" lIns="0" rIns="0" tIns="0" bIns="0" anchor="t">
            <a:spAutoFit/>
          </a:bodyPr>
          <a:lstStyle/>
          <a:p>
            <a:pPr algn="l">
              <a:spcAft>
                <a:spcPts val="600"/>
              </a:spcAft>
            </a:pPr>
            <a:r>
              <a:rPr sz="2293" b="0" i="0">
                <a:solidFill>
                  <a:srgbClr val="A8BCCE"/>
                </a:solidFill>
                <a:latin typeface="Calibri"/>
              </a:rPr>
              <a:t>Almost always the model: one relationship pointing the wrong way, or no date table.</a:t>
            </a:r>
          </a:p>
        </p:txBody>
      </p:sp>
      <p:sp>
        <p:nvSpPr>
          <p:cNvPr id="6" name="TextBox 5"/>
          <p:cNvSpPr txBox="1"/>
          <p:nvPr/>
        </p:nvSpPr>
        <p:spPr>
          <a:xfrm>
            <a:off x="685800" y="5349240"/>
            <a:ext cx="5486400"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WEEK 5  ·  POWER BI  ·  3 HOURS</a:t>
            </a:r>
          </a:p>
        </p:txBody>
      </p:sp>
      <p:sp>
        <p:nvSpPr>
          <p:cNvPr id="7" name="TextBox 6"/>
          <p:cNvSpPr txBox="1"/>
          <p:nvPr/>
        </p:nvSpPr>
        <p:spPr>
          <a:xfrm>
            <a:off x="685800" y="5715000"/>
            <a:ext cx="8229600"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Data Analysis with Python, SQL and Power BI  ·  roadmap.sh: BI tools: loading, transformation, data modelling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FIFTEEN SESSIONS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Where tonight sits</a:t>
            </a:r>
          </a:p>
        </p:txBody>
      </p:sp>
      <p:sp>
        <p:nvSpPr>
          <p:cNvPr id="4" name="Rounded Rectangle 3"/>
          <p:cNvSpPr/>
          <p:nvPr/>
        </p:nvSpPr>
        <p:spPr>
          <a:xfrm>
            <a:off x="685800"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2104"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  ·  FOUNDATIONS</a:t>
            </a:r>
          </a:p>
        </p:txBody>
      </p:sp>
      <p:sp>
        <p:nvSpPr>
          <p:cNvPr id="6" name="TextBox 5"/>
          <p:cNvSpPr txBox="1"/>
          <p:nvPr/>
        </p:nvSpPr>
        <p:spPr>
          <a:xfrm>
            <a:off x="832104"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From a spreadsheet to data</a:t>
            </a:r>
          </a:p>
        </p:txBody>
      </p:sp>
      <p:sp>
        <p:nvSpPr>
          <p:cNvPr id="7" name="Rounded Rectangle 6"/>
          <p:cNvSpPr/>
          <p:nvPr/>
        </p:nvSpPr>
        <p:spPr>
          <a:xfrm>
            <a:off x="3459403"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5707"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2  ·  FOUNDATIONS</a:t>
            </a:r>
          </a:p>
        </p:txBody>
      </p:sp>
      <p:sp>
        <p:nvSpPr>
          <p:cNvPr id="9" name="TextBox 8"/>
          <p:cNvSpPr txBox="1"/>
          <p:nvPr/>
        </p:nvSpPr>
        <p:spPr>
          <a:xfrm>
            <a:off x="3605707"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Why data lives in several tables</a:t>
            </a:r>
          </a:p>
        </p:txBody>
      </p:sp>
      <p:sp>
        <p:nvSpPr>
          <p:cNvPr id="10" name="Rounded Rectangle 9"/>
          <p:cNvSpPr/>
          <p:nvPr/>
        </p:nvSpPr>
        <p:spPr>
          <a:xfrm>
            <a:off x="6233007"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9311"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3  ·  SQL</a:t>
            </a:r>
          </a:p>
        </p:txBody>
      </p:sp>
      <p:sp>
        <p:nvSpPr>
          <p:cNvPr id="12" name="TextBox 11"/>
          <p:cNvSpPr txBox="1"/>
          <p:nvPr/>
        </p:nvSpPr>
        <p:spPr>
          <a:xfrm>
            <a:off x="6379311"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Asking a database for rows</a:t>
            </a:r>
          </a:p>
        </p:txBody>
      </p:sp>
      <p:sp>
        <p:nvSpPr>
          <p:cNvPr id="13" name="Rounded Rectangle 12"/>
          <p:cNvSpPr/>
          <p:nvPr/>
        </p:nvSpPr>
        <p:spPr>
          <a:xfrm>
            <a:off x="9006611" y="1947672"/>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2915" y="2020824"/>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4  ·  SQL</a:t>
            </a:r>
          </a:p>
        </p:txBody>
      </p:sp>
      <p:sp>
        <p:nvSpPr>
          <p:cNvPr id="15" name="TextBox 14"/>
          <p:cNvSpPr txBox="1"/>
          <p:nvPr/>
        </p:nvSpPr>
        <p:spPr>
          <a:xfrm>
            <a:off x="9152915" y="2295144"/>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Counting and grouping</a:t>
            </a:r>
          </a:p>
        </p:txBody>
      </p:sp>
      <p:sp>
        <p:nvSpPr>
          <p:cNvPr id="16" name="Rounded Rectangle 15"/>
          <p:cNvSpPr/>
          <p:nvPr/>
        </p:nvSpPr>
        <p:spPr>
          <a:xfrm>
            <a:off x="685800"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5  ·  SQL</a:t>
            </a:r>
          </a:p>
        </p:txBody>
      </p:sp>
      <p:sp>
        <p:nvSpPr>
          <p:cNvPr id="18" name="TextBox 17"/>
          <p:cNvSpPr txBox="1"/>
          <p:nvPr/>
        </p:nvSpPr>
        <p:spPr>
          <a:xfrm>
            <a:off x="832104"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Joining tables, carefully</a:t>
            </a:r>
          </a:p>
        </p:txBody>
      </p:sp>
      <p:sp>
        <p:nvSpPr>
          <p:cNvPr id="19" name="Rounded Rectangle 18"/>
          <p:cNvSpPr/>
          <p:nvPr/>
        </p:nvSpPr>
        <p:spPr>
          <a:xfrm>
            <a:off x="3459403"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05707"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6  ·  PYTHON</a:t>
            </a:r>
          </a:p>
        </p:txBody>
      </p:sp>
      <p:sp>
        <p:nvSpPr>
          <p:cNvPr id="21" name="TextBox 20"/>
          <p:cNvSpPr txBox="1"/>
          <p:nvPr/>
        </p:nvSpPr>
        <p:spPr>
          <a:xfrm>
            <a:off x="3605707"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Your first program</a:t>
            </a:r>
          </a:p>
        </p:txBody>
      </p:sp>
      <p:sp>
        <p:nvSpPr>
          <p:cNvPr id="22" name="Rounded Rectangle 21"/>
          <p:cNvSpPr/>
          <p:nvPr/>
        </p:nvSpPr>
        <p:spPr>
          <a:xfrm>
            <a:off x="6233007"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9311"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7  ·  PYTHON</a:t>
            </a:r>
          </a:p>
        </p:txBody>
      </p:sp>
      <p:sp>
        <p:nvSpPr>
          <p:cNvPr id="24" name="TextBox 23"/>
          <p:cNvSpPr txBox="1"/>
          <p:nvPr/>
        </p:nvSpPr>
        <p:spPr>
          <a:xfrm>
            <a:off x="6379311"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Reading a file, and looking at it</a:t>
            </a:r>
          </a:p>
        </p:txBody>
      </p:sp>
      <p:sp>
        <p:nvSpPr>
          <p:cNvPr id="25" name="Rounded Rectangle 24"/>
          <p:cNvSpPr/>
          <p:nvPr/>
        </p:nvSpPr>
        <p:spPr>
          <a:xfrm>
            <a:off x="9006611" y="3172968"/>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52915" y="3246120"/>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8  ·  PYTHON</a:t>
            </a:r>
          </a:p>
        </p:txBody>
      </p:sp>
      <p:sp>
        <p:nvSpPr>
          <p:cNvPr id="27" name="TextBox 26"/>
          <p:cNvSpPr txBox="1"/>
          <p:nvPr/>
        </p:nvSpPr>
        <p:spPr>
          <a:xfrm>
            <a:off x="9152915" y="3520439"/>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Cleaning, and writing down what you did</a:t>
            </a:r>
          </a:p>
        </p:txBody>
      </p:sp>
      <p:sp>
        <p:nvSpPr>
          <p:cNvPr id="28" name="Rounded Rectangle 27"/>
          <p:cNvSpPr/>
          <p:nvPr/>
        </p:nvSpPr>
        <p:spPr>
          <a:xfrm>
            <a:off x="685800"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9  ·  PYTHON</a:t>
            </a:r>
          </a:p>
        </p:txBody>
      </p:sp>
      <p:sp>
        <p:nvSpPr>
          <p:cNvPr id="30" name="TextBox 29"/>
          <p:cNvSpPr txBox="1"/>
          <p:nvPr/>
        </p:nvSpPr>
        <p:spPr>
          <a:xfrm>
            <a:off x="832104"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Grouping and joining in pandas</a:t>
            </a:r>
          </a:p>
        </p:txBody>
      </p:sp>
      <p:sp>
        <p:nvSpPr>
          <p:cNvPr id="31" name="Rounded Rectangle 30"/>
          <p:cNvSpPr/>
          <p:nvPr/>
        </p:nvSpPr>
        <p:spPr>
          <a:xfrm>
            <a:off x="3459403"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05707"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10  ·  STATISTICS</a:t>
            </a:r>
          </a:p>
        </p:txBody>
      </p:sp>
      <p:sp>
        <p:nvSpPr>
          <p:cNvPr id="33" name="TextBox 32"/>
          <p:cNvSpPr txBox="1"/>
          <p:nvPr/>
        </p:nvSpPr>
        <p:spPr>
          <a:xfrm>
            <a:off x="3605707"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Describing one column</a:t>
            </a:r>
          </a:p>
        </p:txBody>
      </p:sp>
      <p:sp>
        <p:nvSpPr>
          <p:cNvPr id="34" name="Rounded Rectangle 33"/>
          <p:cNvSpPr/>
          <p:nvPr/>
        </p:nvSpPr>
        <p:spPr>
          <a:xfrm>
            <a:off x="6233007"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79311"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11  ·  STATISTICS</a:t>
            </a:r>
          </a:p>
        </p:txBody>
      </p:sp>
      <p:sp>
        <p:nvSpPr>
          <p:cNvPr id="36" name="TextBox 35"/>
          <p:cNvSpPr txBox="1"/>
          <p:nvPr/>
        </p:nvSpPr>
        <p:spPr>
          <a:xfrm>
            <a:off x="6379311"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Comparing groups, and reading time</a:t>
            </a:r>
          </a:p>
        </p:txBody>
      </p:sp>
      <p:sp>
        <p:nvSpPr>
          <p:cNvPr id="37" name="Rounded Rectangle 36"/>
          <p:cNvSpPr/>
          <p:nvPr/>
        </p:nvSpPr>
        <p:spPr>
          <a:xfrm>
            <a:off x="9006611" y="4398264"/>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52915" y="4471416"/>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12  ·  CHARTS</a:t>
            </a:r>
          </a:p>
        </p:txBody>
      </p:sp>
      <p:sp>
        <p:nvSpPr>
          <p:cNvPr id="39" name="TextBox 38"/>
          <p:cNvSpPr txBox="1"/>
          <p:nvPr/>
        </p:nvSpPr>
        <p:spPr>
          <a:xfrm>
            <a:off x="9152915" y="4745736"/>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Charts that answer the question</a:t>
            </a:r>
          </a:p>
        </p:txBody>
      </p:sp>
      <p:sp>
        <p:nvSpPr>
          <p:cNvPr id="40" name="Rounded Rectangle 39"/>
          <p:cNvSpPr/>
          <p:nvPr/>
        </p:nvSpPr>
        <p:spPr>
          <a:xfrm>
            <a:off x="685800"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13  ·  INVESTIGATION</a:t>
            </a:r>
          </a:p>
        </p:txBody>
      </p:sp>
      <p:sp>
        <p:nvSpPr>
          <p:cNvPr id="42" name="TextBox 41"/>
          <p:cNvSpPr txBox="1"/>
          <p:nvPr/>
        </p:nvSpPr>
        <p:spPr>
          <a:xfrm>
            <a:off x="832104"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A whole investigation, end to end</a:t>
            </a:r>
          </a:p>
        </p:txBody>
      </p:sp>
      <p:sp>
        <p:nvSpPr>
          <p:cNvPr id="43" name="Rounded Rectangle 42"/>
          <p:cNvSpPr/>
          <p:nvPr/>
        </p:nvSpPr>
        <p:spPr>
          <a:xfrm>
            <a:off x="3459403" y="5623559"/>
            <a:ext cx="2499283" cy="1060704"/>
          </a:xfrm>
          <a:prstGeom prst="roundRect">
            <a:avLst>
              <a:gd name="adj" fmla="val 6000"/>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05707" y="5696712"/>
            <a:ext cx="2206675" cy="256032"/>
          </a:xfrm>
          <a:prstGeom prst="rect">
            <a:avLst/>
          </a:prstGeom>
          <a:noFill/>
        </p:spPr>
        <p:txBody>
          <a:bodyPr wrap="square" lIns="0" rIns="0" tIns="0" bIns="0" anchor="t">
            <a:spAutoFit/>
          </a:bodyPr>
          <a:lstStyle/>
          <a:p>
            <a:pPr algn="l">
              <a:spcAft>
                <a:spcPts val="600"/>
              </a:spcAft>
            </a:pPr>
            <a:r>
              <a:rPr sz="1254" b="1" i="0">
                <a:solidFill>
                  <a:srgbClr val="FFFFFF"/>
                </a:solidFill>
                <a:latin typeface="Calibri"/>
              </a:rPr>
              <a:t>14  ·  POWER BI</a:t>
            </a:r>
          </a:p>
        </p:txBody>
      </p:sp>
      <p:sp>
        <p:nvSpPr>
          <p:cNvPr id="45" name="TextBox 44"/>
          <p:cNvSpPr txBox="1"/>
          <p:nvPr/>
        </p:nvSpPr>
        <p:spPr>
          <a:xfrm>
            <a:off x="3605707" y="5971031"/>
            <a:ext cx="2206675" cy="640080"/>
          </a:xfrm>
          <a:prstGeom prst="rect">
            <a:avLst/>
          </a:prstGeom>
          <a:noFill/>
        </p:spPr>
        <p:txBody>
          <a:bodyPr wrap="square" lIns="0" rIns="0" tIns="0" bIns="0" anchor="t">
            <a:spAutoFit/>
          </a:bodyPr>
          <a:lstStyle/>
          <a:p>
            <a:pPr algn="l">
              <a:lnSpc>
                <a:spcPct val="112000"/>
              </a:lnSpc>
              <a:spcAft>
                <a:spcPts val="600"/>
              </a:spcAft>
            </a:pPr>
            <a:r>
              <a:rPr sz="1452" b="1" i="0">
                <a:solidFill>
                  <a:srgbClr val="FFFFFF"/>
                </a:solidFill>
                <a:latin typeface="Calibri"/>
              </a:rPr>
              <a:t>Getting data in, and modelling it</a:t>
            </a:r>
          </a:p>
        </p:txBody>
      </p:sp>
      <p:sp>
        <p:nvSpPr>
          <p:cNvPr id="46" name="Rounded Rectangle 45"/>
          <p:cNvSpPr/>
          <p:nvPr/>
        </p:nvSpPr>
        <p:spPr>
          <a:xfrm>
            <a:off x="6233007" y="5623559"/>
            <a:ext cx="2499283" cy="1060704"/>
          </a:xfrm>
          <a:prstGeom prst="roundRect">
            <a:avLst>
              <a:gd name="adj" fmla="val 6000"/>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79311" y="5696712"/>
            <a:ext cx="2206675" cy="256032"/>
          </a:xfrm>
          <a:prstGeom prst="rect">
            <a:avLst/>
          </a:prstGeom>
          <a:noFill/>
        </p:spPr>
        <p:txBody>
          <a:bodyPr wrap="square" lIns="0" rIns="0" tIns="0" bIns="0" anchor="t">
            <a:spAutoFit/>
          </a:bodyPr>
          <a:lstStyle/>
          <a:p>
            <a:pPr algn="l">
              <a:spcAft>
                <a:spcPts val="600"/>
              </a:spcAft>
            </a:pPr>
            <a:r>
              <a:rPr sz="1254" b="1" i="0">
                <a:solidFill>
                  <a:srgbClr val="6B7A8A"/>
                </a:solidFill>
                <a:latin typeface="Calibri"/>
              </a:rPr>
              <a:t>15  ·  POWER BI</a:t>
            </a:r>
          </a:p>
        </p:txBody>
      </p:sp>
      <p:sp>
        <p:nvSpPr>
          <p:cNvPr id="48" name="TextBox 47"/>
          <p:cNvSpPr txBox="1"/>
          <p:nvPr/>
        </p:nvSpPr>
        <p:spPr>
          <a:xfrm>
            <a:off x="6379311" y="5971031"/>
            <a:ext cx="2206675" cy="640080"/>
          </a:xfrm>
          <a:prstGeom prst="rect">
            <a:avLst/>
          </a:prstGeom>
          <a:noFill/>
        </p:spPr>
        <p:txBody>
          <a:bodyPr wrap="square" lIns="0" rIns="0" tIns="0" bIns="0" anchor="t">
            <a:spAutoFit/>
          </a:bodyPr>
          <a:lstStyle/>
          <a:p>
            <a:pPr algn="l">
              <a:lnSpc>
                <a:spcPct val="112000"/>
              </a:lnSpc>
              <a:spcAft>
                <a:spcPts val="600"/>
              </a:spcAft>
            </a:pPr>
            <a:r>
              <a:rPr sz="1452" b="0" i="0">
                <a:solidFill>
                  <a:srgbClr val="2A3B4A"/>
                </a:solidFill>
                <a:latin typeface="Calibri"/>
              </a:rPr>
              <a:t>Measures, a dashboard, and presenting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BEFORE WE START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words for tonight</a:t>
            </a:r>
          </a:p>
        </p:txBody>
      </p:sp>
      <p:sp>
        <p:nvSpPr>
          <p:cNvPr id="4" name="TextBox 3"/>
          <p:cNvSpPr txBox="1"/>
          <p:nvPr/>
        </p:nvSpPr>
        <p:spPr>
          <a:xfrm>
            <a:off x="685800" y="1911095"/>
            <a:ext cx="224028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TERM</a:t>
            </a:r>
          </a:p>
        </p:txBody>
      </p:sp>
      <p:sp>
        <p:nvSpPr>
          <p:cNvPr id="5" name="TextBox 4"/>
          <p:cNvSpPr txBox="1"/>
          <p:nvPr/>
        </p:nvSpPr>
        <p:spPr>
          <a:xfrm>
            <a:off x="3154680" y="1911095"/>
            <a:ext cx="4892040"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WHAT IT MEANS</a:t>
            </a:r>
          </a:p>
        </p:txBody>
      </p:sp>
      <p:sp>
        <p:nvSpPr>
          <p:cNvPr id="6" name="TextBox 5"/>
          <p:cNvSpPr txBox="1"/>
          <p:nvPr/>
        </p:nvSpPr>
        <p:spPr>
          <a:xfrm>
            <a:off x="8275320" y="1911095"/>
            <a:ext cx="3230575" cy="274320"/>
          </a:xfrm>
          <a:prstGeom prst="rect">
            <a:avLst/>
          </a:prstGeom>
          <a:noFill/>
        </p:spPr>
        <p:txBody>
          <a:bodyPr wrap="square" lIns="0" rIns="0" tIns="0" bIns="0" anchor="t">
            <a:spAutoFit/>
          </a:bodyPr>
          <a:lstStyle/>
          <a:p>
            <a:pPr algn="l">
              <a:spcAft>
                <a:spcPts val="600"/>
              </a:spcAft>
            </a:pPr>
            <a:r>
              <a:rPr sz="1320" b="1" i="0">
                <a:solidFill>
                  <a:srgbClr val="E4572E"/>
                </a:solidFill>
                <a:latin typeface="Calibri"/>
              </a:rPr>
              <a:t>IN A SPREADSHEET</a:t>
            </a:r>
          </a:p>
        </p:txBody>
      </p:sp>
      <p:sp>
        <p:nvSpPr>
          <p:cNvPr id="7" name="Rectangle 6"/>
          <p:cNvSpPr/>
          <p:nvPr/>
        </p:nvSpPr>
        <p:spPr>
          <a:xfrm>
            <a:off x="576072" y="2240279"/>
            <a:ext cx="11039551" cy="64886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276856"/>
            <a:ext cx="2240280" cy="603144"/>
          </a:xfrm>
          <a:prstGeom prst="rect">
            <a:avLst/>
          </a:prstGeom>
          <a:noFill/>
        </p:spPr>
        <p:txBody>
          <a:bodyPr wrap="square" lIns="0" rIns="0" tIns="0" bIns="0" anchor="t">
            <a:spAutoFit/>
          </a:bodyPr>
          <a:lstStyle/>
          <a:p>
            <a:pPr algn="l">
              <a:lnSpc>
                <a:spcPct val="114000"/>
              </a:lnSpc>
              <a:spcAft>
                <a:spcPts val="600"/>
              </a:spcAft>
            </a:pPr>
            <a:r>
              <a:rPr sz="1584" b="1" i="0">
                <a:solidFill>
                  <a:srgbClr val="1C3144"/>
                </a:solidFill>
                <a:latin typeface="Calibri"/>
              </a:rPr>
              <a:t>Power Query</a:t>
            </a:r>
          </a:p>
        </p:txBody>
      </p:sp>
      <p:sp>
        <p:nvSpPr>
          <p:cNvPr id="9" name="TextBox 8"/>
          <p:cNvSpPr txBox="1"/>
          <p:nvPr/>
        </p:nvSpPr>
        <p:spPr>
          <a:xfrm>
            <a:off x="3154680" y="2276856"/>
            <a:ext cx="4892040" cy="603144"/>
          </a:xfrm>
          <a:prstGeom prst="rect">
            <a:avLst/>
          </a:prstGeom>
          <a:noFill/>
        </p:spPr>
        <p:txBody>
          <a:bodyPr wrap="square" lIns="0" rIns="0" tIns="0" bIns="0" anchor="t">
            <a:spAutoFit/>
          </a:bodyPr>
          <a:lstStyle/>
          <a:p>
            <a:pPr algn="l">
              <a:lnSpc>
                <a:spcPct val="116000"/>
              </a:lnSpc>
              <a:spcAft>
                <a:spcPts val="600"/>
              </a:spcAft>
            </a:pPr>
            <a:r>
              <a:rPr sz="1518" b="0" i="0">
                <a:solidFill>
                  <a:srgbClr val="334657"/>
                </a:solidFill>
                <a:latin typeface="Calibri"/>
              </a:rPr>
              <a:t>The part of Power BI that gets the data and shapes it. Its Applied Steps list is a recipe that runs again next month.</a:t>
            </a:r>
          </a:p>
        </p:txBody>
      </p:sp>
      <p:sp>
        <p:nvSpPr>
          <p:cNvPr id="10" name="TextBox 9"/>
          <p:cNvSpPr txBox="1"/>
          <p:nvPr/>
        </p:nvSpPr>
        <p:spPr>
          <a:xfrm>
            <a:off x="8275320" y="2276856"/>
            <a:ext cx="3230575" cy="603144"/>
          </a:xfrm>
          <a:prstGeom prst="rect">
            <a:avLst/>
          </a:prstGeom>
          <a:noFill/>
        </p:spPr>
        <p:txBody>
          <a:bodyPr wrap="square" lIns="0" rIns="0" tIns="0" bIns="0" anchor="t">
            <a:spAutoFit/>
          </a:bodyPr>
          <a:lstStyle/>
          <a:p>
            <a:pPr algn="l">
              <a:lnSpc>
                <a:spcPct val="116000"/>
              </a:lnSpc>
              <a:spcAft>
                <a:spcPts val="600"/>
              </a:spcAft>
            </a:pPr>
            <a:r>
              <a:rPr sz="1518" b="0" i="1">
                <a:solidFill>
                  <a:srgbClr val="6B7A8A"/>
                </a:solidFill>
                <a:latin typeface="Calibri"/>
              </a:rPr>
              <a:t>no direct equivalent</a:t>
            </a:r>
          </a:p>
        </p:txBody>
      </p:sp>
      <p:sp>
        <p:nvSpPr>
          <p:cNvPr id="11" name="TextBox 10"/>
          <p:cNvSpPr txBox="1"/>
          <p:nvPr/>
        </p:nvSpPr>
        <p:spPr>
          <a:xfrm>
            <a:off x="685800" y="2962296"/>
            <a:ext cx="2240280" cy="603144"/>
          </a:xfrm>
          <a:prstGeom prst="rect">
            <a:avLst/>
          </a:prstGeom>
          <a:noFill/>
        </p:spPr>
        <p:txBody>
          <a:bodyPr wrap="square" lIns="0" rIns="0" tIns="0" bIns="0" anchor="t">
            <a:spAutoFit/>
          </a:bodyPr>
          <a:lstStyle/>
          <a:p>
            <a:pPr algn="l">
              <a:lnSpc>
                <a:spcPct val="114000"/>
              </a:lnSpc>
              <a:spcAft>
                <a:spcPts val="600"/>
              </a:spcAft>
            </a:pPr>
            <a:r>
              <a:rPr sz="1584" b="1" i="0">
                <a:solidFill>
                  <a:srgbClr val="1C3144"/>
                </a:solidFill>
                <a:latin typeface="Calibri"/>
              </a:rPr>
              <a:t>Data model</a:t>
            </a:r>
          </a:p>
        </p:txBody>
      </p:sp>
      <p:sp>
        <p:nvSpPr>
          <p:cNvPr id="12" name="TextBox 11"/>
          <p:cNvSpPr txBox="1"/>
          <p:nvPr/>
        </p:nvSpPr>
        <p:spPr>
          <a:xfrm>
            <a:off x="3154680" y="2962296"/>
            <a:ext cx="4892040" cy="603144"/>
          </a:xfrm>
          <a:prstGeom prst="rect">
            <a:avLst/>
          </a:prstGeom>
          <a:noFill/>
        </p:spPr>
        <p:txBody>
          <a:bodyPr wrap="square" lIns="0" rIns="0" tIns="0" bIns="0" anchor="t">
            <a:spAutoFit/>
          </a:bodyPr>
          <a:lstStyle/>
          <a:p>
            <a:pPr algn="l">
              <a:lnSpc>
                <a:spcPct val="116000"/>
              </a:lnSpc>
              <a:spcAft>
                <a:spcPts val="600"/>
              </a:spcAft>
            </a:pPr>
            <a:r>
              <a:rPr sz="1518" b="0" i="0">
                <a:solidFill>
                  <a:srgbClr val="334657"/>
                </a:solidFill>
                <a:latin typeface="Calibri"/>
              </a:rPr>
              <a:t>The tables plus the relationships between them. This is what decides whether a total is right.</a:t>
            </a:r>
          </a:p>
        </p:txBody>
      </p:sp>
      <p:sp>
        <p:nvSpPr>
          <p:cNvPr id="13" name="TextBox 12"/>
          <p:cNvSpPr txBox="1"/>
          <p:nvPr/>
        </p:nvSpPr>
        <p:spPr>
          <a:xfrm>
            <a:off x="8275320" y="2962296"/>
            <a:ext cx="3230575" cy="603144"/>
          </a:xfrm>
          <a:prstGeom prst="rect">
            <a:avLst/>
          </a:prstGeom>
          <a:noFill/>
        </p:spPr>
        <p:txBody>
          <a:bodyPr wrap="square" lIns="0" rIns="0" tIns="0" bIns="0" anchor="t">
            <a:spAutoFit/>
          </a:bodyPr>
          <a:lstStyle/>
          <a:p>
            <a:pPr algn="l">
              <a:lnSpc>
                <a:spcPct val="116000"/>
              </a:lnSpc>
              <a:spcAft>
                <a:spcPts val="600"/>
              </a:spcAft>
            </a:pPr>
            <a:r>
              <a:rPr sz="1518" b="0" i="1">
                <a:solidFill>
                  <a:srgbClr val="6B7A8A"/>
                </a:solidFill>
                <a:latin typeface="Calibri"/>
              </a:rPr>
              <a:t>no direct equivalent</a:t>
            </a:r>
          </a:p>
        </p:txBody>
      </p:sp>
      <p:sp>
        <p:nvSpPr>
          <p:cNvPr id="14" name="Rectangle 13"/>
          <p:cNvSpPr/>
          <p:nvPr/>
        </p:nvSpPr>
        <p:spPr>
          <a:xfrm>
            <a:off x="576072" y="3611161"/>
            <a:ext cx="11039551" cy="64886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647737"/>
            <a:ext cx="2240280" cy="603144"/>
          </a:xfrm>
          <a:prstGeom prst="rect">
            <a:avLst/>
          </a:prstGeom>
          <a:noFill/>
        </p:spPr>
        <p:txBody>
          <a:bodyPr wrap="square" lIns="0" rIns="0" tIns="0" bIns="0" anchor="t">
            <a:spAutoFit/>
          </a:bodyPr>
          <a:lstStyle/>
          <a:p>
            <a:pPr algn="l">
              <a:lnSpc>
                <a:spcPct val="114000"/>
              </a:lnSpc>
              <a:spcAft>
                <a:spcPts val="600"/>
              </a:spcAft>
            </a:pPr>
            <a:r>
              <a:rPr sz="1584" b="1" i="0">
                <a:solidFill>
                  <a:srgbClr val="1C3144"/>
                </a:solidFill>
                <a:latin typeface="Calibri"/>
              </a:rPr>
              <a:t>Relationship</a:t>
            </a:r>
          </a:p>
        </p:txBody>
      </p:sp>
      <p:sp>
        <p:nvSpPr>
          <p:cNvPr id="16" name="TextBox 15"/>
          <p:cNvSpPr txBox="1"/>
          <p:nvPr/>
        </p:nvSpPr>
        <p:spPr>
          <a:xfrm>
            <a:off x="3154680" y="3647737"/>
            <a:ext cx="4892040" cy="603144"/>
          </a:xfrm>
          <a:prstGeom prst="rect">
            <a:avLst/>
          </a:prstGeom>
          <a:noFill/>
        </p:spPr>
        <p:txBody>
          <a:bodyPr wrap="square" lIns="0" rIns="0" tIns="0" bIns="0" anchor="t">
            <a:spAutoFit/>
          </a:bodyPr>
          <a:lstStyle/>
          <a:p>
            <a:pPr algn="l">
              <a:lnSpc>
                <a:spcPct val="116000"/>
              </a:lnSpc>
              <a:spcAft>
                <a:spcPts val="600"/>
              </a:spcAft>
            </a:pPr>
            <a:r>
              <a:rPr sz="1518" b="0" i="0">
                <a:solidFill>
                  <a:srgbClr val="334657"/>
                </a:solidFill>
                <a:latin typeface="Calibri"/>
              </a:rPr>
              <a:t>A join defined once in the model rather than written in every query.</a:t>
            </a:r>
          </a:p>
        </p:txBody>
      </p:sp>
      <p:sp>
        <p:nvSpPr>
          <p:cNvPr id="17" name="TextBox 16"/>
          <p:cNvSpPr txBox="1"/>
          <p:nvPr/>
        </p:nvSpPr>
        <p:spPr>
          <a:xfrm>
            <a:off x="8275320" y="3647737"/>
            <a:ext cx="3230575" cy="603144"/>
          </a:xfrm>
          <a:prstGeom prst="rect">
            <a:avLst/>
          </a:prstGeom>
          <a:noFill/>
        </p:spPr>
        <p:txBody>
          <a:bodyPr wrap="square" lIns="0" rIns="0" tIns="0" bIns="0" anchor="t">
            <a:spAutoFit/>
          </a:bodyPr>
          <a:lstStyle/>
          <a:p>
            <a:pPr algn="l">
              <a:lnSpc>
                <a:spcPct val="116000"/>
              </a:lnSpc>
              <a:spcAft>
                <a:spcPts val="600"/>
              </a:spcAft>
            </a:pPr>
            <a:r>
              <a:rPr sz="1518" b="0" i="1">
                <a:solidFill>
                  <a:srgbClr val="6B7A8A"/>
                </a:solidFill>
                <a:latin typeface="Calibri"/>
              </a:rPr>
              <a:t>no direct equivalent</a:t>
            </a:r>
          </a:p>
        </p:txBody>
      </p:sp>
      <p:sp>
        <p:nvSpPr>
          <p:cNvPr id="18" name="TextBox 17"/>
          <p:cNvSpPr txBox="1"/>
          <p:nvPr/>
        </p:nvSpPr>
        <p:spPr>
          <a:xfrm>
            <a:off x="685800" y="4333177"/>
            <a:ext cx="2240280" cy="331535"/>
          </a:xfrm>
          <a:prstGeom prst="rect">
            <a:avLst/>
          </a:prstGeom>
          <a:noFill/>
        </p:spPr>
        <p:txBody>
          <a:bodyPr wrap="square" lIns="0" rIns="0" tIns="0" bIns="0" anchor="t">
            <a:spAutoFit/>
          </a:bodyPr>
          <a:lstStyle/>
          <a:p>
            <a:pPr algn="l">
              <a:lnSpc>
                <a:spcPct val="114000"/>
              </a:lnSpc>
              <a:spcAft>
                <a:spcPts val="600"/>
              </a:spcAft>
            </a:pPr>
            <a:r>
              <a:rPr sz="1584" b="1" i="0">
                <a:solidFill>
                  <a:srgbClr val="1C3144"/>
                </a:solidFill>
                <a:latin typeface="Calibri"/>
              </a:rPr>
              <a:t>Star schema</a:t>
            </a:r>
          </a:p>
        </p:txBody>
      </p:sp>
      <p:sp>
        <p:nvSpPr>
          <p:cNvPr id="19" name="TextBox 18"/>
          <p:cNvSpPr txBox="1"/>
          <p:nvPr/>
        </p:nvSpPr>
        <p:spPr>
          <a:xfrm>
            <a:off x="3154680" y="4333177"/>
            <a:ext cx="4892040" cy="331535"/>
          </a:xfrm>
          <a:prstGeom prst="rect">
            <a:avLst/>
          </a:prstGeom>
          <a:noFill/>
        </p:spPr>
        <p:txBody>
          <a:bodyPr wrap="square" lIns="0" rIns="0" tIns="0" bIns="0" anchor="t">
            <a:spAutoFit/>
          </a:bodyPr>
          <a:lstStyle/>
          <a:p>
            <a:pPr algn="l">
              <a:lnSpc>
                <a:spcPct val="116000"/>
              </a:lnSpc>
              <a:spcAft>
                <a:spcPts val="600"/>
              </a:spcAft>
            </a:pPr>
            <a:r>
              <a:rPr sz="1518" b="0" i="0">
                <a:solidFill>
                  <a:srgbClr val="334657"/>
                </a:solidFill>
                <a:latin typeface="Calibri"/>
              </a:rPr>
              <a:t>One fact table in the middle, dimension tables around it.</a:t>
            </a:r>
          </a:p>
        </p:txBody>
      </p:sp>
      <p:sp>
        <p:nvSpPr>
          <p:cNvPr id="20" name="TextBox 19"/>
          <p:cNvSpPr txBox="1"/>
          <p:nvPr/>
        </p:nvSpPr>
        <p:spPr>
          <a:xfrm>
            <a:off x="8275320" y="4333177"/>
            <a:ext cx="3230575" cy="331535"/>
          </a:xfrm>
          <a:prstGeom prst="rect">
            <a:avLst/>
          </a:prstGeom>
          <a:noFill/>
        </p:spPr>
        <p:txBody>
          <a:bodyPr wrap="square" lIns="0" rIns="0" tIns="0" bIns="0" anchor="t">
            <a:spAutoFit/>
          </a:bodyPr>
          <a:lstStyle/>
          <a:p>
            <a:pPr algn="l">
              <a:lnSpc>
                <a:spcPct val="116000"/>
              </a:lnSpc>
              <a:spcAft>
                <a:spcPts val="600"/>
              </a:spcAft>
            </a:pPr>
            <a:r>
              <a:rPr sz="1518" b="0" i="1">
                <a:solidFill>
                  <a:srgbClr val="6B7A8A"/>
                </a:solidFill>
                <a:latin typeface="Calibri"/>
              </a:rPr>
              <a:t>no direct equivalent</a:t>
            </a:r>
          </a:p>
        </p:txBody>
      </p:sp>
      <p:sp>
        <p:nvSpPr>
          <p:cNvPr id="21" name="Rectangle 20"/>
          <p:cNvSpPr/>
          <p:nvPr/>
        </p:nvSpPr>
        <p:spPr>
          <a:xfrm>
            <a:off x="576072" y="4710433"/>
            <a:ext cx="11039551" cy="64886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747009"/>
            <a:ext cx="2240280" cy="603144"/>
          </a:xfrm>
          <a:prstGeom prst="rect">
            <a:avLst/>
          </a:prstGeom>
          <a:noFill/>
        </p:spPr>
        <p:txBody>
          <a:bodyPr wrap="square" lIns="0" rIns="0" tIns="0" bIns="0" anchor="t">
            <a:spAutoFit/>
          </a:bodyPr>
          <a:lstStyle/>
          <a:p>
            <a:pPr algn="l">
              <a:lnSpc>
                <a:spcPct val="114000"/>
              </a:lnSpc>
              <a:spcAft>
                <a:spcPts val="600"/>
              </a:spcAft>
            </a:pPr>
            <a:r>
              <a:rPr sz="1584" b="1" i="0">
                <a:solidFill>
                  <a:srgbClr val="1C3144"/>
                </a:solidFill>
                <a:latin typeface="Calibri"/>
              </a:rPr>
              <a:t>Fact and dimension</a:t>
            </a:r>
          </a:p>
        </p:txBody>
      </p:sp>
      <p:sp>
        <p:nvSpPr>
          <p:cNvPr id="23" name="TextBox 22"/>
          <p:cNvSpPr txBox="1"/>
          <p:nvPr/>
        </p:nvSpPr>
        <p:spPr>
          <a:xfrm>
            <a:off x="3154680" y="4747009"/>
            <a:ext cx="4892040" cy="603144"/>
          </a:xfrm>
          <a:prstGeom prst="rect">
            <a:avLst/>
          </a:prstGeom>
          <a:noFill/>
        </p:spPr>
        <p:txBody>
          <a:bodyPr wrap="square" lIns="0" rIns="0" tIns="0" bIns="0" anchor="t">
            <a:spAutoFit/>
          </a:bodyPr>
          <a:lstStyle/>
          <a:p>
            <a:pPr algn="l">
              <a:lnSpc>
                <a:spcPct val="116000"/>
              </a:lnSpc>
              <a:spcAft>
                <a:spcPts val="600"/>
              </a:spcAft>
            </a:pPr>
            <a:r>
              <a:rPr sz="1518" b="0" i="0">
                <a:solidFill>
                  <a:srgbClr val="334657"/>
                </a:solidFill>
                <a:latin typeface="Calibri"/>
              </a:rPr>
              <a:t>The fact table holds the events; dimensions hold the descriptions you slice by.</a:t>
            </a:r>
          </a:p>
        </p:txBody>
      </p:sp>
      <p:sp>
        <p:nvSpPr>
          <p:cNvPr id="24" name="TextBox 23"/>
          <p:cNvSpPr txBox="1"/>
          <p:nvPr/>
        </p:nvSpPr>
        <p:spPr>
          <a:xfrm>
            <a:off x="8275320" y="4747009"/>
            <a:ext cx="3230575" cy="603144"/>
          </a:xfrm>
          <a:prstGeom prst="rect">
            <a:avLst/>
          </a:prstGeom>
          <a:noFill/>
        </p:spPr>
        <p:txBody>
          <a:bodyPr wrap="square" lIns="0" rIns="0" tIns="0" bIns="0" anchor="t">
            <a:spAutoFit/>
          </a:bodyPr>
          <a:lstStyle/>
          <a:p>
            <a:pPr algn="l">
              <a:lnSpc>
                <a:spcPct val="116000"/>
              </a:lnSpc>
              <a:spcAft>
                <a:spcPts val="600"/>
              </a:spcAft>
            </a:pPr>
            <a:r>
              <a:rPr sz="1518" b="0" i="1">
                <a:solidFill>
                  <a:srgbClr val="6B7A8A"/>
                </a:solidFill>
                <a:latin typeface="Calibri"/>
              </a:rPr>
              <a:t>no direct equivalent</a:t>
            </a:r>
          </a:p>
        </p:txBody>
      </p:sp>
      <p:sp>
        <p:nvSpPr>
          <p:cNvPr id="25" name="TextBox 24"/>
          <p:cNvSpPr txBox="1"/>
          <p:nvPr/>
        </p:nvSpPr>
        <p:spPr>
          <a:xfrm>
            <a:off x="685800" y="5432449"/>
            <a:ext cx="2240280" cy="603144"/>
          </a:xfrm>
          <a:prstGeom prst="rect">
            <a:avLst/>
          </a:prstGeom>
          <a:noFill/>
        </p:spPr>
        <p:txBody>
          <a:bodyPr wrap="square" lIns="0" rIns="0" tIns="0" bIns="0" anchor="t">
            <a:spAutoFit/>
          </a:bodyPr>
          <a:lstStyle/>
          <a:p>
            <a:pPr algn="l">
              <a:lnSpc>
                <a:spcPct val="114000"/>
              </a:lnSpc>
              <a:spcAft>
                <a:spcPts val="600"/>
              </a:spcAft>
            </a:pPr>
            <a:r>
              <a:rPr sz="1584" b="1" i="0">
                <a:solidFill>
                  <a:srgbClr val="1C3144"/>
                </a:solidFill>
                <a:latin typeface="Calibri"/>
              </a:rPr>
              <a:t>Date table</a:t>
            </a:r>
          </a:p>
        </p:txBody>
      </p:sp>
      <p:sp>
        <p:nvSpPr>
          <p:cNvPr id="26" name="TextBox 25"/>
          <p:cNvSpPr txBox="1"/>
          <p:nvPr/>
        </p:nvSpPr>
        <p:spPr>
          <a:xfrm>
            <a:off x="3154680" y="5432449"/>
            <a:ext cx="4892040" cy="603144"/>
          </a:xfrm>
          <a:prstGeom prst="rect">
            <a:avLst/>
          </a:prstGeom>
          <a:noFill/>
        </p:spPr>
        <p:txBody>
          <a:bodyPr wrap="square" lIns="0" rIns="0" tIns="0" bIns="0" anchor="t">
            <a:spAutoFit/>
          </a:bodyPr>
          <a:lstStyle/>
          <a:p>
            <a:pPr algn="l">
              <a:lnSpc>
                <a:spcPct val="116000"/>
              </a:lnSpc>
              <a:spcAft>
                <a:spcPts val="600"/>
              </a:spcAft>
            </a:pPr>
            <a:r>
              <a:rPr sz="1518" b="0" i="0">
                <a:solidFill>
                  <a:srgbClr val="334657"/>
                </a:solidFill>
                <a:latin typeface="Calibri"/>
              </a:rPr>
              <a:t>A separate table with one row per date. Without one, your months sort alphabetically.</a:t>
            </a:r>
          </a:p>
        </p:txBody>
      </p:sp>
      <p:sp>
        <p:nvSpPr>
          <p:cNvPr id="27" name="TextBox 26"/>
          <p:cNvSpPr txBox="1"/>
          <p:nvPr/>
        </p:nvSpPr>
        <p:spPr>
          <a:xfrm>
            <a:off x="8275320" y="5432449"/>
            <a:ext cx="3230575" cy="603144"/>
          </a:xfrm>
          <a:prstGeom prst="rect">
            <a:avLst/>
          </a:prstGeom>
          <a:noFill/>
        </p:spPr>
        <p:txBody>
          <a:bodyPr wrap="square" lIns="0" rIns="0" tIns="0" bIns="0" anchor="t">
            <a:spAutoFit/>
          </a:bodyPr>
          <a:lstStyle/>
          <a:p>
            <a:pPr algn="l">
              <a:lnSpc>
                <a:spcPct val="116000"/>
              </a:lnSpc>
              <a:spcAft>
                <a:spcPts val="600"/>
              </a:spcAft>
            </a:pPr>
            <a:r>
              <a:rPr sz="1518" b="0" i="1">
                <a:solidFill>
                  <a:srgbClr val="6B7A8A"/>
                </a:solidFill>
                <a:latin typeface="Calibri"/>
              </a:rPr>
              <a:t>no direct equivalent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WHAT YOU WILL BE ABLE TO DO</a:t>
            </a:r>
          </a:p>
        </p:txBody>
      </p:sp>
      <p:sp>
        <p:nvSpPr>
          <p:cNvPr id="3" name="TextBox 2"/>
          <p:cNvSpPr txBox="1"/>
          <p:nvPr/>
        </p:nvSpPr>
        <p:spPr>
          <a:xfrm>
            <a:off x="685800" y="950976"/>
            <a:ext cx="10820095" cy="731520"/>
          </a:xfrm>
          <a:prstGeom prst="rect">
            <a:avLst/>
          </a:prstGeom>
          <a:noFill/>
        </p:spPr>
        <p:txBody>
          <a:bodyPr wrap="square" lIns="0" rIns="0" tIns="0" bIns="0" anchor="t">
            <a:spAutoFit/>
          </a:bodyPr>
          <a:lstStyle/>
          <a:p>
            <a:pPr algn="l">
              <a:spcAft>
                <a:spcPts val="600"/>
              </a:spcAft>
            </a:pPr>
            <a:r>
              <a:rPr sz="3000" b="1" i="0">
                <a:solidFill>
                  <a:srgbClr val="1C3144"/>
                </a:solidFill>
                <a:latin typeface="Calibri"/>
              </a:rPr>
              <a:t>By the end of tonight you can…</a:t>
            </a:r>
          </a:p>
        </p:txBody>
      </p:sp>
      <p:sp>
        <p:nvSpPr>
          <p:cNvPr id="4" name="Oval 3"/>
          <p:cNvSpPr/>
          <p:nvPr/>
        </p:nvSpPr>
        <p:spPr>
          <a:xfrm>
            <a:off x="685800" y="195681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1</a:t>
            </a:r>
          </a:p>
        </p:txBody>
      </p:sp>
      <p:sp>
        <p:nvSpPr>
          <p:cNvPr id="5" name="TextBox 4"/>
          <p:cNvSpPr txBox="1"/>
          <p:nvPr/>
        </p:nvSpPr>
        <p:spPr>
          <a:xfrm>
            <a:off x="1234440" y="192024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Load several tables and clean them in Power Query without touching the source.</a:t>
            </a:r>
          </a:p>
        </p:txBody>
      </p:sp>
      <p:sp>
        <p:nvSpPr>
          <p:cNvPr id="6" name="Oval 5"/>
          <p:cNvSpPr/>
          <p:nvPr/>
        </p:nvSpPr>
        <p:spPr>
          <a:xfrm>
            <a:off x="685800" y="277977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2</a:t>
            </a:r>
          </a:p>
        </p:txBody>
      </p:sp>
      <p:sp>
        <p:nvSpPr>
          <p:cNvPr id="7" name="TextBox 6"/>
          <p:cNvSpPr txBox="1"/>
          <p:nvPr/>
        </p:nvSpPr>
        <p:spPr>
          <a:xfrm>
            <a:off x="1234440" y="274320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Build a star schema whose totals are correct.</a:t>
            </a:r>
          </a:p>
        </p:txBody>
      </p:sp>
      <p:sp>
        <p:nvSpPr>
          <p:cNvPr id="8" name="Oval 7"/>
          <p:cNvSpPr/>
          <p:nvPr/>
        </p:nvSpPr>
        <p:spPr>
          <a:xfrm>
            <a:off x="685800" y="3602736"/>
            <a:ext cx="329184" cy="329184"/>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3</a:t>
            </a:r>
          </a:p>
        </p:txBody>
      </p:sp>
      <p:sp>
        <p:nvSpPr>
          <p:cNvPr id="9" name="TextBox 8"/>
          <p:cNvSpPr txBox="1"/>
          <p:nvPr/>
        </p:nvSpPr>
        <p:spPr>
          <a:xfrm>
            <a:off x="1234440" y="3566160"/>
            <a:ext cx="10134295" cy="395093"/>
          </a:xfrm>
          <a:prstGeom prst="rect">
            <a:avLst/>
          </a:prstGeom>
          <a:noFill/>
        </p:spPr>
        <p:txBody>
          <a:bodyPr wrap="square" lIns="0" rIns="0" tIns="0" bIns="0" anchor="t">
            <a:spAutoFit/>
          </a:bodyPr>
          <a:lstStyle/>
          <a:p>
            <a:pPr algn="l">
              <a:lnSpc>
                <a:spcPct val="118000"/>
              </a:lnSpc>
              <a:spcAft>
                <a:spcPts val="600"/>
              </a:spcAft>
            </a:pPr>
            <a:r>
              <a:rPr sz="1821" b="0" i="0">
                <a:solidFill>
                  <a:srgbClr val="2A3B4A"/>
                </a:solidFill>
                <a:latin typeface="Calibri"/>
              </a:rPr>
              <a:t>Check a dashboard total against a number you already trust.</a:t>
            </a:r>
          </a:p>
        </p:txBody>
      </p:sp>
      <p:sp>
        <p:nvSpPr>
          <p:cNvPr id="10" name="TextBox 9"/>
          <p:cNvSpPr txBox="1"/>
          <p:nvPr/>
        </p:nvSpPr>
        <p:spPr>
          <a:xfrm>
            <a:off x="685800" y="6144768"/>
            <a:ext cx="10820095" cy="365760"/>
          </a:xfrm>
          <a:prstGeom prst="rect">
            <a:avLst/>
          </a:prstGeom>
          <a:noFill/>
        </p:spPr>
        <p:txBody>
          <a:bodyPr wrap="square" lIns="0" rIns="0" tIns="0" bIns="0" anchor="t">
            <a:spAutoFit/>
          </a:bodyPr>
          <a:lstStyle/>
          <a:p>
            <a:pPr algn="l">
              <a:spcAft>
                <a:spcPts val="600"/>
              </a:spcAft>
            </a:pPr>
            <a:r>
              <a:rPr sz="1452" b="0" i="1">
                <a:solidFill>
                  <a:srgbClr val="6B7A8A"/>
                </a:solidFill>
                <a:latin typeface="Calibri"/>
              </a:rPr>
              <a:t>Session 14 of 15  ·  Power BI  ·  Getting data in, and modelling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QUESTION TONIGHT ANSWERS</a:t>
            </a:r>
          </a:p>
        </p:txBody>
      </p:sp>
      <p:sp>
        <p:nvSpPr>
          <p:cNvPr id="4" name="TextBox 3"/>
          <p:cNvSpPr txBox="1"/>
          <p:nvPr/>
        </p:nvSpPr>
        <p:spPr>
          <a:xfrm>
            <a:off x="685800" y="1691640"/>
            <a:ext cx="10820095" cy="2743200"/>
          </a:xfrm>
          <a:prstGeom prst="rect">
            <a:avLst/>
          </a:prstGeom>
          <a:noFill/>
        </p:spPr>
        <p:txBody>
          <a:bodyPr wrap="square" lIns="0" rIns="0" tIns="0" bIns="0" anchor="t">
            <a:spAutoFit/>
          </a:bodyPr>
          <a:lstStyle/>
          <a:p>
            <a:pPr algn="l">
              <a:lnSpc>
                <a:spcPct val="115000"/>
              </a:lnSpc>
              <a:spcAft>
                <a:spcPts val="600"/>
              </a:spcAft>
            </a:pPr>
            <a:r>
              <a:rPr sz="3400" b="0" i="1">
                <a:solidFill>
                  <a:srgbClr val="FFFFFF"/>
                </a:solidFill>
                <a:latin typeface="Cambria"/>
              </a:rPr>
              <a:t>Why does a Power BI total come out wrong</a:t>
            </a:r>
          </a:p>
          <a:p>
            <a:pPr algn="l">
              <a:lnSpc>
                <a:spcPct val="115000"/>
              </a:lnSpc>
              <a:spcAft>
                <a:spcPts val="600"/>
              </a:spcAft>
            </a:pPr>
            <a:r>
              <a:rPr sz="3400" b="0" i="1">
                <a:solidFill>
                  <a:srgbClr val="FFFFFF"/>
                </a:solidFill>
                <a:latin typeface="Cambria"/>
              </a:rPr>
              <a:t>when every number behind it is right?</a:t>
            </a:r>
          </a:p>
        </p:txBody>
      </p:sp>
      <p:sp>
        <p:nvSpPr>
          <p:cNvPr id="5" name="TextBox 4"/>
          <p:cNvSpPr txBox="1"/>
          <p:nvPr/>
        </p:nvSpPr>
        <p:spPr>
          <a:xfrm>
            <a:off x="685800" y="4892040"/>
            <a:ext cx="10820095" cy="1097280"/>
          </a:xfrm>
          <a:prstGeom prst="rect">
            <a:avLst/>
          </a:prstGeom>
          <a:noFill/>
        </p:spPr>
        <p:txBody>
          <a:bodyPr wrap="square" lIns="0" rIns="0" tIns="0" bIns="0" anchor="t">
            <a:spAutoFit/>
          </a:bodyPr>
          <a:lstStyle/>
          <a:p>
            <a:pPr algn="l">
              <a:lnSpc>
                <a:spcPct val="120000"/>
              </a:lnSpc>
              <a:spcAft>
                <a:spcPts val="600"/>
              </a:spcAft>
            </a:pPr>
            <a:r>
              <a:rPr sz="1923" b="0" i="0">
                <a:solidFill>
                  <a:srgbClr val="B8C9D8"/>
                </a:solidFill>
                <a:latin typeface="Calibri"/>
              </a:rPr>
              <a:t>Almost always the model: one relationship pointing the wrong way, or no date table.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ONE · 50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Power Query: get it in, shape it, keep the recipe</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Power BI is three products people confuse: Power Query gets and shapes, the model relates, the report shows. Get Data from CSV, then Power Query: promote headers, set types, trim, remove duplicates. The Applied Steps lis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THREE PARTS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Power BI is three products, and people confuse them</a:t>
            </a:r>
          </a:p>
        </p:txBody>
      </p:sp>
      <p:sp>
        <p:nvSpPr>
          <p:cNvPr id="4" name="Rounded Rectangle 3"/>
          <p:cNvSpPr/>
          <p:nvPr/>
        </p:nvSpPr>
        <p:spPr>
          <a:xfrm>
            <a:off x="685800" y="1911095"/>
            <a:ext cx="10820095" cy="105384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1832" y="2245995"/>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1</a:t>
            </a:r>
          </a:p>
        </p:txBody>
      </p:sp>
      <p:sp>
        <p:nvSpPr>
          <p:cNvPr id="6" name="TextBox 5"/>
          <p:cNvSpPr txBox="1"/>
          <p:nvPr/>
        </p:nvSpPr>
        <p:spPr>
          <a:xfrm>
            <a:off x="1554480" y="2029967"/>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Power Query gets the data and shapes it</a:t>
            </a:r>
          </a:p>
        </p:txBody>
      </p:sp>
      <p:sp>
        <p:nvSpPr>
          <p:cNvPr id="7" name="TextBox 6"/>
          <p:cNvSpPr txBox="1"/>
          <p:nvPr/>
        </p:nvSpPr>
        <p:spPr>
          <a:xfrm>
            <a:off x="1554480" y="2295144"/>
            <a:ext cx="9631375" cy="578358"/>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Promote headers, set types, trim, remove duplicates. The Applied Steps list is a recipe that runs again next month on new data. It is your cleaning log from session 8, built by clicking.</a:t>
            </a:r>
          </a:p>
        </p:txBody>
      </p:sp>
      <p:sp>
        <p:nvSpPr>
          <p:cNvPr id="8" name="Rounded Rectangle 7"/>
          <p:cNvSpPr/>
          <p:nvPr/>
        </p:nvSpPr>
        <p:spPr>
          <a:xfrm>
            <a:off x="685800" y="3019806"/>
            <a:ext cx="10820095" cy="105384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3354705"/>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2</a:t>
            </a:r>
          </a:p>
        </p:txBody>
      </p:sp>
      <p:sp>
        <p:nvSpPr>
          <p:cNvPr id="10" name="TextBox 9"/>
          <p:cNvSpPr txBox="1"/>
          <p:nvPr/>
        </p:nvSpPr>
        <p:spPr>
          <a:xfrm>
            <a:off x="1554480" y="3138678"/>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The model relates the tables</a:t>
            </a:r>
          </a:p>
        </p:txBody>
      </p:sp>
      <p:sp>
        <p:nvSpPr>
          <p:cNvPr id="11" name="TextBox 10"/>
          <p:cNvSpPr txBox="1"/>
          <p:nvPr/>
        </p:nvSpPr>
        <p:spPr>
          <a:xfrm>
            <a:off x="1554480" y="3403854"/>
            <a:ext cx="9631375" cy="578358"/>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One fact table, dimensions around it, relationships with a direction. This is the part that decides whether your totals are right, and it is the part beginners skip.</a:t>
            </a:r>
          </a:p>
        </p:txBody>
      </p:sp>
      <p:sp>
        <p:nvSpPr>
          <p:cNvPr id="12" name="Rounded Rectangle 11"/>
          <p:cNvSpPr/>
          <p:nvPr/>
        </p:nvSpPr>
        <p:spPr>
          <a:xfrm>
            <a:off x="685800" y="4128516"/>
            <a:ext cx="10820095" cy="105384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41832" y="4463415"/>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3</a:t>
            </a:r>
          </a:p>
        </p:txBody>
      </p:sp>
      <p:sp>
        <p:nvSpPr>
          <p:cNvPr id="14" name="TextBox 13"/>
          <p:cNvSpPr txBox="1"/>
          <p:nvPr/>
        </p:nvSpPr>
        <p:spPr>
          <a:xfrm>
            <a:off x="1554480" y="4247388"/>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The report shows the answer</a:t>
            </a:r>
          </a:p>
        </p:txBody>
      </p:sp>
      <p:sp>
        <p:nvSpPr>
          <p:cNvPr id="15" name="TextBox 14"/>
          <p:cNvSpPr txBox="1"/>
          <p:nvPr/>
        </p:nvSpPr>
        <p:spPr>
          <a:xfrm>
            <a:off x="1554480" y="4512564"/>
            <a:ext cx="9631375" cy="578358"/>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Visuals. This is where everybody starts, and starting here is why the first dashboard most people build has wrong totals.</a:t>
            </a:r>
          </a:p>
        </p:txBody>
      </p:sp>
      <p:sp>
        <p:nvSpPr>
          <p:cNvPr id="16" name="Rounded Rectangle 15"/>
          <p:cNvSpPr/>
          <p:nvPr/>
        </p:nvSpPr>
        <p:spPr>
          <a:xfrm>
            <a:off x="685800" y="5237226"/>
            <a:ext cx="10820095" cy="105384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1832" y="5572125"/>
            <a:ext cx="384048" cy="38404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4</a:t>
            </a:r>
          </a:p>
        </p:txBody>
      </p:sp>
      <p:sp>
        <p:nvSpPr>
          <p:cNvPr id="18" name="TextBox 17"/>
          <p:cNvSpPr txBox="1"/>
          <p:nvPr/>
        </p:nvSpPr>
        <p:spPr>
          <a:xfrm>
            <a:off x="1554480" y="5356098"/>
            <a:ext cx="9631375" cy="347471"/>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On a Mac you get the third one only</a:t>
            </a:r>
          </a:p>
        </p:txBody>
      </p:sp>
      <p:sp>
        <p:nvSpPr>
          <p:cNvPr id="19" name="TextBox 18"/>
          <p:cNvSpPr txBox="1"/>
          <p:nvPr/>
        </p:nvSpPr>
        <p:spPr>
          <a:xfrm>
            <a:off x="1554480" y="5621274"/>
            <a:ext cx="9631375" cy="578358"/>
          </a:xfrm>
          <a:prstGeom prst="rect">
            <a:avLst/>
          </a:prstGeom>
          <a:noFill/>
        </p:spPr>
        <p:txBody>
          <a:bodyPr wrap="square" lIns="0" rIns="0" tIns="0" bIns="0" anchor="t">
            <a:spAutoFit/>
          </a:bodyPr>
          <a:lstStyle/>
          <a:p>
            <a:pPr algn="l">
              <a:lnSpc>
                <a:spcPct val="116000"/>
              </a:lnSpc>
              <a:spcAft>
                <a:spcPts val="600"/>
              </a:spcAft>
            </a:pPr>
            <a:r>
              <a:rPr sz="1452" b="0" i="0">
                <a:solidFill>
                  <a:srgbClr val="3C4E5E"/>
                </a:solidFill>
                <a:latin typeface="Calibri"/>
              </a:rPr>
              <a:t>Power BI Desktop is Windows only. The browser Service can build reports on uploaded data, so Mac participants clean in pandas first and upload clean CSVs. Both paths are on the lab sheet.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A data model</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The tables plus the relationships between them, defined once, so you do not write a join in every query.</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Five relationships for the course data. Define them once and every visual you build afterwards inherits them.</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400860"/>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Doing your VLOOKUPs once, at the start, instead of in every sheet.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A star schema</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One fact table in the middle holding the events, with dimension tables around it holding the descriptions you slice by. Every dimension points INTO the fact, one-to-many.</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order_items is the fact: 20,234 rows, one per product per order. orders, customers, products and reps are dimensions.</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well-organised workbook: one big transaction sheet and several small lookup sheets. You have probably built one without knowing it had a name.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A date table</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separate table with one row per date, marked as the date table and related to your fact's date column.</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731 days, 1 January 2024 to 31 December 2025. Without it, your months sort alphabetically and April comes first.</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The helper column of month names you add by hand every time. This one is built once and reused.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date table, and the step everybody skips</a:t>
            </a:r>
          </a:p>
        </p:txBody>
      </p:sp>
      <p:sp>
        <p:nvSpPr>
          <p:cNvPr id="4" name="Rounded Rectangle 3"/>
          <p:cNvSpPr/>
          <p:nvPr/>
        </p:nvSpPr>
        <p:spPr>
          <a:xfrm>
            <a:off x="7432206" y="512064"/>
            <a:ext cx="4073688"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POWER BI · MODELLING · NEW TABLE</a:t>
            </a:r>
          </a:p>
        </p:txBody>
      </p:sp>
      <p:sp>
        <p:nvSpPr>
          <p:cNvPr id="5" name="Rectangle 4"/>
          <p:cNvSpPr/>
          <p:nvPr/>
        </p:nvSpPr>
        <p:spPr>
          <a:xfrm>
            <a:off x="685800" y="1911095"/>
            <a:ext cx="10820095" cy="3441252"/>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3148644"/>
          </a:xfrm>
          <a:prstGeom prst="rect">
            <a:avLst/>
          </a:prstGeom>
          <a:noFill/>
        </p:spPr>
        <p:txBody>
          <a:bodyPr wrap="square" lIns="0" rIns="0" tIns="0" bIns="0" anchor="t">
            <a:spAutoFit/>
          </a:bodyPr>
          <a:lstStyle/>
          <a:p>
            <a:pPr algn="l">
              <a:lnSpc>
                <a:spcPts val="1884"/>
              </a:lnSpc>
              <a:spcAft>
                <a:spcPts val="0"/>
              </a:spcAft>
            </a:pPr>
            <a:r>
              <a:rPr sz="1386" b="0" i="0">
                <a:solidFill>
                  <a:srgbClr val="D8E3EC"/>
                </a:solidFill>
                <a:latin typeface="Courier New"/>
              </a:rPr>
              <a:t>Dates =</a:t>
            </a:r>
          </a:p>
          <a:p>
            <a:pPr algn="l">
              <a:lnSpc>
                <a:spcPts val="1884"/>
              </a:lnSpc>
              <a:spcAft>
                <a:spcPts val="0"/>
              </a:spcAft>
            </a:pPr>
            <a:r>
              <a:rPr sz="1386" b="0" i="0">
                <a:solidFill>
                  <a:srgbClr val="D8E3EC"/>
                </a:solidFill>
                <a:latin typeface="Courier New"/>
              </a:rPr>
              <a:t>ADDCOLUMNS(</a:t>
            </a:r>
          </a:p>
          <a:p>
            <a:pPr algn="l">
              <a:lnSpc>
                <a:spcPts val="1884"/>
              </a:lnSpc>
              <a:spcAft>
                <a:spcPts val="0"/>
              </a:spcAft>
            </a:pPr>
            <a:r>
              <a:rPr sz="1386" b="0" i="0">
                <a:solidFill>
                  <a:srgbClr val="D8E3EC"/>
                </a:solidFill>
                <a:latin typeface="Courier New"/>
              </a:rPr>
              <a:t>    CALENDAR(DATE(2024, 1, 1), DATE(2025, 12, 31)),</a:t>
            </a:r>
          </a:p>
          <a:p>
            <a:pPr algn="l">
              <a:lnSpc>
                <a:spcPts val="1884"/>
              </a:lnSpc>
              <a:spcAft>
                <a:spcPts val="0"/>
              </a:spcAft>
            </a:pPr>
            <a:r>
              <a:rPr sz="1386" b="0" i="0">
                <a:solidFill>
                  <a:srgbClr val="D8E3EC"/>
                </a:solidFill>
                <a:latin typeface="Courier New"/>
              </a:rPr>
              <a:t>    "Year",      YEAR([Date]),</a:t>
            </a:r>
          </a:p>
          <a:p>
            <a:pPr algn="l">
              <a:lnSpc>
                <a:spcPts val="1884"/>
              </a:lnSpc>
              <a:spcAft>
                <a:spcPts val="0"/>
              </a:spcAft>
            </a:pPr>
            <a:r>
              <a:rPr sz="1386" b="0" i="0">
                <a:solidFill>
                  <a:srgbClr val="D8E3EC"/>
                </a:solidFill>
                <a:latin typeface="Courier New"/>
              </a:rPr>
              <a:t>    "Month",     FORMAT([Date], "mmm"),</a:t>
            </a:r>
          </a:p>
          <a:p>
            <a:pPr algn="l">
              <a:lnSpc>
                <a:spcPts val="1884"/>
              </a:lnSpc>
              <a:spcAft>
                <a:spcPts val="0"/>
              </a:spcAft>
            </a:pPr>
            <a:r>
              <a:rPr sz="1386" b="0" i="0">
                <a:solidFill>
                  <a:srgbClr val="D8E3EC"/>
                </a:solidFill>
                <a:latin typeface="Courier New"/>
              </a:rPr>
              <a:t>    "MonthNo",   MONTH([Date]),</a:t>
            </a:r>
          </a:p>
          <a:p>
            <a:pPr algn="l">
              <a:lnSpc>
                <a:spcPts val="1884"/>
              </a:lnSpc>
              <a:spcAft>
                <a:spcPts val="0"/>
              </a:spcAft>
            </a:pPr>
            <a:r>
              <a:rPr sz="1386" b="0" i="0">
                <a:solidFill>
                  <a:srgbClr val="D8E3EC"/>
                </a:solidFill>
                <a:latin typeface="Courier New"/>
              </a:rPr>
              <a:t>    "YearMonth", FORMAT([Date], "yyyy-mm")</a:t>
            </a:r>
          </a:p>
          <a:p>
            <a:pPr algn="l">
              <a:lnSpc>
                <a:spcPts val="1884"/>
              </a:lnSpc>
              <a:spcAft>
                <a:spcPts val="0"/>
              </a:spcAft>
            </a:pPr>
            <a:r>
              <a:rPr sz="1386" b="0" i="0">
                <a:solidFill>
                  <a:srgbClr val="D8E3EC"/>
                </a:solidFill>
                <a:latin typeface="Courier New"/>
              </a:rPr>
              <a:t>)</a:t>
            </a:r>
          </a:p>
          <a:p>
            <a:pPr algn="l">
              <a:lnSpc>
                <a:spcPts val="1884"/>
              </a:lnSpc>
              <a:spcAft>
                <a:spcPts val="0"/>
              </a:spcAft>
            </a:pPr>
            <a:r>
              <a:rPr sz="1386" b="0" i="0">
                <a:solidFill>
                  <a:srgbClr val="D8E3EC"/>
                </a:solidFill>
                <a:latin typeface="Courier New"/>
              </a:rPr>
              <a:t/>
            </a:r>
          </a:p>
          <a:p>
            <a:pPr algn="l">
              <a:lnSpc>
                <a:spcPts val="1884"/>
              </a:lnSpc>
              <a:spcAft>
                <a:spcPts val="0"/>
              </a:spcAft>
            </a:pPr>
            <a:r>
              <a:rPr sz="1386" b="0" i="0">
                <a:solidFill>
                  <a:srgbClr val="D8E3EC"/>
                </a:solidFill>
                <a:latin typeface="Courier New"/>
              </a:rPr>
              <a:t>-- then, and this is the step people miss:</a:t>
            </a:r>
          </a:p>
          <a:p>
            <a:pPr algn="l">
              <a:lnSpc>
                <a:spcPts val="1884"/>
              </a:lnSpc>
              <a:spcAft>
                <a:spcPts val="0"/>
              </a:spcAft>
            </a:pPr>
            <a:r>
              <a:rPr sz="1386" b="0" i="0">
                <a:solidFill>
                  <a:srgbClr val="D8E3EC"/>
                </a:solidFill>
                <a:latin typeface="Courier New"/>
              </a:rPr>
              <a:t>--   1. Table tools &gt; Mark as date table &gt; Date</a:t>
            </a:r>
          </a:p>
          <a:p>
            <a:pPr algn="l">
              <a:lnSpc>
                <a:spcPts val="1884"/>
              </a:lnSpc>
              <a:spcAft>
                <a:spcPts val="0"/>
              </a:spcAft>
            </a:pPr>
            <a:r>
              <a:rPr sz="1386" b="0" i="0">
                <a:solidFill>
                  <a:srgbClr val="D8E3EC"/>
                </a:solidFill>
                <a:latin typeface="Courier New"/>
              </a:rPr>
              <a:t>--   2. relate Dates[Date] to orders[order_date]</a:t>
            </a:r>
          </a:p>
          <a:p>
            <a:pPr algn="l">
              <a:lnSpc>
                <a:spcPts val="1884"/>
              </a:lnSpc>
              <a:spcAft>
                <a:spcPts val="0"/>
              </a:spcAft>
            </a:pPr>
            <a:r>
              <a:rPr sz="1386" b="0" i="0">
                <a:solidFill>
                  <a:srgbClr val="D8E3EC"/>
                </a:solidFill>
                <a:latin typeface="Courier New"/>
              </a:rPr>
              <a:t>--   3. Column tools &gt; Month &gt; Sort by column &gt; MonthNo</a:t>
            </a:r>
          </a:p>
        </p:txBody>
      </p:sp>
      <p:sp>
        <p:nvSpPr>
          <p:cNvPr id="7" name="Rounded Rectangle 6"/>
          <p:cNvSpPr/>
          <p:nvPr/>
        </p:nvSpPr>
        <p:spPr>
          <a:xfrm>
            <a:off x="685800" y="5571804"/>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580948"/>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Skip step 3 and your months read April, August, December, February. It looks like a bug in Power BI and it is alphabetical sorting doing exactly what it was told.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280160"/>
          </a:xfrm>
          <a:prstGeom prst="rect">
            <a:avLst/>
          </a:prstGeom>
          <a:noFill/>
        </p:spPr>
        <p:txBody>
          <a:bodyPr wrap="square" lIns="0" rIns="0" tIns="0" bIns="0" anchor="t">
            <a:spAutoFit/>
          </a:bodyPr>
          <a:lstStyle/>
          <a:p>
            <a:pPr algn="ctr">
              <a:spcAft>
                <a:spcPts val="600"/>
              </a:spcAft>
            </a:pPr>
            <a:r>
              <a:rPr sz="5400" b="1" i="0">
                <a:solidFill>
                  <a:srgbClr val="FFFFFF"/>
                </a:solidFill>
                <a:latin typeface="Cambria"/>
              </a:rPr>
              <a:t>Break</a:t>
            </a:r>
          </a:p>
        </p:txBody>
      </p:sp>
      <p:sp>
        <p:nvSpPr>
          <p:cNvPr id="4" name="TextBox 3"/>
          <p:cNvSpPr txBox="1"/>
          <p:nvPr/>
        </p:nvSpPr>
        <p:spPr>
          <a:xfrm>
            <a:off x="685800" y="3749039"/>
            <a:ext cx="10820095" cy="548640"/>
          </a:xfrm>
          <a:prstGeom prst="rect">
            <a:avLst/>
          </a:prstGeom>
          <a:noFill/>
        </p:spPr>
        <p:txBody>
          <a:bodyPr wrap="square" lIns="0" rIns="0" tIns="0" bIns="0" anchor="t">
            <a:spAutoFit/>
          </a:bodyPr>
          <a:lstStyle/>
          <a:p>
            <a:pPr algn="ctr">
              <a:spcAft>
                <a:spcPts val="600"/>
              </a:spcAft>
            </a:pPr>
            <a:r>
              <a:rPr sz="2531" b="0" i="0">
                <a:solidFill>
                  <a:srgbClr val="E4572E"/>
                </a:solidFill>
                <a:latin typeface="Calibri"/>
              </a:rPr>
              <a:t>10 minutes</a:t>
            </a:r>
          </a:p>
        </p:txBody>
      </p:sp>
      <p:sp>
        <p:nvSpPr>
          <p:cNvPr id="5" name="TextBox 4"/>
          <p:cNvSpPr txBox="1"/>
          <p:nvPr/>
        </p:nvSpPr>
        <p:spPr>
          <a:xfrm>
            <a:off x="685800" y="4572000"/>
            <a:ext cx="10820095" cy="548640"/>
          </a:xfrm>
          <a:prstGeom prst="rect">
            <a:avLst/>
          </a:prstGeom>
          <a:noFill/>
        </p:spPr>
        <p:txBody>
          <a:bodyPr wrap="square" lIns="0" rIns="0" tIns="0" bIns="0" anchor="t">
            <a:spAutoFit/>
          </a:bodyPr>
          <a:lstStyle/>
          <a:p>
            <a:pPr algn="ctr">
              <a:spcAft>
                <a:spcPts val="600"/>
              </a:spcAft>
            </a:pPr>
            <a:r>
              <a:rPr sz="1821" b="0" i="0">
                <a:solidFill>
                  <a:srgbClr val="8EA4B8"/>
                </a:solidFill>
                <a:latin typeface="Calibri"/>
              </a:rPr>
              <a:t>Stretch, and talk to someone you have not worked with. Be back on time: the longest working block of the session is next.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BLOCK TWO · 45 MINUTES</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The model, which is where the marks are</a:t>
            </a:r>
          </a:p>
        </p:txBody>
      </p:sp>
      <p:sp>
        <p:nvSpPr>
          <p:cNvPr id="5" name="TextBox 4"/>
          <p:cNvSpPr txBox="1"/>
          <p:nvPr/>
        </p:nvSpPr>
        <p:spPr>
          <a:xfrm>
            <a:off x="685800" y="416052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The model, which is where the marks are. The star schema figure, then five relationships built by hand after deleting every one Power BI guessed. A deliberately wrong relationship first, so the wrong total is seen before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LOOK AT THIS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are building tonight</a:t>
            </a:r>
          </a:p>
        </p:txBody>
      </p:sp>
      <p:pic>
        <p:nvPicPr>
          <p:cNvPr id="4" name="Picture 3" descr="fig_star_schema.png"/>
          <p:cNvPicPr>
            <a:picLocks noChangeAspect="1"/>
          </p:cNvPicPr>
          <p:nvPr/>
        </p:nvPicPr>
        <p:blipFill>
          <a:blip r:embed="rId2"/>
          <a:stretch>
            <a:fillRect/>
          </a:stretch>
        </p:blipFill>
        <p:spPr>
          <a:xfrm>
            <a:off x="2630905" y="1911095"/>
            <a:ext cx="6929884" cy="3709827"/>
          </a:xfrm>
          <a:prstGeom prst="rect">
            <a:avLst/>
          </a:prstGeom>
        </p:spPr>
      </p:pic>
      <p:sp>
        <p:nvSpPr>
          <p:cNvPr id="5" name="TextBox 4"/>
          <p:cNvSpPr txBox="1"/>
          <p:nvPr/>
        </p:nvSpPr>
        <p:spPr>
          <a:xfrm>
            <a:off x="685800" y="5767227"/>
            <a:ext cx="10820095" cy="706724"/>
          </a:xfrm>
          <a:prstGeom prst="rect">
            <a:avLst/>
          </a:prstGeom>
          <a:noFill/>
        </p:spPr>
        <p:txBody>
          <a:bodyPr wrap="square" lIns="0" rIns="0" tIns="0" bIns="0" anchor="t">
            <a:spAutoFit/>
          </a:bodyPr>
          <a:lstStyle/>
          <a:p>
            <a:pPr algn="l">
              <a:lnSpc>
                <a:spcPct val="120000"/>
              </a:lnSpc>
              <a:spcAft>
                <a:spcPts val="600"/>
              </a:spcAft>
            </a:pPr>
            <a:r>
              <a:rPr sz="1716" b="0" i="0">
                <a:solidFill>
                  <a:srgbClr val="334657"/>
                </a:solidFill>
                <a:latin typeface="Calibri"/>
              </a:rPr>
              <a:t>The same six tables you mapped by hand in session 2, now as a model. The arrows all point the same way: many orders to one customer. Row counts are the real ones.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MODEL</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Build these five relationships by hand</a:t>
            </a:r>
          </a:p>
        </p:txBody>
      </p:sp>
      <p:sp>
        <p:nvSpPr>
          <p:cNvPr id="4" name="TextBox 3"/>
          <p:cNvSpPr txBox="1"/>
          <p:nvPr/>
        </p:nvSpPr>
        <p:spPr>
          <a:xfrm>
            <a:off x="685800" y="1911095"/>
            <a:ext cx="5204307" cy="425084"/>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The five, all many-to-one</a:t>
            </a:r>
          </a:p>
        </p:txBody>
      </p:sp>
      <p:sp>
        <p:nvSpPr>
          <p:cNvPr id="5" name="TextBox 4"/>
          <p:cNvSpPr txBox="1"/>
          <p:nvPr/>
        </p:nvSpPr>
        <p:spPr>
          <a:xfrm>
            <a:off x="685800" y="2409332"/>
            <a:ext cx="5204307" cy="406133"/>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order_items to orders on order_id</a:t>
            </a:r>
          </a:p>
        </p:txBody>
      </p:sp>
      <p:sp>
        <p:nvSpPr>
          <p:cNvPr id="6" name="TextBox 5"/>
          <p:cNvSpPr txBox="1"/>
          <p:nvPr/>
        </p:nvSpPr>
        <p:spPr>
          <a:xfrm>
            <a:off x="685800" y="2870329"/>
            <a:ext cx="5204307" cy="406133"/>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orders to customers on customer_id</a:t>
            </a:r>
          </a:p>
        </p:txBody>
      </p:sp>
      <p:sp>
        <p:nvSpPr>
          <p:cNvPr id="7" name="TextBox 6"/>
          <p:cNvSpPr txBox="1"/>
          <p:nvPr/>
        </p:nvSpPr>
        <p:spPr>
          <a:xfrm>
            <a:off x="685800" y="3331326"/>
            <a:ext cx="5204307" cy="406133"/>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orders to reps on rep_id</a:t>
            </a:r>
          </a:p>
        </p:txBody>
      </p:sp>
      <p:sp>
        <p:nvSpPr>
          <p:cNvPr id="8" name="TextBox 7"/>
          <p:cNvSpPr txBox="1"/>
          <p:nvPr/>
        </p:nvSpPr>
        <p:spPr>
          <a:xfrm>
            <a:off x="685800" y="3792323"/>
            <a:ext cx="5204307" cy="406133"/>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order_items to products on product_id</a:t>
            </a:r>
          </a:p>
        </p:txBody>
      </p:sp>
      <p:sp>
        <p:nvSpPr>
          <p:cNvPr id="9" name="TextBox 8"/>
          <p:cNvSpPr txBox="1"/>
          <p:nvPr/>
        </p:nvSpPr>
        <p:spPr>
          <a:xfrm>
            <a:off x="685800" y="4253320"/>
            <a:ext cx="5204307" cy="406133"/>
          </a:xfrm>
          <a:prstGeom prst="rect">
            <a:avLst/>
          </a:prstGeom>
          <a:noFill/>
        </p:spPr>
        <p:txBody>
          <a:bodyPr wrap="square" lIns="0" rIns="0" tIns="0" bIns="0" anchor="t">
            <a:spAutoFit/>
          </a:bodyPr>
          <a:lstStyle/>
          <a:p>
            <a:pPr algn="l">
              <a:lnSpc>
                <a:spcPct val="125000"/>
              </a:lnSpc>
              <a:spcAft>
                <a:spcPts val="600"/>
              </a:spcAft>
            </a:pPr>
            <a:r>
              <a:rPr sz="1821" b="0" i="0">
                <a:solidFill>
                  <a:srgbClr val="3C4E5E"/>
                </a:solidFill>
                <a:latin typeface="Calibri"/>
              </a:rPr>
              <a:t>Dates to orders on order_date</a:t>
            </a:r>
          </a:p>
        </p:txBody>
      </p:sp>
      <p:sp>
        <p:nvSpPr>
          <p:cNvPr id="10" name="Rounded Rectangle 9"/>
          <p:cNvSpPr/>
          <p:nvPr/>
        </p:nvSpPr>
        <p:spPr>
          <a:xfrm>
            <a:off x="6301587" y="1801367"/>
            <a:ext cx="5204307" cy="455371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75907" y="1984248"/>
            <a:ext cx="4655667" cy="402336"/>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Delete the auto-detected ones first</a:t>
            </a:r>
          </a:p>
        </p:txBody>
      </p:sp>
      <p:sp>
        <p:nvSpPr>
          <p:cNvPr id="12" name="TextBox 11"/>
          <p:cNvSpPr txBox="1"/>
          <p:nvPr/>
        </p:nvSpPr>
        <p:spPr>
          <a:xfrm>
            <a:off x="6575907" y="2496312"/>
            <a:ext cx="4655667" cy="974621"/>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Power BI guesses relationships on load. It is right about most of them and wrong in a way you will not notice until a total is wrong.</a:t>
            </a:r>
          </a:p>
        </p:txBody>
      </p:sp>
      <p:sp>
        <p:nvSpPr>
          <p:cNvPr id="13" name="TextBox 12"/>
          <p:cNvSpPr txBox="1"/>
          <p:nvPr/>
        </p:nvSpPr>
        <p:spPr>
          <a:xfrm>
            <a:off x="6575907" y="3644669"/>
            <a:ext cx="4655667" cy="664987"/>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Delete all of them, build these five yourself, and check every arrow direction.</a:t>
            </a:r>
          </a:p>
        </p:txBody>
      </p:sp>
      <p:sp>
        <p:nvSpPr>
          <p:cNvPr id="14" name="TextBox 13"/>
          <p:cNvSpPr txBox="1"/>
          <p:nvPr/>
        </p:nvSpPr>
        <p:spPr>
          <a:xfrm>
            <a:off x="6575907" y="4483393"/>
            <a:ext cx="4655667" cy="1284255"/>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Then check a total against a number you already trust. Delivered revenue is UGX 8,751,705,520. If your card says something else, the model is wrong and the visuals cannot save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CHECKING YOUR MODEL</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Reconcile against numbers you already have</a:t>
            </a:r>
          </a:p>
        </p:txBody>
      </p:sp>
      <p:sp>
        <p:nvSpPr>
          <p:cNvPr id="4" name="TextBox 3"/>
          <p:cNvSpPr txBox="1"/>
          <p:nvPr/>
        </p:nvSpPr>
        <p:spPr>
          <a:xfrm>
            <a:off x="685800"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Why this matters more here than anywhere else</a:t>
            </a:r>
          </a:p>
        </p:txBody>
      </p:sp>
      <p:sp>
        <p:nvSpPr>
          <p:cNvPr id="5" name="TextBox 4"/>
          <p:cNvSpPr txBox="1"/>
          <p:nvPr/>
        </p:nvSpPr>
        <p:spPr>
          <a:xfrm>
            <a:off x="685800" y="2352629"/>
            <a:ext cx="5158587" cy="106524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A dashboard is believed. A wrong number in a notebook gets questioned; the same number in a dashboard with a logo on it gets acted on.</a:t>
            </a:r>
          </a:p>
        </p:txBody>
      </p:sp>
      <p:sp>
        <p:nvSpPr>
          <p:cNvPr id="6" name="TextBox 5"/>
          <p:cNvSpPr txBox="1"/>
          <p:nvPr/>
        </p:nvSpPr>
        <p:spPr>
          <a:xfrm>
            <a:off x="685800" y="3646478"/>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The three you already know</a:t>
            </a:r>
          </a:p>
        </p:txBody>
      </p:sp>
      <p:sp>
        <p:nvSpPr>
          <p:cNvPr id="7" name="TextBox 6"/>
          <p:cNvSpPr txBox="1"/>
          <p:nvPr/>
        </p:nvSpPr>
        <p:spPr>
          <a:xfrm>
            <a:off x="685800" y="4088012"/>
            <a:ext cx="5158587" cy="106524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Revenue over everything: UGX 10,758,894,480. Delivered only: UGX 8,751,705,520. Average delivered order: about UGX 1,809,000.</a:t>
            </a:r>
          </a:p>
        </p:txBody>
      </p:sp>
      <p:sp>
        <p:nvSpPr>
          <p:cNvPr id="8" name="TextBox 7"/>
          <p:cNvSpPr txBox="1"/>
          <p:nvPr/>
        </p:nvSpPr>
        <p:spPr>
          <a:xfrm>
            <a:off x="6347307"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If they do not match</a:t>
            </a:r>
          </a:p>
        </p:txBody>
      </p:sp>
      <p:sp>
        <p:nvSpPr>
          <p:cNvPr id="9" name="TextBox 8"/>
          <p:cNvSpPr txBox="1"/>
          <p:nvPr/>
        </p:nvSpPr>
        <p:spPr>
          <a:xfrm>
            <a:off x="6347307" y="2352629"/>
            <a:ext cx="5158587" cy="1402042"/>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The gap usually names the fault. Far too high means fan-out from a relationship pointing the wrong way. Low by about UGX 390,632,335 means the 172 walk-in orders have been dropped by a join to customers.</a:t>
            </a:r>
          </a:p>
        </p:txBody>
      </p:sp>
      <p:sp>
        <p:nvSpPr>
          <p:cNvPr id="10" name="TextBox 9"/>
          <p:cNvSpPr txBox="1"/>
          <p:nvPr/>
        </p:nvSpPr>
        <p:spPr>
          <a:xfrm>
            <a:off x="6347307" y="3983272"/>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The rule</a:t>
            </a:r>
          </a:p>
        </p:txBody>
      </p:sp>
      <p:sp>
        <p:nvSpPr>
          <p:cNvPr id="11" name="TextBox 10"/>
          <p:cNvSpPr txBox="1"/>
          <p:nvPr/>
        </p:nvSpPr>
        <p:spPr>
          <a:xfrm>
            <a:off x="6347307" y="4424806"/>
            <a:ext cx="5158587" cy="106524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Reconcile before you make it look good. A dashboard whose totals do not reconcile is worth less than no dashboard.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PRACTICAL NOTE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Before you start tonight</a:t>
            </a:r>
          </a:p>
        </p:txBody>
      </p:sp>
      <p:sp>
        <p:nvSpPr>
          <p:cNvPr id="4" name="Rounded Rectangle 3"/>
          <p:cNvSpPr/>
          <p:nvPr/>
        </p:nvSpPr>
        <p:spPr>
          <a:xfrm>
            <a:off x="685800" y="1911095"/>
            <a:ext cx="10820095" cy="1628350"/>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30552"/>
            <a:ext cx="10234879" cy="1226014"/>
          </a:xfrm>
          <a:prstGeom prst="rect">
            <a:avLst/>
          </a:prstGeom>
          <a:noFill/>
        </p:spPr>
        <p:txBody>
          <a:bodyPr wrap="square" lIns="0" rIns="0" tIns="0" bIns="0" anchor="t">
            <a:spAutoFit/>
          </a:bodyPr>
          <a:lstStyle/>
          <a:p>
            <a:pPr algn="l">
              <a:lnSpc>
                <a:spcPct val="122000"/>
              </a:lnSpc>
              <a:spcAft>
                <a:spcPts val="600"/>
              </a:spcAft>
            </a:pPr>
            <a:r>
              <a:rPr sz="2021" b="0" i="0">
                <a:solidFill>
                  <a:srgbClr val="1C3144"/>
                </a:solidFill>
                <a:latin typeface="Calibri"/>
              </a:rPr>
              <a:t>Power BI Desktop is Windows only. Mac participants work in the browser Service throughout, loading CSVs they have already cleaned in pandas; the lab gives both paths and names the three things the browser cannot do.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960120"/>
            <a:ext cx="10820095" cy="310896"/>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MISTAKE THIS SESSION PREVENTS</a:t>
            </a:r>
          </a:p>
        </p:txBody>
      </p:sp>
      <p:sp>
        <p:nvSpPr>
          <p:cNvPr id="4" name="TextBox 3"/>
          <p:cNvSpPr txBox="1"/>
          <p:nvPr/>
        </p:nvSpPr>
        <p:spPr>
          <a:xfrm>
            <a:off x="685800" y="1600200"/>
            <a:ext cx="10820095" cy="1100371"/>
          </a:xfrm>
          <a:prstGeom prst="rect">
            <a:avLst/>
          </a:prstGeom>
          <a:noFill/>
        </p:spPr>
        <p:txBody>
          <a:bodyPr wrap="square" lIns="0" rIns="0" tIns="0" bIns="0" anchor="t">
            <a:spAutoFit/>
          </a:bodyPr>
          <a:lstStyle/>
          <a:p>
            <a:pPr algn="l">
              <a:lnSpc>
                <a:spcPct val="114000"/>
              </a:lnSpc>
              <a:spcAft>
                <a:spcPts val="600"/>
              </a:spcAft>
            </a:pPr>
            <a:r>
              <a:rPr sz="2795" b="1" i="0">
                <a:solidFill>
                  <a:srgbClr val="FFFFFF"/>
                </a:solidFill>
                <a:latin typeface="Calibri"/>
              </a:rPr>
              <a:t>Trusting the relationships Power BI detects for you. Check every direction, then check a total against a number you already trust.</a:t>
            </a:r>
          </a:p>
        </p:txBody>
      </p:sp>
      <p:sp>
        <p:nvSpPr>
          <p:cNvPr id="5" name="TextBox 4"/>
          <p:cNvSpPr txBox="1"/>
          <p:nvPr/>
        </p:nvSpPr>
        <p:spPr>
          <a:xfrm>
            <a:off x="685800" y="2792011"/>
            <a:ext cx="10820095" cy="457200"/>
          </a:xfrm>
          <a:prstGeom prst="rect">
            <a:avLst/>
          </a:prstGeom>
          <a:noFill/>
        </p:spPr>
        <p:txBody>
          <a:bodyPr wrap="square" lIns="0" rIns="0" tIns="0" bIns="0" anchor="t">
            <a:spAutoFit/>
          </a:bodyPr>
          <a:lstStyle/>
          <a:p>
            <a:pPr algn="l">
              <a:spcAft>
                <a:spcPts val="600"/>
              </a:spcAft>
            </a:pPr>
            <a:r>
              <a:rPr sz="1923" b="0" i="0">
                <a:solidFill>
                  <a:srgbClr val="B8C9D8"/>
                </a:solidFill>
                <a:latin typeface="Calibri"/>
              </a:rPr>
              <a:t>It is in tonight's lab on purpose.</a:t>
            </a:r>
          </a:p>
        </p:txBody>
      </p:sp>
      <p:sp>
        <p:nvSpPr>
          <p:cNvPr id="6" name="TextBox 5"/>
          <p:cNvSpPr txBox="1"/>
          <p:nvPr/>
        </p:nvSpPr>
        <p:spPr>
          <a:xfrm>
            <a:off x="685800" y="608076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Session 14 of 15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Can you answer these?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Why is a single flat table the wrong shape for a report?</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Your months sort April, August, December. What is wrong?</a:t>
            </a:r>
          </a:p>
        </p:txBody>
      </p:sp>
      <p:sp>
        <p:nvSpPr>
          <p:cNvPr id="8" name="Oval 7"/>
          <p:cNvSpPr/>
          <p:nvPr/>
        </p:nvSpPr>
        <p:spPr>
          <a:xfrm>
            <a:off x="685800" y="302495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2988379"/>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Your revenue total is about three times too big. Where do you look?</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are on the next slide — try first, then look.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Why a flat table is wrong</a:t>
            </a:r>
          </a:p>
        </p:txBody>
      </p:sp>
      <p:sp>
        <p:nvSpPr>
          <p:cNvPr id="6" name="TextBox 5"/>
          <p:cNvSpPr txBox="1"/>
          <p:nvPr/>
        </p:nvSpPr>
        <p:spPr>
          <a:xfrm>
            <a:off x="1216152" y="2203703"/>
            <a:ext cx="10253167" cy="1166005"/>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It cannot represent something that did not happen. A customer who bought nothing this quarter and a month with no orders both vanish, because the only rows that exist are rows where something occurred. This is session 2, arriving again.</a:t>
            </a:r>
          </a:p>
        </p:txBody>
      </p:sp>
      <p:sp>
        <p:nvSpPr>
          <p:cNvPr id="7" name="Oval 6"/>
          <p:cNvSpPr/>
          <p:nvPr/>
        </p:nvSpPr>
        <p:spPr>
          <a:xfrm>
            <a:off x="685800" y="3442861"/>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40628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Months sorting alphabetically</a:t>
            </a:r>
          </a:p>
        </p:txBody>
      </p:sp>
      <p:sp>
        <p:nvSpPr>
          <p:cNvPr id="9" name="TextBox 8"/>
          <p:cNvSpPr txBox="1"/>
          <p:nvPr/>
        </p:nvSpPr>
        <p:spPr>
          <a:xfrm>
            <a:off x="1216152" y="3698893"/>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The Month column is text and has not been told to sort by MonthNo. Column tools, Sort by column, MonthNo. It is not a bug.</a:t>
            </a:r>
          </a:p>
        </p:txBody>
      </p:sp>
      <p:sp>
        <p:nvSpPr>
          <p:cNvPr id="10" name="Oval 9"/>
          <p:cNvSpPr/>
          <p:nvPr/>
        </p:nvSpPr>
        <p:spPr>
          <a:xfrm>
            <a:off x="685800" y="4592054"/>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555478"/>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Revenue three times too big</a:t>
            </a:r>
          </a:p>
        </p:txBody>
      </p:sp>
      <p:sp>
        <p:nvSpPr>
          <p:cNvPr id="12" name="TextBox 11"/>
          <p:cNvSpPr txBox="1"/>
          <p:nvPr/>
        </p:nvSpPr>
        <p:spPr>
          <a:xfrm>
            <a:off x="1216152" y="4848086"/>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Fan-out from a relationship, which is session 5's trap in a new tool. Check the direction and cardinality of every one, especially any you did not build yourself.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LAB · 50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Load it, model it, reconcile it</a:t>
            </a:r>
          </a:p>
        </p:txBody>
      </p:sp>
      <p:sp>
        <p:nvSpPr>
          <p:cNvPr id="4" name="Rounded Rectangle 3"/>
          <p:cNvSpPr/>
          <p:nvPr/>
        </p:nvSpPr>
        <p:spPr>
          <a:xfrm>
            <a:off x="685800" y="1911095"/>
            <a:ext cx="10820095" cy="969264"/>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12264"/>
            <a:ext cx="10234879" cy="603504"/>
          </a:xfrm>
          <a:prstGeom prst="rect">
            <a:avLst/>
          </a:prstGeom>
          <a:noFill/>
        </p:spPr>
        <p:txBody>
          <a:bodyPr wrap="square" lIns="0" rIns="0" tIns="0" bIns="0" anchor="t">
            <a:spAutoFit/>
          </a:bodyPr>
          <a:lstStyle/>
          <a:p>
            <a:pPr algn="l">
              <a:lnSpc>
                <a:spcPct val="125000"/>
              </a:lnSpc>
              <a:spcAft>
                <a:spcPts val="600"/>
              </a:spcAft>
            </a:pPr>
            <a:r>
              <a:rPr sz="1923" b="0" i="0">
                <a:solidFill>
                  <a:srgbClr val="1C3144"/>
                </a:solidFill>
                <a:latin typeface="Calibri"/>
              </a:rPr>
              <a:t>Five tables in, five relationships built by hand, a date table marked and sorted, and three visuals whose totals match the numbers you already got from SQL and pandas. Matching is the mark.</a:t>
            </a:r>
          </a:p>
        </p:txBody>
      </p:sp>
      <p:sp>
        <p:nvSpPr>
          <p:cNvPr id="6" name="TextBox 5"/>
          <p:cNvSpPr txBox="1"/>
          <p:nvPr/>
        </p:nvSpPr>
        <p:spPr>
          <a:xfrm>
            <a:off x="685800" y="3191256"/>
            <a:ext cx="10820095" cy="310896"/>
          </a:xfrm>
          <a:prstGeom prst="rect">
            <a:avLst/>
          </a:prstGeom>
          <a:noFill/>
        </p:spPr>
        <p:txBody>
          <a:bodyPr wrap="square" lIns="0" rIns="0" tIns="0" bIns="0" anchor="t">
            <a:spAutoFit/>
          </a:bodyPr>
          <a:lstStyle/>
          <a:p>
            <a:pPr algn="l">
              <a:spcAft>
                <a:spcPts val="600"/>
              </a:spcAft>
            </a:pPr>
            <a:r>
              <a:rPr sz="1821" b="1" i="0">
                <a:solidFill>
                  <a:srgbClr val="E4572E"/>
                </a:solidFill>
                <a:latin typeface="Calibri"/>
              </a:rPr>
              <a:t>Work these questions in order:</a:t>
            </a:r>
          </a:p>
        </p:txBody>
      </p:sp>
      <p:sp>
        <p:nvSpPr>
          <p:cNvPr id="7" name="TextBox 6"/>
          <p:cNvSpPr txBox="1"/>
          <p:nvPr/>
        </p:nvSpPr>
        <p:spPr>
          <a:xfrm>
            <a:off x="685800" y="3611879"/>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Get Data: the five CSVs, loaded separately.</a:t>
            </a:r>
          </a:p>
        </p:txBody>
      </p:sp>
      <p:sp>
        <p:nvSpPr>
          <p:cNvPr id="8" name="TextBox 7"/>
          <p:cNvSpPr txBox="1"/>
          <p:nvPr/>
        </p:nvSpPr>
        <p:spPr>
          <a:xfrm>
            <a:off x="685800" y="403250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Power Query: headers, types, trim. Check the date range.</a:t>
            </a:r>
          </a:p>
        </p:txBody>
      </p:sp>
      <p:sp>
        <p:nvSpPr>
          <p:cNvPr id="9" name="TextBox 8"/>
          <p:cNvSpPr txBox="1"/>
          <p:nvPr/>
        </p:nvSpPr>
        <p:spPr>
          <a:xfrm>
            <a:off x="685800" y="4453128"/>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Delete every auto-detected relationship.</a:t>
            </a:r>
          </a:p>
        </p:txBody>
      </p:sp>
      <p:sp>
        <p:nvSpPr>
          <p:cNvPr id="10" name="TextBox 9"/>
          <p:cNvSpPr txBox="1"/>
          <p:nvPr/>
        </p:nvSpPr>
        <p:spPr>
          <a:xfrm>
            <a:off x="6278727" y="3611879"/>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Build the five relationships and check each direction.</a:t>
            </a:r>
          </a:p>
        </p:txBody>
      </p:sp>
      <p:sp>
        <p:nvSpPr>
          <p:cNvPr id="11" name="TextBox 10"/>
          <p:cNvSpPr txBox="1"/>
          <p:nvPr/>
        </p:nvSpPr>
        <p:spPr>
          <a:xfrm>
            <a:off x="6278727" y="403250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Add the date table, mark it, sort Month by MonthNo.</a:t>
            </a:r>
          </a:p>
        </p:txBody>
      </p:sp>
      <p:sp>
        <p:nvSpPr>
          <p:cNvPr id="12" name="TextBox 11"/>
          <p:cNvSpPr txBox="1"/>
          <p:nvPr/>
        </p:nvSpPr>
        <p:spPr>
          <a:xfrm>
            <a:off x="6278727" y="4453128"/>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Three visuals, each total reconciled against your own earlier answer.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TONIGHT IN THREE LINES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can do now</a:t>
            </a:r>
          </a:p>
        </p:txBody>
      </p:sp>
      <p:sp>
        <p:nvSpPr>
          <p:cNvPr id="4" name="Oval 3"/>
          <p:cNvSpPr/>
          <p:nvPr/>
        </p:nvSpPr>
        <p:spPr>
          <a:xfrm>
            <a:off x="685800" y="196596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11095"/>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Load several tables and clean them in Power Query without touching the source.</a:t>
            </a:r>
          </a:p>
        </p:txBody>
      </p:sp>
      <p:sp>
        <p:nvSpPr>
          <p:cNvPr id="6" name="Oval 5"/>
          <p:cNvSpPr/>
          <p:nvPr/>
        </p:nvSpPr>
        <p:spPr>
          <a:xfrm>
            <a:off x="685800" y="2468025"/>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413161"/>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Build a star schema whose totals are correct.</a:t>
            </a:r>
          </a:p>
        </p:txBody>
      </p:sp>
      <p:sp>
        <p:nvSpPr>
          <p:cNvPr id="8" name="Oval 7"/>
          <p:cNvSpPr/>
          <p:nvPr/>
        </p:nvSpPr>
        <p:spPr>
          <a:xfrm>
            <a:off x="685800" y="2970091"/>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915227"/>
            <a:ext cx="10271455" cy="456345"/>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Check a dashboard total against a number you already trust.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HOMEWORK · 45 TO 60 MINUTES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Before the next session</a:t>
            </a:r>
          </a:p>
        </p:txBody>
      </p:sp>
      <p:sp>
        <p:nvSpPr>
          <p:cNvPr id="4" name="Rounded Rectangle 3"/>
          <p:cNvSpPr/>
          <p:nvPr/>
        </p:nvSpPr>
        <p:spPr>
          <a:xfrm>
            <a:off x="685800" y="1911095"/>
            <a:ext cx="10820095" cy="1237967"/>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30552"/>
            <a:ext cx="10234879" cy="835631"/>
          </a:xfrm>
          <a:prstGeom prst="rect">
            <a:avLst/>
          </a:prstGeom>
          <a:noFill/>
        </p:spPr>
        <p:txBody>
          <a:bodyPr wrap="square" lIns="0" rIns="0" tIns="0" bIns="0" anchor="t">
            <a:spAutoFit/>
          </a:bodyPr>
          <a:lstStyle/>
          <a:p>
            <a:pPr algn="l">
              <a:lnSpc>
                <a:spcPct val="122000"/>
              </a:lnSpc>
              <a:spcAft>
                <a:spcPts val="600"/>
              </a:spcAft>
            </a:pPr>
            <a:r>
              <a:rPr sz="2021" b="0" i="0">
                <a:solidFill>
                  <a:srgbClr val="1C3144"/>
                </a:solidFill>
                <a:latin typeface="Calibri"/>
              </a:rPr>
              <a:t>Add the Uganda Healthsites file and put a map visual on it. Notice what that file makes easy and what it makes impossible.</a:t>
            </a:r>
          </a:p>
        </p:txBody>
      </p:sp>
      <p:sp>
        <p:nvSpPr>
          <p:cNvPr id="6" name="Rounded Rectangle 5"/>
          <p:cNvSpPr/>
          <p:nvPr/>
        </p:nvSpPr>
        <p:spPr>
          <a:xfrm>
            <a:off x="685800" y="3423383"/>
            <a:ext cx="4826861"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WHY IT IS ALWAYS OPTIONAL ON YOUR OWN DATA</a:t>
            </a:r>
          </a:p>
        </p:txBody>
      </p:sp>
      <p:sp>
        <p:nvSpPr>
          <p:cNvPr id="7" name="TextBox 6"/>
          <p:cNvSpPr txBox="1"/>
          <p:nvPr/>
        </p:nvSpPr>
        <p:spPr>
          <a:xfrm>
            <a:off x="685800" y="3990311"/>
            <a:ext cx="10820095" cy="1097280"/>
          </a:xfrm>
          <a:prstGeom prst="rect">
            <a:avLst/>
          </a:prstGeom>
          <a:noFill/>
        </p:spPr>
        <p:txBody>
          <a:bodyPr wrap="square" lIns="0" rIns="0" tIns="0" bIns="0" anchor="t">
            <a:spAutoFit/>
          </a:bodyPr>
          <a:lstStyle/>
          <a:p>
            <a:pPr algn="l">
              <a:lnSpc>
                <a:spcPct val="122000"/>
              </a:lnSpc>
              <a:spcAft>
                <a:spcPts val="600"/>
              </a:spcAft>
            </a:pPr>
            <a:r>
              <a:rPr sz="1923" b="0" i="0">
                <a:solidFill>
                  <a:srgbClr val="334657"/>
                </a:solidFill>
                <a:latin typeface="Calibri"/>
              </a:rPr>
              <a:t>Homework on a dataset you already care about gets done. Homework on a teaching dataset competes with your job and loses. Either version counts, and the one on your own data is worth more to you.</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7160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ONE THING TO REMEMBER</a:t>
            </a:r>
          </a:p>
        </p:txBody>
      </p:sp>
      <p:sp>
        <p:nvSpPr>
          <p:cNvPr id="4" name="TextBox 3"/>
          <p:cNvSpPr txBox="1"/>
          <p:nvPr/>
        </p:nvSpPr>
        <p:spPr>
          <a:xfrm>
            <a:off x="685800" y="1965960"/>
            <a:ext cx="10820095" cy="2194560"/>
          </a:xfrm>
          <a:prstGeom prst="rect">
            <a:avLst/>
          </a:prstGeom>
          <a:noFill/>
        </p:spPr>
        <p:txBody>
          <a:bodyPr wrap="square" lIns="0" rIns="0" tIns="0" bIns="0" anchor="t">
            <a:spAutoFit/>
          </a:bodyPr>
          <a:lstStyle/>
          <a:p>
            <a:pPr algn="l">
              <a:lnSpc>
                <a:spcPct val="110000"/>
              </a:lnSpc>
              <a:spcAft>
                <a:spcPts val="600"/>
              </a:spcAft>
            </a:pPr>
            <a:r>
              <a:rPr sz="3400" b="1" i="0">
                <a:solidFill>
                  <a:srgbClr val="FFFFFF"/>
                </a:solidFill>
                <a:latin typeface="Cambria"/>
              </a:rPr>
              <a:t>The model decides whether the report is true</a:t>
            </a:r>
          </a:p>
        </p:txBody>
      </p:sp>
      <p:sp>
        <p:nvSpPr>
          <p:cNvPr id="5" name="TextBox 4"/>
          <p:cNvSpPr txBox="1"/>
          <p:nvPr/>
        </p:nvSpPr>
        <p:spPr>
          <a:xfrm>
            <a:off x="685800" y="443484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Visuals are half an hour of work. The model is the difference between a dashboard and a liability. Get the arrows right, then make it look good.</a:t>
            </a:r>
          </a:p>
        </p:txBody>
      </p:sp>
      <p:sp>
        <p:nvSpPr>
          <p:cNvPr id="6" name="TextBox 5"/>
          <p:cNvSpPr txBox="1"/>
          <p:nvPr/>
        </p:nvSpPr>
        <p:spPr>
          <a:xfrm>
            <a:off x="685800" y="594360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Next session: three measures, a dashboard, and five minutes in front of the room.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