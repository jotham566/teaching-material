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06.xml" ContentType="application/vnd.openxmlformats-officedocument.presentationml.notesSlide+xml"/>
  <Override PartName="/ppt/notesSlides/notesSlide100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006.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6.xml" /></ns0:Relationships>
</file>

<file path=ppt/notesSlides/_rels/notesSlide10014.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14.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Describing one column</a:t>
            </a:r>
          </a:p>
          <a:p>
            <a:r>
              <a:t/>
            </a:r>
          </a:p>
          <a:p>
            <a:r>
              <a:t>LECTURER CUE</a:t>
            </a:r>
          </a:p>
          <a:p>
            <a:r>
              <a:t>Start on time.</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Where tonight sits.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tonight sits</a:t>
            </a:r>
          </a:p>
          <a:p>
            <a:r>
              <a:t/>
            </a:r>
          </a:p>
          <a:p>
            <a:r>
              <a:t>CONNECT</a:t>
            </a:r>
          </a:p>
          <a:p>
            <a:r>
              <a:t>Build on the preceding slide: Describing one column.</a:t>
            </a:r>
          </a:p>
          <a:p>
            <a:r>
              <a:t/>
            </a:r>
          </a:p>
          <a:p>
            <a:r>
              <a:t>LECTURER CUE</a:t>
            </a:r>
          </a:p>
          <a:p>
            <a:r>
              <a:t>Tonight is session 10 of fifteen.</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The words for tonight.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words for tonight</a:t>
            </a:r>
          </a:p>
          <a:p>
            <a:r>
              <a:t/>
            </a:r>
          </a:p>
          <a:p>
            <a:r>
              <a:t>CONNECT</a:t>
            </a:r>
          </a:p>
          <a:p>
            <a:r>
              <a:t>Build on the preceding slide: Where tonight sits.</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By the end of tonight you can….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By the end of tonight you can…</a:t>
            </a:r>
          </a:p>
          <a:p>
            <a:r>
              <a:t/>
            </a:r>
          </a:p>
          <a:p>
            <a:r>
              <a:t>CONNECT</a:t>
            </a:r>
          </a:p>
          <a:p>
            <a:r>
              <a:t>Build on the preceding slide: The words for tonight.</a:t>
            </a:r>
          </a:p>
          <a:p>
            <a:r>
              <a:t/>
            </a:r>
          </a:p>
          <a:p>
            <a:r>
              <a:t>LECTURER CUE</a:t>
            </a:r>
          </a:p>
          <a:p>
            <a:r>
              <a:t>These three are what tonight is marked against, in the sense that the lab checks them.</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What is a typical order worth?.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is a typical order worth?</a:t>
            </a:r>
          </a:p>
          <a:p>
            <a:r>
              <a:t/>
            </a:r>
          </a:p>
          <a:p>
            <a:r>
              <a:t>CONNECT</a:t>
            </a:r>
          </a:p>
          <a:p>
            <a:r>
              <a:t>Build on the preceding slide: By the end of tonight you can….</a:t>
            </a:r>
          </a:p>
          <a:p>
            <a:r>
              <a:t/>
            </a:r>
          </a:p>
          <a:p>
            <a:r>
              <a:t>LECTURER CUE</a:t>
            </a:r>
          </a:p>
          <a:p>
            <a:r>
              <a:t>There are three defensible answers and they differ by a factor of five. Choosing between them is tonight.</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What a statistic is, before any particular one.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statistic</a:t>
            </a:r>
          </a:p>
          <a:p>
            <a:r>
              <a:t/>
            </a:r>
          </a:p>
          <a:p>
            <a:r>
              <a:t>CONNECT</a:t>
            </a:r>
          </a:p>
          <a:p>
            <a:r>
              <a:t>Build on the preceding slide: What a statistic is, before any particular one.</a:t>
            </a:r>
          </a:p>
          <a:p>
            <a:r>
              <a:t/>
            </a:r>
          </a:p>
          <a:p>
            <a:r>
              <a:t>LECTURER CUE</a:t>
            </a:r>
          </a:p>
          <a:p>
            <a:r>
              <a:t>One number standing in for many. Every statistic throws information away, which is exactly what makes it useful and exactly what makes it dangerous.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Mean, median and mode.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Mean, median and mode</a:t>
            </a:r>
          </a:p>
          <a:p>
            <a:r>
              <a:t/>
            </a:r>
          </a:p>
          <a:p>
            <a:r>
              <a:t>CONNECT</a:t>
            </a:r>
          </a:p>
          <a:p>
            <a:r>
              <a:t>Build on the preceding slide: A statistic.</a:t>
            </a:r>
          </a:p>
          <a:p>
            <a:r>
              <a:t/>
            </a:r>
          </a:p>
          <a:p>
            <a:r>
              <a:t>LECTURER CUE</a:t>
            </a:r>
          </a:p>
          <a:p>
            <a:r>
              <a:t>The mean is the total divided by the count. The median is the middle value when you line them all up. The mode is the commonest value.</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Distribution.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Distribution</a:t>
            </a:r>
          </a:p>
          <a:p>
            <a:r>
              <a:t/>
            </a:r>
          </a:p>
          <a:p>
            <a:r>
              <a:t>CONNECT</a:t>
            </a:r>
          </a:p>
          <a:p>
            <a:r>
              <a:t>Build on the preceding slide: Mean, median and mode.</a:t>
            </a:r>
          </a:p>
          <a:p>
            <a:r>
              <a:t/>
            </a:r>
          </a:p>
          <a:p>
            <a:r>
              <a:t>LECTURER CUE</a:t>
            </a:r>
          </a:p>
          <a:p>
            <a:r>
              <a:t>The shape you get when you count how many values fall in each band. It is the thing you should look at before choosing any statistic at all.</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Percentile.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Percentile</a:t>
            </a:r>
          </a:p>
          <a:p>
            <a:r>
              <a:t/>
            </a:r>
          </a:p>
          <a:p>
            <a:r>
              <a:t>CONNECT</a:t>
            </a:r>
          </a:p>
          <a:p>
            <a:r>
              <a:t>Build on the preceding slide: Distribution.</a:t>
            </a:r>
          </a:p>
          <a:p>
            <a:r>
              <a:t/>
            </a:r>
          </a:p>
          <a:p>
            <a:r>
              <a:t>LECTURER CUE</a:t>
            </a:r>
          </a:p>
          <a:p>
            <a:r>
              <a:t>The value below which a given share of the data falls. The 90th percentile is bigger than nine values in ten.</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Three shapes, and what each one allows you to say.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Three shapes, and what each one allows you to say</a:t>
            </a:r>
          </a:p>
          <a:p>
            <a:r>
              <a:t/>
            </a:r>
          </a:p>
          <a:p>
            <a:r>
              <a:t>CONNECT</a:t>
            </a:r>
          </a:p>
          <a:p>
            <a:r>
              <a:t>Build on the preceding slide: Percentile.</a:t>
            </a:r>
          </a:p>
          <a:p>
            <a:r>
              <a:t/>
            </a:r>
          </a:p>
          <a:p>
            <a:r>
              <a:t>LECTURER CUE</a:t>
            </a:r>
          </a:p>
          <a:p>
            <a:r>
              <a:t>Simulated on purpose, so the shapes are clean. Symmetric: the mean is fine. Right-skewed: use the median. Bimodal: you have two populations mixed together and no single statistic describes them.</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Compute all three by hand first, then trust the function.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Compute all three by hand first, then trust the function</a:t>
            </a:r>
          </a:p>
          <a:p>
            <a:r>
              <a:t/>
            </a:r>
          </a:p>
          <a:p>
            <a:r>
              <a:t>CONNECT</a:t>
            </a:r>
          </a:p>
          <a:p>
            <a:r>
              <a:t>Build on the preceding slide: Three shapes, and what each one allows you to say.</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Break.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Break</a:t>
            </a:r>
          </a:p>
          <a:p>
            <a:r>
              <a:t/>
            </a:r>
          </a:p>
          <a:p>
            <a:r>
              <a:t>CONNECT</a:t>
            </a:r>
          </a:p>
          <a:p>
            <a:r>
              <a:t>Build on the preceding slide: Compute all three by hand first, then trust the function.</a:t>
            </a:r>
          </a:p>
          <a:p>
            <a:r>
              <a:t/>
            </a:r>
          </a:p>
          <a:p>
            <a:r>
              <a:t>LECTURER CUE</a:t>
            </a:r>
          </a:p>
          <a:p>
            <a:r>
              <a:t>Ten minutes.</a:t>
            </a:r>
          </a:p>
          <a:p>
            <a:r>
              <a:t/>
            </a:r>
          </a:p>
          <a:p>
            <a:r>
              <a:t>NEXT</a:t>
            </a:r>
          </a:p>
          <a:p>
            <a:r>
              <a:t>The shape decides which statistic is honest.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same three on the real order values</a:t>
            </a:r>
          </a:p>
          <a:p>
            <a:r>
              <a:t/>
            </a:r>
          </a:p>
          <a:p>
            <a:r>
              <a:t>CONNECT</a:t>
            </a:r>
          </a:p>
          <a:p>
            <a:r>
              <a:t>Build on the preceding slide: The shape decides which statistic is honest.</a:t>
            </a:r>
          </a:p>
          <a:p>
            <a:r>
              <a:t/>
            </a:r>
          </a:p>
          <a:p>
            <a:r>
              <a:t>EXPLAIN IN ORDINARY WORDS</a:t>
            </a:r>
          </a:p>
          <a:p>
            <a:r>
              <a:t>Grouping puts rows sharing a key into buckets, then computes a result for each bucket. WHERE filters rows before SQL grouping; HAVING filters grouped results.</a:t>
            </a:r>
          </a:p>
          <a:p>
            <a:r>
              <a:t/>
            </a:r>
          </a:p>
          <a:p>
            <a:r>
              <a:t>CHECK AND EXPECTED ANSWER</a:t>
            </a:r>
          </a:p>
          <a:p>
            <a:r>
              <a:t>Which condition keeps only groups with more than five rows? HAVING COUNT(*) &gt; 5.</a:t>
            </a:r>
          </a:p>
          <a:p>
            <a:r>
              <a:t/>
            </a:r>
          </a:p>
          <a:p>
            <a:r>
              <a:t>IF LEARNERS ARE STUCK</a:t>
            </a:r>
          </a:p>
          <a:p>
            <a:r>
              <a:t>Draw two buckets and count by hand. Name the intended output grain before writing the aggregation.</a:t>
            </a:r>
          </a:p>
          <a:p>
            <a:r>
              <a:t/>
            </a:r>
          </a:p>
          <a:p>
            <a:r>
              <a:t>NEXT</a:t>
            </a:r>
          </a:p>
          <a:p>
            <a:r>
              <a:t>Draw it before you choose.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Draw it before you choose</a:t>
            </a:r>
          </a:p>
          <a:p>
            <a:r>
              <a:t/>
            </a:r>
          </a:p>
          <a:p>
            <a:r>
              <a:t>CONNECT</a:t>
            </a:r>
          </a:p>
          <a:p>
            <a:r>
              <a:t>Build on the preceding slide: The same three on the real order values.</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The real order values, with the mean and the median marked.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real order values, with the mean and the median marked</a:t>
            </a:r>
          </a:p>
          <a:p>
            <a:r>
              <a:t/>
            </a:r>
          </a:p>
          <a:p>
            <a:r>
              <a:t>CONNECT</a:t>
            </a:r>
          </a:p>
          <a:p>
            <a:r>
              <a:t>Build on the preceding slide: Draw it before you choose.</a:t>
            </a:r>
          </a:p>
          <a:p>
            <a:r>
              <a:t/>
            </a:r>
          </a:p>
          <a:p>
            <a:r>
              <a:t>LECTURER CUE</a:t>
            </a:r>
          </a:p>
          <a:p>
            <a:r>
              <a:t>All 6,000 orders from the course data. The mean sits above four orders in five, which is why it is a poor answer to "what is typical".</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Four numbers that describe the business honestly.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Four numbers that describe the business honestly</a:t>
            </a:r>
          </a:p>
          <a:p>
            <a:r>
              <a:t/>
            </a:r>
          </a:p>
          <a:p>
            <a:r>
              <a:t>CONNECT</a:t>
            </a:r>
          </a:p>
          <a:p>
            <a:r>
              <a:t>Build on the preceding slide: The real order values, with the mean and the median marked.</a:t>
            </a:r>
          </a:p>
          <a:p>
            <a:r>
              <a:t/>
            </a:r>
          </a:p>
          <a:p>
            <a:r>
              <a:t>LECTURER CUE</a:t>
            </a:r>
          </a:p>
          <a:p>
            <a:r>
              <a:t>p10, median, p90 and the largest order. Together these say more than any single statistic can, and none of them mislead.</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Reporting a mean on a skewed distribution. It is the single commonest misleading number in business reporting..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Reporting a mean on a skewed distribution. It is the single commonest misleading number in business reporting.</a:t>
            </a:r>
          </a:p>
          <a:p>
            <a:r>
              <a:t/>
            </a:r>
          </a:p>
          <a:p>
            <a:r>
              <a:t>CONNECT</a:t>
            </a:r>
          </a:p>
          <a:p>
            <a:r>
              <a:t>Build on the preceding slide: Four numbers that describe the business honestly.</a:t>
            </a:r>
          </a:p>
          <a:p>
            <a:r>
              <a:t/>
            </a:r>
          </a:p>
          <a:p>
            <a:r>
              <a:t>LECTURER CUE</a:t>
            </a:r>
          </a:p>
          <a:p>
            <a:r>
              <a:t>Reporting a mean on a skewed distribution. It is the single commonest misleading number in business reporting.</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Reporting a mean on a skewed distribution. It is the single commonest misleading number in business reporting..</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DISCUSSION KEY FOR THIS SLIDE</a:t>
            </a:r>
          </a:p>
          <a:p>
            <a:r>
              <a:t>ANSWERS</a:t>
            </a:r>
          </a:p>
          <a:p>
            <a:r>
              <a:t>How did you do?</a:t>
            </a:r>
          </a:p>
          <a:p>
            <a:r>
              <a:t>A</a:t>
            </a:r>
          </a:p>
          <a:p>
            <a:r>
              <a:t>When the mean is right</a:t>
            </a:r>
          </a:p>
          <a:p>
            <a:r>
              <a:t>When the distribution is roughly symmetric, or when you genuinely need the total divided by the count, which is what average order value is for pricing and capacity. As a description of typical, on a skewed distribution, it is wrong.</a:t>
            </a:r>
          </a:p>
          <a:p>
            <a:r>
              <a:t>B</a:t>
            </a:r>
          </a:p>
          <a:p>
            <a:r>
              <a:t>Is the largest order an outlier to delete?</a:t>
            </a:r>
          </a:p>
          <a:p>
            <a:r>
              <a:t>You cannot tell from the data alone, and deleting it is a decision about the business rather than about the file. It might be a typo and it might be your most important customer. Go and ask. Describe it either way.</a:t>
            </a:r>
          </a:p>
          <a:p>
            <a:r>
              <a:t>C</a:t>
            </a:r>
          </a:p>
          <a:p>
            <a:r>
              <a:t>Why look at the shape first</a:t>
            </a:r>
          </a:p>
          <a:p>
            <a:r>
              <a:t>Because the shape is what decides whether a statistic is honest. Choosing the statistic first and looking at the shape afterwards is how the mean ends up in board papers where the median belonged.</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Describe three columns properly.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Describe three columns properly</a:t>
            </a:r>
          </a:p>
          <a:p>
            <a:r>
              <a:t/>
            </a:r>
          </a:p>
          <a:p>
            <a:r>
              <a:t>CONNECT</a:t>
            </a:r>
          </a:p>
          <a:p>
            <a:r>
              <a:t>Build on the preceding slide: How did you do?.</a:t>
            </a:r>
          </a:p>
          <a:p>
            <a:r>
              <a:t/>
            </a:r>
          </a:p>
          <a:p>
            <a:r>
              <a:t>LECTURER CUE</a:t>
            </a:r>
          </a:p>
          <a:p>
            <a:r>
              <a:t>Pick three numeric columns from the course data. For each: draw the distribution, choose the right statistic, and write one sentence saying why the alternative would mislead.</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What you can do now.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can do now</a:t>
            </a:r>
          </a:p>
          <a:p>
            <a:r>
              <a:t/>
            </a:r>
          </a:p>
          <a:p>
            <a:r>
              <a:t>CONNECT</a:t>
            </a:r>
          </a:p>
          <a:p>
            <a:r>
              <a:t>Build on the preceding slide: Describe three columns properly.</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Before the next session.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Before the next session</a:t>
            </a:r>
          </a:p>
          <a:p>
            <a:r>
              <a:t/>
            </a:r>
          </a:p>
          <a:p>
            <a:r>
              <a:t>CONNECT</a:t>
            </a:r>
          </a:p>
          <a:p>
            <a:r>
              <a:t>Build on the preceding slide: What you can do now.</a:t>
            </a:r>
          </a:p>
          <a:p>
            <a:r>
              <a:t/>
            </a:r>
          </a:p>
          <a:p>
            <a:r>
              <a:t>LECTURER CUE</a:t>
            </a:r>
          </a:p>
          <a:p>
            <a:r>
              <a:t>Find a number quoted in your organisation and work out which statistic it is. If it is a mean, check whether the distribution justifies one.</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Look at the shape, then pick the number.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Look at the shape, then pick the number</a:t>
            </a:r>
          </a:p>
          <a:p>
            <a:r>
              <a:t/>
            </a:r>
          </a:p>
          <a:p>
            <a:r>
              <a:t>CONNECT</a:t>
            </a:r>
          </a:p>
          <a:p>
            <a:r>
              <a:t>Build on the preceding slide: Before the next session.</a:t>
            </a:r>
          </a:p>
          <a:p>
            <a:r>
              <a:t/>
            </a:r>
          </a:p>
          <a:p>
            <a:r>
              <a:t>LECTURER CUE</a:t>
            </a:r>
          </a:p>
          <a:p>
            <a:r>
              <a:t>The order is the whole lesson. A mean reported on a skewed distribution is the commonest misleading number in business, and it costs nothing to avoid once you have drawn the histogram.</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p:txBody>
      </p:sp>
      <p:sp>
        <p:nvSpPr>
          <p:cNvPr id="4" name="Slide Number Placeholder 3"/>
          <p:cNvSpPr>
            <a:spLocks noGrp="1"/>
          </p:cNvSpPr>
          <p:nvPr>
            <p:ph type="sldNum" idx="5" sz="quarter"/>
          </p:nvPr>
        </p:nvSpPr>
        <p:spPr/>
      </p:sp>
    </p:spTree>
  </p:cSld>
  <p:clrMapOvr>
    <a:masterClrMapping/>
  </p:clrMapOvr>
</p:notes>
</file>

<file path=ppt/notesSlides/notesSlide1000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a statistic is, before any particular one</a:t>
            </a:r>
          </a:p>
          <a:p>
            <a:r>
              <a:t/>
            </a:r>
          </a:p>
          <a:p>
            <a:r>
              <a:t>CONNECT</a:t>
            </a:r>
          </a:p>
          <a:p>
            <a:r>
              <a:t>Build on the preceding slide: What is a typical order worth?.</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A statistic.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0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shape decides which statistic is honest</a:t>
            </a:r>
          </a:p>
          <a:p>
            <a:r>
              <a:t/>
            </a:r>
          </a:p>
          <a:p>
            <a:r>
              <a:t>CONNECT</a:t>
            </a:r>
          </a:p>
          <a:p>
            <a:r>
              <a:t>Build on the preceding slide: Break.</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The same three on the real order values.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06.xml" /></ns0: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14.xml" /></ns0: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2219724"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SESSION 10 OF 15</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Describing one column</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There are three defensible answers and they differ by a factor of five. Choosing between them is tonight.</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4  ·  STATISTICS  ·  3 HOURS</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Data Analysis with Python, SQL and Power BI  ·  roadmap.sh: Descriptive statistics; distributions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FIFTEEN SESSIONS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tonight sits</a:t>
            </a:r>
          </a:p>
        </p:txBody>
      </p:sp>
      <p:sp>
        <p:nvSpPr>
          <p:cNvPr id="4" name="Rounded Rectangle 3"/>
          <p:cNvSpPr/>
          <p:nvPr/>
        </p:nvSpPr>
        <p:spPr>
          <a:xfrm>
            <a:off x="685800"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2104"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  ·  FOUNDATIONS</a:t>
            </a:r>
          </a:p>
        </p:txBody>
      </p:sp>
      <p:sp>
        <p:nvSpPr>
          <p:cNvPr id="6" name="TextBox 5"/>
          <p:cNvSpPr txBox="1"/>
          <p:nvPr/>
        </p:nvSpPr>
        <p:spPr>
          <a:xfrm>
            <a:off x="832104"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From a spreadsheet to data</a:t>
            </a:r>
          </a:p>
        </p:txBody>
      </p:sp>
      <p:sp>
        <p:nvSpPr>
          <p:cNvPr id="7" name="Rounded Rectangle 6"/>
          <p:cNvSpPr/>
          <p:nvPr/>
        </p:nvSpPr>
        <p:spPr>
          <a:xfrm>
            <a:off x="3459403"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5707"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2  ·  FOUNDATIONS</a:t>
            </a:r>
          </a:p>
        </p:txBody>
      </p:sp>
      <p:sp>
        <p:nvSpPr>
          <p:cNvPr id="9" name="TextBox 8"/>
          <p:cNvSpPr txBox="1"/>
          <p:nvPr/>
        </p:nvSpPr>
        <p:spPr>
          <a:xfrm>
            <a:off x="3605707"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Why data lives in several tables</a:t>
            </a:r>
          </a:p>
        </p:txBody>
      </p:sp>
      <p:sp>
        <p:nvSpPr>
          <p:cNvPr id="10" name="Rounded Rectangle 9"/>
          <p:cNvSpPr/>
          <p:nvPr/>
        </p:nvSpPr>
        <p:spPr>
          <a:xfrm>
            <a:off x="6233007"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9311"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3  ·  SQL</a:t>
            </a:r>
          </a:p>
        </p:txBody>
      </p:sp>
      <p:sp>
        <p:nvSpPr>
          <p:cNvPr id="12" name="TextBox 11"/>
          <p:cNvSpPr txBox="1"/>
          <p:nvPr/>
        </p:nvSpPr>
        <p:spPr>
          <a:xfrm>
            <a:off x="6379311"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Asking a database for rows</a:t>
            </a:r>
          </a:p>
        </p:txBody>
      </p:sp>
      <p:sp>
        <p:nvSpPr>
          <p:cNvPr id="13" name="Rounded Rectangle 12"/>
          <p:cNvSpPr/>
          <p:nvPr/>
        </p:nvSpPr>
        <p:spPr>
          <a:xfrm>
            <a:off x="9006611"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4  ·  SQL</a:t>
            </a:r>
          </a:p>
        </p:txBody>
      </p:sp>
      <p:sp>
        <p:nvSpPr>
          <p:cNvPr id="15" name="TextBox 14"/>
          <p:cNvSpPr txBox="1"/>
          <p:nvPr/>
        </p:nvSpPr>
        <p:spPr>
          <a:xfrm>
            <a:off x="9152915"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Counting and grouping</a:t>
            </a:r>
          </a:p>
        </p:txBody>
      </p:sp>
      <p:sp>
        <p:nvSpPr>
          <p:cNvPr id="16" name="Rounded Rectangle 15"/>
          <p:cNvSpPr/>
          <p:nvPr/>
        </p:nvSpPr>
        <p:spPr>
          <a:xfrm>
            <a:off x="685800"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5  ·  SQL</a:t>
            </a:r>
          </a:p>
        </p:txBody>
      </p:sp>
      <p:sp>
        <p:nvSpPr>
          <p:cNvPr id="18" name="TextBox 17"/>
          <p:cNvSpPr txBox="1"/>
          <p:nvPr/>
        </p:nvSpPr>
        <p:spPr>
          <a:xfrm>
            <a:off x="832104"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Joining tables, carefully</a:t>
            </a:r>
          </a:p>
        </p:txBody>
      </p:sp>
      <p:sp>
        <p:nvSpPr>
          <p:cNvPr id="19" name="Rounded Rectangle 18"/>
          <p:cNvSpPr/>
          <p:nvPr/>
        </p:nvSpPr>
        <p:spPr>
          <a:xfrm>
            <a:off x="3459403"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5707"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6  ·  PYTHON</a:t>
            </a:r>
          </a:p>
        </p:txBody>
      </p:sp>
      <p:sp>
        <p:nvSpPr>
          <p:cNvPr id="21" name="TextBox 20"/>
          <p:cNvSpPr txBox="1"/>
          <p:nvPr/>
        </p:nvSpPr>
        <p:spPr>
          <a:xfrm>
            <a:off x="3605707"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Your first program</a:t>
            </a:r>
          </a:p>
        </p:txBody>
      </p:sp>
      <p:sp>
        <p:nvSpPr>
          <p:cNvPr id="22" name="Rounded Rectangle 21"/>
          <p:cNvSpPr/>
          <p:nvPr/>
        </p:nvSpPr>
        <p:spPr>
          <a:xfrm>
            <a:off x="6233007"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7  ·  PYTHON</a:t>
            </a:r>
          </a:p>
        </p:txBody>
      </p:sp>
      <p:sp>
        <p:nvSpPr>
          <p:cNvPr id="24" name="TextBox 23"/>
          <p:cNvSpPr txBox="1"/>
          <p:nvPr/>
        </p:nvSpPr>
        <p:spPr>
          <a:xfrm>
            <a:off x="6379311"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Reading a file, and looking at it</a:t>
            </a:r>
          </a:p>
        </p:txBody>
      </p:sp>
      <p:sp>
        <p:nvSpPr>
          <p:cNvPr id="25" name="Rounded Rectangle 24"/>
          <p:cNvSpPr/>
          <p:nvPr/>
        </p:nvSpPr>
        <p:spPr>
          <a:xfrm>
            <a:off x="9006611"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2915"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8  ·  PYTHON</a:t>
            </a:r>
          </a:p>
        </p:txBody>
      </p:sp>
      <p:sp>
        <p:nvSpPr>
          <p:cNvPr id="27" name="TextBox 26"/>
          <p:cNvSpPr txBox="1"/>
          <p:nvPr/>
        </p:nvSpPr>
        <p:spPr>
          <a:xfrm>
            <a:off x="9152915"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Cleaning, and writing down what you did</a:t>
            </a:r>
          </a:p>
        </p:txBody>
      </p:sp>
      <p:sp>
        <p:nvSpPr>
          <p:cNvPr id="28" name="Rounded Rectangle 27"/>
          <p:cNvSpPr/>
          <p:nvPr/>
        </p:nvSpPr>
        <p:spPr>
          <a:xfrm>
            <a:off x="685800"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  ·  PYTHON</a:t>
            </a:r>
          </a:p>
        </p:txBody>
      </p:sp>
      <p:sp>
        <p:nvSpPr>
          <p:cNvPr id="30" name="TextBox 29"/>
          <p:cNvSpPr txBox="1"/>
          <p:nvPr/>
        </p:nvSpPr>
        <p:spPr>
          <a:xfrm>
            <a:off x="832104"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Grouping and joining in pandas</a:t>
            </a:r>
          </a:p>
        </p:txBody>
      </p:sp>
      <p:sp>
        <p:nvSpPr>
          <p:cNvPr id="31" name="Rounded Rectangle 30"/>
          <p:cNvSpPr/>
          <p:nvPr/>
        </p:nvSpPr>
        <p:spPr>
          <a:xfrm>
            <a:off x="3459403" y="4398264"/>
            <a:ext cx="2499283" cy="1060704"/>
          </a:xfrm>
          <a:prstGeom prst="roundRect">
            <a:avLst>
              <a:gd name="adj" fmla="val 6000"/>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05707" y="4471416"/>
            <a:ext cx="2206675" cy="256032"/>
          </a:xfrm>
          <a:prstGeom prst="rect">
            <a:avLst/>
          </a:prstGeom>
          <a:noFill/>
        </p:spPr>
        <p:txBody>
          <a:bodyPr wrap="square" lIns="0" rIns="0" tIns="0" bIns="0" anchor="t">
            <a:spAutoFit/>
          </a:bodyPr>
          <a:lstStyle/>
          <a:p>
            <a:pPr algn="l">
              <a:spcAft>
                <a:spcPts val="600"/>
              </a:spcAft>
            </a:pPr>
            <a:r>
              <a:rPr sz="1254" b="1" i="0">
                <a:solidFill>
                  <a:srgbClr val="FFFFFF"/>
                </a:solidFill>
                <a:latin typeface="Calibri"/>
              </a:rPr>
              <a:t>10  ·  STATISTICS</a:t>
            </a:r>
          </a:p>
        </p:txBody>
      </p:sp>
      <p:sp>
        <p:nvSpPr>
          <p:cNvPr id="33" name="TextBox 32"/>
          <p:cNvSpPr txBox="1"/>
          <p:nvPr/>
        </p:nvSpPr>
        <p:spPr>
          <a:xfrm>
            <a:off x="3605707" y="4745736"/>
            <a:ext cx="2206675" cy="640080"/>
          </a:xfrm>
          <a:prstGeom prst="rect">
            <a:avLst/>
          </a:prstGeom>
          <a:noFill/>
        </p:spPr>
        <p:txBody>
          <a:bodyPr wrap="square" lIns="0" rIns="0" tIns="0" bIns="0" anchor="t">
            <a:spAutoFit/>
          </a:bodyPr>
          <a:lstStyle/>
          <a:p>
            <a:pPr algn="l">
              <a:lnSpc>
                <a:spcPct val="112000"/>
              </a:lnSpc>
              <a:spcAft>
                <a:spcPts val="600"/>
              </a:spcAft>
            </a:pPr>
            <a:r>
              <a:rPr sz="1452" b="1" i="0">
                <a:solidFill>
                  <a:srgbClr val="FFFFFF"/>
                </a:solidFill>
                <a:latin typeface="Calibri"/>
              </a:rPr>
              <a:t>Describing one column</a:t>
            </a:r>
          </a:p>
        </p:txBody>
      </p:sp>
      <p:sp>
        <p:nvSpPr>
          <p:cNvPr id="34" name="Rounded Rectangle 33"/>
          <p:cNvSpPr/>
          <p:nvPr/>
        </p:nvSpPr>
        <p:spPr>
          <a:xfrm>
            <a:off x="6233007"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9311"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11  ·  STATISTICS</a:t>
            </a:r>
          </a:p>
        </p:txBody>
      </p:sp>
      <p:sp>
        <p:nvSpPr>
          <p:cNvPr id="36" name="TextBox 35"/>
          <p:cNvSpPr txBox="1"/>
          <p:nvPr/>
        </p:nvSpPr>
        <p:spPr>
          <a:xfrm>
            <a:off x="6379311"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Comparing groups, and reading time</a:t>
            </a:r>
          </a:p>
        </p:txBody>
      </p:sp>
      <p:sp>
        <p:nvSpPr>
          <p:cNvPr id="37" name="Rounded Rectangle 36"/>
          <p:cNvSpPr/>
          <p:nvPr/>
        </p:nvSpPr>
        <p:spPr>
          <a:xfrm>
            <a:off x="9006611"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52915"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12  ·  CHARTS</a:t>
            </a:r>
          </a:p>
        </p:txBody>
      </p:sp>
      <p:sp>
        <p:nvSpPr>
          <p:cNvPr id="39" name="TextBox 38"/>
          <p:cNvSpPr txBox="1"/>
          <p:nvPr/>
        </p:nvSpPr>
        <p:spPr>
          <a:xfrm>
            <a:off x="9152915"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Charts that answer the question</a:t>
            </a:r>
          </a:p>
        </p:txBody>
      </p:sp>
      <p:sp>
        <p:nvSpPr>
          <p:cNvPr id="40" name="Rounded Rectangle 39"/>
          <p:cNvSpPr/>
          <p:nvPr/>
        </p:nvSpPr>
        <p:spPr>
          <a:xfrm>
            <a:off x="685800"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13  ·  INVESTIGATION</a:t>
            </a:r>
          </a:p>
        </p:txBody>
      </p:sp>
      <p:sp>
        <p:nvSpPr>
          <p:cNvPr id="42" name="TextBox 41"/>
          <p:cNvSpPr txBox="1"/>
          <p:nvPr/>
        </p:nvSpPr>
        <p:spPr>
          <a:xfrm>
            <a:off x="832104"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 whole investigation, end to end</a:t>
            </a:r>
          </a:p>
        </p:txBody>
      </p:sp>
      <p:sp>
        <p:nvSpPr>
          <p:cNvPr id="43" name="Rounded Rectangle 42"/>
          <p:cNvSpPr/>
          <p:nvPr/>
        </p:nvSpPr>
        <p:spPr>
          <a:xfrm>
            <a:off x="3459403"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5707"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14  ·  POWER BI</a:t>
            </a:r>
          </a:p>
        </p:txBody>
      </p:sp>
      <p:sp>
        <p:nvSpPr>
          <p:cNvPr id="45" name="TextBox 44"/>
          <p:cNvSpPr txBox="1"/>
          <p:nvPr/>
        </p:nvSpPr>
        <p:spPr>
          <a:xfrm>
            <a:off x="3605707"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Getting data in, and modelling it</a:t>
            </a:r>
          </a:p>
        </p:txBody>
      </p:sp>
      <p:sp>
        <p:nvSpPr>
          <p:cNvPr id="46" name="Rounded Rectangle 45"/>
          <p:cNvSpPr/>
          <p:nvPr/>
        </p:nvSpPr>
        <p:spPr>
          <a:xfrm>
            <a:off x="6233007"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79311"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15  ·  POWER BI</a:t>
            </a:r>
          </a:p>
        </p:txBody>
      </p:sp>
      <p:sp>
        <p:nvSpPr>
          <p:cNvPr id="48" name="TextBox 47"/>
          <p:cNvSpPr txBox="1"/>
          <p:nvPr/>
        </p:nvSpPr>
        <p:spPr>
          <a:xfrm>
            <a:off x="6379311"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Measures, a dashboard, and presenting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BEFORE WE START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for tonight</a:t>
            </a:r>
          </a:p>
        </p:txBody>
      </p:sp>
      <p:sp>
        <p:nvSpPr>
          <p:cNvPr id="4" name="TextBox 3"/>
          <p:cNvSpPr txBox="1"/>
          <p:nvPr/>
        </p:nvSpPr>
        <p:spPr>
          <a:xfrm>
            <a:off x="685800" y="1911095"/>
            <a:ext cx="224028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TERM</a:t>
            </a:r>
          </a:p>
        </p:txBody>
      </p:sp>
      <p:sp>
        <p:nvSpPr>
          <p:cNvPr id="5" name="TextBox 4"/>
          <p:cNvSpPr txBox="1"/>
          <p:nvPr/>
        </p:nvSpPr>
        <p:spPr>
          <a:xfrm>
            <a:off x="3154680" y="1911095"/>
            <a:ext cx="489204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WHAT IT MEANS</a:t>
            </a:r>
          </a:p>
        </p:txBody>
      </p:sp>
      <p:sp>
        <p:nvSpPr>
          <p:cNvPr id="6" name="TextBox 5"/>
          <p:cNvSpPr txBox="1"/>
          <p:nvPr/>
        </p:nvSpPr>
        <p:spPr>
          <a:xfrm>
            <a:off x="8275320" y="1911095"/>
            <a:ext cx="3230575"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IN A SPREADSHEET</a:t>
            </a:r>
          </a:p>
        </p:txBody>
      </p:sp>
      <p:sp>
        <p:nvSpPr>
          <p:cNvPr id="7" name="Rectangle 6"/>
          <p:cNvSpPr/>
          <p:nvPr/>
        </p:nvSpPr>
        <p:spPr>
          <a:xfrm>
            <a:off x="576072" y="2240279"/>
            <a:ext cx="11039551" cy="551921"/>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276856"/>
            <a:ext cx="2240280" cy="506201"/>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Statistic</a:t>
            </a:r>
          </a:p>
        </p:txBody>
      </p:sp>
      <p:sp>
        <p:nvSpPr>
          <p:cNvPr id="9" name="TextBox 8"/>
          <p:cNvSpPr txBox="1"/>
          <p:nvPr/>
        </p:nvSpPr>
        <p:spPr>
          <a:xfrm>
            <a:off x="3154680" y="2276856"/>
            <a:ext cx="4892040"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One number that summarises many. Every statistic throws information away, which is the point and the danger.</a:t>
            </a:r>
          </a:p>
        </p:txBody>
      </p:sp>
      <p:sp>
        <p:nvSpPr>
          <p:cNvPr id="10" name="TextBox 9"/>
          <p:cNvSpPr txBox="1"/>
          <p:nvPr/>
        </p:nvSpPr>
        <p:spPr>
          <a:xfrm>
            <a:off x="8275320" y="2276856"/>
            <a:ext cx="3230575" cy="506201"/>
          </a:xfrm>
          <a:prstGeom prst="rect">
            <a:avLst/>
          </a:prstGeom>
          <a:noFill/>
        </p:spPr>
        <p:txBody>
          <a:bodyPr wrap="square" lIns="0" rIns="0" tIns="0" bIns="0" anchor="t">
            <a:spAutoFit/>
          </a:bodyPr>
          <a:lstStyle/>
          <a:p>
            <a:pPr algn="l">
              <a:lnSpc>
                <a:spcPct val="116000"/>
              </a:lnSpc>
              <a:spcAft>
                <a:spcPts val="600"/>
              </a:spcAft>
            </a:pPr>
            <a:r>
              <a:rPr sz="1254" b="0" i="1">
                <a:solidFill>
                  <a:srgbClr val="6B7A8A"/>
                </a:solidFill>
                <a:latin typeface="Calibri"/>
              </a:rPr>
              <a:t>no direct equivalent</a:t>
            </a:r>
          </a:p>
        </p:txBody>
      </p:sp>
      <p:sp>
        <p:nvSpPr>
          <p:cNvPr id="11" name="TextBox 10"/>
          <p:cNvSpPr txBox="1"/>
          <p:nvPr/>
        </p:nvSpPr>
        <p:spPr>
          <a:xfrm>
            <a:off x="685800" y="2865353"/>
            <a:ext cx="2240280" cy="283899"/>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Mean</a:t>
            </a:r>
          </a:p>
        </p:txBody>
      </p:sp>
      <p:sp>
        <p:nvSpPr>
          <p:cNvPr id="12" name="TextBox 11"/>
          <p:cNvSpPr txBox="1"/>
          <p:nvPr/>
        </p:nvSpPr>
        <p:spPr>
          <a:xfrm>
            <a:off x="3154680" y="2865353"/>
            <a:ext cx="4892040" cy="283899"/>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The total divided by the count.</a:t>
            </a:r>
          </a:p>
        </p:txBody>
      </p:sp>
      <p:sp>
        <p:nvSpPr>
          <p:cNvPr id="13" name="TextBox 12"/>
          <p:cNvSpPr txBox="1"/>
          <p:nvPr/>
        </p:nvSpPr>
        <p:spPr>
          <a:xfrm>
            <a:off x="8275320" y="2865353"/>
            <a:ext cx="3230575" cy="283899"/>
          </a:xfrm>
          <a:prstGeom prst="rect">
            <a:avLst/>
          </a:prstGeom>
          <a:noFill/>
        </p:spPr>
        <p:txBody>
          <a:bodyPr wrap="square" lIns="0" rIns="0" tIns="0" bIns="0" anchor="t">
            <a:spAutoFit/>
          </a:bodyPr>
          <a:lstStyle/>
          <a:p>
            <a:pPr algn="l">
              <a:lnSpc>
                <a:spcPct val="116000"/>
              </a:lnSpc>
              <a:spcAft>
                <a:spcPts val="600"/>
              </a:spcAft>
            </a:pPr>
            <a:r>
              <a:rPr sz="1254" b="0" i="0">
                <a:solidFill>
                  <a:srgbClr val="2E7D6F"/>
                </a:solidFill>
                <a:latin typeface="Calibri"/>
              </a:rPr>
              <a:t>AVERAGE</a:t>
            </a:r>
          </a:p>
        </p:txBody>
      </p:sp>
      <p:sp>
        <p:nvSpPr>
          <p:cNvPr id="14" name="Rectangle 13"/>
          <p:cNvSpPr/>
          <p:nvPr/>
        </p:nvSpPr>
        <p:spPr>
          <a:xfrm>
            <a:off x="576072" y="3194973"/>
            <a:ext cx="11039551" cy="329619"/>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231549"/>
            <a:ext cx="2240280" cy="283899"/>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Median</a:t>
            </a:r>
          </a:p>
        </p:txBody>
      </p:sp>
      <p:sp>
        <p:nvSpPr>
          <p:cNvPr id="16" name="TextBox 15"/>
          <p:cNvSpPr txBox="1"/>
          <p:nvPr/>
        </p:nvSpPr>
        <p:spPr>
          <a:xfrm>
            <a:off x="3154680" y="3231549"/>
            <a:ext cx="4892040" cy="283899"/>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The middle value when you line them all up. Half are smaller.</a:t>
            </a:r>
          </a:p>
        </p:txBody>
      </p:sp>
      <p:sp>
        <p:nvSpPr>
          <p:cNvPr id="17" name="TextBox 16"/>
          <p:cNvSpPr txBox="1"/>
          <p:nvPr/>
        </p:nvSpPr>
        <p:spPr>
          <a:xfrm>
            <a:off x="8275320" y="3231549"/>
            <a:ext cx="3230575" cy="283899"/>
          </a:xfrm>
          <a:prstGeom prst="rect">
            <a:avLst/>
          </a:prstGeom>
          <a:noFill/>
        </p:spPr>
        <p:txBody>
          <a:bodyPr wrap="square" lIns="0" rIns="0" tIns="0" bIns="0" anchor="t">
            <a:spAutoFit/>
          </a:bodyPr>
          <a:lstStyle/>
          <a:p>
            <a:pPr algn="l">
              <a:lnSpc>
                <a:spcPct val="116000"/>
              </a:lnSpc>
              <a:spcAft>
                <a:spcPts val="600"/>
              </a:spcAft>
            </a:pPr>
            <a:r>
              <a:rPr sz="1254" b="0" i="0">
                <a:solidFill>
                  <a:srgbClr val="2E7D6F"/>
                </a:solidFill>
                <a:latin typeface="Calibri"/>
              </a:rPr>
              <a:t>MEDIAN</a:t>
            </a:r>
          </a:p>
        </p:txBody>
      </p:sp>
      <p:sp>
        <p:nvSpPr>
          <p:cNvPr id="18" name="TextBox 17"/>
          <p:cNvSpPr txBox="1"/>
          <p:nvPr/>
        </p:nvSpPr>
        <p:spPr>
          <a:xfrm>
            <a:off x="685800" y="3597744"/>
            <a:ext cx="2240280" cy="506201"/>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Mode</a:t>
            </a:r>
          </a:p>
        </p:txBody>
      </p:sp>
      <p:sp>
        <p:nvSpPr>
          <p:cNvPr id="19" name="TextBox 18"/>
          <p:cNvSpPr txBox="1"/>
          <p:nvPr/>
        </p:nvSpPr>
        <p:spPr>
          <a:xfrm>
            <a:off x="3154680" y="3597744"/>
            <a:ext cx="4892040"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The commonest value. Useful on categories, where a mean is meaningless.</a:t>
            </a:r>
          </a:p>
        </p:txBody>
      </p:sp>
      <p:sp>
        <p:nvSpPr>
          <p:cNvPr id="20" name="TextBox 19"/>
          <p:cNvSpPr txBox="1"/>
          <p:nvPr/>
        </p:nvSpPr>
        <p:spPr>
          <a:xfrm>
            <a:off x="8275320" y="3597744"/>
            <a:ext cx="3230575"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2E7D6F"/>
                </a:solidFill>
                <a:latin typeface="Calibri"/>
              </a:rPr>
              <a:t>MODE</a:t>
            </a:r>
          </a:p>
        </p:txBody>
      </p:sp>
      <p:sp>
        <p:nvSpPr>
          <p:cNvPr id="21" name="Rectangle 20"/>
          <p:cNvSpPr/>
          <p:nvPr/>
        </p:nvSpPr>
        <p:spPr>
          <a:xfrm>
            <a:off x="576072" y="4149666"/>
            <a:ext cx="11039551" cy="329619"/>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186242"/>
            <a:ext cx="2240280" cy="283899"/>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Range</a:t>
            </a:r>
          </a:p>
        </p:txBody>
      </p:sp>
      <p:sp>
        <p:nvSpPr>
          <p:cNvPr id="23" name="TextBox 22"/>
          <p:cNvSpPr txBox="1"/>
          <p:nvPr/>
        </p:nvSpPr>
        <p:spPr>
          <a:xfrm>
            <a:off x="3154680" y="4186242"/>
            <a:ext cx="4892040" cy="283899"/>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Largest minus smallest.</a:t>
            </a:r>
          </a:p>
        </p:txBody>
      </p:sp>
      <p:sp>
        <p:nvSpPr>
          <p:cNvPr id="24" name="TextBox 23"/>
          <p:cNvSpPr txBox="1"/>
          <p:nvPr/>
        </p:nvSpPr>
        <p:spPr>
          <a:xfrm>
            <a:off x="8275320" y="4186242"/>
            <a:ext cx="3230575" cy="283899"/>
          </a:xfrm>
          <a:prstGeom prst="rect">
            <a:avLst/>
          </a:prstGeom>
          <a:noFill/>
        </p:spPr>
        <p:txBody>
          <a:bodyPr wrap="square" lIns="0" rIns="0" tIns="0" bIns="0" anchor="t">
            <a:spAutoFit/>
          </a:bodyPr>
          <a:lstStyle/>
          <a:p>
            <a:pPr algn="l">
              <a:lnSpc>
                <a:spcPct val="116000"/>
              </a:lnSpc>
              <a:spcAft>
                <a:spcPts val="600"/>
              </a:spcAft>
            </a:pPr>
            <a:r>
              <a:rPr sz="1254" b="0" i="0">
                <a:solidFill>
                  <a:srgbClr val="2E7D6F"/>
                </a:solidFill>
                <a:latin typeface="Calibri"/>
              </a:rPr>
              <a:t>MAX minus MIN</a:t>
            </a:r>
          </a:p>
        </p:txBody>
      </p:sp>
      <p:sp>
        <p:nvSpPr>
          <p:cNvPr id="25" name="TextBox 24"/>
          <p:cNvSpPr txBox="1"/>
          <p:nvPr/>
        </p:nvSpPr>
        <p:spPr>
          <a:xfrm>
            <a:off x="685800" y="4552437"/>
            <a:ext cx="2240280" cy="283899"/>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Distribution</a:t>
            </a:r>
          </a:p>
        </p:txBody>
      </p:sp>
      <p:sp>
        <p:nvSpPr>
          <p:cNvPr id="26" name="TextBox 25"/>
          <p:cNvSpPr txBox="1"/>
          <p:nvPr/>
        </p:nvSpPr>
        <p:spPr>
          <a:xfrm>
            <a:off x="3154680" y="4552437"/>
            <a:ext cx="4892040" cy="283899"/>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The shape you get when you count how many values fall in each band.</a:t>
            </a:r>
          </a:p>
        </p:txBody>
      </p:sp>
      <p:sp>
        <p:nvSpPr>
          <p:cNvPr id="27" name="TextBox 26"/>
          <p:cNvSpPr txBox="1"/>
          <p:nvPr/>
        </p:nvSpPr>
        <p:spPr>
          <a:xfrm>
            <a:off x="8275320" y="4552437"/>
            <a:ext cx="3230575" cy="283899"/>
          </a:xfrm>
          <a:prstGeom prst="rect">
            <a:avLst/>
          </a:prstGeom>
          <a:noFill/>
        </p:spPr>
        <p:txBody>
          <a:bodyPr wrap="square" lIns="0" rIns="0" tIns="0" bIns="0" anchor="t">
            <a:spAutoFit/>
          </a:bodyPr>
          <a:lstStyle/>
          <a:p>
            <a:pPr algn="l">
              <a:lnSpc>
                <a:spcPct val="116000"/>
              </a:lnSpc>
              <a:spcAft>
                <a:spcPts val="600"/>
              </a:spcAft>
            </a:pPr>
            <a:r>
              <a:rPr sz="1254" b="0" i="0">
                <a:solidFill>
                  <a:srgbClr val="2E7D6F"/>
                </a:solidFill>
                <a:latin typeface="Calibri"/>
              </a:rPr>
              <a:t>A histogram, or a frequency table</a:t>
            </a:r>
          </a:p>
        </p:txBody>
      </p:sp>
      <p:sp>
        <p:nvSpPr>
          <p:cNvPr id="28" name="Rectangle 27"/>
          <p:cNvSpPr/>
          <p:nvPr/>
        </p:nvSpPr>
        <p:spPr>
          <a:xfrm>
            <a:off x="576072" y="4882057"/>
            <a:ext cx="11039551" cy="551921"/>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918633"/>
            <a:ext cx="2240280" cy="506201"/>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Skew</a:t>
            </a:r>
          </a:p>
        </p:txBody>
      </p:sp>
      <p:sp>
        <p:nvSpPr>
          <p:cNvPr id="30" name="TextBox 29"/>
          <p:cNvSpPr txBox="1"/>
          <p:nvPr/>
        </p:nvSpPr>
        <p:spPr>
          <a:xfrm>
            <a:off x="3154680" y="4918633"/>
            <a:ext cx="4892040"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A distribution with a long tail on one side. Business quantities nearly always have one.</a:t>
            </a:r>
          </a:p>
        </p:txBody>
      </p:sp>
      <p:sp>
        <p:nvSpPr>
          <p:cNvPr id="31" name="TextBox 30"/>
          <p:cNvSpPr txBox="1"/>
          <p:nvPr/>
        </p:nvSpPr>
        <p:spPr>
          <a:xfrm>
            <a:off x="8275320" y="4918633"/>
            <a:ext cx="3230575" cy="506201"/>
          </a:xfrm>
          <a:prstGeom prst="rect">
            <a:avLst/>
          </a:prstGeom>
          <a:noFill/>
        </p:spPr>
        <p:txBody>
          <a:bodyPr wrap="square" lIns="0" rIns="0" tIns="0" bIns="0" anchor="t">
            <a:spAutoFit/>
          </a:bodyPr>
          <a:lstStyle/>
          <a:p>
            <a:pPr algn="l">
              <a:lnSpc>
                <a:spcPct val="116000"/>
              </a:lnSpc>
              <a:spcAft>
                <a:spcPts val="600"/>
              </a:spcAft>
            </a:pPr>
            <a:r>
              <a:rPr sz="1254" b="0" i="1">
                <a:solidFill>
                  <a:srgbClr val="6B7A8A"/>
                </a:solidFill>
                <a:latin typeface="Calibri"/>
              </a:rPr>
              <a:t>no direct equivalent</a:t>
            </a:r>
          </a:p>
        </p:txBody>
      </p:sp>
      <p:sp>
        <p:nvSpPr>
          <p:cNvPr id="32" name="TextBox 31"/>
          <p:cNvSpPr txBox="1"/>
          <p:nvPr/>
        </p:nvSpPr>
        <p:spPr>
          <a:xfrm>
            <a:off x="685800" y="5507130"/>
            <a:ext cx="2240280" cy="506201"/>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Percentile</a:t>
            </a:r>
          </a:p>
        </p:txBody>
      </p:sp>
      <p:sp>
        <p:nvSpPr>
          <p:cNvPr id="33" name="TextBox 32"/>
          <p:cNvSpPr txBox="1"/>
          <p:nvPr/>
        </p:nvSpPr>
        <p:spPr>
          <a:xfrm>
            <a:off x="3154680" y="5507130"/>
            <a:ext cx="4892040"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The value below which a given share of the data falls. The 90th percentile is bigger than nine values in ten.</a:t>
            </a:r>
          </a:p>
        </p:txBody>
      </p:sp>
      <p:sp>
        <p:nvSpPr>
          <p:cNvPr id="34" name="TextBox 33"/>
          <p:cNvSpPr txBox="1"/>
          <p:nvPr/>
        </p:nvSpPr>
        <p:spPr>
          <a:xfrm>
            <a:off x="8275320" y="5507130"/>
            <a:ext cx="3230575"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2E7D6F"/>
                </a:solidFill>
                <a:latin typeface="Calibri"/>
              </a:rPr>
              <a:t>PERCENTILE</a:t>
            </a:r>
          </a:p>
        </p:txBody>
      </p:sp>
      <p:sp>
        <p:nvSpPr>
          <p:cNvPr id="35" name="Rectangle 34"/>
          <p:cNvSpPr/>
          <p:nvPr/>
        </p:nvSpPr>
        <p:spPr>
          <a:xfrm>
            <a:off x="576072" y="6059052"/>
            <a:ext cx="11039551" cy="551921"/>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6095628"/>
            <a:ext cx="2240280" cy="506201"/>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Outlier</a:t>
            </a:r>
          </a:p>
        </p:txBody>
      </p:sp>
      <p:sp>
        <p:nvSpPr>
          <p:cNvPr id="37" name="TextBox 36"/>
          <p:cNvSpPr txBox="1"/>
          <p:nvPr/>
        </p:nvSpPr>
        <p:spPr>
          <a:xfrm>
            <a:off x="3154680" y="6095628"/>
            <a:ext cx="4892040"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A value far from the rest. It may be an error and it may be your biggest customer.</a:t>
            </a:r>
          </a:p>
        </p:txBody>
      </p:sp>
      <p:sp>
        <p:nvSpPr>
          <p:cNvPr id="38" name="TextBox 37"/>
          <p:cNvSpPr txBox="1"/>
          <p:nvPr/>
        </p:nvSpPr>
        <p:spPr>
          <a:xfrm>
            <a:off x="8275320" y="6095628"/>
            <a:ext cx="3230575" cy="506201"/>
          </a:xfrm>
          <a:prstGeom prst="rect">
            <a:avLst/>
          </a:prstGeom>
          <a:noFill/>
        </p:spPr>
        <p:txBody>
          <a:bodyPr wrap="square" lIns="0" rIns="0" tIns="0" bIns="0" anchor="t">
            <a:spAutoFit/>
          </a:bodyPr>
          <a:lstStyle/>
          <a:p>
            <a:pPr algn="l">
              <a:lnSpc>
                <a:spcPct val="116000"/>
              </a:lnSpc>
              <a:spcAft>
                <a:spcPts val="600"/>
              </a:spcAft>
            </a:pPr>
            <a:r>
              <a:rPr sz="1254" b="0" i="1">
                <a:solidFill>
                  <a:srgbClr val="6B7A8A"/>
                </a:solidFill>
                <a:latin typeface="Calibri"/>
              </a:rPr>
              <a:t>no direct equivalent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WILL BE ABLE TO DO</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libri"/>
              </a:rPr>
              <a:t>By the end of tonight you can…</a:t>
            </a:r>
          </a:p>
        </p:txBody>
      </p:sp>
      <p:sp>
        <p:nvSpPr>
          <p:cNvPr id="4" name="Oval 3"/>
          <p:cNvSpPr/>
          <p:nvPr/>
        </p:nvSpPr>
        <p:spPr>
          <a:xfrm>
            <a:off x="685800" y="195681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5" name="TextBox 4"/>
          <p:cNvSpPr txBox="1"/>
          <p:nvPr/>
        </p:nvSpPr>
        <p:spPr>
          <a:xfrm>
            <a:off x="1234440" y="192024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Say what a statistic is, and compute a mean, a median and a mode.</a:t>
            </a:r>
          </a:p>
        </p:txBody>
      </p:sp>
      <p:sp>
        <p:nvSpPr>
          <p:cNvPr id="6" name="Oval 5"/>
          <p:cNvSpPr/>
          <p:nvPr/>
        </p:nvSpPr>
        <p:spPr>
          <a:xfrm>
            <a:off x="685800" y="277977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7" name="TextBox 6"/>
          <p:cNvSpPr txBox="1"/>
          <p:nvPr/>
        </p:nvSpPr>
        <p:spPr>
          <a:xfrm>
            <a:off x="1234440" y="274320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Read a histogram and say which statistic the shape allows.</a:t>
            </a:r>
          </a:p>
        </p:txBody>
      </p:sp>
      <p:sp>
        <p:nvSpPr>
          <p:cNvPr id="8" name="Oval 7"/>
          <p:cNvSpPr/>
          <p:nvPr/>
        </p:nvSpPr>
        <p:spPr>
          <a:xfrm>
            <a:off x="685800" y="360273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9" name="TextBox 8"/>
          <p:cNvSpPr txBox="1"/>
          <p:nvPr/>
        </p:nvSpPr>
        <p:spPr>
          <a:xfrm>
            <a:off x="1234440" y="356616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Use percentiles to describe a business quantity honestly.</a:t>
            </a:r>
          </a:p>
        </p:txBody>
      </p:sp>
      <p:sp>
        <p:nvSpPr>
          <p:cNvPr id="10" name="TextBox 9"/>
          <p:cNvSpPr txBox="1"/>
          <p:nvPr/>
        </p:nvSpPr>
        <p:spPr>
          <a:xfrm>
            <a:off x="685800" y="6144768"/>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Session 10 of 15  ·  Statistics  ·  Describing one column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TONIGHT ANSWERS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What is a typical order worth?</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There are three defensible answers and they differ by a factor of five. Choosing between them is tonight.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ONE · 50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a statistic is, before any particular one</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What a statistic is, before any particular one: one number standing in for many, which always throws something away.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 statistic</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One number standing in for many. Every statistic throws information away, which is exactly what makes it useful and exactly what makes it dangerous.</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6,000 order values become one number. Whichever number you choose, 6,000 minus one facts have been discarded, and which ones were discarded is the whole question.</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AVERAGE. You have used it for years; tonight is about when it is the wrong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Mean, median and mode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mean is the total divided by the count. The median is the middle value when you line them all up. The mode is the commonest value.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Order value here: mean UGX 1,793,149, median UGX 374,760. The mean is 4.8 times the median. Both are arithmetically correct and they describe different things.</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AVERAGE, MEDIAN and MODE. The functions are the same; choosing between them is the part no spreadsheet helps with.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Distribution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shape you get when you count how many values fall in each band. It is the thing you should look at before choosing any statistic at all.</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order-value distribution here has one tall bar at the left and a long thin tail to the right, which is what almost every business quantity looks like.</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histogram, or a frequency table built with FREQUENCY. Most people have never drawn one, which is why the mean gets misused so often.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Percentile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value below which a given share of the data falls. The 90th percentile is bigger than nine values in ten.</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p10 is UGX 38,880, the median is UGX 374,760, p90 is UGX 3,896,620 and the largest single order is UGX 46,552,400. Four numbers, and now you have described the business honestly.</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PERCENTILE. Same function, and the reason to reach for it is that it survives a skewed distribution.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LOOK AT THIS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shapes, and what each one allows you to say</a:t>
            </a:r>
          </a:p>
        </p:txBody>
      </p:sp>
      <p:pic>
        <p:nvPicPr>
          <p:cNvPr id="4" name="Picture 3" descr="fig_distribution_shapes.png"/>
          <p:cNvPicPr>
            <a:picLocks noChangeAspect="1"/>
          </p:cNvPicPr>
          <p:nvPr/>
        </p:nvPicPr>
        <p:blipFill>
          <a:blip r:embed="rId2"/>
          <a:stretch>
            <a:fillRect/>
          </a:stretch>
        </p:blipFill>
        <p:spPr>
          <a:xfrm>
            <a:off x="2260879" y="1911095"/>
            <a:ext cx="7669936" cy="3709827"/>
          </a:xfrm>
          <a:prstGeom prst="rect">
            <a:avLst/>
          </a:prstGeom>
        </p:spPr>
      </p:pic>
      <p:sp>
        <p:nvSpPr>
          <p:cNvPr id="5" name="TextBox 4"/>
          <p:cNvSpPr txBox="1"/>
          <p:nvPr/>
        </p:nvSpPr>
        <p:spPr>
          <a:xfrm>
            <a:off x="685800" y="5767227"/>
            <a:ext cx="10820095" cy="706724"/>
          </a:xfrm>
          <a:prstGeom prst="rect">
            <a:avLst/>
          </a:prstGeom>
          <a:noFill/>
        </p:spPr>
        <p:txBody>
          <a:bodyPr wrap="square" lIns="0" rIns="0" tIns="0" bIns="0" anchor="t">
            <a:spAutoFit/>
          </a:bodyPr>
          <a:lstStyle/>
          <a:p>
            <a:pPr algn="l">
              <a:lnSpc>
                <a:spcPct val="120000"/>
              </a:lnSpc>
              <a:spcAft>
                <a:spcPts val="600"/>
              </a:spcAft>
            </a:pPr>
            <a:r>
              <a:rPr sz="1716" b="0" i="0">
                <a:solidFill>
                  <a:srgbClr val="334657"/>
                </a:solidFill>
                <a:latin typeface="Calibri"/>
              </a:rPr>
              <a:t>Simulated on purpose, so the shapes are clean. Symmetric: the mean is fine. Right-skewed: use the median. Bimodal: you have two populations mixed together and no single statistic describes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Compute all three by hand first, then trust the function</a:t>
            </a:r>
          </a:p>
        </p:txBody>
      </p:sp>
      <p:sp>
        <p:nvSpPr>
          <p:cNvPr id="4" name="Rounded Rectangle 3"/>
          <p:cNvSpPr/>
          <p:nvPr/>
        </p:nvSpPr>
        <p:spPr>
          <a:xfrm>
            <a:off x="8442655" y="512064"/>
            <a:ext cx="30632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JUPYTER OR COLAB</a:t>
            </a:r>
          </a:p>
        </p:txBody>
      </p:sp>
      <p:sp>
        <p:nvSpPr>
          <p:cNvPr id="5" name="Rectangle 4"/>
          <p:cNvSpPr/>
          <p:nvPr/>
        </p:nvSpPr>
        <p:spPr>
          <a:xfrm>
            <a:off x="685800" y="1911095"/>
            <a:ext cx="10820095" cy="3475451"/>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182843"/>
          </a:xfrm>
          <a:prstGeom prst="rect">
            <a:avLst/>
          </a:prstGeom>
          <a:noFill/>
        </p:spPr>
        <p:txBody>
          <a:bodyPr wrap="square" lIns="0" rIns="0" tIns="0" bIns="0" anchor="t">
            <a:spAutoFit/>
          </a:bodyPr>
          <a:lstStyle/>
          <a:p>
            <a:pPr algn="l">
              <a:lnSpc>
                <a:spcPts val="2064"/>
              </a:lnSpc>
              <a:spcAft>
                <a:spcPts val="0"/>
              </a:spcAft>
            </a:pPr>
            <a:r>
              <a:rPr sz="1518" b="0" i="0">
                <a:solidFill>
                  <a:srgbClr val="D8E3EC"/>
                </a:solidFill>
                <a:latin typeface="Courier New"/>
              </a:rPr>
              <a:t># ten numbers, small enough to check on paper</a:t>
            </a:r>
          </a:p>
          <a:p>
            <a:pPr algn="l">
              <a:lnSpc>
                <a:spcPts val="2064"/>
              </a:lnSpc>
              <a:spcAft>
                <a:spcPts val="0"/>
              </a:spcAft>
            </a:pPr>
            <a:r>
              <a:rPr sz="1518" b="0" i="0">
                <a:solidFill>
                  <a:srgbClr val="D8E3EC"/>
                </a:solidFill>
                <a:latin typeface="Courier New"/>
              </a:rPr>
              <a:t>vals = [2, 3, 3, 4, 5, 6, 8, 9, 40, 120]</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print(sum(vals) / len(vals))       # the mean, by hand: 20.0</a:t>
            </a:r>
          </a:p>
          <a:p>
            <a:pPr algn="l">
              <a:lnSpc>
                <a:spcPts val="2064"/>
              </a:lnSpc>
              <a:spcAft>
                <a:spcPts val="0"/>
              </a:spcAft>
            </a:pPr>
            <a:r>
              <a:rPr sz="1518" b="0" i="0">
                <a:solidFill>
                  <a:srgbClr val="D8E3EC"/>
                </a:solidFill>
                <a:latin typeface="Courier New"/>
              </a:rPr>
              <a:t>print(sorted(vals)[4:6])           # the middle two: 5 and 6</a:t>
            </a:r>
          </a:p>
          <a:p>
            <a:pPr algn="l">
              <a:lnSpc>
                <a:spcPts val="2064"/>
              </a:lnSpc>
              <a:spcAft>
                <a:spcPts val="0"/>
              </a:spcAft>
            </a:pPr>
            <a:r>
              <a:rPr sz="1518" b="0" i="0">
                <a:solidFill>
                  <a:srgbClr val="D8E3EC"/>
                </a:solidFill>
                <a:latin typeface="Courier New"/>
              </a:rPr>
              <a:t>print((5 + 6) / 2)                 # the median, by hand: 5.5</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import pandas as pd</a:t>
            </a:r>
          </a:p>
          <a:p>
            <a:pPr algn="l">
              <a:lnSpc>
                <a:spcPts val="2064"/>
              </a:lnSpc>
              <a:spcAft>
                <a:spcPts val="0"/>
              </a:spcAft>
            </a:pPr>
            <a:r>
              <a:rPr sz="1518" b="0" i="0">
                <a:solidFill>
                  <a:srgbClr val="D8E3EC"/>
                </a:solidFill>
                <a:latin typeface="Courier New"/>
              </a:rPr>
              <a:t>s = pd.Series(vals)</a:t>
            </a:r>
          </a:p>
          <a:p>
            <a:pPr algn="l">
              <a:lnSpc>
                <a:spcPts val="2064"/>
              </a:lnSpc>
              <a:spcAft>
                <a:spcPts val="0"/>
              </a:spcAft>
            </a:pPr>
            <a:r>
              <a:rPr sz="1518" b="0" i="0">
                <a:solidFill>
                  <a:srgbClr val="D8E3EC"/>
                </a:solidFill>
                <a:latin typeface="Courier New"/>
              </a:rPr>
              <a:t>print(s.mean(), s.median(), s.mode()[0])</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 the mean is 20 and eight of the ten numbers are below it.</a:t>
            </a:r>
          </a:p>
        </p:txBody>
      </p:sp>
      <p:sp>
        <p:nvSpPr>
          <p:cNvPr id="7" name="Rounded Rectangle 6"/>
          <p:cNvSpPr/>
          <p:nvPr/>
        </p:nvSpPr>
        <p:spPr>
          <a:xfrm>
            <a:off x="685800" y="5606003"/>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615147"/>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Remove the 120. The mean drops from 20.0 to about 4.4 and the median barely moves. One value out of ten moved the mean by a factor of four, which is what a skewed distribution does to it every 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TWO · 45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shape decides which statistic is honest</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Shape decides which statistic is honest.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three on the real order values</a:t>
            </a:r>
          </a:p>
        </p:txBody>
      </p:sp>
      <p:sp>
        <p:nvSpPr>
          <p:cNvPr id="4" name="Rounded Rectangle 3"/>
          <p:cNvSpPr/>
          <p:nvPr/>
        </p:nvSpPr>
        <p:spPr>
          <a:xfrm>
            <a:off x="8442655" y="512064"/>
            <a:ext cx="30632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JUPYTER OR COLAB</a:t>
            </a:r>
          </a:p>
        </p:txBody>
      </p:sp>
      <p:sp>
        <p:nvSpPr>
          <p:cNvPr id="5" name="Rectangle 4"/>
          <p:cNvSpPr/>
          <p:nvPr/>
        </p:nvSpPr>
        <p:spPr>
          <a:xfrm>
            <a:off x="685800" y="1911095"/>
            <a:ext cx="10820095" cy="3293059"/>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000451"/>
          </a:xfrm>
          <a:prstGeom prst="rect">
            <a:avLst/>
          </a:prstGeom>
          <a:noFill/>
        </p:spPr>
        <p:txBody>
          <a:bodyPr wrap="square" lIns="0" rIns="0" tIns="0" bIns="0" anchor="t">
            <a:spAutoFit/>
          </a:bodyPr>
          <a:lstStyle/>
          <a:p>
            <a:pPr algn="l">
              <a:lnSpc>
                <a:spcPts val="2333"/>
              </a:lnSpc>
              <a:spcAft>
                <a:spcPts val="0"/>
              </a:spcAft>
            </a:pPr>
            <a:r>
              <a:rPr sz="1716" b="0" i="0">
                <a:solidFill>
                  <a:srgbClr val="D8E3EC"/>
                </a:solidFill>
                <a:latin typeface="Courier New"/>
              </a:rPr>
              <a:t>order_value = (delivered.groupby("order_id")["revenue"]</a:t>
            </a:r>
          </a:p>
          <a:p>
            <a:pPr algn="l">
              <a:lnSpc>
                <a:spcPts val="2333"/>
              </a:lnSpc>
              <a:spcAft>
                <a:spcPts val="0"/>
              </a:spcAft>
            </a:pPr>
            <a:r>
              <a:rPr sz="1716" b="0" i="0">
                <a:solidFill>
                  <a:srgbClr val="D8E3EC"/>
                </a:solidFill>
                <a:latin typeface="Courier New"/>
              </a:rPr>
              <a:t>               .sum())</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order_value.describe()</a:t>
            </a:r>
          </a:p>
          <a:p>
            <a:pPr algn="l">
              <a:lnSpc>
                <a:spcPts val="2333"/>
              </a:lnSpc>
              <a:spcAft>
                <a:spcPts val="0"/>
              </a:spcAft>
            </a:pPr>
            <a:r>
              <a:rPr sz="1716" b="0" i="0">
                <a:solidFill>
                  <a:srgbClr val="D8E3EC"/>
                </a:solidFill>
                <a:latin typeface="Courier New"/>
              </a:rPr>
              <a:t>order_value.mean()                 # 1,793,149</a:t>
            </a:r>
          </a:p>
          <a:p>
            <a:pPr algn="l">
              <a:lnSpc>
                <a:spcPts val="2333"/>
              </a:lnSpc>
              <a:spcAft>
                <a:spcPts val="0"/>
              </a:spcAft>
            </a:pPr>
            <a:r>
              <a:rPr sz="1716" b="0" i="0">
                <a:solidFill>
                  <a:srgbClr val="D8E3EC"/>
                </a:solidFill>
                <a:latin typeface="Courier New"/>
              </a:rPr>
              <a:t>order_value.median()               # 374,760</a:t>
            </a:r>
          </a:p>
          <a:p>
            <a:pPr algn="l">
              <a:lnSpc>
                <a:spcPts val="2333"/>
              </a:lnSpc>
              <a:spcAft>
                <a:spcPts val="0"/>
              </a:spcAft>
            </a:pPr>
            <a:r>
              <a:rPr sz="1716" b="0" i="0">
                <a:solidFill>
                  <a:srgbClr val="D8E3EC"/>
                </a:solidFill>
                <a:latin typeface="Courier New"/>
              </a:rPr>
              <a:t>order_value.quantile([0.1, 0.5, 0.9])</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 what share of orders are BELOW the mean?</a:t>
            </a:r>
          </a:p>
          <a:p>
            <a:pPr algn="l">
              <a:lnSpc>
                <a:spcPts val="2333"/>
              </a:lnSpc>
              <a:spcAft>
                <a:spcPts val="0"/>
              </a:spcAft>
            </a:pPr>
            <a:r>
              <a:rPr sz="1716" b="0" i="0">
                <a:solidFill>
                  <a:srgbClr val="D8E3EC"/>
                </a:solidFill>
                <a:latin typeface="Courier New"/>
              </a:rPr>
              <a:t>(order_value &lt; order_value.mean()).mean()   # about 0.80</a:t>
            </a:r>
          </a:p>
        </p:txBody>
      </p:sp>
      <p:sp>
        <p:nvSpPr>
          <p:cNvPr id="7" name="Rounded Rectangle 6"/>
          <p:cNvSpPr/>
          <p:nvPr/>
        </p:nvSpPr>
        <p:spPr>
          <a:xfrm>
            <a:off x="685800" y="5423611"/>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432755"/>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That last line is the argument in one number: about 80% of orders are smaller than the mean. A statistic that is bigger than four fifths of the thing it describes is not describing it well.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Draw it before you choose</a:t>
            </a:r>
          </a:p>
        </p:txBody>
      </p:sp>
      <p:sp>
        <p:nvSpPr>
          <p:cNvPr id="4" name="Rounded Rectangle 3"/>
          <p:cNvSpPr/>
          <p:nvPr/>
        </p:nvSpPr>
        <p:spPr>
          <a:xfrm>
            <a:off x="8442655" y="512064"/>
            <a:ext cx="30632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JUPYTER OR COLAB</a:t>
            </a:r>
          </a:p>
        </p:txBody>
      </p:sp>
      <p:sp>
        <p:nvSpPr>
          <p:cNvPr id="5" name="Rectangle 4"/>
          <p:cNvSpPr/>
          <p:nvPr/>
        </p:nvSpPr>
        <p:spPr>
          <a:xfrm>
            <a:off x="685800" y="1911095"/>
            <a:ext cx="10820095" cy="3464052"/>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171444"/>
          </a:xfrm>
          <a:prstGeom prst="rect">
            <a:avLst/>
          </a:prstGeom>
          <a:noFill/>
        </p:spPr>
        <p:txBody>
          <a:bodyPr wrap="square" lIns="0" rIns="0" tIns="0" bIns="0" anchor="t">
            <a:spAutoFit/>
          </a:bodyPr>
          <a:lstStyle/>
          <a:p>
            <a:pPr algn="l">
              <a:lnSpc>
                <a:spcPts val="2244"/>
              </a:lnSpc>
              <a:spcAft>
                <a:spcPts val="0"/>
              </a:spcAft>
            </a:pPr>
            <a:r>
              <a:rPr sz="1650" b="0" i="0">
                <a:solidFill>
                  <a:srgbClr val="D8E3EC"/>
                </a:solidFill>
                <a:latin typeface="Courier New"/>
              </a:rPr>
              <a:t>import matplotlib.pyplot as plt</a:t>
            </a:r>
          </a:p>
          <a:p>
            <a:pPr algn="l">
              <a:lnSpc>
                <a:spcPts val="2244"/>
              </a:lnSpc>
              <a:spcAft>
                <a:spcPts val="0"/>
              </a:spcAft>
            </a:pPr>
            <a:r>
              <a:rPr sz="1650" b="0" i="0">
                <a:solidFill>
                  <a:srgbClr val="D8E3EC"/>
                </a:solidFill>
                <a:latin typeface="Courier New"/>
              </a:rPr>
              <a:t/>
            </a:r>
          </a:p>
          <a:p>
            <a:pPr algn="l">
              <a:lnSpc>
                <a:spcPts val="2244"/>
              </a:lnSpc>
              <a:spcAft>
                <a:spcPts val="0"/>
              </a:spcAft>
            </a:pPr>
            <a:r>
              <a:rPr sz="1650" b="0" i="0">
                <a:solidFill>
                  <a:srgbClr val="D8E3EC"/>
                </a:solidFill>
                <a:latin typeface="Courier New"/>
              </a:rPr>
              <a:t>fig, ax = plt.subplots(figsize=(9, 4))</a:t>
            </a:r>
          </a:p>
          <a:p>
            <a:pPr algn="l">
              <a:lnSpc>
                <a:spcPts val="2244"/>
              </a:lnSpc>
              <a:spcAft>
                <a:spcPts val="0"/>
              </a:spcAft>
            </a:pPr>
            <a:r>
              <a:rPr sz="1650" b="0" i="0">
                <a:solidFill>
                  <a:srgbClr val="D8E3EC"/>
                </a:solidFill>
                <a:latin typeface="Courier New"/>
              </a:rPr>
              <a:t>order_value.plot(kind="hist", bins=60, ax=ax)</a:t>
            </a:r>
          </a:p>
          <a:p>
            <a:pPr algn="l">
              <a:lnSpc>
                <a:spcPts val="2244"/>
              </a:lnSpc>
              <a:spcAft>
                <a:spcPts val="0"/>
              </a:spcAft>
            </a:pPr>
            <a:r>
              <a:rPr sz="1650" b="0" i="0">
                <a:solidFill>
                  <a:srgbClr val="D8E3EC"/>
                </a:solidFill>
                <a:latin typeface="Courier New"/>
              </a:rPr>
              <a:t>ax.axvline(order_value.median(), color="teal")</a:t>
            </a:r>
          </a:p>
          <a:p>
            <a:pPr algn="l">
              <a:lnSpc>
                <a:spcPts val="2244"/>
              </a:lnSpc>
              <a:spcAft>
                <a:spcPts val="0"/>
              </a:spcAft>
            </a:pPr>
            <a:r>
              <a:rPr sz="1650" b="0" i="0">
                <a:solidFill>
                  <a:srgbClr val="D8E3EC"/>
                </a:solidFill>
                <a:latin typeface="Courier New"/>
              </a:rPr>
              <a:t>ax.axvline(order_value.mean(), color="orangered",</a:t>
            </a:r>
          </a:p>
          <a:p>
            <a:pPr algn="l">
              <a:lnSpc>
                <a:spcPts val="2244"/>
              </a:lnSpc>
              <a:spcAft>
                <a:spcPts val="0"/>
              </a:spcAft>
            </a:pPr>
            <a:r>
              <a:rPr sz="1650" b="0" i="0">
                <a:solidFill>
                  <a:srgbClr val="D8E3EC"/>
                </a:solidFill>
                <a:latin typeface="Courier New"/>
              </a:rPr>
              <a:t>           linestyle="--")</a:t>
            </a:r>
          </a:p>
          <a:p>
            <a:pPr algn="l">
              <a:lnSpc>
                <a:spcPts val="2244"/>
              </a:lnSpc>
              <a:spcAft>
                <a:spcPts val="0"/>
              </a:spcAft>
            </a:pPr>
            <a:r>
              <a:rPr sz="1650" b="0" i="0">
                <a:solidFill>
                  <a:srgbClr val="D8E3EC"/>
                </a:solidFill>
                <a:latin typeface="Courier New"/>
              </a:rPr>
              <a:t>ax.set_xlabel("Order value, UGX")</a:t>
            </a:r>
          </a:p>
          <a:p>
            <a:pPr algn="l">
              <a:lnSpc>
                <a:spcPts val="2244"/>
              </a:lnSpc>
              <a:spcAft>
                <a:spcPts val="0"/>
              </a:spcAft>
            </a:pPr>
            <a:r>
              <a:rPr sz="1650" b="0" i="0">
                <a:solidFill>
                  <a:srgbClr val="D8E3EC"/>
                </a:solidFill>
                <a:latin typeface="Courier New"/>
              </a:rPr>
              <a:t>ax.set_ylabel("Number of orders")</a:t>
            </a:r>
          </a:p>
          <a:p>
            <a:pPr algn="l">
              <a:lnSpc>
                <a:spcPts val="2244"/>
              </a:lnSpc>
              <a:spcAft>
                <a:spcPts val="0"/>
              </a:spcAft>
            </a:pPr>
            <a:r>
              <a:rPr sz="1650" b="0" i="0">
                <a:solidFill>
                  <a:srgbClr val="D8E3EC"/>
                </a:solidFill>
                <a:latin typeface="Courier New"/>
              </a:rPr>
              <a:t>ax.set_title("Most orders are small; a few are very large",</a:t>
            </a:r>
          </a:p>
          <a:p>
            <a:pPr algn="l">
              <a:lnSpc>
                <a:spcPts val="2244"/>
              </a:lnSpc>
              <a:spcAft>
                <a:spcPts val="0"/>
              </a:spcAft>
            </a:pPr>
            <a:r>
              <a:rPr sz="1650" b="0" i="0">
                <a:solidFill>
                  <a:srgbClr val="D8E3EC"/>
                </a:solidFill>
                <a:latin typeface="Courier New"/>
              </a:rPr>
              <a:t>             loc="left")</a:t>
            </a:r>
          </a:p>
        </p:txBody>
      </p:sp>
      <p:sp>
        <p:nvSpPr>
          <p:cNvPr id="7" name="Rounded Rectangle 6"/>
          <p:cNvSpPr/>
          <p:nvPr/>
        </p:nvSpPr>
        <p:spPr>
          <a:xfrm>
            <a:off x="685800" y="5594604"/>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603748"/>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Now change bins=60 to bins=5. The skew disappears into one bar and the chart says the distribution is fine. The bin count is a choice you are making, and a careless one hides the finding.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LOOK AT THIS</a:t>
            </a:r>
          </a:p>
        </p:txBody>
      </p:sp>
      <p:sp>
        <p:nvSpPr>
          <p:cNvPr id="3" name="TextBox 2"/>
          <p:cNvSpPr txBox="1"/>
          <p:nvPr/>
        </p:nvSpPr>
        <p:spPr>
          <a:xfrm>
            <a:off x="685800" y="950976"/>
            <a:ext cx="10820095" cy="128016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real order values, with the mean and the median marked</a:t>
            </a:r>
          </a:p>
        </p:txBody>
      </p:sp>
      <p:pic>
        <p:nvPicPr>
          <p:cNvPr id="4" name="Picture 3" descr="fig_skew_real.png"/>
          <p:cNvPicPr>
            <a:picLocks noChangeAspect="1"/>
          </p:cNvPicPr>
          <p:nvPr/>
        </p:nvPicPr>
        <p:blipFill>
          <a:blip r:embed="rId2"/>
          <a:stretch>
            <a:fillRect/>
          </a:stretch>
        </p:blipFill>
        <p:spPr>
          <a:xfrm>
            <a:off x="2761859" y="2395728"/>
            <a:ext cx="6667977" cy="3225195"/>
          </a:xfrm>
          <a:prstGeom prst="rect">
            <a:avLst/>
          </a:prstGeom>
        </p:spPr>
      </p:pic>
      <p:sp>
        <p:nvSpPr>
          <p:cNvPr id="5" name="TextBox 4"/>
          <p:cNvSpPr txBox="1"/>
          <p:nvPr/>
        </p:nvSpPr>
        <p:spPr>
          <a:xfrm>
            <a:off x="685800" y="5767227"/>
            <a:ext cx="10820095" cy="706724"/>
          </a:xfrm>
          <a:prstGeom prst="rect">
            <a:avLst/>
          </a:prstGeom>
          <a:noFill/>
        </p:spPr>
        <p:txBody>
          <a:bodyPr wrap="square" lIns="0" rIns="0" tIns="0" bIns="0" anchor="t">
            <a:spAutoFit/>
          </a:bodyPr>
          <a:lstStyle/>
          <a:p>
            <a:pPr algn="l">
              <a:lnSpc>
                <a:spcPct val="120000"/>
              </a:lnSpc>
              <a:spcAft>
                <a:spcPts val="600"/>
              </a:spcAft>
            </a:pPr>
            <a:r>
              <a:rPr sz="1716" b="0" i="0">
                <a:solidFill>
                  <a:srgbClr val="334657"/>
                </a:solidFill>
                <a:latin typeface="Calibri"/>
              </a:rPr>
              <a:t>All 6,000 orders from the course data. The mean sits above four orders in five, which is why it is a poor answer to "what is typical".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LOOK AT THIS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numbers that describe the business honestly</a:t>
            </a:r>
          </a:p>
        </p:txBody>
      </p:sp>
      <p:pic>
        <p:nvPicPr>
          <p:cNvPr id="4" name="Picture 3" descr="fig_percentiles.png"/>
          <p:cNvPicPr>
            <a:picLocks noChangeAspect="1"/>
          </p:cNvPicPr>
          <p:nvPr/>
        </p:nvPicPr>
        <p:blipFill>
          <a:blip r:embed="rId2"/>
          <a:stretch>
            <a:fillRect/>
          </a:stretch>
        </p:blipFill>
        <p:spPr>
          <a:xfrm>
            <a:off x="2338458" y="1911095"/>
            <a:ext cx="7514778" cy="3709827"/>
          </a:xfrm>
          <a:prstGeom prst="rect">
            <a:avLst/>
          </a:prstGeom>
        </p:spPr>
      </p:pic>
      <p:sp>
        <p:nvSpPr>
          <p:cNvPr id="5" name="TextBox 4"/>
          <p:cNvSpPr txBox="1"/>
          <p:nvPr/>
        </p:nvSpPr>
        <p:spPr>
          <a:xfrm>
            <a:off x="685800" y="5767227"/>
            <a:ext cx="10820095" cy="706724"/>
          </a:xfrm>
          <a:prstGeom prst="rect">
            <a:avLst/>
          </a:prstGeom>
          <a:noFill/>
        </p:spPr>
        <p:txBody>
          <a:bodyPr wrap="square" lIns="0" rIns="0" tIns="0" bIns="0" anchor="t">
            <a:spAutoFit/>
          </a:bodyPr>
          <a:lstStyle/>
          <a:p>
            <a:pPr algn="l">
              <a:lnSpc>
                <a:spcPct val="120000"/>
              </a:lnSpc>
              <a:spcAft>
                <a:spcPts val="600"/>
              </a:spcAft>
            </a:pPr>
            <a:r>
              <a:rPr sz="1716" b="0" i="0">
                <a:solidFill>
                  <a:srgbClr val="334657"/>
                </a:solidFill>
                <a:latin typeface="Calibri"/>
              </a:rPr>
              <a:t>p10, median, p90 and the largest order. Together these say more than any single statistic can, and none of them mislead.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96012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MISTAKE THIS SESSION PREVENTS</a:t>
            </a:r>
          </a:p>
        </p:txBody>
      </p:sp>
      <p:sp>
        <p:nvSpPr>
          <p:cNvPr id="4" name="TextBox 3"/>
          <p:cNvSpPr txBox="1"/>
          <p:nvPr/>
        </p:nvSpPr>
        <p:spPr>
          <a:xfrm>
            <a:off x="685800" y="1600200"/>
            <a:ext cx="10820095" cy="1603291"/>
          </a:xfrm>
          <a:prstGeom prst="rect">
            <a:avLst/>
          </a:prstGeom>
          <a:noFill/>
        </p:spPr>
        <p:txBody>
          <a:bodyPr wrap="square" lIns="0" rIns="0" tIns="0" bIns="0" anchor="t">
            <a:spAutoFit/>
          </a:bodyPr>
          <a:lstStyle/>
          <a:p>
            <a:pPr algn="l">
              <a:lnSpc>
                <a:spcPct val="114000"/>
              </a:lnSpc>
              <a:spcAft>
                <a:spcPts val="600"/>
              </a:spcAft>
            </a:pPr>
            <a:r>
              <a:rPr sz="2795" b="1" i="0">
                <a:solidFill>
                  <a:srgbClr val="FFFFFF"/>
                </a:solidFill>
                <a:latin typeface="Calibri"/>
              </a:rPr>
              <a:t>Reporting a mean on a skewed distribution. It is the single commonest misleading number in business reporting.</a:t>
            </a:r>
          </a:p>
        </p:txBody>
      </p:sp>
      <p:sp>
        <p:nvSpPr>
          <p:cNvPr id="5" name="TextBox 4"/>
          <p:cNvSpPr txBox="1"/>
          <p:nvPr/>
        </p:nvSpPr>
        <p:spPr>
          <a:xfrm>
            <a:off x="685800" y="3477811"/>
            <a:ext cx="10820095" cy="457200"/>
          </a:xfrm>
          <a:prstGeom prst="rect">
            <a:avLst/>
          </a:prstGeom>
          <a:noFill/>
        </p:spPr>
        <p:txBody>
          <a:bodyPr wrap="square" lIns="0" rIns="0" tIns="0" bIns="0" anchor="t">
            <a:spAutoFit/>
          </a:bodyPr>
          <a:lstStyle/>
          <a:p>
            <a:pPr algn="l">
              <a:spcAft>
                <a:spcPts val="600"/>
              </a:spcAft>
            </a:pPr>
            <a:r>
              <a:rPr sz="1923" b="0" i="0">
                <a:solidFill>
                  <a:srgbClr val="B8C9D8"/>
                </a:solidFill>
                <a:latin typeface="Calibri"/>
              </a:rPr>
              <a:t>It is in tonight's lab on purpose.</a:t>
            </a:r>
          </a:p>
        </p:txBody>
      </p:sp>
      <p:sp>
        <p:nvSpPr>
          <p:cNvPr id="6" name="TextBox 5"/>
          <p:cNvSpPr txBox="1"/>
          <p:nvPr/>
        </p:nvSpPr>
        <p:spPr>
          <a:xfrm>
            <a:off x="685800" y="608076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Session 10 of 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When is the mean the right statistic?</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Is the largest order, UGX 46,552,400, an outlier you should delete?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look at the distribution before choosing a statistic?</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When the mean is right</a:t>
            </a:r>
          </a:p>
        </p:txBody>
      </p:sp>
      <p:sp>
        <p:nvSpPr>
          <p:cNvPr id="6" name="TextBox 5"/>
          <p:cNvSpPr txBox="1"/>
          <p:nvPr/>
        </p:nvSpPr>
        <p:spPr>
          <a:xfrm>
            <a:off x="1216152" y="220370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When the distribution is roughly symmetric, or when you genuinely need the total divided by the count, which is what average order value is for pricing and capacity. As a description of typical, on a skewed distribution, it is wrong.</a:t>
            </a:r>
          </a:p>
        </p:txBody>
      </p:sp>
      <p:sp>
        <p:nvSpPr>
          <p:cNvPr id="7" name="Oval 6"/>
          <p:cNvSpPr/>
          <p:nvPr/>
        </p:nvSpPr>
        <p:spPr>
          <a:xfrm>
            <a:off x="685800" y="34428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062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Is the largest order an outlier to delete?</a:t>
            </a:r>
          </a:p>
        </p:txBody>
      </p:sp>
      <p:sp>
        <p:nvSpPr>
          <p:cNvPr id="9" name="TextBox 8"/>
          <p:cNvSpPr txBox="1"/>
          <p:nvPr/>
        </p:nvSpPr>
        <p:spPr>
          <a:xfrm>
            <a:off x="1216152" y="369889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cannot tell from the data alone, and deleting it is a decision about the business rather than about the file. It might be a typo and it might be your most important customer. Go and ask. Describe it either way.</a:t>
            </a:r>
          </a:p>
        </p:txBody>
      </p:sp>
      <p:sp>
        <p:nvSpPr>
          <p:cNvPr id="10" name="Oval 9"/>
          <p:cNvSpPr/>
          <p:nvPr/>
        </p:nvSpPr>
        <p:spPr>
          <a:xfrm>
            <a:off x="685800" y="493805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0147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look at the shape first</a:t>
            </a:r>
          </a:p>
        </p:txBody>
      </p:sp>
      <p:sp>
        <p:nvSpPr>
          <p:cNvPr id="12" name="TextBox 11"/>
          <p:cNvSpPr txBox="1"/>
          <p:nvPr/>
        </p:nvSpPr>
        <p:spPr>
          <a:xfrm>
            <a:off x="1216152" y="519408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Because the shape is what decides whether a statistic is honest. Choosing the statistic first and looking at the shape afterwards is how the mean ends up in board papers where the median belonged.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LAB · 50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Describe three columns properly</a:t>
            </a:r>
          </a:p>
        </p:txBody>
      </p:sp>
      <p:sp>
        <p:nvSpPr>
          <p:cNvPr id="4" name="Rounded Rectangle 3"/>
          <p:cNvSpPr/>
          <p:nvPr/>
        </p:nvSpPr>
        <p:spPr>
          <a:xfrm>
            <a:off x="685800" y="1911095"/>
            <a:ext cx="10820095" cy="1236629"/>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870869"/>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Pick three numeric columns from the course data. For each: draw the distribution, choose the right statistic, and write one sentence saying why the alternative would mislead.</a:t>
            </a:r>
          </a:p>
        </p:txBody>
      </p:sp>
      <p:sp>
        <p:nvSpPr>
          <p:cNvPr id="6" name="TextBox 5"/>
          <p:cNvSpPr txBox="1"/>
          <p:nvPr/>
        </p:nvSpPr>
        <p:spPr>
          <a:xfrm>
            <a:off x="685800" y="342204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3897533"/>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Draw the histogram first, before choosing anything.</a:t>
            </a:r>
          </a:p>
        </p:txBody>
      </p:sp>
      <p:sp>
        <p:nvSpPr>
          <p:cNvPr id="8" name="TextBox 7"/>
          <p:cNvSpPr txBox="1"/>
          <p:nvPr/>
        </p:nvSpPr>
        <p:spPr>
          <a:xfrm>
            <a:off x="685800" y="4374475"/>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Mean, median and the three percentiles.</a:t>
            </a:r>
          </a:p>
        </p:txBody>
      </p:sp>
      <p:sp>
        <p:nvSpPr>
          <p:cNvPr id="9" name="TextBox 8"/>
          <p:cNvSpPr txBox="1"/>
          <p:nvPr/>
        </p:nvSpPr>
        <p:spPr>
          <a:xfrm>
            <a:off x="685800" y="485141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Which statistic describes this column honestly?</a:t>
            </a:r>
          </a:p>
        </p:txBody>
      </p:sp>
      <p:sp>
        <p:nvSpPr>
          <p:cNvPr id="10" name="TextBox 9"/>
          <p:cNvSpPr txBox="1"/>
          <p:nvPr/>
        </p:nvSpPr>
        <p:spPr>
          <a:xfrm>
            <a:off x="6278727" y="3897533"/>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One sentence: why would the other one mislead?</a:t>
            </a:r>
          </a:p>
        </p:txBody>
      </p:sp>
      <p:sp>
        <p:nvSpPr>
          <p:cNvPr id="11" name="TextBox 10"/>
          <p:cNvSpPr txBox="1"/>
          <p:nvPr/>
        </p:nvSpPr>
        <p:spPr>
          <a:xfrm>
            <a:off x="6278727" y="4374475"/>
            <a:ext cx="5227167" cy="69785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Then find a column where the mean IS the right answer, and say why.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TONIGHT IN THREE LINES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do now</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Say what a statistic is, and compute a mean, a median and a mode.</a:t>
            </a:r>
          </a:p>
        </p:txBody>
      </p:sp>
      <p:sp>
        <p:nvSpPr>
          <p:cNvPr id="6" name="Oval 5"/>
          <p:cNvSpPr/>
          <p:nvPr/>
        </p:nvSpPr>
        <p:spPr>
          <a:xfrm>
            <a:off x="685800" y="246802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413161"/>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Read a histogram and say which statistic the shape allows.</a:t>
            </a:r>
          </a:p>
        </p:txBody>
      </p:sp>
      <p:sp>
        <p:nvSpPr>
          <p:cNvPr id="8" name="Oval 7"/>
          <p:cNvSpPr/>
          <p:nvPr/>
        </p:nvSpPr>
        <p:spPr>
          <a:xfrm>
            <a:off x="685800" y="29700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915227"/>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Use percentiles to describe a business quantity honestly.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HOMEWORK · 45 TO 60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the next session</a:t>
            </a:r>
          </a:p>
        </p:txBody>
      </p:sp>
      <p:sp>
        <p:nvSpPr>
          <p:cNvPr id="4" name="Rounded Rectangle 3"/>
          <p:cNvSpPr/>
          <p:nvPr/>
        </p:nvSpPr>
        <p:spPr>
          <a:xfrm>
            <a:off x="685800" y="1911095"/>
            <a:ext cx="10820095" cy="1237967"/>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30552"/>
            <a:ext cx="10234879" cy="835631"/>
          </a:xfrm>
          <a:prstGeom prst="rect">
            <a:avLst/>
          </a:prstGeom>
          <a:noFill/>
        </p:spPr>
        <p:txBody>
          <a:bodyPr wrap="square" lIns="0" rIns="0" tIns="0" bIns="0" anchor="t">
            <a:spAutoFit/>
          </a:bodyPr>
          <a:lstStyle/>
          <a:p>
            <a:pPr algn="l">
              <a:lnSpc>
                <a:spcPct val="122000"/>
              </a:lnSpc>
              <a:spcAft>
                <a:spcPts val="600"/>
              </a:spcAft>
            </a:pPr>
            <a:r>
              <a:rPr sz="2021" b="0" i="0">
                <a:solidFill>
                  <a:srgbClr val="1C3144"/>
                </a:solidFill>
                <a:latin typeface="Calibri"/>
              </a:rPr>
              <a:t>Find a number quoted in your organisation and work out which statistic it is. If it is a mean, check whether the distribution justifies one.</a:t>
            </a:r>
          </a:p>
        </p:txBody>
      </p:sp>
      <p:sp>
        <p:nvSpPr>
          <p:cNvPr id="6" name="Rounded Rectangle 5"/>
          <p:cNvSpPr/>
          <p:nvPr/>
        </p:nvSpPr>
        <p:spPr>
          <a:xfrm>
            <a:off x="685800" y="3423383"/>
            <a:ext cx="4826861"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WHY IT IS ALWAYS OPTIONAL ON YOUR OWN DATA</a:t>
            </a:r>
          </a:p>
        </p:txBody>
      </p:sp>
      <p:sp>
        <p:nvSpPr>
          <p:cNvPr id="7" name="TextBox 6"/>
          <p:cNvSpPr txBox="1"/>
          <p:nvPr/>
        </p:nvSpPr>
        <p:spPr>
          <a:xfrm>
            <a:off x="685800" y="3990311"/>
            <a:ext cx="10820095" cy="1097280"/>
          </a:xfrm>
          <a:prstGeom prst="rect">
            <a:avLst/>
          </a:prstGeom>
          <a:noFill/>
        </p:spPr>
        <p:txBody>
          <a:bodyPr wrap="square" lIns="0" rIns="0" tIns="0" bIns="0" anchor="t">
            <a:spAutoFit/>
          </a:bodyPr>
          <a:lstStyle/>
          <a:p>
            <a:pPr algn="l">
              <a:lnSpc>
                <a:spcPct val="122000"/>
              </a:lnSpc>
              <a:spcAft>
                <a:spcPts val="600"/>
              </a:spcAft>
            </a:pPr>
            <a:r>
              <a:rPr sz="1923" b="0" i="0">
                <a:solidFill>
                  <a:srgbClr val="334657"/>
                </a:solidFill>
                <a:latin typeface="Calibri"/>
              </a:rPr>
              <a:t>Homework on a dataset you already care about gets done. Homework on a teaching dataset competes with your job and loses. Either version counts, and the one on your own data is worth more to you.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Look at the shape, then pick the number</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order is the whole lesson. A mean reported on a skewed distribution is the commonest misleading number in business, and it costs nothing to avoid once you have drawn the histogram.</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session: comparing groups of different sizes, and reading a number that changes over time.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