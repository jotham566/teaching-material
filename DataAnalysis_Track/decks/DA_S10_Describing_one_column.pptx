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10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defensible answers and they differ by a factor of five. Choosing between them is tonight.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number standing in for many. Every statistic throws information away, which is exactly what makes it useful and exactly what makes it dangerous.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is the total divided by the count. The median is the middle value when you line them all up. The mode is the commonest value.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you get when you count how many values fall in each band. It is the thing you should look at before choosing any statistic at 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below which a given share of the data falls. The 90th percentile is bigger than nine values in ten.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on purpose, so the shapes are clean. Symmetric: the mean is fine. Right-skewed: use the median. Bimodal: you have two populations mixed together and no single statistic describes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6,000 orders from the course data. The mean sits above four orders in five, which is why it is a poor answer to "what is typical".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median, p90 and the largest order. Together these say more than any single statistic can, and none of them mislead.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 mean on a skewed distribution. It is the single commonest misleading number in business reporting.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three numeric columns from the course data. For each: draw the distribution, choose the right statistic, and write one sentence saying why the alternative would mislead.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a number quoted in your organisation and work out which statistic it is. If it is a mean, check whether the distribution justifies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is the whole lesson. A mean reported on a skewed distribution is the commonest misleading number in business, and it costs nothing to avoid once you have drawn the histogram.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21972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10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Describing one column</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There are three defensible answers and they differ by a factor of five. Choosing between them is tonight.</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4  ·  STATISTICS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Descriptive statistics; distributions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55192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Statistic</a:t>
            </a:r>
          </a:p>
        </p:txBody>
      </p:sp>
      <p:sp>
        <p:nvSpPr>
          <p:cNvPr id="9" name="TextBox 8"/>
          <p:cNvSpPr txBox="1"/>
          <p:nvPr/>
        </p:nvSpPr>
        <p:spPr>
          <a:xfrm>
            <a:off x="3154680" y="2276856"/>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One number that summarises many. Every statistic throws information away, which is the point and the danger.</a:t>
            </a:r>
          </a:p>
        </p:txBody>
      </p:sp>
      <p:sp>
        <p:nvSpPr>
          <p:cNvPr id="10" name="TextBox 9"/>
          <p:cNvSpPr txBox="1"/>
          <p:nvPr/>
        </p:nvSpPr>
        <p:spPr>
          <a:xfrm>
            <a:off x="8275320" y="2276856"/>
            <a:ext cx="3230575" cy="506201"/>
          </a:xfrm>
          <a:prstGeom prst="rect">
            <a:avLst/>
          </a:prstGeom>
          <a:noFill/>
        </p:spPr>
        <p:txBody>
          <a:bodyPr wrap="square" lIns="0" rIns="0" tIns="0" bIns="0" anchor="t">
            <a:spAutoFit/>
          </a:bodyPr>
          <a:lstStyle/>
          <a:p>
            <a:pPr algn="l">
              <a:lnSpc>
                <a:spcPct val="116000"/>
              </a:lnSpc>
              <a:spcAft>
                <a:spcPts val="600"/>
              </a:spcAft>
            </a:pPr>
            <a:r>
              <a:rPr sz="1254" b="0" i="1">
                <a:solidFill>
                  <a:srgbClr val="6B7A8A"/>
                </a:solidFill>
                <a:latin typeface="Calibri"/>
              </a:rPr>
              <a:t>no direct equivalent</a:t>
            </a:r>
          </a:p>
        </p:txBody>
      </p:sp>
      <p:sp>
        <p:nvSpPr>
          <p:cNvPr id="11" name="TextBox 10"/>
          <p:cNvSpPr txBox="1"/>
          <p:nvPr/>
        </p:nvSpPr>
        <p:spPr>
          <a:xfrm>
            <a:off x="685800" y="2865353"/>
            <a:ext cx="2240280" cy="283899"/>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Mean</a:t>
            </a:r>
          </a:p>
        </p:txBody>
      </p:sp>
      <p:sp>
        <p:nvSpPr>
          <p:cNvPr id="12" name="TextBox 11"/>
          <p:cNvSpPr txBox="1"/>
          <p:nvPr/>
        </p:nvSpPr>
        <p:spPr>
          <a:xfrm>
            <a:off x="3154680" y="2865353"/>
            <a:ext cx="4892040"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The total divided by the count.</a:t>
            </a:r>
          </a:p>
        </p:txBody>
      </p:sp>
      <p:sp>
        <p:nvSpPr>
          <p:cNvPr id="13" name="TextBox 12"/>
          <p:cNvSpPr txBox="1"/>
          <p:nvPr/>
        </p:nvSpPr>
        <p:spPr>
          <a:xfrm>
            <a:off x="8275320" y="2865353"/>
            <a:ext cx="3230575"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AVERAGE</a:t>
            </a:r>
          </a:p>
        </p:txBody>
      </p:sp>
      <p:sp>
        <p:nvSpPr>
          <p:cNvPr id="14" name="Rectangle 13"/>
          <p:cNvSpPr/>
          <p:nvPr/>
        </p:nvSpPr>
        <p:spPr>
          <a:xfrm>
            <a:off x="576072" y="3194973"/>
            <a:ext cx="11039551" cy="32961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231549"/>
            <a:ext cx="2240280" cy="283899"/>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Median</a:t>
            </a:r>
          </a:p>
        </p:txBody>
      </p:sp>
      <p:sp>
        <p:nvSpPr>
          <p:cNvPr id="16" name="TextBox 15"/>
          <p:cNvSpPr txBox="1"/>
          <p:nvPr/>
        </p:nvSpPr>
        <p:spPr>
          <a:xfrm>
            <a:off x="3154680" y="3231549"/>
            <a:ext cx="4892040"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The middle value when you line them all up. Half are smaller.</a:t>
            </a:r>
          </a:p>
        </p:txBody>
      </p:sp>
      <p:sp>
        <p:nvSpPr>
          <p:cNvPr id="17" name="TextBox 16"/>
          <p:cNvSpPr txBox="1"/>
          <p:nvPr/>
        </p:nvSpPr>
        <p:spPr>
          <a:xfrm>
            <a:off x="8275320" y="3231549"/>
            <a:ext cx="3230575"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MEDIAN</a:t>
            </a:r>
          </a:p>
        </p:txBody>
      </p:sp>
      <p:sp>
        <p:nvSpPr>
          <p:cNvPr id="18" name="TextBox 17"/>
          <p:cNvSpPr txBox="1"/>
          <p:nvPr/>
        </p:nvSpPr>
        <p:spPr>
          <a:xfrm>
            <a:off x="685800" y="3597744"/>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Mode</a:t>
            </a:r>
          </a:p>
        </p:txBody>
      </p:sp>
      <p:sp>
        <p:nvSpPr>
          <p:cNvPr id="19" name="TextBox 18"/>
          <p:cNvSpPr txBox="1"/>
          <p:nvPr/>
        </p:nvSpPr>
        <p:spPr>
          <a:xfrm>
            <a:off x="3154680" y="3597744"/>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The commonest value. Useful on categories, where a mean is meaningless.</a:t>
            </a:r>
          </a:p>
        </p:txBody>
      </p:sp>
      <p:sp>
        <p:nvSpPr>
          <p:cNvPr id="20" name="TextBox 19"/>
          <p:cNvSpPr txBox="1"/>
          <p:nvPr/>
        </p:nvSpPr>
        <p:spPr>
          <a:xfrm>
            <a:off x="8275320" y="3597744"/>
            <a:ext cx="3230575"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MODE</a:t>
            </a:r>
          </a:p>
        </p:txBody>
      </p:sp>
      <p:sp>
        <p:nvSpPr>
          <p:cNvPr id="21" name="Rectangle 20"/>
          <p:cNvSpPr/>
          <p:nvPr/>
        </p:nvSpPr>
        <p:spPr>
          <a:xfrm>
            <a:off x="576072" y="4149666"/>
            <a:ext cx="11039551" cy="32961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186242"/>
            <a:ext cx="2240280" cy="283899"/>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Range</a:t>
            </a:r>
          </a:p>
        </p:txBody>
      </p:sp>
      <p:sp>
        <p:nvSpPr>
          <p:cNvPr id="23" name="TextBox 22"/>
          <p:cNvSpPr txBox="1"/>
          <p:nvPr/>
        </p:nvSpPr>
        <p:spPr>
          <a:xfrm>
            <a:off x="3154680" y="4186242"/>
            <a:ext cx="4892040"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Largest minus smallest.</a:t>
            </a:r>
          </a:p>
        </p:txBody>
      </p:sp>
      <p:sp>
        <p:nvSpPr>
          <p:cNvPr id="24" name="TextBox 23"/>
          <p:cNvSpPr txBox="1"/>
          <p:nvPr/>
        </p:nvSpPr>
        <p:spPr>
          <a:xfrm>
            <a:off x="8275320" y="4186242"/>
            <a:ext cx="3230575"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MAX minus MIN</a:t>
            </a:r>
          </a:p>
        </p:txBody>
      </p:sp>
      <p:sp>
        <p:nvSpPr>
          <p:cNvPr id="25" name="TextBox 24"/>
          <p:cNvSpPr txBox="1"/>
          <p:nvPr/>
        </p:nvSpPr>
        <p:spPr>
          <a:xfrm>
            <a:off x="685800" y="4552437"/>
            <a:ext cx="2240280" cy="283899"/>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Distribution</a:t>
            </a:r>
          </a:p>
        </p:txBody>
      </p:sp>
      <p:sp>
        <p:nvSpPr>
          <p:cNvPr id="26" name="TextBox 25"/>
          <p:cNvSpPr txBox="1"/>
          <p:nvPr/>
        </p:nvSpPr>
        <p:spPr>
          <a:xfrm>
            <a:off x="3154680" y="4552437"/>
            <a:ext cx="4892040"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The shape you get when you count how many values fall in each band.</a:t>
            </a:r>
          </a:p>
        </p:txBody>
      </p:sp>
      <p:sp>
        <p:nvSpPr>
          <p:cNvPr id="27" name="TextBox 26"/>
          <p:cNvSpPr txBox="1"/>
          <p:nvPr/>
        </p:nvSpPr>
        <p:spPr>
          <a:xfrm>
            <a:off x="8275320" y="4552437"/>
            <a:ext cx="3230575" cy="283899"/>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A histogram, or a frequency table</a:t>
            </a:r>
          </a:p>
        </p:txBody>
      </p:sp>
      <p:sp>
        <p:nvSpPr>
          <p:cNvPr id="28" name="Rectangle 27"/>
          <p:cNvSpPr/>
          <p:nvPr/>
        </p:nvSpPr>
        <p:spPr>
          <a:xfrm>
            <a:off x="576072" y="4882057"/>
            <a:ext cx="11039551" cy="55192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918633"/>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Skew</a:t>
            </a:r>
          </a:p>
        </p:txBody>
      </p:sp>
      <p:sp>
        <p:nvSpPr>
          <p:cNvPr id="30" name="TextBox 29"/>
          <p:cNvSpPr txBox="1"/>
          <p:nvPr/>
        </p:nvSpPr>
        <p:spPr>
          <a:xfrm>
            <a:off x="3154680" y="4918633"/>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A distribution with a long tail on one side. Business quantities nearly always have one.</a:t>
            </a:r>
          </a:p>
        </p:txBody>
      </p:sp>
      <p:sp>
        <p:nvSpPr>
          <p:cNvPr id="31" name="TextBox 30"/>
          <p:cNvSpPr txBox="1"/>
          <p:nvPr/>
        </p:nvSpPr>
        <p:spPr>
          <a:xfrm>
            <a:off x="8275320" y="4918633"/>
            <a:ext cx="3230575" cy="506201"/>
          </a:xfrm>
          <a:prstGeom prst="rect">
            <a:avLst/>
          </a:prstGeom>
          <a:noFill/>
        </p:spPr>
        <p:txBody>
          <a:bodyPr wrap="square" lIns="0" rIns="0" tIns="0" bIns="0" anchor="t">
            <a:spAutoFit/>
          </a:bodyPr>
          <a:lstStyle/>
          <a:p>
            <a:pPr algn="l">
              <a:lnSpc>
                <a:spcPct val="116000"/>
              </a:lnSpc>
              <a:spcAft>
                <a:spcPts val="600"/>
              </a:spcAft>
            </a:pPr>
            <a:r>
              <a:rPr sz="1254" b="0" i="1">
                <a:solidFill>
                  <a:srgbClr val="6B7A8A"/>
                </a:solidFill>
                <a:latin typeface="Calibri"/>
              </a:rPr>
              <a:t>no direct equivalent</a:t>
            </a:r>
          </a:p>
        </p:txBody>
      </p:sp>
      <p:sp>
        <p:nvSpPr>
          <p:cNvPr id="32" name="TextBox 31"/>
          <p:cNvSpPr txBox="1"/>
          <p:nvPr/>
        </p:nvSpPr>
        <p:spPr>
          <a:xfrm>
            <a:off x="685800" y="5507130"/>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Percentile</a:t>
            </a:r>
          </a:p>
        </p:txBody>
      </p:sp>
      <p:sp>
        <p:nvSpPr>
          <p:cNvPr id="33" name="TextBox 32"/>
          <p:cNvSpPr txBox="1"/>
          <p:nvPr/>
        </p:nvSpPr>
        <p:spPr>
          <a:xfrm>
            <a:off x="3154680" y="5507130"/>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The value below which a given share of the data falls. The 90th percentile is bigger than nine values in ten.</a:t>
            </a:r>
          </a:p>
        </p:txBody>
      </p:sp>
      <p:sp>
        <p:nvSpPr>
          <p:cNvPr id="34" name="TextBox 33"/>
          <p:cNvSpPr txBox="1"/>
          <p:nvPr/>
        </p:nvSpPr>
        <p:spPr>
          <a:xfrm>
            <a:off x="8275320" y="5507130"/>
            <a:ext cx="3230575"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2E7D6F"/>
                </a:solidFill>
                <a:latin typeface="Calibri"/>
              </a:rPr>
              <a:t>PERCENTILE</a:t>
            </a:r>
          </a:p>
        </p:txBody>
      </p:sp>
      <p:sp>
        <p:nvSpPr>
          <p:cNvPr id="35" name="Rectangle 34"/>
          <p:cNvSpPr/>
          <p:nvPr/>
        </p:nvSpPr>
        <p:spPr>
          <a:xfrm>
            <a:off x="576072" y="6059052"/>
            <a:ext cx="11039551" cy="55192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6095628"/>
            <a:ext cx="2240280" cy="506201"/>
          </a:xfrm>
          <a:prstGeom prst="rect">
            <a:avLst/>
          </a:prstGeom>
          <a:noFill/>
        </p:spPr>
        <p:txBody>
          <a:bodyPr wrap="square" lIns="0" rIns="0" tIns="0" bIns="0" anchor="t">
            <a:spAutoFit/>
          </a:bodyPr>
          <a:lstStyle/>
          <a:p>
            <a:pPr algn="l">
              <a:lnSpc>
                <a:spcPct val="114000"/>
              </a:lnSpc>
              <a:spcAft>
                <a:spcPts val="600"/>
              </a:spcAft>
            </a:pPr>
            <a:r>
              <a:rPr sz="1320" b="1" i="0">
                <a:solidFill>
                  <a:srgbClr val="1C3144"/>
                </a:solidFill>
                <a:latin typeface="Calibri"/>
              </a:rPr>
              <a:t>Outlier</a:t>
            </a:r>
          </a:p>
        </p:txBody>
      </p:sp>
      <p:sp>
        <p:nvSpPr>
          <p:cNvPr id="37" name="TextBox 36"/>
          <p:cNvSpPr txBox="1"/>
          <p:nvPr/>
        </p:nvSpPr>
        <p:spPr>
          <a:xfrm>
            <a:off x="3154680" y="6095628"/>
            <a:ext cx="4892040" cy="506201"/>
          </a:xfrm>
          <a:prstGeom prst="rect">
            <a:avLst/>
          </a:prstGeom>
          <a:noFill/>
        </p:spPr>
        <p:txBody>
          <a:bodyPr wrap="square" lIns="0" rIns="0" tIns="0" bIns="0" anchor="t">
            <a:spAutoFit/>
          </a:bodyPr>
          <a:lstStyle/>
          <a:p>
            <a:pPr algn="l">
              <a:lnSpc>
                <a:spcPct val="116000"/>
              </a:lnSpc>
              <a:spcAft>
                <a:spcPts val="600"/>
              </a:spcAft>
            </a:pPr>
            <a:r>
              <a:rPr sz="1254" b="0" i="0">
                <a:solidFill>
                  <a:srgbClr val="334657"/>
                </a:solidFill>
                <a:latin typeface="Calibri"/>
              </a:rPr>
              <a:t>A value far from the rest. It may be an error and it may be your biggest customer.</a:t>
            </a:r>
          </a:p>
        </p:txBody>
      </p:sp>
      <p:sp>
        <p:nvSpPr>
          <p:cNvPr id="38" name="TextBox 37"/>
          <p:cNvSpPr txBox="1"/>
          <p:nvPr/>
        </p:nvSpPr>
        <p:spPr>
          <a:xfrm>
            <a:off x="8275320" y="6095628"/>
            <a:ext cx="3230575" cy="506201"/>
          </a:xfrm>
          <a:prstGeom prst="rect">
            <a:avLst/>
          </a:prstGeom>
          <a:noFill/>
        </p:spPr>
        <p:txBody>
          <a:bodyPr wrap="square" lIns="0" rIns="0" tIns="0" bIns="0" anchor="t">
            <a:spAutoFit/>
          </a:bodyPr>
          <a:lstStyle/>
          <a:p>
            <a:pPr algn="l">
              <a:lnSpc>
                <a:spcPct val="116000"/>
              </a:lnSpc>
              <a:spcAft>
                <a:spcPts val="600"/>
              </a:spcAft>
            </a:pPr>
            <a:r>
              <a:rPr sz="1254"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Say what a statistic is, and compute a mean, a median and a mode.</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Read a histogram and say which statistic the shape allows.</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Use percentiles to describe a business quantity honestly.</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10 of 15  ·  Statistics  ·  Describing one column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What is a typical order worth?</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There are three defensible answers and they differ by a factor of five. Choosing between them is tonight.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a statistic is, before any particular one</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What a statistic is, before any particular one: one number standing in for many, which always throws something away. Then mean, median and mode computed by hand on ten numbers on the board, so nobody is taking AVERAGE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statistic</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One number standing in for many. Every statistic throws information away, which is exactly what makes it useful and exactly what makes it dangerous.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6,000 order values become one number. Whichever number you choose, 6,000 minus one facts have been discarded, and which ones were discarded is the whole question.</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AVERAGE. You have used it for years; tonight is about when it is the wrong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Mean, median and mode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mean is the total divided by the count. The median is the middle value when you line them all up. The mode is the commonest value.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Order value here: mean UGX 1,793,149, median UGX 374,760. The mean is 4.8 times the median. Both are arithmetically correct and they describe different things.</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AVERAGE, MEDIAN and MODE. The functions are the same; choosing between them is the part no spreadsheet helps with.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Distribution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shape you get when you count how many values fall in each band. It is the thing you should look at before choosing any statistic at all.</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order-value distribution here has one tall bar at the left and a long thin tail to the right, which is what almost every business quantity looks like.</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histogram, or a frequency table built with FREQUENCY. Most people have never drawn one, which is why the mean gets misused so often.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Percentile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value below which a given share of the data falls. The 90th percentile is bigger than nine values in ten.</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p10 is UGX 38,880, the median is UGX 374,760, p90 is UGX 3,896,620 and the largest single order is UGX 46,552,400. Four numbers, and now you have described the business honestly.</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PERCENTILE. Same function, and the reason to reach for it is that it survives a skewed distribution.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Three shapes, and what each one allows you to say</a:t>
            </a:r>
          </a:p>
        </p:txBody>
      </p:sp>
      <p:pic>
        <p:nvPicPr>
          <p:cNvPr id="4" name="Picture 3" descr="fig_distribution_shapes.png"/>
          <p:cNvPicPr>
            <a:picLocks noChangeAspect="1"/>
          </p:cNvPicPr>
          <p:nvPr/>
        </p:nvPicPr>
        <p:blipFill>
          <a:blip r:embed="rId2"/>
          <a:stretch>
            <a:fillRect/>
          </a:stretch>
        </p:blipFill>
        <p:spPr>
          <a:xfrm>
            <a:off x="2260879" y="1911095"/>
            <a:ext cx="7669936"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Simulated on purpose, so the shapes are clean. Symmetric: the mean is fine. Right-skewed: use the median. Bimodal: you have two populations mixed together and no single statistic describes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Compute all three by hand first, then trust the function</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475451"/>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82843"/>
          </a:xfrm>
          <a:prstGeom prst="rect">
            <a:avLst/>
          </a:prstGeom>
          <a:noFill/>
        </p:spPr>
        <p:txBody>
          <a:bodyPr wrap="square" lIns="0" rIns="0" tIns="0" bIns="0" anchor="t">
            <a:spAutoFit/>
          </a:bodyPr>
          <a:lstStyle/>
          <a:p>
            <a:pPr algn="l">
              <a:lnSpc>
                <a:spcPts val="2064"/>
              </a:lnSpc>
              <a:spcAft>
                <a:spcPts val="0"/>
              </a:spcAft>
            </a:pPr>
            <a:r>
              <a:rPr sz="1518" b="0" i="0">
                <a:solidFill>
                  <a:srgbClr val="D8E3EC"/>
                </a:solidFill>
                <a:latin typeface="Courier New"/>
              </a:rPr>
              <a:t># ten numbers, small enough to check on paper</a:t>
            </a:r>
          </a:p>
          <a:p>
            <a:pPr algn="l">
              <a:lnSpc>
                <a:spcPts val="2064"/>
              </a:lnSpc>
              <a:spcAft>
                <a:spcPts val="0"/>
              </a:spcAft>
            </a:pPr>
            <a:r>
              <a:rPr sz="1518" b="0" i="0">
                <a:solidFill>
                  <a:srgbClr val="D8E3EC"/>
                </a:solidFill>
                <a:latin typeface="Courier New"/>
              </a:rPr>
              <a:t>vals = [2, 3, 3, 4, 5, 6, 8, 9, 40, 120]</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print(sum(vals) / len(vals))       # the mean, by hand: 20.0</a:t>
            </a:r>
          </a:p>
          <a:p>
            <a:pPr algn="l">
              <a:lnSpc>
                <a:spcPts val="2064"/>
              </a:lnSpc>
              <a:spcAft>
                <a:spcPts val="0"/>
              </a:spcAft>
            </a:pPr>
            <a:r>
              <a:rPr sz="1518" b="0" i="0">
                <a:solidFill>
                  <a:srgbClr val="D8E3EC"/>
                </a:solidFill>
                <a:latin typeface="Courier New"/>
              </a:rPr>
              <a:t>print(sorted(vals)[4:6])           # the middle two: 5 and 6</a:t>
            </a:r>
          </a:p>
          <a:p>
            <a:pPr algn="l">
              <a:lnSpc>
                <a:spcPts val="2064"/>
              </a:lnSpc>
              <a:spcAft>
                <a:spcPts val="0"/>
              </a:spcAft>
            </a:pPr>
            <a:r>
              <a:rPr sz="1518" b="0" i="0">
                <a:solidFill>
                  <a:srgbClr val="D8E3EC"/>
                </a:solidFill>
                <a:latin typeface="Courier New"/>
              </a:rPr>
              <a:t>print((5 + 6) / 2)                 # the median, by hand: 5.5</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import pandas as pd</a:t>
            </a:r>
          </a:p>
          <a:p>
            <a:pPr algn="l">
              <a:lnSpc>
                <a:spcPts val="2064"/>
              </a:lnSpc>
              <a:spcAft>
                <a:spcPts val="0"/>
              </a:spcAft>
            </a:pPr>
            <a:r>
              <a:rPr sz="1518" b="0" i="0">
                <a:solidFill>
                  <a:srgbClr val="D8E3EC"/>
                </a:solidFill>
                <a:latin typeface="Courier New"/>
              </a:rPr>
              <a:t>s = pd.Series(vals)</a:t>
            </a:r>
          </a:p>
          <a:p>
            <a:pPr algn="l">
              <a:lnSpc>
                <a:spcPts val="2064"/>
              </a:lnSpc>
              <a:spcAft>
                <a:spcPts val="0"/>
              </a:spcAft>
            </a:pPr>
            <a:r>
              <a:rPr sz="1518" b="0" i="0">
                <a:solidFill>
                  <a:srgbClr val="D8E3EC"/>
                </a:solidFill>
                <a:latin typeface="Courier New"/>
              </a:rPr>
              <a:t>print(s.mean(), s.median(), s.mode()[0])</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 the mean is 20 and eight of the ten numbers are below it.</a:t>
            </a:r>
          </a:p>
        </p:txBody>
      </p:sp>
      <p:sp>
        <p:nvSpPr>
          <p:cNvPr id="7" name="Rounded Rectangle 6"/>
          <p:cNvSpPr/>
          <p:nvPr/>
        </p:nvSpPr>
        <p:spPr>
          <a:xfrm>
            <a:off x="685800" y="5606003"/>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15147"/>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Remove the 120. The mean drops from 20.0 to about 4.4 and the median barely moves. One value out of ten moved the mean by a factor of four, which is what a skewed distribution does to it every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shape decides which statistic is honest</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Shape decides which statistic is honest. The distribution figure, then the real order values from the course data: mean well above median, a long tail, and a mean that is bigger than four orders in five. Percentiles as 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three on the real order values</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293059"/>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000451"/>
          </a:xfrm>
          <a:prstGeom prst="rect">
            <a:avLst/>
          </a:prstGeom>
          <a:noFill/>
        </p:spPr>
        <p:txBody>
          <a:bodyPr wrap="square" lIns="0" rIns="0" tIns="0" bIns="0" anchor="t">
            <a:spAutoFit/>
          </a:bodyPr>
          <a:lstStyle/>
          <a:p>
            <a:pPr algn="l">
              <a:lnSpc>
                <a:spcPts val="2333"/>
              </a:lnSpc>
              <a:spcAft>
                <a:spcPts val="0"/>
              </a:spcAft>
            </a:pPr>
            <a:r>
              <a:rPr sz="1716" b="0" i="0">
                <a:solidFill>
                  <a:srgbClr val="D8E3EC"/>
                </a:solidFill>
                <a:latin typeface="Courier New"/>
              </a:rPr>
              <a:t>order_value = (delivered.groupby("order_id")["revenue"]</a:t>
            </a:r>
          </a:p>
          <a:p>
            <a:pPr algn="l">
              <a:lnSpc>
                <a:spcPts val="2333"/>
              </a:lnSpc>
              <a:spcAft>
                <a:spcPts val="0"/>
              </a:spcAft>
            </a:pPr>
            <a:r>
              <a:rPr sz="1716" b="0" i="0">
                <a:solidFill>
                  <a:srgbClr val="D8E3EC"/>
                </a:solidFill>
                <a:latin typeface="Courier New"/>
              </a:rPr>
              <a:t>               .sum())</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order_value.describe()</a:t>
            </a:r>
          </a:p>
          <a:p>
            <a:pPr algn="l">
              <a:lnSpc>
                <a:spcPts val="2333"/>
              </a:lnSpc>
              <a:spcAft>
                <a:spcPts val="0"/>
              </a:spcAft>
            </a:pPr>
            <a:r>
              <a:rPr sz="1716" b="0" i="0">
                <a:solidFill>
                  <a:srgbClr val="D8E3EC"/>
                </a:solidFill>
                <a:latin typeface="Courier New"/>
              </a:rPr>
              <a:t>order_value.mean()                 # 1,793,149</a:t>
            </a:r>
          </a:p>
          <a:p>
            <a:pPr algn="l">
              <a:lnSpc>
                <a:spcPts val="2333"/>
              </a:lnSpc>
              <a:spcAft>
                <a:spcPts val="0"/>
              </a:spcAft>
            </a:pPr>
            <a:r>
              <a:rPr sz="1716" b="0" i="0">
                <a:solidFill>
                  <a:srgbClr val="D8E3EC"/>
                </a:solidFill>
                <a:latin typeface="Courier New"/>
              </a:rPr>
              <a:t>order_value.median()               # 374,760</a:t>
            </a:r>
          </a:p>
          <a:p>
            <a:pPr algn="l">
              <a:lnSpc>
                <a:spcPts val="2333"/>
              </a:lnSpc>
              <a:spcAft>
                <a:spcPts val="0"/>
              </a:spcAft>
            </a:pPr>
            <a:r>
              <a:rPr sz="1716" b="0" i="0">
                <a:solidFill>
                  <a:srgbClr val="D8E3EC"/>
                </a:solidFill>
                <a:latin typeface="Courier New"/>
              </a:rPr>
              <a:t>order_value.quantile([0.1, 0.5, 0.9])</a:t>
            </a:r>
          </a:p>
          <a:p>
            <a:pPr algn="l">
              <a:lnSpc>
                <a:spcPts val="2333"/>
              </a:lnSpc>
              <a:spcAft>
                <a:spcPts val="0"/>
              </a:spcAft>
            </a:pPr>
            <a:r>
              <a:rPr sz="1716" b="0" i="0">
                <a:solidFill>
                  <a:srgbClr val="D8E3EC"/>
                </a:solidFill>
                <a:latin typeface="Courier New"/>
              </a:rPr>
              <a:t/>
            </a:r>
          </a:p>
          <a:p>
            <a:pPr algn="l">
              <a:lnSpc>
                <a:spcPts val="2333"/>
              </a:lnSpc>
              <a:spcAft>
                <a:spcPts val="0"/>
              </a:spcAft>
            </a:pPr>
            <a:r>
              <a:rPr sz="1716" b="0" i="0">
                <a:solidFill>
                  <a:srgbClr val="D8E3EC"/>
                </a:solidFill>
                <a:latin typeface="Courier New"/>
              </a:rPr>
              <a:t># what share of orders are BELOW the mean?</a:t>
            </a:r>
          </a:p>
          <a:p>
            <a:pPr algn="l">
              <a:lnSpc>
                <a:spcPts val="2333"/>
              </a:lnSpc>
              <a:spcAft>
                <a:spcPts val="0"/>
              </a:spcAft>
            </a:pPr>
            <a:r>
              <a:rPr sz="1716" b="0" i="0">
                <a:solidFill>
                  <a:srgbClr val="D8E3EC"/>
                </a:solidFill>
                <a:latin typeface="Courier New"/>
              </a:rPr>
              <a:t>(order_value &lt; order_value.mean()).mean()   # about 0.80</a:t>
            </a:r>
          </a:p>
        </p:txBody>
      </p:sp>
      <p:sp>
        <p:nvSpPr>
          <p:cNvPr id="7" name="Rounded Rectangle 6"/>
          <p:cNvSpPr/>
          <p:nvPr/>
        </p:nvSpPr>
        <p:spPr>
          <a:xfrm>
            <a:off x="685800" y="5423611"/>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432755"/>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That last line is the argument in one number: about 80% of orders are smaller than the mean. A statistic that is bigger than four fifths of the thing it describes is not describing it well.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Draw it before you choose</a:t>
            </a:r>
          </a:p>
        </p:txBody>
      </p:sp>
      <p:sp>
        <p:nvSpPr>
          <p:cNvPr id="4" name="Rounded Rectangle 3"/>
          <p:cNvSpPr/>
          <p:nvPr/>
        </p:nvSpPr>
        <p:spPr>
          <a:xfrm>
            <a:off x="8442655" y="512064"/>
            <a:ext cx="30632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JUPYTER OR COLAB</a:t>
            </a:r>
          </a:p>
        </p:txBody>
      </p:sp>
      <p:sp>
        <p:nvSpPr>
          <p:cNvPr id="5" name="Rectangle 4"/>
          <p:cNvSpPr/>
          <p:nvPr/>
        </p:nvSpPr>
        <p:spPr>
          <a:xfrm>
            <a:off x="685800" y="1911095"/>
            <a:ext cx="10820095" cy="346405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71444"/>
          </a:xfrm>
          <a:prstGeom prst="rect">
            <a:avLst/>
          </a:prstGeom>
          <a:noFill/>
        </p:spPr>
        <p:txBody>
          <a:bodyPr wrap="square" lIns="0" rIns="0" tIns="0" bIns="0" anchor="t">
            <a:spAutoFit/>
          </a:bodyPr>
          <a:lstStyle/>
          <a:p>
            <a:pPr algn="l">
              <a:lnSpc>
                <a:spcPts val="2244"/>
              </a:lnSpc>
              <a:spcAft>
                <a:spcPts val="0"/>
              </a:spcAft>
            </a:pPr>
            <a:r>
              <a:rPr sz="1650" b="0" i="0">
                <a:solidFill>
                  <a:srgbClr val="D8E3EC"/>
                </a:solidFill>
                <a:latin typeface="Courier New"/>
              </a:rPr>
              <a:t>import matplotlib.pyplot as plt</a:t>
            </a:r>
          </a:p>
          <a:p>
            <a:pPr algn="l">
              <a:lnSpc>
                <a:spcPts val="2244"/>
              </a:lnSpc>
              <a:spcAft>
                <a:spcPts val="0"/>
              </a:spcAft>
            </a:pPr>
            <a:r>
              <a:rPr sz="1650" b="0" i="0">
                <a:solidFill>
                  <a:srgbClr val="D8E3EC"/>
                </a:solidFill>
                <a:latin typeface="Courier New"/>
              </a:rPr>
              <a:t/>
            </a:r>
          </a:p>
          <a:p>
            <a:pPr algn="l">
              <a:lnSpc>
                <a:spcPts val="2244"/>
              </a:lnSpc>
              <a:spcAft>
                <a:spcPts val="0"/>
              </a:spcAft>
            </a:pPr>
            <a:r>
              <a:rPr sz="1650" b="0" i="0">
                <a:solidFill>
                  <a:srgbClr val="D8E3EC"/>
                </a:solidFill>
                <a:latin typeface="Courier New"/>
              </a:rPr>
              <a:t>fig, ax = plt.subplots(figsize=(9, 4))</a:t>
            </a:r>
          </a:p>
          <a:p>
            <a:pPr algn="l">
              <a:lnSpc>
                <a:spcPts val="2244"/>
              </a:lnSpc>
              <a:spcAft>
                <a:spcPts val="0"/>
              </a:spcAft>
            </a:pPr>
            <a:r>
              <a:rPr sz="1650" b="0" i="0">
                <a:solidFill>
                  <a:srgbClr val="D8E3EC"/>
                </a:solidFill>
                <a:latin typeface="Courier New"/>
              </a:rPr>
              <a:t>order_value.plot(kind="hist", bins=60, ax=ax)</a:t>
            </a:r>
          </a:p>
          <a:p>
            <a:pPr algn="l">
              <a:lnSpc>
                <a:spcPts val="2244"/>
              </a:lnSpc>
              <a:spcAft>
                <a:spcPts val="0"/>
              </a:spcAft>
            </a:pPr>
            <a:r>
              <a:rPr sz="1650" b="0" i="0">
                <a:solidFill>
                  <a:srgbClr val="D8E3EC"/>
                </a:solidFill>
                <a:latin typeface="Courier New"/>
              </a:rPr>
              <a:t>ax.axvline(order_value.median(), color="teal")</a:t>
            </a:r>
          </a:p>
          <a:p>
            <a:pPr algn="l">
              <a:lnSpc>
                <a:spcPts val="2244"/>
              </a:lnSpc>
              <a:spcAft>
                <a:spcPts val="0"/>
              </a:spcAft>
            </a:pPr>
            <a:r>
              <a:rPr sz="1650" b="0" i="0">
                <a:solidFill>
                  <a:srgbClr val="D8E3EC"/>
                </a:solidFill>
                <a:latin typeface="Courier New"/>
              </a:rPr>
              <a:t>ax.axvline(order_value.mean(), color="orangered",</a:t>
            </a:r>
          </a:p>
          <a:p>
            <a:pPr algn="l">
              <a:lnSpc>
                <a:spcPts val="2244"/>
              </a:lnSpc>
              <a:spcAft>
                <a:spcPts val="0"/>
              </a:spcAft>
            </a:pPr>
            <a:r>
              <a:rPr sz="1650" b="0" i="0">
                <a:solidFill>
                  <a:srgbClr val="D8E3EC"/>
                </a:solidFill>
                <a:latin typeface="Courier New"/>
              </a:rPr>
              <a:t>           linestyle="--")</a:t>
            </a:r>
          </a:p>
          <a:p>
            <a:pPr algn="l">
              <a:lnSpc>
                <a:spcPts val="2244"/>
              </a:lnSpc>
              <a:spcAft>
                <a:spcPts val="0"/>
              </a:spcAft>
            </a:pPr>
            <a:r>
              <a:rPr sz="1650" b="0" i="0">
                <a:solidFill>
                  <a:srgbClr val="D8E3EC"/>
                </a:solidFill>
                <a:latin typeface="Courier New"/>
              </a:rPr>
              <a:t>ax.set_xlabel("Order value, UGX")</a:t>
            </a:r>
          </a:p>
          <a:p>
            <a:pPr algn="l">
              <a:lnSpc>
                <a:spcPts val="2244"/>
              </a:lnSpc>
              <a:spcAft>
                <a:spcPts val="0"/>
              </a:spcAft>
            </a:pPr>
            <a:r>
              <a:rPr sz="1650" b="0" i="0">
                <a:solidFill>
                  <a:srgbClr val="D8E3EC"/>
                </a:solidFill>
                <a:latin typeface="Courier New"/>
              </a:rPr>
              <a:t>ax.set_ylabel("Number of orders")</a:t>
            </a:r>
          </a:p>
          <a:p>
            <a:pPr algn="l">
              <a:lnSpc>
                <a:spcPts val="2244"/>
              </a:lnSpc>
              <a:spcAft>
                <a:spcPts val="0"/>
              </a:spcAft>
            </a:pPr>
            <a:r>
              <a:rPr sz="1650" b="0" i="0">
                <a:solidFill>
                  <a:srgbClr val="D8E3EC"/>
                </a:solidFill>
                <a:latin typeface="Courier New"/>
              </a:rPr>
              <a:t>ax.set_title("Most orders are small; a few are very large",</a:t>
            </a:r>
          </a:p>
          <a:p>
            <a:pPr algn="l">
              <a:lnSpc>
                <a:spcPts val="2244"/>
              </a:lnSpc>
              <a:spcAft>
                <a:spcPts val="0"/>
              </a:spcAft>
            </a:pPr>
            <a:r>
              <a:rPr sz="1650" b="0" i="0">
                <a:solidFill>
                  <a:srgbClr val="D8E3EC"/>
                </a:solidFill>
                <a:latin typeface="Courier New"/>
              </a:rPr>
              <a:t>             loc="left")</a:t>
            </a:r>
          </a:p>
        </p:txBody>
      </p:sp>
      <p:sp>
        <p:nvSpPr>
          <p:cNvPr id="7" name="Rounded Rectangle 6"/>
          <p:cNvSpPr/>
          <p:nvPr/>
        </p:nvSpPr>
        <p:spPr>
          <a:xfrm>
            <a:off x="685800" y="559460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03748"/>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Now change bins=60 to bins=5. The skew disappears into one bar and the chart says the distribution is fine. The bin count is a choice you are making, and a careless one hides the finding.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128016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real order values, with the mean and the median marked</a:t>
            </a:r>
          </a:p>
        </p:txBody>
      </p:sp>
      <p:pic>
        <p:nvPicPr>
          <p:cNvPr id="4" name="Picture 3" descr="fig_skew_real.png"/>
          <p:cNvPicPr>
            <a:picLocks noChangeAspect="1"/>
          </p:cNvPicPr>
          <p:nvPr/>
        </p:nvPicPr>
        <p:blipFill>
          <a:blip r:embed="rId2"/>
          <a:stretch>
            <a:fillRect/>
          </a:stretch>
        </p:blipFill>
        <p:spPr>
          <a:xfrm>
            <a:off x="2761859" y="2395728"/>
            <a:ext cx="6667977" cy="3225195"/>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All 6,000 orders from the course data. The mean sits above four orders in five, which is why it is a poor answer to "what is typical".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numbers that describe the business honestly</a:t>
            </a:r>
          </a:p>
        </p:txBody>
      </p:sp>
      <p:pic>
        <p:nvPicPr>
          <p:cNvPr id="4" name="Picture 3" descr="fig_percentiles.png"/>
          <p:cNvPicPr>
            <a:picLocks noChangeAspect="1"/>
          </p:cNvPicPr>
          <p:nvPr/>
        </p:nvPicPr>
        <p:blipFill>
          <a:blip r:embed="rId2"/>
          <a:stretch>
            <a:fillRect/>
          </a:stretch>
        </p:blipFill>
        <p:spPr>
          <a:xfrm>
            <a:off x="2338458" y="1911095"/>
            <a:ext cx="7514778"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p10, median, p90 and the largest order. Together these say more than any single statistic can, and none of them mislead.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Reporting a mean on a skewed distribution. It is the single commonest misleading number in business reporting.</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10 of 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When is the mean the right statistic?</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Is the largest order, UGX 46,552,400, an outlier you should delete?</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look at the distribution before choosing a statistic?</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When the mean is right</a:t>
            </a:r>
          </a:p>
        </p:txBody>
      </p:sp>
      <p:sp>
        <p:nvSpPr>
          <p:cNvPr id="6" name="TextBox 5"/>
          <p:cNvSpPr txBox="1"/>
          <p:nvPr/>
        </p:nvSpPr>
        <p:spPr>
          <a:xfrm>
            <a:off x="1216152" y="2203703"/>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When the distribution is roughly symmetric, or when you genuinely need the total divided by the count, which is what average order value is for pricing and capacity. As a description of typical, on a skewed distribution, it is wrong.</a:t>
            </a:r>
          </a:p>
        </p:txBody>
      </p:sp>
      <p:sp>
        <p:nvSpPr>
          <p:cNvPr id="7" name="Oval 6"/>
          <p:cNvSpPr/>
          <p:nvPr/>
        </p:nvSpPr>
        <p:spPr>
          <a:xfrm>
            <a:off x="685800" y="344286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0628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Is the largest order an outlier to delete?</a:t>
            </a:r>
          </a:p>
        </p:txBody>
      </p:sp>
      <p:sp>
        <p:nvSpPr>
          <p:cNvPr id="9" name="TextBox 8"/>
          <p:cNvSpPr txBox="1"/>
          <p:nvPr/>
        </p:nvSpPr>
        <p:spPr>
          <a:xfrm>
            <a:off x="1216152" y="3698893"/>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You cannot tell from the data alone, and deleting it is a decision about the business rather than about the file. It might be a typo and it might be your most important customer. Go and ask. Describe it either way.</a:t>
            </a:r>
          </a:p>
        </p:txBody>
      </p:sp>
      <p:sp>
        <p:nvSpPr>
          <p:cNvPr id="10" name="Oval 9"/>
          <p:cNvSpPr/>
          <p:nvPr/>
        </p:nvSpPr>
        <p:spPr>
          <a:xfrm>
            <a:off x="685800" y="493805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90147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look at the shape first</a:t>
            </a:r>
          </a:p>
        </p:txBody>
      </p:sp>
      <p:sp>
        <p:nvSpPr>
          <p:cNvPr id="12" name="TextBox 11"/>
          <p:cNvSpPr txBox="1"/>
          <p:nvPr/>
        </p:nvSpPr>
        <p:spPr>
          <a:xfrm>
            <a:off x="1216152" y="519408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Because the shape is what decides whether a statistic is honest. Choosing the statistic first and looking at the shape afterwards is how the mean ends up in board papers where the median belonged.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Describe three columns properly</a:t>
            </a:r>
          </a:p>
        </p:txBody>
      </p:sp>
      <p:sp>
        <p:nvSpPr>
          <p:cNvPr id="4" name="Rounded Rectangle 3"/>
          <p:cNvSpPr/>
          <p:nvPr/>
        </p:nvSpPr>
        <p:spPr>
          <a:xfrm>
            <a:off x="685800" y="1911095"/>
            <a:ext cx="10820095" cy="96926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603504"/>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Pick three numeric columns from the course data. For each: draw the distribution, choose the right statistic, and write one sentence saying why the alternative would mislead.</a:t>
            </a:r>
          </a:p>
        </p:txBody>
      </p:sp>
      <p:sp>
        <p:nvSpPr>
          <p:cNvPr id="6" name="TextBox 5"/>
          <p:cNvSpPr txBox="1"/>
          <p:nvPr/>
        </p:nvSpPr>
        <p:spPr>
          <a:xfrm>
            <a:off x="685800" y="31912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Draw the histogram first, before choosing anything.</a:t>
            </a:r>
          </a:p>
        </p:txBody>
      </p:sp>
      <p:sp>
        <p:nvSpPr>
          <p:cNvPr id="8" name="TextBox 7"/>
          <p:cNvSpPr txBox="1"/>
          <p:nvPr/>
        </p:nvSpPr>
        <p:spPr>
          <a:xfrm>
            <a:off x="685800"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Mean, median and the three percentiles.</a:t>
            </a:r>
          </a:p>
        </p:txBody>
      </p:sp>
      <p:sp>
        <p:nvSpPr>
          <p:cNvPr id="9" name="TextBox 8"/>
          <p:cNvSpPr txBox="1"/>
          <p:nvPr/>
        </p:nvSpPr>
        <p:spPr>
          <a:xfrm>
            <a:off x="685800"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statistic describes this column honestly?</a:t>
            </a:r>
          </a:p>
        </p:txBody>
      </p:sp>
      <p:sp>
        <p:nvSpPr>
          <p:cNvPr id="10" name="TextBox 9"/>
          <p:cNvSpPr txBox="1"/>
          <p:nvPr/>
        </p:nvSpPr>
        <p:spPr>
          <a:xfrm>
            <a:off x="6278727"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One sentence: why would the other one mislead?</a:t>
            </a:r>
          </a:p>
        </p:txBody>
      </p:sp>
      <p:sp>
        <p:nvSpPr>
          <p:cNvPr id="11" name="TextBox 10"/>
          <p:cNvSpPr txBox="1"/>
          <p:nvPr/>
        </p:nvSpPr>
        <p:spPr>
          <a:xfrm>
            <a:off x="6278727"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Then find a column where the mean IS the right answer, and say why.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Say what a statistic is, and compute a mean, a median and a mode.</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Read a histogram and say which statistic the shape allows.</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Use percentiles to describe a business quantity honestly.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Find a number quoted in your organisation and work out which statistic it is. If it is a mean, check whether the distribution justifies one.</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Look at the shape, then pick the number</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order is the whole lesson. A mean reported on a skewed distribution is the commonest misleading number in business, and it costs nothing to avoid once you have drawn the histogram.</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comparing groups of different sizes, and reading a number that changes over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