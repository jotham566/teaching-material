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session 3 of twelve.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what tonight is marked against, in the sense that the lab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clause you add changes the row count. The row count is how you check yourself.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written description of the rows you want. You describe the result and the database works out how to fetch it, which is why SQL has outlived every tool built on top of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value recorded. It is not zero and it is not an empty piece of text. Any comparison with NULL is neither true nor false, so a filter written with = NULL matches nothing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revenue did we take on delivered orders? Revenue is not a column: it is quantity times price times one minus discount, and it lives on the order lines.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 NULL instead of IS NULL. No error, no warning, zero rows, and the zero looks like a fact about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them in order; they get harder. Every question has its answer on the sheet, so you know within seconds whether you are right. Write the query before you look at the answer: reading it first feels like learning and is not.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more questions on the sheet. Then: name one table at work you would like to query, and write down what its columns probably are.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the cheapest habit in this course and it catches most wrong answers before they leave your screen. A number that moved when you did not expect it to is telling you something you need to know.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103851"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3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Asking a database for rows</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Every clause you add changes the row count. The row count is how you check yourself.</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1  ·  SQL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SQL: SELECT, WHERE, ORDER BY, LIMIT, NULL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731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627380"/>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Query</a:t>
            </a:r>
          </a:p>
        </p:txBody>
      </p:sp>
      <p:sp>
        <p:nvSpPr>
          <p:cNvPr id="9" name="TextBox 8"/>
          <p:cNvSpPr txBox="1"/>
          <p:nvPr/>
        </p:nvSpPr>
        <p:spPr>
          <a:xfrm>
            <a:off x="3154680" y="2276856"/>
            <a:ext cx="4892040"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A written description of the rows you want. You describe the result; the database works out how to fetch it.</a:t>
            </a:r>
          </a:p>
        </p:txBody>
      </p:sp>
      <p:sp>
        <p:nvSpPr>
          <p:cNvPr id="10" name="TextBox 9"/>
          <p:cNvSpPr txBox="1"/>
          <p:nvPr/>
        </p:nvSpPr>
        <p:spPr>
          <a:xfrm>
            <a:off x="8275320" y="2276856"/>
            <a:ext cx="3230575"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2E7D6F"/>
                </a:solidFill>
                <a:latin typeface="Calibri"/>
              </a:rPr>
              <a:t>A filter, but written down and repeatable</a:t>
            </a:r>
          </a:p>
        </p:txBody>
      </p:sp>
      <p:sp>
        <p:nvSpPr>
          <p:cNvPr id="11" name="TextBox 10"/>
          <p:cNvSpPr txBox="1"/>
          <p:nvPr/>
        </p:nvSpPr>
        <p:spPr>
          <a:xfrm>
            <a:off x="685800" y="2986532"/>
            <a:ext cx="2240280" cy="343444"/>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SELECT</a:t>
            </a:r>
          </a:p>
        </p:txBody>
      </p:sp>
      <p:sp>
        <p:nvSpPr>
          <p:cNvPr id="12" name="TextBox 11"/>
          <p:cNvSpPr txBox="1"/>
          <p:nvPr/>
        </p:nvSpPr>
        <p:spPr>
          <a:xfrm>
            <a:off x="3154680" y="2986532"/>
            <a:ext cx="4892040" cy="343444"/>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The clause that says which columns you want back.</a:t>
            </a:r>
          </a:p>
        </p:txBody>
      </p:sp>
      <p:sp>
        <p:nvSpPr>
          <p:cNvPr id="13" name="TextBox 12"/>
          <p:cNvSpPr txBox="1"/>
          <p:nvPr/>
        </p:nvSpPr>
        <p:spPr>
          <a:xfrm>
            <a:off x="8275320" y="2986532"/>
            <a:ext cx="3230575" cy="343444"/>
          </a:xfrm>
          <a:prstGeom prst="rect">
            <a:avLst/>
          </a:prstGeom>
          <a:noFill/>
        </p:spPr>
        <p:txBody>
          <a:bodyPr wrap="square" lIns="0" rIns="0" tIns="0" bIns="0" anchor="t">
            <a:spAutoFit/>
          </a:bodyPr>
          <a:lstStyle/>
          <a:p>
            <a:pPr algn="l">
              <a:lnSpc>
                <a:spcPct val="116000"/>
              </a:lnSpc>
              <a:spcAft>
                <a:spcPts val="600"/>
              </a:spcAft>
            </a:pPr>
            <a:r>
              <a:rPr sz="1584" b="0" i="1">
                <a:solidFill>
                  <a:srgbClr val="6B7A8A"/>
                </a:solidFill>
                <a:latin typeface="Calibri"/>
              </a:rPr>
              <a:t>no direct equivalent</a:t>
            </a:r>
          </a:p>
        </p:txBody>
      </p:sp>
      <p:sp>
        <p:nvSpPr>
          <p:cNvPr id="14" name="Rectangle 13"/>
          <p:cNvSpPr/>
          <p:nvPr/>
        </p:nvSpPr>
        <p:spPr>
          <a:xfrm>
            <a:off x="576072" y="3375697"/>
            <a:ext cx="11039551" cy="3891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12273"/>
            <a:ext cx="2240280" cy="343444"/>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WHERE</a:t>
            </a:r>
          </a:p>
        </p:txBody>
      </p:sp>
      <p:sp>
        <p:nvSpPr>
          <p:cNvPr id="16" name="TextBox 15"/>
          <p:cNvSpPr txBox="1"/>
          <p:nvPr/>
        </p:nvSpPr>
        <p:spPr>
          <a:xfrm>
            <a:off x="3154680" y="3412273"/>
            <a:ext cx="4892040" cy="343444"/>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The clause that says which rows you want, by condition.</a:t>
            </a:r>
          </a:p>
        </p:txBody>
      </p:sp>
      <p:sp>
        <p:nvSpPr>
          <p:cNvPr id="17" name="TextBox 16"/>
          <p:cNvSpPr txBox="1"/>
          <p:nvPr/>
        </p:nvSpPr>
        <p:spPr>
          <a:xfrm>
            <a:off x="8275320" y="3412273"/>
            <a:ext cx="3230575" cy="343444"/>
          </a:xfrm>
          <a:prstGeom prst="rect">
            <a:avLst/>
          </a:prstGeom>
          <a:noFill/>
        </p:spPr>
        <p:txBody>
          <a:bodyPr wrap="square" lIns="0" rIns="0" tIns="0" bIns="0" anchor="t">
            <a:spAutoFit/>
          </a:bodyPr>
          <a:lstStyle/>
          <a:p>
            <a:pPr algn="l">
              <a:lnSpc>
                <a:spcPct val="116000"/>
              </a:lnSpc>
              <a:spcAft>
                <a:spcPts val="600"/>
              </a:spcAft>
            </a:pPr>
            <a:r>
              <a:rPr sz="1584" b="0" i="0">
                <a:solidFill>
                  <a:srgbClr val="2E7D6F"/>
                </a:solidFill>
                <a:latin typeface="Calibri"/>
              </a:rPr>
              <a:t>Autofilter</a:t>
            </a:r>
          </a:p>
        </p:txBody>
      </p:sp>
      <p:sp>
        <p:nvSpPr>
          <p:cNvPr id="18" name="TextBox 17"/>
          <p:cNvSpPr txBox="1"/>
          <p:nvPr/>
        </p:nvSpPr>
        <p:spPr>
          <a:xfrm>
            <a:off x="685800" y="3838014"/>
            <a:ext cx="2240280" cy="343444"/>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ORDER BY</a:t>
            </a:r>
          </a:p>
        </p:txBody>
      </p:sp>
      <p:sp>
        <p:nvSpPr>
          <p:cNvPr id="19" name="TextBox 18"/>
          <p:cNvSpPr txBox="1"/>
          <p:nvPr/>
        </p:nvSpPr>
        <p:spPr>
          <a:xfrm>
            <a:off x="3154680" y="3838014"/>
            <a:ext cx="4892040" cy="343444"/>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Sort the result.</a:t>
            </a:r>
          </a:p>
        </p:txBody>
      </p:sp>
      <p:sp>
        <p:nvSpPr>
          <p:cNvPr id="20" name="TextBox 19"/>
          <p:cNvSpPr txBox="1"/>
          <p:nvPr/>
        </p:nvSpPr>
        <p:spPr>
          <a:xfrm>
            <a:off x="8275320" y="3838014"/>
            <a:ext cx="3230575" cy="343444"/>
          </a:xfrm>
          <a:prstGeom prst="rect">
            <a:avLst/>
          </a:prstGeom>
          <a:noFill/>
        </p:spPr>
        <p:txBody>
          <a:bodyPr wrap="square" lIns="0" rIns="0" tIns="0" bIns="0" anchor="t">
            <a:spAutoFit/>
          </a:bodyPr>
          <a:lstStyle/>
          <a:p>
            <a:pPr algn="l">
              <a:lnSpc>
                <a:spcPct val="116000"/>
              </a:lnSpc>
              <a:spcAft>
                <a:spcPts val="600"/>
              </a:spcAft>
            </a:pPr>
            <a:r>
              <a:rPr sz="1584" b="0" i="0">
                <a:solidFill>
                  <a:srgbClr val="2E7D6F"/>
                </a:solidFill>
                <a:latin typeface="Calibri"/>
              </a:rPr>
              <a:t>Sort</a:t>
            </a:r>
          </a:p>
        </p:txBody>
      </p:sp>
      <p:sp>
        <p:nvSpPr>
          <p:cNvPr id="21" name="Rectangle 20"/>
          <p:cNvSpPr/>
          <p:nvPr/>
        </p:nvSpPr>
        <p:spPr>
          <a:xfrm>
            <a:off x="576072" y="4227178"/>
            <a:ext cx="11039551" cy="6731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63754"/>
            <a:ext cx="2240280" cy="627380"/>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LIMIT</a:t>
            </a:r>
          </a:p>
        </p:txBody>
      </p:sp>
      <p:sp>
        <p:nvSpPr>
          <p:cNvPr id="23" name="TextBox 22"/>
          <p:cNvSpPr txBox="1"/>
          <p:nvPr/>
        </p:nvSpPr>
        <p:spPr>
          <a:xfrm>
            <a:off x="3154680" y="4263754"/>
            <a:ext cx="4892040"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Return only the first so many rows, which is how you look at something without printing 6,000 lines.</a:t>
            </a:r>
          </a:p>
        </p:txBody>
      </p:sp>
      <p:sp>
        <p:nvSpPr>
          <p:cNvPr id="24" name="TextBox 23"/>
          <p:cNvSpPr txBox="1"/>
          <p:nvPr/>
        </p:nvSpPr>
        <p:spPr>
          <a:xfrm>
            <a:off x="8275320" y="4263754"/>
            <a:ext cx="3230575" cy="627380"/>
          </a:xfrm>
          <a:prstGeom prst="rect">
            <a:avLst/>
          </a:prstGeom>
          <a:noFill/>
        </p:spPr>
        <p:txBody>
          <a:bodyPr wrap="square" lIns="0" rIns="0" tIns="0" bIns="0" anchor="t">
            <a:spAutoFit/>
          </a:bodyPr>
          <a:lstStyle/>
          <a:p>
            <a:pPr algn="l">
              <a:lnSpc>
                <a:spcPct val="116000"/>
              </a:lnSpc>
              <a:spcAft>
                <a:spcPts val="600"/>
              </a:spcAft>
            </a:pPr>
            <a:r>
              <a:rPr sz="1584" b="0" i="1">
                <a:solidFill>
                  <a:srgbClr val="6B7A8A"/>
                </a:solidFill>
                <a:latin typeface="Calibri"/>
              </a:rPr>
              <a:t>no direct equivalent</a:t>
            </a:r>
          </a:p>
        </p:txBody>
      </p:sp>
      <p:sp>
        <p:nvSpPr>
          <p:cNvPr id="25" name="TextBox 24"/>
          <p:cNvSpPr txBox="1"/>
          <p:nvPr/>
        </p:nvSpPr>
        <p:spPr>
          <a:xfrm>
            <a:off x="685800" y="4973431"/>
            <a:ext cx="2240280" cy="627380"/>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NULL</a:t>
            </a:r>
          </a:p>
        </p:txBody>
      </p:sp>
      <p:sp>
        <p:nvSpPr>
          <p:cNvPr id="26" name="TextBox 25"/>
          <p:cNvSpPr txBox="1"/>
          <p:nvPr/>
        </p:nvSpPr>
        <p:spPr>
          <a:xfrm>
            <a:off x="3154680" y="4973431"/>
            <a:ext cx="4892040"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No value recorded. It is not zero and not an empty string, and any comparison with it is neither true nor false.</a:t>
            </a:r>
          </a:p>
        </p:txBody>
      </p:sp>
      <p:sp>
        <p:nvSpPr>
          <p:cNvPr id="27" name="TextBox 26"/>
          <p:cNvSpPr txBox="1"/>
          <p:nvPr/>
        </p:nvSpPr>
        <p:spPr>
          <a:xfrm>
            <a:off x="8275320" y="4973431"/>
            <a:ext cx="3230575"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2E7D6F"/>
                </a:solidFill>
                <a:latin typeface="Calibri"/>
              </a:rPr>
              <a:t>A genuinely blank cell</a:t>
            </a:r>
          </a:p>
        </p:txBody>
      </p:sp>
      <p:sp>
        <p:nvSpPr>
          <p:cNvPr id="28" name="Rectangle 27"/>
          <p:cNvSpPr/>
          <p:nvPr/>
        </p:nvSpPr>
        <p:spPr>
          <a:xfrm>
            <a:off x="576072" y="5646531"/>
            <a:ext cx="11039551" cy="6731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683107"/>
            <a:ext cx="2240280" cy="627380"/>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COUNT</a:t>
            </a:r>
          </a:p>
        </p:txBody>
      </p:sp>
      <p:sp>
        <p:nvSpPr>
          <p:cNvPr id="30" name="TextBox 29"/>
          <p:cNvSpPr txBox="1"/>
          <p:nvPr/>
        </p:nvSpPr>
        <p:spPr>
          <a:xfrm>
            <a:off x="3154680" y="5683107"/>
            <a:ext cx="4892040"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How many rows. COUNT(*) counts rows; COUNT(column) counts rows where that column is not NULL.</a:t>
            </a:r>
          </a:p>
        </p:txBody>
      </p:sp>
      <p:sp>
        <p:nvSpPr>
          <p:cNvPr id="31" name="TextBox 30"/>
          <p:cNvSpPr txBox="1"/>
          <p:nvPr/>
        </p:nvSpPr>
        <p:spPr>
          <a:xfrm>
            <a:off x="8275320" y="5683107"/>
            <a:ext cx="3230575"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2E7D6F"/>
                </a:solidFill>
                <a:latin typeface="Calibri"/>
              </a:rPr>
              <a:t>COUNTA against COUNT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Write a SELECT with a filter, a sort and a limit, and say what each part did to the number of rows.</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Count rows, and explain why two different counts of the same table can both be right.</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Recognise a NULL and handle it without getting a silently empty answer.</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3 of 15  ·  SQL  ·  Asking a database for rows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How do you ask a database for exactly the rows you want,</a:t>
            </a:r>
          </a:p>
          <a:p>
            <a:pPr algn="l">
              <a:lnSpc>
                <a:spcPct val="115000"/>
              </a:lnSpc>
              <a:spcAft>
                <a:spcPts val="600"/>
              </a:spcAft>
            </a:pPr>
            <a:r>
              <a:rPr sz="3400" b="0" i="1">
                <a:solidFill>
                  <a:srgbClr val="FFFFFF"/>
                </a:solidFill>
                <a:latin typeface="Cambria"/>
              </a:rPr>
              <a:t>and know that you got them?</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Every clause you add changes the row count. The row count is how you check yourself.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A query is a written-down filter</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A table is rows and columns, and a query is a description of the rows you want. SELECT, FROM, WHERE, ORDER BY, LIMIT, typed live against the orders table, checking the row count after every clause. Each one is shown besi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query</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written description of the rows you want. You describe the result and the database works out how to fetch it, which is why SQL has outlived every tool built on top of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SELECT region, city FROM customers WHERE region = 'Eastern' ORDER BY city LIMIT 10;</a:t>
            </a:r>
          </a:p>
        </p:txBody>
      </p:sp>
      <p:sp>
        <p:nvSpPr>
          <p:cNvPr id="8" name="Rounded Rectangle 7"/>
          <p:cNvSpPr/>
          <p:nvPr/>
        </p:nvSpPr>
        <p:spPr>
          <a:xfrm>
            <a:off x="685800" y="4074234"/>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055946"/>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Autofilter plus sort. Same result, except this one is written down, so it runs again next month and somebody else can check what you did.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NULL</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No value recorded. It is not zero and it is not an empty piece of text. Any comparison with NULL is neither true nor false, so a filter written with = NULL matches nothing at all.</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172 of the 6,000 orders have no customer_id. Find them with IS NULL. Written as = NULL you get zero rows, no error and no warning, and zero looks like a fact.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Zero. A credit limit of 0 means we checked and they get nothing. A credit limit of NULL means nobody has looked yet. Summing them treats both as nothing, which is wrong about one of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Build it one clause at a time, watching the row count</a:t>
            </a:r>
          </a:p>
        </p:txBody>
      </p:sp>
      <p:sp>
        <p:nvSpPr>
          <p:cNvPr id="4" name="Rounded Rectangle 3"/>
          <p:cNvSpPr/>
          <p:nvPr/>
        </p:nvSpPr>
        <p:spPr>
          <a:xfrm>
            <a:off x="8359188" y="512064"/>
            <a:ext cx="31467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DB BROWSER · EXECUTE SQL</a:t>
            </a:r>
          </a:p>
        </p:txBody>
      </p:sp>
      <p:sp>
        <p:nvSpPr>
          <p:cNvPr id="5" name="Rectangle 4"/>
          <p:cNvSpPr/>
          <p:nvPr/>
        </p:nvSpPr>
        <p:spPr>
          <a:xfrm>
            <a:off x="685800" y="1911095"/>
            <a:ext cx="10820095" cy="3475451"/>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82843"/>
          </a:xfrm>
          <a:prstGeom prst="rect">
            <a:avLst/>
          </a:prstGeom>
          <a:noFill/>
        </p:spPr>
        <p:txBody>
          <a:bodyPr wrap="square" lIns="0" rIns="0" tIns="0" bIns="0" anchor="t">
            <a:spAutoFit/>
          </a:bodyPr>
          <a:lstStyle/>
          <a:p>
            <a:pPr algn="l">
              <a:lnSpc>
                <a:spcPts val="2064"/>
              </a:lnSpc>
              <a:spcAft>
                <a:spcPts val="0"/>
              </a:spcAft>
            </a:pPr>
            <a:r>
              <a:rPr sz="1518" b="0" i="0">
                <a:solidFill>
                  <a:srgbClr val="D8E3EC"/>
                </a:solidFill>
                <a:latin typeface="Courier New"/>
              </a:rPr>
              <a:t>-- run each of these and note the row count</a:t>
            </a:r>
          </a:p>
          <a:p>
            <a:pPr algn="l">
              <a:lnSpc>
                <a:spcPts val="2064"/>
              </a:lnSpc>
              <a:spcAft>
                <a:spcPts val="0"/>
              </a:spcAft>
            </a:pPr>
            <a:r>
              <a:rPr sz="1518" b="0" i="0">
                <a:solidFill>
                  <a:srgbClr val="D8E3EC"/>
                </a:solidFill>
                <a:latin typeface="Courier New"/>
              </a:rPr>
              <a:t>SELECT * FROM orders;                     -- 6,000 rows</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SELECT * FROM orders</a:t>
            </a:r>
          </a:p>
          <a:p>
            <a:pPr algn="l">
              <a:lnSpc>
                <a:spcPts val="2064"/>
              </a:lnSpc>
              <a:spcAft>
                <a:spcPts val="0"/>
              </a:spcAft>
            </a:pPr>
            <a:r>
              <a:rPr sz="1518" b="0" i="0">
                <a:solidFill>
                  <a:srgbClr val="D8E3EC"/>
                </a:solidFill>
                <a:latin typeface="Courier New"/>
              </a:rPr>
              <a:t>WHERE status = 'Delivered';               -- 4,837</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SELECT order_id, order_date, channel</a:t>
            </a:r>
          </a:p>
          <a:p>
            <a:pPr algn="l">
              <a:lnSpc>
                <a:spcPts val="2064"/>
              </a:lnSpc>
              <a:spcAft>
                <a:spcPts val="0"/>
              </a:spcAft>
            </a:pPr>
            <a:r>
              <a:rPr sz="1518" b="0" i="0">
                <a:solidFill>
                  <a:srgbClr val="D8E3EC"/>
                </a:solidFill>
                <a:latin typeface="Courier New"/>
              </a:rPr>
              <a:t>FROM orders</a:t>
            </a:r>
          </a:p>
          <a:p>
            <a:pPr algn="l">
              <a:lnSpc>
                <a:spcPts val="2064"/>
              </a:lnSpc>
              <a:spcAft>
                <a:spcPts val="0"/>
              </a:spcAft>
            </a:pPr>
            <a:r>
              <a:rPr sz="1518" b="0" i="0">
                <a:solidFill>
                  <a:srgbClr val="D8E3EC"/>
                </a:solidFill>
                <a:latin typeface="Courier New"/>
              </a:rPr>
              <a:t>WHERE status = 'Delivered'</a:t>
            </a:r>
          </a:p>
          <a:p>
            <a:pPr algn="l">
              <a:lnSpc>
                <a:spcPts val="2064"/>
              </a:lnSpc>
              <a:spcAft>
                <a:spcPts val="0"/>
              </a:spcAft>
            </a:pPr>
            <a:r>
              <a:rPr sz="1518" b="0" i="0">
                <a:solidFill>
                  <a:srgbClr val="D8E3EC"/>
                </a:solidFill>
                <a:latin typeface="Courier New"/>
              </a:rPr>
              <a:t>  AND order_date &gt;= '2025-01-01'</a:t>
            </a:r>
          </a:p>
          <a:p>
            <a:pPr algn="l">
              <a:lnSpc>
                <a:spcPts val="2064"/>
              </a:lnSpc>
              <a:spcAft>
                <a:spcPts val="0"/>
              </a:spcAft>
            </a:pPr>
            <a:r>
              <a:rPr sz="1518" b="0" i="0">
                <a:solidFill>
                  <a:srgbClr val="D8E3EC"/>
                </a:solidFill>
                <a:latin typeface="Courier New"/>
              </a:rPr>
              <a:t>ORDER BY order_date DESC</a:t>
            </a:r>
          </a:p>
          <a:p>
            <a:pPr algn="l">
              <a:lnSpc>
                <a:spcPts val="2064"/>
              </a:lnSpc>
              <a:spcAft>
                <a:spcPts val="0"/>
              </a:spcAft>
            </a:pPr>
            <a:r>
              <a:rPr sz="1518" b="0" i="0">
                <a:solidFill>
                  <a:srgbClr val="D8E3EC"/>
                </a:solidFill>
                <a:latin typeface="Courier New"/>
              </a:rPr>
              <a:t>LIMIT 10;                                 -- 10 rows</a:t>
            </a:r>
          </a:p>
        </p:txBody>
      </p:sp>
      <p:sp>
        <p:nvSpPr>
          <p:cNvPr id="7" name="Rounded Rectangle 6"/>
          <p:cNvSpPr/>
          <p:nvPr/>
        </p:nvSpPr>
        <p:spPr>
          <a:xfrm>
            <a:off x="685800" y="5606003"/>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15147"/>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Now change 'Delivered' to 'delivered', lower case. Zero rows. Text comparison is case sensitive here, and a filter that matches nothing looks exactly like a fact about the business.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Nothing, zero, and blank are three different things</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NULL, and why it needs its own half hour. A missing value is not zero, so any comparison with it comes back neither true nor false, and a filter written with = NULL returns nothing at all with no error. Then COUNT(*) aga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one that catches everybody</a:t>
            </a:r>
          </a:p>
        </p:txBody>
      </p:sp>
      <p:sp>
        <p:nvSpPr>
          <p:cNvPr id="4" name="Rounded Rectangle 3"/>
          <p:cNvSpPr/>
          <p:nvPr/>
        </p:nvSpPr>
        <p:spPr>
          <a:xfrm>
            <a:off x="8359188" y="512064"/>
            <a:ext cx="31467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DB BROWSER · EXECUTE SQL</a:t>
            </a:r>
          </a:p>
        </p:txBody>
      </p:sp>
      <p:sp>
        <p:nvSpPr>
          <p:cNvPr id="5" name="Rectangle 4"/>
          <p:cNvSpPr/>
          <p:nvPr/>
        </p:nvSpPr>
        <p:spPr>
          <a:xfrm>
            <a:off x="685800" y="1911095"/>
            <a:ext cx="10820095" cy="2996671"/>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2704063"/>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SELECT COUNT(*)           AS rows_in_table,</a:t>
            </a:r>
          </a:p>
          <a:p>
            <a:pPr algn="l">
              <a:lnSpc>
                <a:spcPts val="2333"/>
              </a:lnSpc>
              <a:spcAft>
                <a:spcPts val="0"/>
              </a:spcAft>
            </a:pPr>
            <a:r>
              <a:rPr sz="1716" b="0" i="0">
                <a:solidFill>
                  <a:srgbClr val="D8E3EC"/>
                </a:solidFill>
                <a:latin typeface="Courier New"/>
              </a:rPr>
              <a:t>       COUNT(customer_id) AS rows_with_a_customer</a:t>
            </a:r>
          </a:p>
          <a:p>
            <a:pPr algn="l">
              <a:lnSpc>
                <a:spcPts val="2333"/>
              </a:lnSpc>
              <a:spcAft>
                <a:spcPts val="0"/>
              </a:spcAft>
            </a:pPr>
            <a:r>
              <a:rPr sz="1716" b="0" i="0">
                <a:solidFill>
                  <a:srgbClr val="D8E3EC"/>
                </a:solidFill>
                <a:latin typeface="Courier New"/>
              </a:rPr>
              <a:t>FROM orders;</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-- 6,000 and 5,828. The gap is 172.</a:t>
            </a:r>
          </a:p>
          <a:p>
            <a:pPr algn="l">
              <a:lnSpc>
                <a:spcPts val="2333"/>
              </a:lnSpc>
              <a:spcAft>
                <a:spcPts val="0"/>
              </a:spcAft>
            </a:pPr>
            <a:r>
              <a:rPr sz="1716" b="0" i="0">
                <a:solidFill>
                  <a:srgbClr val="D8E3EC"/>
                </a:solidFill>
                <a:latin typeface="Courier New"/>
              </a:rPr>
              <a:t>-- COUNT(*) counts ROWS.</a:t>
            </a:r>
          </a:p>
          <a:p>
            <a:pPr algn="l">
              <a:lnSpc>
                <a:spcPts val="2333"/>
              </a:lnSpc>
              <a:spcAft>
                <a:spcPts val="0"/>
              </a:spcAft>
            </a:pPr>
            <a:r>
              <a:rPr sz="1716" b="0" i="0">
                <a:solidFill>
                  <a:srgbClr val="D8E3EC"/>
                </a:solidFill>
                <a:latin typeface="Courier New"/>
              </a:rPr>
              <a:t>-- COUNT(column) counts rows where that column is NOT NULL.</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SELECT COUNT(*) FROM orders WHERE customer_id IS NULL;</a:t>
            </a:r>
          </a:p>
        </p:txBody>
      </p:sp>
      <p:sp>
        <p:nvSpPr>
          <p:cNvPr id="7" name="Rounded Rectangle 6"/>
          <p:cNvSpPr/>
          <p:nvPr/>
        </p:nvSpPr>
        <p:spPr>
          <a:xfrm>
            <a:off x="685800" y="5127223"/>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136367"/>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Try the last line with = NULL instead of IS NULL. Zero rows, no error. In Excel you would have SEEN the blanks; here nothing shows you, which is why this is worth half an hour.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Your first real answer, in four steps</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How much revenue did we take on delivered orders? Revenue is not a column: it is quantity times price times one minus discount, and it lives on the order lines.</a:t>
            </a:r>
          </a:p>
        </p:txBody>
      </p:sp>
      <p:sp>
        <p:nvSpPr>
          <p:cNvPr id="5" name="Rounded Rectangle 4"/>
          <p:cNvSpPr/>
          <p:nvPr/>
        </p:nvSpPr>
        <p:spPr>
          <a:xfrm>
            <a:off x="685800" y="2732347"/>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Count the order lines, so you have a number to check everything against: 20,234.</a:t>
            </a:r>
          </a:p>
        </p:txBody>
      </p:sp>
      <p:sp>
        <p:nvSpPr>
          <p:cNvPr id="8" name="Rounded Rectangle 7"/>
          <p:cNvSpPr/>
          <p:nvPr/>
        </p:nvSpPr>
        <p:spPr>
          <a:xfrm>
            <a:off x="685800" y="3258366"/>
            <a:ext cx="10820095" cy="79600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31323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304086"/>
            <a:ext cx="9814255" cy="704566"/>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Total the line values with no filter at all: UGX 10,758,894,480. This counts orders nobody paid for, so it is not the answer.</a:t>
            </a:r>
          </a:p>
        </p:txBody>
      </p:sp>
      <p:sp>
        <p:nvSpPr>
          <p:cNvPr id="11" name="Rounded Rectangle 10"/>
          <p:cNvSpPr/>
          <p:nvPr/>
        </p:nvSpPr>
        <p:spPr>
          <a:xfrm>
            <a:off x="685800" y="4109236"/>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416410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4154956"/>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Join to orders so you can see the status. Check the row count did not move: still 20,234.</a:t>
            </a:r>
          </a:p>
        </p:txBody>
      </p:sp>
      <p:sp>
        <p:nvSpPr>
          <p:cNvPr id="14" name="Rounded Rectangle 13"/>
          <p:cNvSpPr/>
          <p:nvPr/>
        </p:nvSpPr>
        <p:spPr>
          <a:xfrm>
            <a:off x="685800" y="4635255"/>
            <a:ext cx="10820095" cy="79600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69011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680975"/>
            <a:ext cx="9814255" cy="704566"/>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Filter to delivered: UGX 8,751,705,520. The difference, UGX 2,007,188,960, was sitting in pending and cancelled orders.</a:t>
            </a:r>
          </a:p>
        </p:txBody>
      </p:sp>
      <p:sp>
        <p:nvSpPr>
          <p:cNvPr id="17" name="Rounded Rectangle 16"/>
          <p:cNvSpPr/>
          <p:nvPr/>
        </p:nvSpPr>
        <p:spPr>
          <a:xfrm>
            <a:off x="685800" y="5540989"/>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 y="5678149"/>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From now on, every revenue figure in this course says which statuses it counts. "Revenue" on its own is not an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10037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Writing = NULL instead of IS NULL. No error, no warning, zero rows, and the zero looks like a fact about the business.</a:t>
            </a:r>
          </a:p>
        </p:txBody>
      </p:sp>
      <p:sp>
        <p:nvSpPr>
          <p:cNvPr id="5" name="TextBox 4"/>
          <p:cNvSpPr txBox="1"/>
          <p:nvPr/>
        </p:nvSpPr>
        <p:spPr>
          <a:xfrm>
            <a:off x="685800" y="27920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3 of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What is the difference between COUNT(*) and COUNT(city)?</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does WHERE customer_id = NULL return nothing?</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Somebody gives you a revenue figure. What is the first question you ask?</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COUNT(*) against COUNT(city)</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COUNT(*) counts rows. COUNT(city) counts rows where city is not NULL. On orders that difference is 172 rows, worth UGX 390,632,335.</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 NULL matches nothing</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Because NULL means no value, and comparing anything with no value is neither true nor false. The filter is never satisfied. IS NULL is a different test and it works.</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The first question about any revenue figure</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Which orders does it count? Delivered only is UGX 8,751,705,520; everything is UGX 10,758,894,480. The gap is UGX 2,007,188,960, and nobody can tell which you meant from the number alone.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Eight questions against the database</a:t>
            </a:r>
          </a:p>
        </p:txBody>
      </p:sp>
      <p:sp>
        <p:nvSpPr>
          <p:cNvPr id="4" name="Rounded Rectangle 3"/>
          <p:cNvSpPr/>
          <p:nvPr/>
        </p:nvSpPr>
        <p:spPr>
          <a:xfrm>
            <a:off x="685800" y="1911095"/>
            <a:ext cx="10820095" cy="124358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877823"/>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Work them in order; they get harder. Every question has its answer on the sheet, so you know within seconds whether you are right. Write the query before you look at the answer: reading it first feels like learning and is not.</a:t>
            </a:r>
          </a:p>
        </p:txBody>
      </p:sp>
      <p:sp>
        <p:nvSpPr>
          <p:cNvPr id="6" name="TextBox 5"/>
          <p:cNvSpPr txBox="1"/>
          <p:nvPr/>
        </p:nvSpPr>
        <p:spPr>
          <a:xfrm>
            <a:off x="685800" y="3465575"/>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88620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How many orders, and how many were delivered?</a:t>
            </a:r>
          </a:p>
        </p:txBody>
      </p:sp>
      <p:sp>
        <p:nvSpPr>
          <p:cNvPr id="8" name="TextBox 7"/>
          <p:cNvSpPr txBox="1"/>
          <p:nvPr/>
        </p:nvSpPr>
        <p:spPr>
          <a:xfrm>
            <a:off x="685800" y="430682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Which sales channel is used most?</a:t>
            </a:r>
          </a:p>
        </p:txBody>
      </p:sp>
      <p:sp>
        <p:nvSpPr>
          <p:cNvPr id="9" name="TextBox 8"/>
          <p:cNvSpPr txBox="1"/>
          <p:nvPr/>
        </p:nvSpPr>
        <p:spPr>
          <a:xfrm>
            <a:off x="685800" y="472744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Which customer segments have more than 80 customers?</a:t>
            </a:r>
          </a:p>
        </p:txBody>
      </p:sp>
      <p:sp>
        <p:nvSpPr>
          <p:cNvPr id="10" name="TextBox 9"/>
          <p:cNvSpPr txBox="1"/>
          <p:nvPr/>
        </p:nvSpPr>
        <p:spPr>
          <a:xfrm>
            <a:off x="6278727" y="388620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Total revenue, before any filtering.</a:t>
            </a:r>
          </a:p>
        </p:txBody>
      </p:sp>
      <p:sp>
        <p:nvSpPr>
          <p:cNvPr id="11" name="TextBox 10"/>
          <p:cNvSpPr txBox="1"/>
          <p:nvPr/>
        </p:nvSpPr>
        <p:spPr>
          <a:xfrm>
            <a:off x="6278727" y="430682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Revenue on delivered orders only.</a:t>
            </a:r>
          </a:p>
        </p:txBody>
      </p:sp>
      <p:sp>
        <p:nvSpPr>
          <p:cNvPr id="12" name="TextBox 11"/>
          <p:cNvSpPr txBox="1"/>
          <p:nvPr/>
        </p:nvSpPr>
        <p:spPr>
          <a:xfrm>
            <a:off x="6278727" y="472744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How many orders have no customer, and what are they worth?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Write a SELECT with a filter, a sort and a limit, and say what each part did to the number of rows.</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Count rows, and explain why two different counts of the same table can both be right.</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Recognise a NULL and handle it without getting a silently empty answer.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Five more questions on the sheet. Then: name one table at work you would like to query, and write down what its columns probably are.</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Check the row count after every clause</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It is the cheapest habit in this course and it catches most wrong answers before they leave your screen. A number that moved when you did not expect it to is telling you something you need to know.</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session: your pivot table, written 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