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Tonight is session 11 of twelve.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are what tonight is marked against, in the sense that the lab checks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region with the most returns and the region with the highest return rate are different regions. Only one of them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count divided by the population it came from. What you need whenever the groups you are comparing are different sizes, which is nearly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unit for the DIFFERENCE between two percentages. Going from 2% to 3% is one percentage point and also a fifty per cent increase, and both statements are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pattern that repeats on the calendar. It is not growth and it is not a trend, and confusing either with it produces a confident wrong headline every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Comparing a period against the same period a year earlier. It is the simplest honest way to see through seasonality.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counts and rates from the course data. Report the counts and somebody is sent to Eastern, which simply has the most orders. The rate points at Western.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monthly revenue with a three-month rolling average. The December peaks are the calendar, not growth, and the rolling average is what lets you see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each: supported, unsupported, or unanswerable from this data. Attach a number to every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a count where the audience will read a rate, and calling a seasonal peak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your sheet are five statements about this business. Decide which are supported, which are unsupported and which are unanswerable, and attach a number to every verdict. Unanswerable is a real answer and one of them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a percentage quoted at work and decide whether it should have been a percentage point, a rate, or a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are honest and they answer different questions. Almost every misleading comparison in business reporting is a count presented where the reader will hear a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2219724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SESSION 11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Comparing groups, and reading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033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93" b="0" i="0">
                <a:solidFill>
                  <a:srgbClr val="A8BCCE"/>
                </a:solidFill>
                <a:latin typeface="Calibri"/>
              </a:rPr>
              <a:t>The region with the most returns and the region with the highest return rate are different regions. Only one of them is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WEEK 4  ·  STATISTICS  ·  3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Data Analysis with Python, SQL and Power BI  ·  roadmap.sh: Rates and proportions; time series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THE FIFTEEN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Where tonight sits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  · 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From a spreadsheet to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9403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5707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2  · 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5707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Why data lives in several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9311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3  · 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311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Asking a database for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611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2915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4  · 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2915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Counting and grouping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5  · 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Joining tables, carefully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9403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5707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6  · 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707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Your first program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9311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7  · 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Reading a file, and looking at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611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2915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8  ·  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2915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Cleaning, and writing down what you did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9  · 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Grouping and joining in pandas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59403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5707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10  ·  STATISTICS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5707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Describing one column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FFFFFF"/>
                </a:solidFill>
                <a:latin typeface="Calibri"/>
              </a:rPr>
              <a:t>11  ·  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1" i="0">
                <a:solidFill>
                  <a:srgbClr val="FFFFFF"/>
                </a:solidFill>
                <a:latin typeface="Calibri"/>
              </a:rPr>
              <a:t>Comparing groups, and reading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611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2915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12  · 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2915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Charts that answer the question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13  ·  INVESTIGATION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A whole investigation, end to 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59403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5707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14  ·  POWER 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5707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Getting data in, and modelling 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007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9311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15  ·  POWER BI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9311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Measures, a dashboard, and presenting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The words for 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1095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911095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WHAT IT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911095"/>
            <a:ext cx="32305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IN A SPREADSHEET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2240279"/>
            <a:ext cx="11039551" cy="55192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76856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276856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 count divided by the population it came from. What you need whenever the groups are different sizes.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276856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5353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Proportion and percentage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865353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 part of a whole. A percentage is a proportion times a hundred.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65353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3194973"/>
            <a:ext cx="11039551" cy="55192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31549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Percentage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231549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The unit for the DIFFERENCE between two percentages. From 2% to 3% is one percentage point and a 50% increase, and both are true.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31549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20046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Time series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820046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Values recorded in time order.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820046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4149666"/>
            <a:ext cx="11039551" cy="32961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86242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186242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The direction over the long run, once the wobble is taken 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186242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52437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Seasonality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552437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 pattern that repeats on the calendar. December here is not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552437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" y="4882057"/>
            <a:ext cx="11039551" cy="55192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18633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Moving average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918633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The average of the last few periods, used to see the trend through the noise.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918633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07130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Year on 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507130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Comparing a period against the same period a year earlier, which is the honest way to see through seasonality.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507130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WHAT YOU WILL BE ABLE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3144"/>
                </a:solidFill>
                <a:latin typeface="Calibri"/>
              </a:rPr>
              <a:t>By the end of tonight you can…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5681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Choose between a count and a rate, and say which question each answers.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77977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Use percentages and percentage points correctly.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60273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56616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Separate a trend from a seasonal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4476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1">
                <a:solidFill>
                  <a:srgbClr val="6B7A8A"/>
                </a:solidFill>
                <a:latin typeface="Calibri"/>
              </a:rPr>
              <a:t>Session 11 of 15  ·  Statistics  ·  Comparing groups, and reading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QUESTION TONIGHT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2009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0" i="1">
                <a:solidFill>
                  <a:srgbClr val="FFFFFF"/>
                </a:solidFill>
                <a:latin typeface="Cambria"/>
              </a:rPr>
              <a:t>Which region has our worst returns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92040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23" b="0" i="0">
                <a:solidFill>
                  <a:srgbClr val="B8C9D8"/>
                </a:solidFill>
                <a:latin typeface="Calibri"/>
              </a:rPr>
              <a:t>The region with the most returns and the region with the highest return rate are different regions. Only one of them is the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BLOCK ONE · 50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Counts, rates, and the difference that changes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Counts against rates, on the returns data where the two disagree: one region has the most returns and another has the highest rate, and they call for different actions. Then percentages, and percentage points, which get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A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A count divided by the population it came from. What you need whenever the groups you are comparing are different sizes, which is nearly always.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Eastern has the most returns, 130. Western has the highest RATE, 2.70% against 2.26% in Eastern. Two regions, two different conversations.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0739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72451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A count is COUNTIF. A rate is COUNTIF divided by COUNT, and the division is the part people skip.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Percentage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The unit for the DIFFERENCE between two percentages. Going from 2% to 3% is one percentage point and also a fifty per cent increase, and both statements are true.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Return rates here run from 2.26% to 2.70%. That is a gap of about half a percentage point, and about a fifth in relative terms. Say which one you mean.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Seasonality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A pattern that repeats on the calendar. It is not growth and it is not a trend, and confusing either with it produces a confident wrong headline every January.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December 2025 was 2.3 times February 2024. December is also the biggest month in BOTH years, which is what tells you it is the calendar rather than the business.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Year on year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Comparing a period against the same period a year earlier. It is the simplest honest way to see through seasonality.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December against December removes the December effect. December against November does not, and will tell you the business is booming every single year.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LOOK AT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The most returns and the highest return rate are different regions</a:t>
            </a:r>
          </a:p>
        </p:txBody>
      </p:sp>
      <p:pic>
        <p:nvPicPr>
          <p:cNvPr id="4" name="Picture 3" descr="fig_rate_v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341" y="2395728"/>
            <a:ext cx="6519011" cy="32251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767227"/>
            <a:ext cx="10820095" cy="706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Real counts and rates from the course data. Report the counts and somebody is sent to Eastern, which simply has the most orders. The rate points at Western.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Counts and rates, side by 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3475451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3182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# how many returns per region? A count.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counts = (lines.groupby("region")["returned"]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          .sum().sort_values(ascending=False))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# what SHARE of each region's lines came back? A rate.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totals = lines.groupby("region")["returned"].size()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rates  = (counts / totals).sort_values(ascending=False)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print(counts)      # Eastern leads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print(rates)       # Western leads</a:t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064"/>
              </a:lnSpc>
              <a:spcAft>
                <a:spcPts val="0"/>
              </a:spcAft>
            </a:pPr>
            <a:r>
              <a:rPr sz="1518" b="0" i="0">
                <a:solidFill>
                  <a:srgbClr val="D8E3EC"/>
                </a:solidFill>
                <a:latin typeface="Courier New"/>
              </a:rPr>
              <a:t># both are correct. They answer different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06003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615147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Compute the rate as counts / counts.sum() by mistake and every region's number changes, because you have divided by the total RETURNS rather than by each region's own lines. The result still adds to 100% and is still wrong.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4903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31" b="0" i="0">
                <a:solidFill>
                  <a:srgbClr val="E4572E"/>
                </a:solidFill>
                <a:latin typeface="Calibri"/>
              </a:rPr>
              <a:t>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21" b="0" i="0">
                <a:solidFill>
                  <a:srgbClr val="8EA4B8"/>
                </a:solidFill>
                <a:latin typeface="Calibri"/>
              </a:rPr>
              <a:t>Stretch, and talk to someone you have not worked with. Be back on time: the longest working block of the session is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BLOCK TWO ·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Growth, or just December?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Time. Resample to a month, then a moving average, then the question that matters: is this growth or is it the calendar? December against February in both years, and year on year as the test. Same data, two arithmetics, 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Percentages against percentage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2700284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2407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best  = rates.min()      # 2.26%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worst = rates.max()      # 2.70%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print((worst - best) * 100)        # percentage POINTS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print((worst / best - 1) * 100)    # per cent, relative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# the same gap, two units, two very different-sounding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# sentences. Both true. Say which one you mean.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30836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839980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Write the relative figure into a report as "returns are up X per cent" without saying what the base was, and somebody will read it as X percentage points. That is how a half-point gap becomes a crisis in a summary.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Trend, or the calendar?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3293059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300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m = (delivered.set_index("order_date")["revenue"]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     .resample("ME").sum())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m.plot()                       # the raw monthly series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m.rolling(3).mean().plot()     # the trend, noise removed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# December 2025 is 2.3x February 2024.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# Growth, or December?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m.groupby(m.index.month).mean()    # answer: it is December</a:t>
            </a:r>
          </a:p>
          <a:p>
            <a:pPr algn="l">
              <a:lnSpc>
                <a:spcPts val="2333"/>
              </a:lnSpc>
              <a:spcAft>
                <a:spcPts val="0"/>
              </a:spcAft>
            </a:pPr>
            <a:r>
              <a:rPr sz="1716" b="0" i="0">
                <a:solidFill>
                  <a:srgbClr val="D8E3EC"/>
                </a:solidFill>
                <a:latin typeface="Courier New"/>
              </a:rPr>
              <a:t>m.pct_change(12)                   # year on year, honestly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423611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432755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Quote month-on-month growth into January and you will report a collapse every year. Quote year-on-year and December stops being news. Both are correct arithmetic and they produce opposite headlines from identical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LOOK AT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December is the biggest month in both years</a:t>
            </a:r>
          </a:p>
        </p:txBody>
      </p:sp>
      <p:pic>
        <p:nvPicPr>
          <p:cNvPr id="4" name="Picture 3" descr="fig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554" y="1911095"/>
            <a:ext cx="7498586" cy="3709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767227"/>
            <a:ext cx="10820095" cy="706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Real monthly revenue with a three-month rolling average. The December peaks are the calendar, not growth, and the rolling average is what lets you see the difference.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Five statements, five verdicts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1095"/>
            <a:ext cx="10820095" cy="410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334657"/>
                </a:solidFill>
                <a:latin typeface="Calibri"/>
              </a:rPr>
              <a:t>For each: supported, unsupported, or unanswerable from this data. Attach a number to every verdict.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6585"/>
            <a:ext cx="10820095" cy="65525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2431449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422305"/>
            <a:ext cx="9814255" cy="56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86" b="0" i="0">
                <a:solidFill>
                  <a:srgbClr val="1C3144"/>
                </a:solidFill>
                <a:latin typeface="Calibri"/>
              </a:rPr>
              <a:t>"A typical order is worth about UGX 1,793,149." UNSUPPORTED. That is the mean of a distribution skewed 4.8x. The median, UGX 374,760, is the honest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86706"/>
            <a:ext cx="10820095" cy="65525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" y="3141570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3132426"/>
            <a:ext cx="9814255" cy="56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86" b="0" i="0">
                <a:solidFill>
                  <a:srgbClr val="1C3144"/>
                </a:solidFill>
                <a:latin typeface="Calibri"/>
              </a:rPr>
              <a:t>"Eastern has our worst returns problem." UNSUPPORTED as stated. It has the most returns and the LOWEST rate, 2.26%. Western has the highest rate at 2.70%.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6827"/>
            <a:ext cx="10820095" cy="65525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5256" y="3851691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842547"/>
            <a:ext cx="9814255" cy="56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86" b="0" i="0">
                <a:solidFill>
                  <a:srgbClr val="1C3144"/>
                </a:solidFill>
                <a:latin typeface="Calibri"/>
              </a:rPr>
              <a:t>"Revenue is growing: December was 2.3x February." UNSUPPORTED. December is the biggest month in both years, so that is the calendar. Year on year is the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06948"/>
            <a:ext cx="10820095" cy="65525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" y="4561812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4552668"/>
            <a:ext cx="9814255" cy="56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86" b="0" i="0">
                <a:solidFill>
                  <a:srgbClr val="1C3144"/>
                </a:solidFill>
                <a:latin typeface="Calibri"/>
              </a:rPr>
              <a:t>"The largest order, UGX 46,552,400, must be an error." UNANSWERABLE here. Nothing in the data distinguishes a real bulk order from a typo. You go and ask.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217068"/>
            <a:ext cx="10820095" cy="4023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" y="5271932"/>
            <a:ext cx="310896" cy="310896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5262788"/>
            <a:ext cx="9814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86" b="0" i="0">
                <a:solidFill>
                  <a:srgbClr val="1C3144"/>
                </a:solidFill>
                <a:latin typeface="Calibri"/>
              </a:rPr>
              <a:t>"Half our orders are under UGX 374,760." SUPPORTED, and true by definition: that is what a median 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29132"/>
            <a:ext cx="10820095" cy="992912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866292"/>
            <a:ext cx="10234879" cy="718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021" b="1" i="0">
                <a:solidFill>
                  <a:srgbClr val="FFFFFF"/>
                </a:solidFill>
                <a:latin typeface="Calibri"/>
              </a:rPr>
              <a:t>Three of the five were unsupported for the same reason: a statistic that does not fit the shape of the thing it describes.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MISTAKE THIS SESSION PREVENTS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1100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2795" b="1" i="0">
                <a:solidFill>
                  <a:srgbClr val="FFFFFF"/>
                </a:solidFill>
                <a:latin typeface="Calibri"/>
              </a:rPr>
              <a:t>Reporting a count where the audience will read a rate, and calling a seasonal peak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92011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0" i="0">
                <a:solidFill>
                  <a:srgbClr val="B8C9D8"/>
                </a:solidFill>
                <a:latin typeface="Calibri"/>
              </a:rPr>
              <a:t>It is in tonight's lab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Session 11 of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Can you answer these?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47672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1911095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When would you report a count rather than a rate?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86313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449737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Returns went from 2% to 3%. Is that one per cent or fifty?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024955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88379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One check that tells you whether December is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0819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0" i="1">
                <a:solidFill>
                  <a:srgbClr val="6B7A8A"/>
                </a:solidFill>
                <a:latin typeface="Calibri"/>
              </a:rPr>
              <a:t>Answers are on the next slide — try first, then look.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How did you do?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47672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1911095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When a count beats a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2203703"/>
            <a:ext cx="10253167" cy="1166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When the work is proportional to the count: staffing a returns desk, printing labels, answering calls. Eastern needs the people even though Western has the problem. Report both and say which question each answers.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442861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406285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2% to 3%: one or fifty?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698893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Both. One percentage POINT, and fifty per cent in relative terms. Neither is wrong and the unit has to be stated, because the two sound completely different to a reader.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592054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4555478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One check for growth against seasonality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4848086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Compare the same month a year apart. If December beats February in both years by a similar factor, it is the calendar rather than the business.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LAB · 50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Five statements, five verdicts, with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11095"/>
            <a:ext cx="10820095" cy="124358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12264"/>
            <a:ext cx="10234879" cy="8778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23" b="0" i="0">
                <a:solidFill>
                  <a:srgbClr val="1C3144"/>
                </a:solidFill>
                <a:latin typeface="Calibri"/>
              </a:rPr>
              <a:t>On your sheet are five statements about this business. Decide which are supported, which are unsupported and which are unanswerable, and attach a number to every verdict. Unanswerable is a real answer and one of them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65575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21" b="1" i="0">
                <a:solidFill>
                  <a:srgbClr val="E4572E"/>
                </a:solidFill>
                <a:latin typeface="Calibri"/>
              </a:rPr>
              <a:t>Work these questions in order: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For each: supported, unsupported, or unanswerable?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06824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Which statistic would you have to compute to decide?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27448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Compute it. Write the number beside your verdict.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886200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For the unanswerable one: what would you have to go and ask?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306824"/>
            <a:ext cx="52271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→  Then one of your own: a statement about your own work data that you now suspect is unsupported.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TONIGHT IN THREE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What you can do now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65960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11095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Choose between a count and a rate, and say which question each answers.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68025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13161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Use percentages and percentage points correctly.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70091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15227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Separate a trend from a seasonal pattern.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HOMEWORK · 45 TO 60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Before the next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11095"/>
            <a:ext cx="10820095" cy="1237967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30552"/>
            <a:ext cx="10234879" cy="835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Find a percentage quoted at work and decide whether it should have been a percentage point, a rate, or a 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23383"/>
            <a:ext cx="4826861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WHY IT IS ALWAYS OPTIONAL ON YOUR OWN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90311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923" b="0" i="0">
                <a:solidFill>
                  <a:srgbClr val="334657"/>
                </a:solidFill>
                <a:latin typeface="Calibri"/>
              </a:rPr>
              <a:t>Homework on a dataset you already care about gets done. Homework on a teaching dataset competes with your job and loses. Either version counts, and the one on your own data is worth more to you.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ONE THING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Rates for how bad, counts for how much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3484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Both are honest and they answer different questions. Almost every misleading comparison in business reporting is a count presented where the reader will hear a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Next session: charts. Starting from what an axis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