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0006.xml" ContentType="application/vnd.openxmlformats-officedocument.presentationml.notesSlide+xml"/>
  <Override PartName="/ppt/notesSlides/notesSlide1001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006.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6.xml" /></ns0:Relationships>
</file>

<file path=ppt/notesSlides/_rels/notesSlide10013.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13.xml" /></ns0: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Why data lives in several tables</a:t>
            </a:r>
          </a:p>
          <a:p>
            <a:r>
              <a:t/>
            </a:r>
          </a:p>
          <a:p>
            <a:r>
              <a:t>LECTURER CUE</a:t>
            </a:r>
          </a:p>
          <a:p>
            <a:r>
              <a:t>Start on time.</a:t>
            </a:r>
          </a:p>
          <a:p>
            <a:r>
              <a:t/>
            </a:r>
          </a:p>
          <a:p>
            <a:r>
              <a:t>NEXT</a:t>
            </a:r>
          </a:p>
          <a:p>
            <a:r>
              <a:t>Where tonight sits.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Where tonight sits</a:t>
            </a:r>
          </a:p>
          <a:p>
            <a:r>
              <a:t/>
            </a:r>
          </a:p>
          <a:p>
            <a:r>
              <a:t>CONNECT</a:t>
            </a:r>
          </a:p>
          <a:p>
            <a:r>
              <a:t>Build on the preceding slide: Why data lives in several tables.</a:t>
            </a:r>
          </a:p>
          <a:p>
            <a:r>
              <a:t/>
            </a:r>
          </a:p>
          <a:p>
            <a:r>
              <a:t>LECTURER CUE</a:t>
            </a:r>
          </a:p>
          <a:p>
            <a:r>
              <a:t>Tonight is session 2 of fifteen.</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The words for tonight.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words for tonight</a:t>
            </a:r>
          </a:p>
          <a:p>
            <a:r>
              <a:t/>
            </a:r>
          </a:p>
          <a:p>
            <a:r>
              <a:t>CONNECT</a:t>
            </a:r>
          </a:p>
          <a:p>
            <a:r>
              <a:t>Build on the preceding slide: Where tonight sits.</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By the end of tonight you can….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By the end of tonight you can…</a:t>
            </a:r>
          </a:p>
          <a:p>
            <a:r>
              <a:t/>
            </a:r>
          </a:p>
          <a:p>
            <a:r>
              <a:t>CONNECT</a:t>
            </a:r>
          </a:p>
          <a:p>
            <a:r>
              <a:t>Build on the preceding slide: The words for tonight.</a:t>
            </a:r>
          </a:p>
          <a:p>
            <a:r>
              <a:t/>
            </a:r>
          </a:p>
          <a:p>
            <a:r>
              <a:t>LECTURER CUE</a:t>
            </a:r>
          </a:p>
          <a:p>
            <a:r>
              <a:t>These three are what tonight is marked against, in the sense that the lab checks them.</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Why is this data in six tables.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Why is this data in six tables</a:t>
            </a:r>
          </a:p>
          <a:p>
            <a:r>
              <a:t/>
            </a:r>
          </a:p>
          <a:p>
            <a:r>
              <a:t>CONNECT</a:t>
            </a:r>
          </a:p>
          <a:p>
            <a:r>
              <a:t>Build on the preceding slide: By the end of tonight you can….</a:t>
            </a:r>
          </a:p>
          <a:p>
            <a:r>
              <a:t/>
            </a:r>
          </a:p>
          <a:p>
            <a:r>
              <a:t>LECTURER CUE</a:t>
            </a:r>
          </a:p>
          <a:p>
            <a:r>
              <a:t>Because one big sheet stores the same fact many times, and every copy is a chance to be wrong.</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Why not one big sheet.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goes wrong with one big sheet</a:t>
            </a:r>
          </a:p>
          <a:p>
            <a:r>
              <a:t/>
            </a:r>
          </a:p>
          <a:p>
            <a:r>
              <a:t>CONNECT</a:t>
            </a:r>
          </a:p>
          <a:p>
            <a:r>
              <a:t>Build on the preceding slide: Why not one big sheet.</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Primary key.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Primary key</a:t>
            </a:r>
          </a:p>
          <a:p>
            <a:r>
              <a:t/>
            </a:r>
          </a:p>
          <a:p>
            <a:r>
              <a:t>CONNECT</a:t>
            </a:r>
          </a:p>
          <a:p>
            <a:r>
              <a:t>Build on the preceding slide: What goes wrong with one big sheet.</a:t>
            </a:r>
          </a:p>
          <a:p>
            <a:r>
              <a:t/>
            </a:r>
          </a:p>
          <a:p>
            <a:r>
              <a:t>LECTURER CUE</a:t>
            </a:r>
          </a:p>
          <a:p>
            <a:r>
              <a:t>A column whose value is never repeated, so it identifies exactly one row. Every proper table has one.</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Foreign key.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Foreign key</a:t>
            </a:r>
          </a:p>
          <a:p>
            <a:r>
              <a:t/>
            </a:r>
          </a:p>
          <a:p>
            <a:r>
              <a:t>CONNECT</a:t>
            </a:r>
          </a:p>
          <a:p>
            <a:r>
              <a:t>Build on the preceding slide: Primary key.</a:t>
            </a:r>
          </a:p>
          <a:p>
            <a:r>
              <a:t/>
            </a:r>
          </a:p>
          <a:p>
            <a:r>
              <a:t>LECTURER CUE</a:t>
            </a:r>
          </a:p>
          <a:p>
            <a:r>
              <a:t>A column that holds another table's primary key. It is what connects the two tables.</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One-to-many.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One-to-many</a:t>
            </a:r>
          </a:p>
          <a:p>
            <a:r>
              <a:t/>
            </a:r>
          </a:p>
          <a:p>
            <a:r>
              <a:t>CONNECT</a:t>
            </a:r>
          </a:p>
          <a:p>
            <a:r>
              <a:t>Build on the preceding slide: Foreign key.</a:t>
            </a:r>
          </a:p>
          <a:p>
            <a:r>
              <a:t/>
            </a:r>
          </a:p>
          <a:p>
            <a:r>
              <a:t>LECTURER CUE</a:t>
            </a:r>
          </a:p>
          <a:p>
            <a:r>
              <a:t>One row on one side matches several rows on the other. It is the commonest relationship in business data and the reason totals go wrong.</a:t>
            </a:r>
          </a:p>
          <a:p>
            <a:r>
              <a:t/>
            </a:r>
          </a:p>
          <a:p>
            <a:r>
              <a:t>NEXT</a:t>
            </a:r>
          </a:p>
          <a:p>
            <a:r>
              <a:t>The same business, two different grains.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same business, two different grains</a:t>
            </a:r>
          </a:p>
          <a:p>
            <a:r>
              <a:t/>
            </a:r>
          </a:p>
          <a:p>
            <a:r>
              <a:t>CONNECT</a:t>
            </a:r>
          </a:p>
          <a:p>
            <a:r>
              <a:t>Build on the preceding slide: One-to-many.</a:t>
            </a:r>
          </a:p>
          <a:p>
            <a:r>
              <a:t/>
            </a:r>
          </a:p>
          <a:p>
            <a:r>
              <a:t>LECTURER CUE</a:t>
            </a:r>
          </a:p>
          <a:p>
            <a:r>
              <a:t>Left: one row is one order. Right: one row is one order line, so an order appears more than once. Both are real rows from the course data. The caption is the number to remember.</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Break.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Break</a:t>
            </a:r>
          </a:p>
          <a:p>
            <a:r>
              <a:t/>
            </a:r>
          </a:p>
          <a:p>
            <a:r>
              <a:t>CONNECT</a:t>
            </a:r>
          </a:p>
          <a:p>
            <a:r>
              <a:t>Build on the preceding slide: The same business, two different grains.</a:t>
            </a:r>
          </a:p>
          <a:p>
            <a:r>
              <a:t/>
            </a:r>
          </a:p>
          <a:p>
            <a:r>
              <a:t>LECTURER CUE</a:t>
            </a:r>
          </a:p>
          <a:p>
            <a:r>
              <a:t>Ten minutes.</a:t>
            </a:r>
          </a:p>
          <a:p>
            <a:r>
              <a:t/>
            </a:r>
          </a:p>
          <a:p>
            <a:r>
              <a:t>NEXT</a:t>
            </a:r>
          </a:p>
          <a:p>
            <a:r>
              <a:t>Grain, keys, and what a join does.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a join does, and what an INNER JOIN quietly throws away</a:t>
            </a:r>
          </a:p>
          <a:p>
            <a:r>
              <a:t/>
            </a:r>
          </a:p>
          <a:p>
            <a:r>
              <a:t>CONNECT</a:t>
            </a:r>
          </a:p>
          <a:p>
            <a:r>
              <a:t>Build on the preceding slide: Grain, keys, and what a join does.</a:t>
            </a:r>
          </a:p>
          <a:p>
            <a:r>
              <a:t/>
            </a:r>
          </a:p>
          <a:p>
            <a:r>
              <a:t>LECTURER CUE</a:t>
            </a:r>
          </a:p>
          <a:p>
            <a:r>
              <a:t>Real counts from the course data. The INNER JOIN loses the 172 walk-in orders because they have no customer to match, and nothing in the output says so.</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The six tables, and how they connect.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six tables, and how they connect</a:t>
            </a:r>
          </a:p>
          <a:p>
            <a:r>
              <a:t/>
            </a:r>
          </a:p>
          <a:p>
            <a:r>
              <a:t>CONNECT</a:t>
            </a:r>
          </a:p>
          <a:p>
            <a:r>
              <a:t>Build on the preceding slide: What a join does, and what an INNER JOIN quietly throws away.</a:t>
            </a:r>
          </a:p>
          <a:p>
            <a:r>
              <a:t/>
            </a:r>
          </a:p>
          <a:p>
            <a:r>
              <a:t>LECTURER CUE</a:t>
            </a:r>
          </a:p>
          <a:p>
            <a:r>
              <a:t>You will build exactly this in Power BI in session 14. Tonight you only need to see that the arrows all point the same way: many orders to one customer.</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Tonight's lab has no SQL in it.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Tonight's lab has no SQL in it</a:t>
            </a:r>
          </a:p>
          <a:p>
            <a:r>
              <a:t/>
            </a:r>
          </a:p>
          <a:p>
            <a:r>
              <a:t>CONNECT</a:t>
            </a:r>
          </a:p>
          <a:p>
            <a:r>
              <a:t>Build on the preceding slide: The six tables, and how they connect.</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Assuming one row means what you assume it means. Every wrong total later in this course comes from a grain nobody said out loud..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Assuming one row means what you assume it means. Every wrong total later in this course comes from a grain nobody said out loud.</a:t>
            </a:r>
          </a:p>
          <a:p>
            <a:r>
              <a:t/>
            </a:r>
          </a:p>
          <a:p>
            <a:r>
              <a:t>CONNECT</a:t>
            </a:r>
          </a:p>
          <a:p>
            <a:r>
              <a:t>Build on the preceding slide: Tonight's lab has no SQL in it.</a:t>
            </a:r>
          </a:p>
          <a:p>
            <a:r>
              <a:t/>
            </a:r>
          </a:p>
          <a:p>
            <a:r>
              <a:t>LECTURER CUE</a:t>
            </a:r>
          </a:p>
          <a:p>
            <a:r>
              <a:t>Assuming one row means what you assume it means. Every wrong total later in this course comes from a grain nobody said out loud.</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Can you answer these?.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Can you answer these?</a:t>
            </a:r>
          </a:p>
          <a:p>
            <a:r>
              <a:t/>
            </a:r>
          </a:p>
          <a:p>
            <a:r>
              <a:t>CONNECT</a:t>
            </a:r>
          </a:p>
          <a:p>
            <a:r>
              <a:t>Build on the preceding slide: Assuming one row means what you assume it means. Every wrong total later in this course comes from a grain nobody said out loud..</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DISCUSSION KEY FOR THIS SLIDE</a:t>
            </a:r>
          </a:p>
          <a:p>
            <a:r>
              <a:t>ANSWERS</a:t>
            </a:r>
          </a:p>
          <a:p>
            <a:r>
              <a:t>How did you do?</a:t>
            </a:r>
          </a:p>
          <a:p>
            <a:r>
              <a:t>A</a:t>
            </a:r>
          </a:p>
          <a:p>
            <a:r>
              <a:t>One edit or many</a:t>
            </a:r>
          </a:p>
          <a:p>
            <a:r>
              <a:t>One edit in the customers table. In a flat sheet, one edit per order that customer ever placed, and the ones you miss stay wrong and keep being summed.</a:t>
            </a:r>
          </a:p>
          <a:p>
            <a:r>
              <a:t>B</a:t>
            </a:r>
          </a:p>
          <a:p>
            <a:r>
              <a:t>Empty customer_id on 172 orders</a:t>
            </a:r>
          </a:p>
          <a:p>
            <a:r>
              <a:t>No. It is walk-in trade: a real order with real revenue and no customer recorded. It becomes an error only if somebody joins to customers without noticing, which silently removes UGX 390,632,335 from the answer.</a:t>
            </a:r>
          </a:p>
          <a:p>
            <a:r>
              <a:t>C</a:t>
            </a:r>
          </a:p>
          <a:p>
            <a:r>
              <a:t>Row count after joining orders to lines</a:t>
            </a:r>
          </a:p>
          <a:p>
            <a:r>
              <a:t>More. It is one-to-many, so each order appears once per line: 6,000 becomes 20,234. That is correct, and summing an order-level figure on that result is not.</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Can you answer these?.</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Map the six tables by clicking.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Map the six tables by clicking</a:t>
            </a:r>
          </a:p>
          <a:p>
            <a:r>
              <a:t/>
            </a:r>
          </a:p>
          <a:p>
            <a:r>
              <a:t>CONNECT</a:t>
            </a:r>
          </a:p>
          <a:p>
            <a:r>
              <a:t>Build on the preceding slide: How did you do?.</a:t>
            </a:r>
          </a:p>
          <a:p>
            <a:r>
              <a:t/>
            </a:r>
          </a:p>
          <a:p>
            <a:r>
              <a:t>LECTURER CUE</a:t>
            </a:r>
          </a:p>
          <a:p>
            <a:r>
              <a:t>No SQL tonight. In DB Browser's Browse Data tab, work through all six tables and fill in the sheet: grain, primary key, foreign keys. Then draw the six boxes and the arrows between them on paper. Drawing it by hand is what makes it stick.</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What you can do now.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you can do now</a:t>
            </a:r>
          </a:p>
          <a:p>
            <a:r>
              <a:t/>
            </a:r>
          </a:p>
          <a:p>
            <a:r>
              <a:t>CONNECT</a:t>
            </a:r>
          </a:p>
          <a:p>
            <a:r>
              <a:t>Build on the preceding slide: Map the six tables by clicking.</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Before the next session.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Before the next session</a:t>
            </a:r>
          </a:p>
          <a:p>
            <a:r>
              <a:t/>
            </a:r>
          </a:p>
          <a:p>
            <a:r>
              <a:t>CONNECT</a:t>
            </a:r>
          </a:p>
          <a:p>
            <a:r>
              <a:t>Build on the preceding slide: What you can do now.</a:t>
            </a:r>
          </a:p>
          <a:p>
            <a:r>
              <a:t/>
            </a:r>
          </a:p>
          <a:p>
            <a:r>
              <a:t>LECTURER CUE</a:t>
            </a:r>
          </a:p>
          <a:p>
            <a:r>
              <a:t>Take one report you receive at work and work out how many tables it was probably built from. Name them and the key each would join on. You will be right more often than you expect.</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Say the grain out loud, every time.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Say the grain out loud, every time</a:t>
            </a:r>
          </a:p>
          <a:p>
            <a:r>
              <a:t/>
            </a:r>
          </a:p>
          <a:p>
            <a:r>
              <a:t>CONNECT</a:t>
            </a:r>
          </a:p>
          <a:p>
            <a:r>
              <a:t>Build on the preceding slide: Before the next session.</a:t>
            </a:r>
          </a:p>
          <a:p>
            <a:r>
              <a:t/>
            </a:r>
          </a:p>
          <a:p>
            <a:r>
              <a:t>LECTURER CUE</a:t>
            </a:r>
          </a:p>
          <a:p>
            <a:r>
              <a:t>Nearly every wrong total in the rest of this course comes from a grain nobody stated. Two sessions with no code buys you that habit, and it is the cheapest thing you will learn here.</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p:txBody>
      </p:sp>
      <p:sp>
        <p:nvSpPr>
          <p:cNvPr id="4" name="Slide Number Placeholder 3"/>
          <p:cNvSpPr>
            <a:spLocks noGrp="1"/>
          </p:cNvSpPr>
          <p:nvPr>
            <p:ph type="sldNum" idx="5" sz="quarter"/>
          </p:nvPr>
        </p:nvSpPr>
        <p:spPr/>
      </p:sp>
    </p:spTree>
  </p:cSld>
  <p:clrMapOvr>
    <a:masterClrMapping/>
  </p:clrMapOvr>
</p:notes>
</file>

<file path=ppt/notesSlides/notesSlide1000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Why not one big sheet</a:t>
            </a:r>
          </a:p>
          <a:p>
            <a:r>
              <a:t/>
            </a:r>
          </a:p>
          <a:p>
            <a:r>
              <a:t>CONNECT</a:t>
            </a:r>
          </a:p>
          <a:p>
            <a:r>
              <a:t>Build on the preceding slide: Why is this data in six tables.</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What goes wrong with one big sheet.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0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Grain, keys, and what a join does</a:t>
            </a:r>
          </a:p>
          <a:p>
            <a:r>
              <a:t/>
            </a:r>
          </a:p>
          <a:p>
            <a:r>
              <a:t>CONNECT</a:t>
            </a:r>
          </a:p>
          <a:p>
            <a:r>
              <a:t>Build on the preceding slide: Break.</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What a join does, and what an INNER JOIN quietly throws away.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06.xml" /></ns0: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13.xml" /></ns0: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2103851"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SESSION 2 OF 15</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Why data lives in several tables</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Because one big sheet stores the same fact many times, and every copy is a chance to be wrong.</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FOUNDATIONS  ·  3 HOURS</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Data Analysis with Python, SQL and Power BI  ·  roadmap.sh: Data modelling basics; relational thinking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FIFTEEN SESSIONS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tonight sits</a:t>
            </a:r>
          </a:p>
        </p:txBody>
      </p:sp>
      <p:sp>
        <p:nvSpPr>
          <p:cNvPr id="4" name="Rounded Rectangle 3"/>
          <p:cNvSpPr/>
          <p:nvPr/>
        </p:nvSpPr>
        <p:spPr>
          <a:xfrm>
            <a:off x="685800"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2104"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  ·  FOUNDATIONS</a:t>
            </a:r>
          </a:p>
        </p:txBody>
      </p:sp>
      <p:sp>
        <p:nvSpPr>
          <p:cNvPr id="6" name="TextBox 5"/>
          <p:cNvSpPr txBox="1"/>
          <p:nvPr/>
        </p:nvSpPr>
        <p:spPr>
          <a:xfrm>
            <a:off x="832104"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From a spreadsheet to data</a:t>
            </a:r>
          </a:p>
        </p:txBody>
      </p:sp>
      <p:sp>
        <p:nvSpPr>
          <p:cNvPr id="7" name="Rounded Rectangle 6"/>
          <p:cNvSpPr/>
          <p:nvPr/>
        </p:nvSpPr>
        <p:spPr>
          <a:xfrm>
            <a:off x="3459403" y="1947672"/>
            <a:ext cx="2499283" cy="1060704"/>
          </a:xfrm>
          <a:prstGeom prst="roundRect">
            <a:avLst>
              <a:gd name="adj" fmla="val 6000"/>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5707" y="2020824"/>
            <a:ext cx="2206675" cy="256032"/>
          </a:xfrm>
          <a:prstGeom prst="rect">
            <a:avLst/>
          </a:prstGeom>
          <a:noFill/>
        </p:spPr>
        <p:txBody>
          <a:bodyPr wrap="square" lIns="0" rIns="0" tIns="0" bIns="0" anchor="t">
            <a:spAutoFit/>
          </a:bodyPr>
          <a:lstStyle/>
          <a:p>
            <a:pPr algn="l">
              <a:spcAft>
                <a:spcPts val="600"/>
              </a:spcAft>
            </a:pPr>
            <a:r>
              <a:rPr sz="1254" b="1" i="0">
                <a:solidFill>
                  <a:srgbClr val="FFFFFF"/>
                </a:solidFill>
                <a:latin typeface="Calibri"/>
              </a:rPr>
              <a:t>2  ·  FOUNDATIONS</a:t>
            </a:r>
          </a:p>
        </p:txBody>
      </p:sp>
      <p:sp>
        <p:nvSpPr>
          <p:cNvPr id="9" name="TextBox 8"/>
          <p:cNvSpPr txBox="1"/>
          <p:nvPr/>
        </p:nvSpPr>
        <p:spPr>
          <a:xfrm>
            <a:off x="3605707" y="2295144"/>
            <a:ext cx="2206675" cy="640080"/>
          </a:xfrm>
          <a:prstGeom prst="rect">
            <a:avLst/>
          </a:prstGeom>
          <a:noFill/>
        </p:spPr>
        <p:txBody>
          <a:bodyPr wrap="square" lIns="0" rIns="0" tIns="0" bIns="0" anchor="t">
            <a:spAutoFit/>
          </a:bodyPr>
          <a:lstStyle/>
          <a:p>
            <a:pPr algn="l">
              <a:lnSpc>
                <a:spcPct val="112000"/>
              </a:lnSpc>
              <a:spcAft>
                <a:spcPts val="600"/>
              </a:spcAft>
            </a:pPr>
            <a:r>
              <a:rPr sz="1452" b="1" i="0">
                <a:solidFill>
                  <a:srgbClr val="FFFFFF"/>
                </a:solidFill>
                <a:latin typeface="Calibri"/>
              </a:rPr>
              <a:t>Why data lives in several tables</a:t>
            </a:r>
          </a:p>
        </p:txBody>
      </p:sp>
      <p:sp>
        <p:nvSpPr>
          <p:cNvPr id="10" name="Rounded Rectangle 9"/>
          <p:cNvSpPr/>
          <p:nvPr/>
        </p:nvSpPr>
        <p:spPr>
          <a:xfrm>
            <a:off x="6233007"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9311"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3  ·  SQL</a:t>
            </a:r>
          </a:p>
        </p:txBody>
      </p:sp>
      <p:sp>
        <p:nvSpPr>
          <p:cNvPr id="12" name="TextBox 11"/>
          <p:cNvSpPr txBox="1"/>
          <p:nvPr/>
        </p:nvSpPr>
        <p:spPr>
          <a:xfrm>
            <a:off x="6379311"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Asking a database for rows</a:t>
            </a:r>
          </a:p>
        </p:txBody>
      </p:sp>
      <p:sp>
        <p:nvSpPr>
          <p:cNvPr id="13" name="Rounded Rectangle 12"/>
          <p:cNvSpPr/>
          <p:nvPr/>
        </p:nvSpPr>
        <p:spPr>
          <a:xfrm>
            <a:off x="9006611"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4  ·  SQL</a:t>
            </a:r>
          </a:p>
        </p:txBody>
      </p:sp>
      <p:sp>
        <p:nvSpPr>
          <p:cNvPr id="15" name="TextBox 14"/>
          <p:cNvSpPr txBox="1"/>
          <p:nvPr/>
        </p:nvSpPr>
        <p:spPr>
          <a:xfrm>
            <a:off x="9152915"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Counting and grouping</a:t>
            </a:r>
          </a:p>
        </p:txBody>
      </p:sp>
      <p:sp>
        <p:nvSpPr>
          <p:cNvPr id="16" name="Rounded Rectangle 15"/>
          <p:cNvSpPr/>
          <p:nvPr/>
        </p:nvSpPr>
        <p:spPr>
          <a:xfrm>
            <a:off x="685800"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5  ·  SQL</a:t>
            </a:r>
          </a:p>
        </p:txBody>
      </p:sp>
      <p:sp>
        <p:nvSpPr>
          <p:cNvPr id="18" name="TextBox 17"/>
          <p:cNvSpPr txBox="1"/>
          <p:nvPr/>
        </p:nvSpPr>
        <p:spPr>
          <a:xfrm>
            <a:off x="832104"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Joining tables, carefully</a:t>
            </a:r>
          </a:p>
        </p:txBody>
      </p:sp>
      <p:sp>
        <p:nvSpPr>
          <p:cNvPr id="19" name="Rounded Rectangle 18"/>
          <p:cNvSpPr/>
          <p:nvPr/>
        </p:nvSpPr>
        <p:spPr>
          <a:xfrm>
            <a:off x="3459403"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5707"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6  ·  PYTHON</a:t>
            </a:r>
          </a:p>
        </p:txBody>
      </p:sp>
      <p:sp>
        <p:nvSpPr>
          <p:cNvPr id="21" name="TextBox 20"/>
          <p:cNvSpPr txBox="1"/>
          <p:nvPr/>
        </p:nvSpPr>
        <p:spPr>
          <a:xfrm>
            <a:off x="3605707"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Your first program</a:t>
            </a:r>
          </a:p>
        </p:txBody>
      </p:sp>
      <p:sp>
        <p:nvSpPr>
          <p:cNvPr id="22" name="Rounded Rectangle 21"/>
          <p:cNvSpPr/>
          <p:nvPr/>
        </p:nvSpPr>
        <p:spPr>
          <a:xfrm>
            <a:off x="6233007"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9311"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7  ·  PYTHON</a:t>
            </a:r>
          </a:p>
        </p:txBody>
      </p:sp>
      <p:sp>
        <p:nvSpPr>
          <p:cNvPr id="24" name="TextBox 23"/>
          <p:cNvSpPr txBox="1"/>
          <p:nvPr/>
        </p:nvSpPr>
        <p:spPr>
          <a:xfrm>
            <a:off x="6379311"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Reading a file, and looking at it</a:t>
            </a:r>
          </a:p>
        </p:txBody>
      </p:sp>
      <p:sp>
        <p:nvSpPr>
          <p:cNvPr id="25" name="Rounded Rectangle 24"/>
          <p:cNvSpPr/>
          <p:nvPr/>
        </p:nvSpPr>
        <p:spPr>
          <a:xfrm>
            <a:off x="9006611"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52915"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8  ·  PYTHON</a:t>
            </a:r>
          </a:p>
        </p:txBody>
      </p:sp>
      <p:sp>
        <p:nvSpPr>
          <p:cNvPr id="27" name="TextBox 26"/>
          <p:cNvSpPr txBox="1"/>
          <p:nvPr/>
        </p:nvSpPr>
        <p:spPr>
          <a:xfrm>
            <a:off x="9152915"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Cleaning, and writing down what you did</a:t>
            </a:r>
          </a:p>
        </p:txBody>
      </p:sp>
      <p:sp>
        <p:nvSpPr>
          <p:cNvPr id="28" name="Rounded Rectangle 27"/>
          <p:cNvSpPr/>
          <p:nvPr/>
        </p:nvSpPr>
        <p:spPr>
          <a:xfrm>
            <a:off x="685800"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4"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9  ·  PYTHON</a:t>
            </a:r>
          </a:p>
        </p:txBody>
      </p:sp>
      <p:sp>
        <p:nvSpPr>
          <p:cNvPr id="30" name="TextBox 29"/>
          <p:cNvSpPr txBox="1"/>
          <p:nvPr/>
        </p:nvSpPr>
        <p:spPr>
          <a:xfrm>
            <a:off x="832104"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Grouping and joining in pandas</a:t>
            </a:r>
          </a:p>
        </p:txBody>
      </p:sp>
      <p:sp>
        <p:nvSpPr>
          <p:cNvPr id="31" name="Rounded Rectangle 30"/>
          <p:cNvSpPr/>
          <p:nvPr/>
        </p:nvSpPr>
        <p:spPr>
          <a:xfrm>
            <a:off x="3459403"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05707"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10  ·  STATISTICS</a:t>
            </a:r>
          </a:p>
        </p:txBody>
      </p:sp>
      <p:sp>
        <p:nvSpPr>
          <p:cNvPr id="33" name="TextBox 32"/>
          <p:cNvSpPr txBox="1"/>
          <p:nvPr/>
        </p:nvSpPr>
        <p:spPr>
          <a:xfrm>
            <a:off x="3605707"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Describing one column</a:t>
            </a:r>
          </a:p>
        </p:txBody>
      </p:sp>
      <p:sp>
        <p:nvSpPr>
          <p:cNvPr id="34" name="Rounded Rectangle 33"/>
          <p:cNvSpPr/>
          <p:nvPr/>
        </p:nvSpPr>
        <p:spPr>
          <a:xfrm>
            <a:off x="6233007"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9311"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11  ·  STATISTICS</a:t>
            </a:r>
          </a:p>
        </p:txBody>
      </p:sp>
      <p:sp>
        <p:nvSpPr>
          <p:cNvPr id="36" name="TextBox 35"/>
          <p:cNvSpPr txBox="1"/>
          <p:nvPr/>
        </p:nvSpPr>
        <p:spPr>
          <a:xfrm>
            <a:off x="6379311"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Comparing groups, and reading time</a:t>
            </a:r>
          </a:p>
        </p:txBody>
      </p:sp>
      <p:sp>
        <p:nvSpPr>
          <p:cNvPr id="37" name="Rounded Rectangle 36"/>
          <p:cNvSpPr/>
          <p:nvPr/>
        </p:nvSpPr>
        <p:spPr>
          <a:xfrm>
            <a:off x="9006611"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52915"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12  ·  CHARTS</a:t>
            </a:r>
          </a:p>
        </p:txBody>
      </p:sp>
      <p:sp>
        <p:nvSpPr>
          <p:cNvPr id="39" name="TextBox 38"/>
          <p:cNvSpPr txBox="1"/>
          <p:nvPr/>
        </p:nvSpPr>
        <p:spPr>
          <a:xfrm>
            <a:off x="9152915"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Charts that answer the question</a:t>
            </a:r>
          </a:p>
        </p:txBody>
      </p:sp>
      <p:sp>
        <p:nvSpPr>
          <p:cNvPr id="40" name="Rounded Rectangle 39"/>
          <p:cNvSpPr/>
          <p:nvPr/>
        </p:nvSpPr>
        <p:spPr>
          <a:xfrm>
            <a:off x="685800"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13  ·  INVESTIGATION</a:t>
            </a:r>
          </a:p>
        </p:txBody>
      </p:sp>
      <p:sp>
        <p:nvSpPr>
          <p:cNvPr id="42" name="TextBox 41"/>
          <p:cNvSpPr txBox="1"/>
          <p:nvPr/>
        </p:nvSpPr>
        <p:spPr>
          <a:xfrm>
            <a:off x="832104"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 whole investigation, end to end</a:t>
            </a:r>
          </a:p>
        </p:txBody>
      </p:sp>
      <p:sp>
        <p:nvSpPr>
          <p:cNvPr id="43" name="Rounded Rectangle 42"/>
          <p:cNvSpPr/>
          <p:nvPr/>
        </p:nvSpPr>
        <p:spPr>
          <a:xfrm>
            <a:off x="3459403"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05707"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14  ·  POWER BI</a:t>
            </a:r>
          </a:p>
        </p:txBody>
      </p:sp>
      <p:sp>
        <p:nvSpPr>
          <p:cNvPr id="45" name="TextBox 44"/>
          <p:cNvSpPr txBox="1"/>
          <p:nvPr/>
        </p:nvSpPr>
        <p:spPr>
          <a:xfrm>
            <a:off x="3605707"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Getting data in, and modelling it</a:t>
            </a:r>
          </a:p>
        </p:txBody>
      </p:sp>
      <p:sp>
        <p:nvSpPr>
          <p:cNvPr id="46" name="Rounded Rectangle 45"/>
          <p:cNvSpPr/>
          <p:nvPr/>
        </p:nvSpPr>
        <p:spPr>
          <a:xfrm>
            <a:off x="6233007"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79311"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15  ·  POWER BI</a:t>
            </a:r>
          </a:p>
        </p:txBody>
      </p:sp>
      <p:sp>
        <p:nvSpPr>
          <p:cNvPr id="48" name="TextBox 47"/>
          <p:cNvSpPr txBox="1"/>
          <p:nvPr/>
        </p:nvSpPr>
        <p:spPr>
          <a:xfrm>
            <a:off x="6379311"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Measures, a dashboard, and presenting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BEFORE WE START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for tonight</a:t>
            </a:r>
          </a:p>
        </p:txBody>
      </p:sp>
      <p:sp>
        <p:nvSpPr>
          <p:cNvPr id="4" name="TextBox 3"/>
          <p:cNvSpPr txBox="1"/>
          <p:nvPr/>
        </p:nvSpPr>
        <p:spPr>
          <a:xfrm>
            <a:off x="685800" y="1911095"/>
            <a:ext cx="224028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TERM</a:t>
            </a:r>
          </a:p>
        </p:txBody>
      </p:sp>
      <p:sp>
        <p:nvSpPr>
          <p:cNvPr id="5" name="TextBox 4"/>
          <p:cNvSpPr txBox="1"/>
          <p:nvPr/>
        </p:nvSpPr>
        <p:spPr>
          <a:xfrm>
            <a:off x="3154680" y="1911095"/>
            <a:ext cx="489204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WHAT IT MEANS</a:t>
            </a:r>
          </a:p>
        </p:txBody>
      </p:sp>
      <p:sp>
        <p:nvSpPr>
          <p:cNvPr id="6" name="TextBox 5"/>
          <p:cNvSpPr txBox="1"/>
          <p:nvPr/>
        </p:nvSpPr>
        <p:spPr>
          <a:xfrm>
            <a:off x="8275320" y="1911095"/>
            <a:ext cx="3230575"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IN A SPREADSHEET</a:t>
            </a:r>
          </a:p>
        </p:txBody>
      </p:sp>
      <p:sp>
        <p:nvSpPr>
          <p:cNvPr id="7" name="Rectangle 6"/>
          <p:cNvSpPr/>
          <p:nvPr/>
        </p:nvSpPr>
        <p:spPr>
          <a:xfrm>
            <a:off x="576072" y="2240279"/>
            <a:ext cx="11039551" cy="60039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276856"/>
            <a:ext cx="2240280" cy="554672"/>
          </a:xfrm>
          <a:prstGeom prst="rect">
            <a:avLst/>
          </a:prstGeom>
          <a:noFill/>
        </p:spPr>
        <p:txBody>
          <a:bodyPr wrap="square" lIns="0" rIns="0" tIns="0" bIns="0" anchor="t">
            <a:spAutoFit/>
          </a:bodyPr>
          <a:lstStyle/>
          <a:p>
            <a:pPr algn="l">
              <a:lnSpc>
                <a:spcPct val="114000"/>
              </a:lnSpc>
              <a:spcAft>
                <a:spcPts val="600"/>
              </a:spcAft>
            </a:pPr>
            <a:r>
              <a:rPr sz="1452" b="1" i="0">
                <a:solidFill>
                  <a:srgbClr val="1C3144"/>
                </a:solidFill>
                <a:latin typeface="Calibri"/>
              </a:rPr>
              <a:t>Primary key</a:t>
            </a:r>
          </a:p>
        </p:txBody>
      </p:sp>
      <p:sp>
        <p:nvSpPr>
          <p:cNvPr id="9" name="TextBox 8"/>
          <p:cNvSpPr txBox="1"/>
          <p:nvPr/>
        </p:nvSpPr>
        <p:spPr>
          <a:xfrm>
            <a:off x="3154680" y="2276856"/>
            <a:ext cx="4892040" cy="554672"/>
          </a:xfrm>
          <a:prstGeom prst="rect">
            <a:avLst/>
          </a:prstGeom>
          <a:noFill/>
        </p:spPr>
        <p:txBody>
          <a:bodyPr wrap="square" lIns="0" rIns="0" tIns="0" bIns="0" anchor="t">
            <a:spAutoFit/>
          </a:bodyPr>
          <a:lstStyle/>
          <a:p>
            <a:pPr algn="l">
              <a:lnSpc>
                <a:spcPct val="116000"/>
              </a:lnSpc>
              <a:spcAft>
                <a:spcPts val="600"/>
              </a:spcAft>
            </a:pPr>
            <a:r>
              <a:rPr sz="1386" b="0" i="0">
                <a:solidFill>
                  <a:srgbClr val="334657"/>
                </a:solidFill>
                <a:latin typeface="Calibri"/>
              </a:rPr>
              <a:t>A column whose value is never repeated, so it identifies one row exactly.</a:t>
            </a:r>
          </a:p>
        </p:txBody>
      </p:sp>
      <p:sp>
        <p:nvSpPr>
          <p:cNvPr id="10" name="TextBox 9"/>
          <p:cNvSpPr txBox="1"/>
          <p:nvPr/>
        </p:nvSpPr>
        <p:spPr>
          <a:xfrm>
            <a:off x="8275320" y="2276856"/>
            <a:ext cx="3230575" cy="554672"/>
          </a:xfrm>
          <a:prstGeom prst="rect">
            <a:avLst/>
          </a:prstGeom>
          <a:noFill/>
        </p:spPr>
        <p:txBody>
          <a:bodyPr wrap="square" lIns="0" rIns="0" tIns="0" bIns="0" anchor="t">
            <a:spAutoFit/>
          </a:bodyPr>
          <a:lstStyle/>
          <a:p>
            <a:pPr algn="l">
              <a:lnSpc>
                <a:spcPct val="116000"/>
              </a:lnSpc>
              <a:spcAft>
                <a:spcPts val="600"/>
              </a:spcAft>
            </a:pPr>
            <a:r>
              <a:rPr sz="1386" b="0" i="0">
                <a:solidFill>
                  <a:srgbClr val="2E7D6F"/>
                </a:solidFill>
                <a:latin typeface="Calibri"/>
              </a:rPr>
              <a:t>The column you would VLOOKUP on</a:t>
            </a:r>
          </a:p>
        </p:txBody>
      </p:sp>
      <p:sp>
        <p:nvSpPr>
          <p:cNvPr id="11" name="TextBox 10"/>
          <p:cNvSpPr txBox="1"/>
          <p:nvPr/>
        </p:nvSpPr>
        <p:spPr>
          <a:xfrm>
            <a:off x="685800" y="2913824"/>
            <a:ext cx="2240280" cy="554672"/>
          </a:xfrm>
          <a:prstGeom prst="rect">
            <a:avLst/>
          </a:prstGeom>
          <a:noFill/>
        </p:spPr>
        <p:txBody>
          <a:bodyPr wrap="square" lIns="0" rIns="0" tIns="0" bIns="0" anchor="t">
            <a:spAutoFit/>
          </a:bodyPr>
          <a:lstStyle/>
          <a:p>
            <a:pPr algn="l">
              <a:lnSpc>
                <a:spcPct val="114000"/>
              </a:lnSpc>
              <a:spcAft>
                <a:spcPts val="600"/>
              </a:spcAft>
            </a:pPr>
            <a:r>
              <a:rPr sz="1452" b="1" i="0">
                <a:solidFill>
                  <a:srgbClr val="1C3144"/>
                </a:solidFill>
                <a:latin typeface="Calibri"/>
              </a:rPr>
              <a:t>Foreign key</a:t>
            </a:r>
          </a:p>
        </p:txBody>
      </p:sp>
      <p:sp>
        <p:nvSpPr>
          <p:cNvPr id="12" name="TextBox 11"/>
          <p:cNvSpPr txBox="1"/>
          <p:nvPr/>
        </p:nvSpPr>
        <p:spPr>
          <a:xfrm>
            <a:off x="3154680" y="2913824"/>
            <a:ext cx="4892040" cy="554672"/>
          </a:xfrm>
          <a:prstGeom prst="rect">
            <a:avLst/>
          </a:prstGeom>
          <a:noFill/>
        </p:spPr>
        <p:txBody>
          <a:bodyPr wrap="square" lIns="0" rIns="0" tIns="0" bIns="0" anchor="t">
            <a:spAutoFit/>
          </a:bodyPr>
          <a:lstStyle/>
          <a:p>
            <a:pPr algn="l">
              <a:lnSpc>
                <a:spcPct val="116000"/>
              </a:lnSpc>
              <a:spcAft>
                <a:spcPts val="600"/>
              </a:spcAft>
            </a:pPr>
            <a:r>
              <a:rPr sz="1386" b="0" i="0">
                <a:solidFill>
                  <a:srgbClr val="334657"/>
                </a:solidFill>
                <a:latin typeface="Calibri"/>
              </a:rPr>
              <a:t>A column that holds another table's primary key, which is what links the two.</a:t>
            </a:r>
          </a:p>
        </p:txBody>
      </p:sp>
      <p:sp>
        <p:nvSpPr>
          <p:cNvPr id="13" name="TextBox 12"/>
          <p:cNvSpPr txBox="1"/>
          <p:nvPr/>
        </p:nvSpPr>
        <p:spPr>
          <a:xfrm>
            <a:off x="8275320" y="2913824"/>
            <a:ext cx="3230575" cy="554672"/>
          </a:xfrm>
          <a:prstGeom prst="rect">
            <a:avLst/>
          </a:prstGeom>
          <a:noFill/>
        </p:spPr>
        <p:txBody>
          <a:bodyPr wrap="square" lIns="0" rIns="0" tIns="0" bIns="0" anchor="t">
            <a:spAutoFit/>
          </a:bodyPr>
          <a:lstStyle/>
          <a:p>
            <a:pPr algn="l">
              <a:lnSpc>
                <a:spcPct val="116000"/>
              </a:lnSpc>
              <a:spcAft>
                <a:spcPts val="600"/>
              </a:spcAft>
            </a:pPr>
            <a:r>
              <a:rPr sz="1386" b="0" i="0">
                <a:solidFill>
                  <a:srgbClr val="2E7D6F"/>
                </a:solidFill>
                <a:latin typeface="Calibri"/>
              </a:rPr>
              <a:t>The lookup value you type into VLOOKUP</a:t>
            </a:r>
          </a:p>
        </p:txBody>
      </p:sp>
      <p:sp>
        <p:nvSpPr>
          <p:cNvPr id="14" name="Rectangle 13"/>
          <p:cNvSpPr/>
          <p:nvPr/>
        </p:nvSpPr>
        <p:spPr>
          <a:xfrm>
            <a:off x="576072" y="3514217"/>
            <a:ext cx="11039551" cy="60039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550793"/>
            <a:ext cx="2240280" cy="554672"/>
          </a:xfrm>
          <a:prstGeom prst="rect">
            <a:avLst/>
          </a:prstGeom>
          <a:noFill/>
        </p:spPr>
        <p:txBody>
          <a:bodyPr wrap="square" lIns="0" rIns="0" tIns="0" bIns="0" anchor="t">
            <a:spAutoFit/>
          </a:bodyPr>
          <a:lstStyle/>
          <a:p>
            <a:pPr algn="l">
              <a:lnSpc>
                <a:spcPct val="114000"/>
              </a:lnSpc>
              <a:spcAft>
                <a:spcPts val="600"/>
              </a:spcAft>
            </a:pPr>
            <a:r>
              <a:rPr sz="1452" b="1" i="0">
                <a:solidFill>
                  <a:srgbClr val="1C3144"/>
                </a:solidFill>
                <a:latin typeface="Calibri"/>
              </a:rPr>
              <a:t>One-to-many</a:t>
            </a:r>
          </a:p>
        </p:txBody>
      </p:sp>
      <p:sp>
        <p:nvSpPr>
          <p:cNvPr id="16" name="TextBox 15"/>
          <p:cNvSpPr txBox="1"/>
          <p:nvPr/>
        </p:nvSpPr>
        <p:spPr>
          <a:xfrm>
            <a:off x="3154680" y="3550793"/>
            <a:ext cx="4892040" cy="554672"/>
          </a:xfrm>
          <a:prstGeom prst="rect">
            <a:avLst/>
          </a:prstGeom>
          <a:noFill/>
        </p:spPr>
        <p:txBody>
          <a:bodyPr wrap="square" lIns="0" rIns="0" tIns="0" bIns="0" anchor="t">
            <a:spAutoFit/>
          </a:bodyPr>
          <a:lstStyle/>
          <a:p>
            <a:pPr algn="l">
              <a:lnSpc>
                <a:spcPct val="116000"/>
              </a:lnSpc>
              <a:spcAft>
                <a:spcPts val="600"/>
              </a:spcAft>
            </a:pPr>
            <a:r>
              <a:rPr sz="1386" b="0" i="0">
                <a:solidFill>
                  <a:srgbClr val="334657"/>
                </a:solidFill>
                <a:latin typeface="Calibri"/>
              </a:rPr>
              <a:t>One row on one side matches several rows on the other. One order, several order lines.</a:t>
            </a:r>
          </a:p>
        </p:txBody>
      </p:sp>
      <p:sp>
        <p:nvSpPr>
          <p:cNvPr id="17" name="TextBox 16"/>
          <p:cNvSpPr txBox="1"/>
          <p:nvPr/>
        </p:nvSpPr>
        <p:spPr>
          <a:xfrm>
            <a:off x="8275320" y="3550793"/>
            <a:ext cx="3230575" cy="554672"/>
          </a:xfrm>
          <a:prstGeom prst="rect">
            <a:avLst/>
          </a:prstGeom>
          <a:noFill/>
        </p:spPr>
        <p:txBody>
          <a:bodyPr wrap="square" lIns="0" rIns="0" tIns="0" bIns="0" anchor="t">
            <a:spAutoFit/>
          </a:bodyPr>
          <a:lstStyle/>
          <a:p>
            <a:pPr algn="l">
              <a:lnSpc>
                <a:spcPct val="116000"/>
              </a:lnSpc>
              <a:spcAft>
                <a:spcPts val="600"/>
              </a:spcAft>
            </a:pPr>
            <a:r>
              <a:rPr sz="1386" b="0" i="1">
                <a:solidFill>
                  <a:srgbClr val="6B7A8A"/>
                </a:solidFill>
                <a:latin typeface="Calibri"/>
              </a:rPr>
              <a:t>no direct equivalent</a:t>
            </a:r>
          </a:p>
        </p:txBody>
      </p:sp>
      <p:sp>
        <p:nvSpPr>
          <p:cNvPr id="18" name="TextBox 17"/>
          <p:cNvSpPr txBox="1"/>
          <p:nvPr/>
        </p:nvSpPr>
        <p:spPr>
          <a:xfrm>
            <a:off x="685800" y="4187762"/>
            <a:ext cx="2240280" cy="554672"/>
          </a:xfrm>
          <a:prstGeom prst="rect">
            <a:avLst/>
          </a:prstGeom>
          <a:noFill/>
        </p:spPr>
        <p:txBody>
          <a:bodyPr wrap="square" lIns="0" rIns="0" tIns="0" bIns="0" anchor="t">
            <a:spAutoFit/>
          </a:bodyPr>
          <a:lstStyle/>
          <a:p>
            <a:pPr algn="l">
              <a:lnSpc>
                <a:spcPct val="114000"/>
              </a:lnSpc>
              <a:spcAft>
                <a:spcPts val="600"/>
              </a:spcAft>
            </a:pPr>
            <a:r>
              <a:rPr sz="1452" b="1" i="0">
                <a:solidFill>
                  <a:srgbClr val="1C3144"/>
                </a:solidFill>
                <a:latin typeface="Calibri"/>
              </a:rPr>
              <a:t>Join</a:t>
            </a:r>
          </a:p>
        </p:txBody>
      </p:sp>
      <p:sp>
        <p:nvSpPr>
          <p:cNvPr id="19" name="TextBox 18"/>
          <p:cNvSpPr txBox="1"/>
          <p:nvPr/>
        </p:nvSpPr>
        <p:spPr>
          <a:xfrm>
            <a:off x="3154680" y="4187762"/>
            <a:ext cx="4892040" cy="554672"/>
          </a:xfrm>
          <a:prstGeom prst="rect">
            <a:avLst/>
          </a:prstGeom>
          <a:noFill/>
        </p:spPr>
        <p:txBody>
          <a:bodyPr wrap="square" lIns="0" rIns="0" tIns="0" bIns="0" anchor="t">
            <a:spAutoFit/>
          </a:bodyPr>
          <a:lstStyle/>
          <a:p>
            <a:pPr algn="l">
              <a:lnSpc>
                <a:spcPct val="116000"/>
              </a:lnSpc>
              <a:spcAft>
                <a:spcPts val="600"/>
              </a:spcAft>
            </a:pPr>
            <a:r>
              <a:rPr sz="1386" b="0" i="0">
                <a:solidFill>
                  <a:srgbClr val="334657"/>
                </a:solidFill>
                <a:latin typeface="Calibri"/>
              </a:rPr>
              <a:t>Putting two tables side by side by matching a key, so you can use columns from both.</a:t>
            </a:r>
          </a:p>
        </p:txBody>
      </p:sp>
      <p:sp>
        <p:nvSpPr>
          <p:cNvPr id="20" name="TextBox 19"/>
          <p:cNvSpPr txBox="1"/>
          <p:nvPr/>
        </p:nvSpPr>
        <p:spPr>
          <a:xfrm>
            <a:off x="8275320" y="4187762"/>
            <a:ext cx="3230575" cy="554672"/>
          </a:xfrm>
          <a:prstGeom prst="rect">
            <a:avLst/>
          </a:prstGeom>
          <a:noFill/>
        </p:spPr>
        <p:txBody>
          <a:bodyPr wrap="square" lIns="0" rIns="0" tIns="0" bIns="0" anchor="t">
            <a:spAutoFit/>
          </a:bodyPr>
          <a:lstStyle/>
          <a:p>
            <a:pPr algn="l">
              <a:lnSpc>
                <a:spcPct val="116000"/>
              </a:lnSpc>
              <a:spcAft>
                <a:spcPts val="600"/>
              </a:spcAft>
            </a:pPr>
            <a:r>
              <a:rPr sz="1386" b="0" i="0">
                <a:solidFill>
                  <a:srgbClr val="2E7D6F"/>
                </a:solidFill>
                <a:latin typeface="Calibri"/>
              </a:rPr>
              <a:t>VLOOKUP, except it returns EVERY match rather than the first</a:t>
            </a:r>
          </a:p>
        </p:txBody>
      </p:sp>
      <p:sp>
        <p:nvSpPr>
          <p:cNvPr id="21" name="Rectangle 20"/>
          <p:cNvSpPr/>
          <p:nvPr/>
        </p:nvSpPr>
        <p:spPr>
          <a:xfrm>
            <a:off x="576072" y="4788155"/>
            <a:ext cx="11039551" cy="60039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824731"/>
            <a:ext cx="2240280" cy="554672"/>
          </a:xfrm>
          <a:prstGeom prst="rect">
            <a:avLst/>
          </a:prstGeom>
          <a:noFill/>
        </p:spPr>
        <p:txBody>
          <a:bodyPr wrap="square" lIns="0" rIns="0" tIns="0" bIns="0" anchor="t">
            <a:spAutoFit/>
          </a:bodyPr>
          <a:lstStyle/>
          <a:p>
            <a:pPr algn="l">
              <a:lnSpc>
                <a:spcPct val="114000"/>
              </a:lnSpc>
              <a:spcAft>
                <a:spcPts val="600"/>
              </a:spcAft>
            </a:pPr>
            <a:r>
              <a:rPr sz="1452" b="1" i="0">
                <a:solidFill>
                  <a:srgbClr val="1C3144"/>
                </a:solidFill>
                <a:latin typeface="Calibri"/>
              </a:rPr>
              <a:t>Database</a:t>
            </a:r>
          </a:p>
        </p:txBody>
      </p:sp>
      <p:sp>
        <p:nvSpPr>
          <p:cNvPr id="23" name="TextBox 22"/>
          <p:cNvSpPr txBox="1"/>
          <p:nvPr/>
        </p:nvSpPr>
        <p:spPr>
          <a:xfrm>
            <a:off x="3154680" y="4824731"/>
            <a:ext cx="4892040" cy="554672"/>
          </a:xfrm>
          <a:prstGeom prst="rect">
            <a:avLst/>
          </a:prstGeom>
          <a:noFill/>
        </p:spPr>
        <p:txBody>
          <a:bodyPr wrap="square" lIns="0" rIns="0" tIns="0" bIns="0" anchor="t">
            <a:spAutoFit/>
          </a:bodyPr>
          <a:lstStyle/>
          <a:p>
            <a:pPr algn="l">
              <a:lnSpc>
                <a:spcPct val="116000"/>
              </a:lnSpc>
              <a:spcAft>
                <a:spcPts val="600"/>
              </a:spcAft>
            </a:pPr>
            <a:r>
              <a:rPr sz="1386" b="0" i="0">
                <a:solidFill>
                  <a:srgbClr val="334657"/>
                </a:solidFill>
                <a:latin typeface="Calibri"/>
              </a:rPr>
              <a:t>Several related tables kept together, with the types and the keys enforced by the software.</a:t>
            </a:r>
          </a:p>
        </p:txBody>
      </p:sp>
      <p:sp>
        <p:nvSpPr>
          <p:cNvPr id="24" name="TextBox 23"/>
          <p:cNvSpPr txBox="1"/>
          <p:nvPr/>
        </p:nvSpPr>
        <p:spPr>
          <a:xfrm>
            <a:off x="8275320" y="4824731"/>
            <a:ext cx="3230575" cy="554672"/>
          </a:xfrm>
          <a:prstGeom prst="rect">
            <a:avLst/>
          </a:prstGeom>
          <a:noFill/>
        </p:spPr>
        <p:txBody>
          <a:bodyPr wrap="square" lIns="0" rIns="0" tIns="0" bIns="0" anchor="t">
            <a:spAutoFit/>
          </a:bodyPr>
          <a:lstStyle/>
          <a:p>
            <a:pPr algn="l">
              <a:lnSpc>
                <a:spcPct val="116000"/>
              </a:lnSpc>
              <a:spcAft>
                <a:spcPts val="600"/>
              </a:spcAft>
            </a:pPr>
            <a:r>
              <a:rPr sz="1386" b="0" i="0">
                <a:solidFill>
                  <a:srgbClr val="2E7D6F"/>
                </a:solidFill>
                <a:latin typeface="Calibri"/>
              </a:rPr>
              <a:t>A workbook where the rules are not optional</a:t>
            </a:r>
          </a:p>
        </p:txBody>
      </p:sp>
      <p:sp>
        <p:nvSpPr>
          <p:cNvPr id="25" name="TextBox 24"/>
          <p:cNvSpPr txBox="1"/>
          <p:nvPr/>
        </p:nvSpPr>
        <p:spPr>
          <a:xfrm>
            <a:off x="685800" y="5461700"/>
            <a:ext cx="2240280" cy="809149"/>
          </a:xfrm>
          <a:prstGeom prst="rect">
            <a:avLst/>
          </a:prstGeom>
          <a:noFill/>
        </p:spPr>
        <p:txBody>
          <a:bodyPr wrap="square" lIns="0" rIns="0" tIns="0" bIns="0" anchor="t">
            <a:spAutoFit/>
          </a:bodyPr>
          <a:lstStyle/>
          <a:p>
            <a:pPr algn="l">
              <a:lnSpc>
                <a:spcPct val="114000"/>
              </a:lnSpc>
              <a:spcAft>
                <a:spcPts val="600"/>
              </a:spcAft>
            </a:pPr>
            <a:r>
              <a:rPr sz="1452" b="1" i="0">
                <a:solidFill>
                  <a:srgbClr val="1C3144"/>
                </a:solidFill>
                <a:latin typeface="Calibri"/>
              </a:rPr>
              <a:t>Duplication</a:t>
            </a:r>
          </a:p>
        </p:txBody>
      </p:sp>
      <p:sp>
        <p:nvSpPr>
          <p:cNvPr id="26" name="TextBox 25"/>
          <p:cNvSpPr txBox="1"/>
          <p:nvPr/>
        </p:nvSpPr>
        <p:spPr>
          <a:xfrm>
            <a:off x="3154680" y="5461700"/>
            <a:ext cx="4892040" cy="809149"/>
          </a:xfrm>
          <a:prstGeom prst="rect">
            <a:avLst/>
          </a:prstGeom>
          <a:noFill/>
        </p:spPr>
        <p:txBody>
          <a:bodyPr wrap="square" lIns="0" rIns="0" tIns="0" bIns="0" anchor="t">
            <a:spAutoFit/>
          </a:bodyPr>
          <a:lstStyle/>
          <a:p>
            <a:pPr algn="l">
              <a:lnSpc>
                <a:spcPct val="116000"/>
              </a:lnSpc>
              <a:spcAft>
                <a:spcPts val="600"/>
              </a:spcAft>
            </a:pPr>
            <a:r>
              <a:rPr sz="1386" b="0" i="0">
                <a:solidFill>
                  <a:srgbClr val="334657"/>
                </a:solidFill>
                <a:latin typeface="Calibri"/>
              </a:rPr>
              <a:t>The same fact stored in more than one place. It is why one big sheet goes wrong: change a customer's region and you have to change it in every row.</a:t>
            </a:r>
          </a:p>
        </p:txBody>
      </p:sp>
      <p:sp>
        <p:nvSpPr>
          <p:cNvPr id="27" name="TextBox 26"/>
          <p:cNvSpPr txBox="1"/>
          <p:nvPr/>
        </p:nvSpPr>
        <p:spPr>
          <a:xfrm>
            <a:off x="8275320" y="5461700"/>
            <a:ext cx="3230575" cy="809149"/>
          </a:xfrm>
          <a:prstGeom prst="rect">
            <a:avLst/>
          </a:prstGeom>
          <a:noFill/>
        </p:spPr>
        <p:txBody>
          <a:bodyPr wrap="square" lIns="0" rIns="0" tIns="0" bIns="0" anchor="t">
            <a:spAutoFit/>
          </a:bodyPr>
          <a:lstStyle/>
          <a:p>
            <a:pPr algn="l">
              <a:lnSpc>
                <a:spcPct val="116000"/>
              </a:lnSpc>
              <a:spcAft>
                <a:spcPts val="600"/>
              </a:spcAft>
            </a:pPr>
            <a:r>
              <a:rPr sz="1386" b="0" i="1">
                <a:solidFill>
                  <a:srgbClr val="6B7A8A"/>
                </a:solidFill>
                <a:latin typeface="Calibri"/>
              </a:rPr>
              <a:t>no direct equivalent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YOU WILL BE ABLE TO DO</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libri"/>
              </a:rPr>
              <a:t>By the end of tonight you can…</a:t>
            </a:r>
          </a:p>
        </p:txBody>
      </p:sp>
      <p:sp>
        <p:nvSpPr>
          <p:cNvPr id="4" name="Oval 3"/>
          <p:cNvSpPr/>
          <p:nvPr/>
        </p:nvSpPr>
        <p:spPr>
          <a:xfrm>
            <a:off x="685800" y="195681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5" name="TextBox 4"/>
          <p:cNvSpPr txBox="1"/>
          <p:nvPr/>
        </p:nvSpPr>
        <p:spPr>
          <a:xfrm>
            <a:off x="1234440" y="192024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Explain why a business keeps orders and customers in separate tables instead of one big sheet.</a:t>
            </a:r>
          </a:p>
        </p:txBody>
      </p:sp>
      <p:sp>
        <p:nvSpPr>
          <p:cNvPr id="6" name="Oval 5"/>
          <p:cNvSpPr/>
          <p:nvPr/>
        </p:nvSpPr>
        <p:spPr>
          <a:xfrm>
            <a:off x="685800" y="277977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7" name="TextBox 6"/>
          <p:cNvSpPr txBox="1"/>
          <p:nvPr/>
        </p:nvSpPr>
        <p:spPr>
          <a:xfrm>
            <a:off x="1234440" y="2743200"/>
            <a:ext cx="10134295" cy="73532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Find the key that connects two tables, and predict what happens to the row count when they are joined.</a:t>
            </a:r>
          </a:p>
        </p:txBody>
      </p:sp>
      <p:sp>
        <p:nvSpPr>
          <p:cNvPr id="8" name="Oval 7"/>
          <p:cNvSpPr/>
          <p:nvPr/>
        </p:nvSpPr>
        <p:spPr>
          <a:xfrm>
            <a:off x="685800" y="3624827"/>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9" name="TextBox 8"/>
          <p:cNvSpPr txBox="1"/>
          <p:nvPr/>
        </p:nvSpPr>
        <p:spPr>
          <a:xfrm>
            <a:off x="1234440" y="3588251"/>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Say what one row means in each of the six course tables.</a:t>
            </a:r>
          </a:p>
        </p:txBody>
      </p:sp>
      <p:sp>
        <p:nvSpPr>
          <p:cNvPr id="10" name="TextBox 9"/>
          <p:cNvSpPr txBox="1"/>
          <p:nvPr/>
        </p:nvSpPr>
        <p:spPr>
          <a:xfrm>
            <a:off x="685800" y="6144768"/>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Session 2 of 15  ·  Foundations  ·  Why data lives in several tables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TONIGHT ANSWERS</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Why is this data in six tables</a:t>
            </a:r>
          </a:p>
          <a:p>
            <a:pPr algn="l">
              <a:lnSpc>
                <a:spcPct val="115000"/>
              </a:lnSpc>
              <a:spcAft>
                <a:spcPts val="600"/>
              </a:spcAft>
            </a:pPr>
            <a:r>
              <a:rPr sz="3400" b="0" i="1">
                <a:solidFill>
                  <a:srgbClr val="FFFFFF"/>
                </a:solidFill>
                <a:latin typeface="Cambria"/>
              </a:rPr>
              <a:t>instead of one big sheet?</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Because one big sheet stores the same fact many times, and every copy is a chance to be wrong.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ONE · 50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Why not one big sheet</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Why not one big sheet.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PROBLEM</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goes wrong with one big sheet</a:t>
            </a:r>
          </a:p>
        </p:txBody>
      </p:sp>
      <p:sp>
        <p:nvSpPr>
          <p:cNvPr id="4" name="Rounded Rectangle 3"/>
          <p:cNvSpPr/>
          <p:nvPr/>
        </p:nvSpPr>
        <p:spPr>
          <a:xfrm>
            <a:off x="685800" y="1911095"/>
            <a:ext cx="10820095" cy="85390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41832" y="2146022"/>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6" name="TextBox 5"/>
          <p:cNvSpPr txBox="1"/>
          <p:nvPr/>
        </p:nvSpPr>
        <p:spPr>
          <a:xfrm>
            <a:off x="1554480" y="2029967"/>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The same fact, stored many times</a:t>
            </a:r>
          </a:p>
        </p:txBody>
      </p:sp>
      <p:sp>
        <p:nvSpPr>
          <p:cNvPr id="7" name="TextBox 6"/>
          <p:cNvSpPr txBox="1"/>
          <p:nvPr/>
        </p:nvSpPr>
        <p:spPr>
          <a:xfrm>
            <a:off x="1554480" y="2295144"/>
            <a:ext cx="9631375" cy="37841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A customer's region appears on every one of their orders. One customer, dozens of copies of one fact.</a:t>
            </a:r>
          </a:p>
        </p:txBody>
      </p:sp>
      <p:sp>
        <p:nvSpPr>
          <p:cNvPr id="8" name="Rounded Rectangle 7"/>
          <p:cNvSpPr/>
          <p:nvPr/>
        </p:nvSpPr>
        <p:spPr>
          <a:xfrm>
            <a:off x="685800" y="2819860"/>
            <a:ext cx="10820095" cy="112049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3188083"/>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10" name="TextBox 9"/>
          <p:cNvSpPr txBox="1"/>
          <p:nvPr/>
        </p:nvSpPr>
        <p:spPr>
          <a:xfrm>
            <a:off x="1554480" y="2938732"/>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Every copy is a chance to disagree</a:t>
            </a:r>
          </a:p>
        </p:txBody>
      </p:sp>
      <p:sp>
        <p:nvSpPr>
          <p:cNvPr id="11" name="TextBox 10"/>
          <p:cNvSpPr txBox="1"/>
          <p:nvPr/>
        </p:nvSpPr>
        <p:spPr>
          <a:xfrm>
            <a:off x="1554480" y="3203908"/>
            <a:ext cx="9631375" cy="645006"/>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The customer moves region. Now you edit dozens of rows, and the ones you miss are still there, still wrong, still being summed.</a:t>
            </a:r>
          </a:p>
        </p:txBody>
      </p:sp>
      <p:sp>
        <p:nvSpPr>
          <p:cNvPr id="12" name="Rounded Rectangle 11"/>
          <p:cNvSpPr/>
          <p:nvPr/>
        </p:nvSpPr>
        <p:spPr>
          <a:xfrm>
            <a:off x="685800" y="3995218"/>
            <a:ext cx="10820095" cy="112049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41832" y="4363442"/>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14" name="TextBox 13"/>
          <p:cNvSpPr txBox="1"/>
          <p:nvPr/>
        </p:nvSpPr>
        <p:spPr>
          <a:xfrm>
            <a:off x="1554480" y="4114090"/>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You cannot record something that has not happened</a:t>
            </a:r>
          </a:p>
        </p:txBody>
      </p:sp>
      <p:sp>
        <p:nvSpPr>
          <p:cNvPr id="15" name="TextBox 14"/>
          <p:cNvSpPr txBox="1"/>
          <p:nvPr/>
        </p:nvSpPr>
        <p:spPr>
          <a:xfrm>
            <a:off x="1554480" y="4379266"/>
            <a:ext cx="9631375" cy="645006"/>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A customer who has not ordered this year has no row at all, so they are invisible to every total. The thing you most want to know is the thing the sheet cannot hold.</a:t>
            </a:r>
          </a:p>
        </p:txBody>
      </p:sp>
      <p:sp>
        <p:nvSpPr>
          <p:cNvPr id="16" name="Rounded Rectangle 15"/>
          <p:cNvSpPr/>
          <p:nvPr/>
        </p:nvSpPr>
        <p:spPr>
          <a:xfrm>
            <a:off x="685800" y="5170577"/>
            <a:ext cx="10820095" cy="112049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1832" y="5538800"/>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4</a:t>
            </a:r>
          </a:p>
        </p:txBody>
      </p:sp>
      <p:sp>
        <p:nvSpPr>
          <p:cNvPr id="18" name="TextBox 17"/>
          <p:cNvSpPr txBox="1"/>
          <p:nvPr/>
        </p:nvSpPr>
        <p:spPr>
          <a:xfrm>
            <a:off x="1554480" y="5289449"/>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Six tables fix all three</a:t>
            </a:r>
          </a:p>
        </p:txBody>
      </p:sp>
      <p:sp>
        <p:nvSpPr>
          <p:cNvPr id="19" name="TextBox 18"/>
          <p:cNvSpPr txBox="1"/>
          <p:nvPr/>
        </p:nvSpPr>
        <p:spPr>
          <a:xfrm>
            <a:off x="1554480" y="5554625"/>
            <a:ext cx="9631375" cy="645006"/>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Each fact is stored once, in the table it belongs to. A region change is one edit. A customer with no orders still exists.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Primary key</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column whose value is never repeated, so it identifies exactly one row. Every proper table has one.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customer_id in the customers table. There is one row for customer 1007 and there will never be another.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row number. A row number changes when you sort. A primary key belongs to the thing itself and never moves.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Foreign key</a:t>
            </a:r>
          </a:p>
        </p:txBody>
      </p:sp>
      <p:sp>
        <p:nvSpPr>
          <p:cNvPr id="4" name="Rounded Rectangle 3"/>
          <p:cNvSpPr/>
          <p:nvPr/>
        </p:nvSpPr>
        <p:spPr>
          <a:xfrm>
            <a:off x="685800" y="1854203"/>
            <a:ext cx="10820095" cy="799119"/>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451647"/>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column that holds another table's primary key. It is what connects the two tables.</a:t>
            </a:r>
          </a:p>
        </p:txBody>
      </p:sp>
      <p:sp>
        <p:nvSpPr>
          <p:cNvPr id="6" name="Rounded Rectangle 5"/>
          <p:cNvSpPr/>
          <p:nvPr/>
        </p:nvSpPr>
        <p:spPr>
          <a:xfrm>
            <a:off x="685800" y="2927642"/>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2909354"/>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orders.customer_id holds a value from customers.customer_id. That one column is the whole connection, and 172 orders leave it empty because walk-in trade has no customer.</a:t>
            </a:r>
          </a:p>
        </p:txBody>
      </p:sp>
      <p:sp>
        <p:nvSpPr>
          <p:cNvPr id="8" name="Rounded Rectangle 7"/>
          <p:cNvSpPr/>
          <p:nvPr/>
        </p:nvSpPr>
        <p:spPr>
          <a:xfrm>
            <a:off x="685800" y="389395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387566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lookup value you type into VLOOKUP. Same idea, except the database can refuse a value that does not exist.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One-to-many</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One row on one side matches several rows on the other. It is the commonest relationship in business data and the reason totals go wrong.</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One order has several order lines. One customer has many orders. One rep has many customers. 6,000 orders become 20,234 order lines.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LOOK AT THIS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business, two different grains</a:t>
            </a:r>
          </a:p>
        </p:txBody>
      </p:sp>
      <p:pic>
        <p:nvPicPr>
          <p:cNvPr id="4" name="Picture 3" descr="fig_grain.png"/>
          <p:cNvPicPr>
            <a:picLocks noChangeAspect="1"/>
          </p:cNvPicPr>
          <p:nvPr/>
        </p:nvPicPr>
        <p:blipFill>
          <a:blip r:embed="rId2"/>
          <a:stretch>
            <a:fillRect/>
          </a:stretch>
        </p:blipFill>
        <p:spPr>
          <a:xfrm>
            <a:off x="2762277" y="1911095"/>
            <a:ext cx="6667139" cy="3709827"/>
          </a:xfrm>
          <a:prstGeom prst="rect">
            <a:avLst/>
          </a:prstGeom>
        </p:spPr>
      </p:pic>
      <p:sp>
        <p:nvSpPr>
          <p:cNvPr id="5" name="TextBox 4"/>
          <p:cNvSpPr txBox="1"/>
          <p:nvPr/>
        </p:nvSpPr>
        <p:spPr>
          <a:xfrm>
            <a:off x="685800" y="5767227"/>
            <a:ext cx="10820095" cy="706724"/>
          </a:xfrm>
          <a:prstGeom prst="rect">
            <a:avLst/>
          </a:prstGeom>
          <a:noFill/>
        </p:spPr>
        <p:txBody>
          <a:bodyPr wrap="square" lIns="0" rIns="0" tIns="0" bIns="0" anchor="t">
            <a:spAutoFit/>
          </a:bodyPr>
          <a:lstStyle/>
          <a:p>
            <a:pPr algn="l">
              <a:lnSpc>
                <a:spcPct val="120000"/>
              </a:lnSpc>
              <a:spcAft>
                <a:spcPts val="600"/>
              </a:spcAft>
            </a:pPr>
            <a:r>
              <a:rPr sz="1716" b="0" i="0">
                <a:solidFill>
                  <a:srgbClr val="334657"/>
                </a:solidFill>
                <a:latin typeface="Calibri"/>
              </a:rPr>
              <a:t>Left: one row is one order. Right: one row is one order line, so an order appears more than once. Both are real rows from the course data. The caption is the number to remember.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TWO · 45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Grain, keys, and what a join does</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Grain, and what a join does to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LOOK AT THIS</a:t>
            </a:r>
          </a:p>
        </p:txBody>
      </p:sp>
      <p:sp>
        <p:nvSpPr>
          <p:cNvPr id="3" name="TextBox 2"/>
          <p:cNvSpPr txBox="1"/>
          <p:nvPr/>
        </p:nvSpPr>
        <p:spPr>
          <a:xfrm>
            <a:off x="685800" y="950976"/>
            <a:ext cx="10820095" cy="128016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a join does, and what an INNER JOIN quietly throws away</a:t>
            </a:r>
          </a:p>
        </p:txBody>
      </p:sp>
      <p:pic>
        <p:nvPicPr>
          <p:cNvPr id="4" name="Picture 3" descr="fig_join.png"/>
          <p:cNvPicPr>
            <a:picLocks noChangeAspect="1"/>
          </p:cNvPicPr>
          <p:nvPr/>
        </p:nvPicPr>
        <p:blipFill>
          <a:blip r:embed="rId2"/>
          <a:stretch>
            <a:fillRect/>
          </a:stretch>
        </p:blipFill>
        <p:spPr>
          <a:xfrm>
            <a:off x="3280483" y="2395728"/>
            <a:ext cx="5630727" cy="3225195"/>
          </a:xfrm>
          <a:prstGeom prst="rect">
            <a:avLst/>
          </a:prstGeom>
        </p:spPr>
      </p:pic>
      <p:sp>
        <p:nvSpPr>
          <p:cNvPr id="5" name="TextBox 4"/>
          <p:cNvSpPr txBox="1"/>
          <p:nvPr/>
        </p:nvSpPr>
        <p:spPr>
          <a:xfrm>
            <a:off x="685800" y="5767227"/>
            <a:ext cx="10820095" cy="706724"/>
          </a:xfrm>
          <a:prstGeom prst="rect">
            <a:avLst/>
          </a:prstGeom>
          <a:noFill/>
        </p:spPr>
        <p:txBody>
          <a:bodyPr wrap="square" lIns="0" rIns="0" tIns="0" bIns="0" anchor="t">
            <a:spAutoFit/>
          </a:bodyPr>
          <a:lstStyle/>
          <a:p>
            <a:pPr algn="l">
              <a:lnSpc>
                <a:spcPct val="120000"/>
              </a:lnSpc>
              <a:spcAft>
                <a:spcPts val="600"/>
              </a:spcAft>
            </a:pPr>
            <a:r>
              <a:rPr sz="1716" b="0" i="0">
                <a:solidFill>
                  <a:srgbClr val="334657"/>
                </a:solidFill>
                <a:latin typeface="Calibri"/>
              </a:rPr>
              <a:t>Real counts from the course data. The INNER JOIN loses the 172 walk-in orders because they have no customer to match, and nothing in the output says so.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LOOK AT THIS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six tables, and how they connect</a:t>
            </a:r>
          </a:p>
        </p:txBody>
      </p:sp>
      <p:pic>
        <p:nvPicPr>
          <p:cNvPr id="4" name="Picture 3" descr="fig_star_schema.png"/>
          <p:cNvPicPr>
            <a:picLocks noChangeAspect="1"/>
          </p:cNvPicPr>
          <p:nvPr/>
        </p:nvPicPr>
        <p:blipFill>
          <a:blip r:embed="rId2"/>
          <a:stretch>
            <a:fillRect/>
          </a:stretch>
        </p:blipFill>
        <p:spPr>
          <a:xfrm>
            <a:off x="2630905" y="1911095"/>
            <a:ext cx="6929884" cy="3709827"/>
          </a:xfrm>
          <a:prstGeom prst="rect">
            <a:avLst/>
          </a:prstGeom>
        </p:spPr>
      </p:pic>
      <p:sp>
        <p:nvSpPr>
          <p:cNvPr id="5" name="TextBox 4"/>
          <p:cNvSpPr txBox="1"/>
          <p:nvPr/>
        </p:nvSpPr>
        <p:spPr>
          <a:xfrm>
            <a:off x="685800" y="5767227"/>
            <a:ext cx="10820095" cy="706724"/>
          </a:xfrm>
          <a:prstGeom prst="rect">
            <a:avLst/>
          </a:prstGeom>
          <a:noFill/>
        </p:spPr>
        <p:txBody>
          <a:bodyPr wrap="square" lIns="0" rIns="0" tIns="0" bIns="0" anchor="t">
            <a:spAutoFit/>
          </a:bodyPr>
          <a:lstStyle/>
          <a:p>
            <a:pPr algn="l">
              <a:lnSpc>
                <a:spcPct val="120000"/>
              </a:lnSpc>
              <a:spcAft>
                <a:spcPts val="600"/>
              </a:spcAft>
            </a:pPr>
            <a:r>
              <a:rPr sz="1716" b="0" i="0">
                <a:solidFill>
                  <a:srgbClr val="334657"/>
                </a:solidFill>
                <a:latin typeface="Calibri"/>
              </a:rPr>
              <a:t>You will build exactly this in Power BI in session 14. Tonight you only need to see that the arrows all point the same way: many orders to one customer.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LAB · NO TYPING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Tonight's lab has no SQL in it</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DB Browser, Browse Data tab</a:t>
            </a:r>
          </a:p>
        </p:txBody>
      </p:sp>
      <p:sp>
        <p:nvSpPr>
          <p:cNvPr id="5" name="TextBox 4"/>
          <p:cNvSpPr txBox="1"/>
          <p:nvPr/>
        </p:nvSpPr>
        <p:spPr>
          <a:xfrm>
            <a:off x="685800" y="240933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You will click, not type. Open riverside.db, go to Browse Data, and use the dropdown to look at each of the six tables.</a:t>
            </a:r>
          </a:p>
        </p:txBody>
      </p:sp>
      <p:sp>
        <p:nvSpPr>
          <p:cNvPr id="6" name="TextBox 5"/>
          <p:cNvSpPr txBox="1"/>
          <p:nvPr/>
        </p:nvSpPr>
        <p:spPr>
          <a:xfrm>
            <a:off x="685800" y="3591155"/>
            <a:ext cx="5204307" cy="1487372"/>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The point is to get the SHAPE of this business into your head before any syntax arrives. Next session the typing starts, and it is much easier when you already know what is in there.</a:t>
            </a:r>
          </a:p>
        </p:txBody>
      </p:sp>
      <p:sp>
        <p:nvSpPr>
          <p:cNvPr id="7" name="Rounded Rectangle 6"/>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For each of the six tables</a:t>
            </a:r>
          </a:p>
        </p:txBody>
      </p:sp>
      <p:sp>
        <p:nvSpPr>
          <p:cNvPr id="9" name="TextBox 8"/>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What is the grain? One row is one what?</a:t>
            </a:r>
          </a:p>
        </p:txBody>
      </p:sp>
      <p:sp>
        <p:nvSpPr>
          <p:cNvPr id="10" name="TextBox 9"/>
          <p:cNvSpPr txBox="1"/>
          <p:nvPr/>
        </p:nvSpPr>
        <p:spPr>
          <a:xfrm>
            <a:off x="6575907" y="3025401"/>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What is the primary key?</a:t>
            </a:r>
          </a:p>
        </p:txBody>
      </p:sp>
      <p:sp>
        <p:nvSpPr>
          <p:cNvPr id="11" name="TextBox 10"/>
          <p:cNvSpPr txBox="1"/>
          <p:nvPr/>
        </p:nvSpPr>
        <p:spPr>
          <a:xfrm>
            <a:off x="6575907" y="3554491"/>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Which columns point at another table?</a:t>
            </a:r>
          </a:p>
        </p:txBody>
      </p:sp>
      <p:sp>
        <p:nvSpPr>
          <p:cNvPr id="12" name="TextBox 11"/>
          <p:cNvSpPr txBox="1"/>
          <p:nvPr/>
        </p:nvSpPr>
        <p:spPr>
          <a:xfrm>
            <a:off x="6575907" y="4083581"/>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Then find an order with no customer_id, and write down what you think that means about how this business trades.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96012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MISTAKE THIS SESSION PREVENTS</a:t>
            </a:r>
          </a:p>
        </p:txBody>
      </p:sp>
      <p:sp>
        <p:nvSpPr>
          <p:cNvPr id="4" name="TextBox 3"/>
          <p:cNvSpPr txBox="1"/>
          <p:nvPr/>
        </p:nvSpPr>
        <p:spPr>
          <a:xfrm>
            <a:off x="685800" y="1600200"/>
            <a:ext cx="10820095" cy="1603291"/>
          </a:xfrm>
          <a:prstGeom prst="rect">
            <a:avLst/>
          </a:prstGeom>
          <a:noFill/>
        </p:spPr>
        <p:txBody>
          <a:bodyPr wrap="square" lIns="0" rIns="0" tIns="0" bIns="0" anchor="t">
            <a:spAutoFit/>
          </a:bodyPr>
          <a:lstStyle/>
          <a:p>
            <a:pPr algn="l">
              <a:lnSpc>
                <a:spcPct val="114000"/>
              </a:lnSpc>
              <a:spcAft>
                <a:spcPts val="600"/>
              </a:spcAft>
            </a:pPr>
            <a:r>
              <a:rPr sz="2795" b="1" i="0">
                <a:solidFill>
                  <a:srgbClr val="FFFFFF"/>
                </a:solidFill>
                <a:latin typeface="Calibri"/>
              </a:rPr>
              <a:t>Assuming one row means what you assume it means. Every wrong total later in this course comes from a grain nobody said out loud.</a:t>
            </a:r>
          </a:p>
        </p:txBody>
      </p:sp>
      <p:sp>
        <p:nvSpPr>
          <p:cNvPr id="5" name="TextBox 4"/>
          <p:cNvSpPr txBox="1"/>
          <p:nvPr/>
        </p:nvSpPr>
        <p:spPr>
          <a:xfrm>
            <a:off x="685800" y="3477811"/>
            <a:ext cx="10820095" cy="457200"/>
          </a:xfrm>
          <a:prstGeom prst="rect">
            <a:avLst/>
          </a:prstGeom>
          <a:noFill/>
        </p:spPr>
        <p:txBody>
          <a:bodyPr wrap="square" lIns="0" rIns="0" tIns="0" bIns="0" anchor="t">
            <a:spAutoFit/>
          </a:bodyPr>
          <a:lstStyle/>
          <a:p>
            <a:pPr algn="l">
              <a:spcAft>
                <a:spcPts val="600"/>
              </a:spcAft>
            </a:pPr>
            <a:r>
              <a:rPr sz="1923" b="0" i="0">
                <a:solidFill>
                  <a:srgbClr val="B8C9D8"/>
                </a:solidFill>
                <a:latin typeface="Calibri"/>
              </a:rPr>
              <a:t>It is in tonight's lab on purpose.</a:t>
            </a:r>
          </a:p>
        </p:txBody>
      </p:sp>
      <p:sp>
        <p:nvSpPr>
          <p:cNvPr id="6" name="TextBox 5"/>
          <p:cNvSpPr txBox="1"/>
          <p:nvPr/>
        </p:nvSpPr>
        <p:spPr>
          <a:xfrm>
            <a:off x="685800" y="608076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Session 2 of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customer moves from Central to Eastern. How many edits in one big sheet, and how many in six tables?</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orders.customer_id is empty on 172 rows. Is that a data error?</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join orders to order_items. Will the result have more rows, fewer, or the same?</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One edit or many</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One edit in the customers table. In a flat sheet, one edit per order that customer ever placed, and the ones you miss stay wrong and keep being summed.</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Empty customer_id on 172 orders</a:t>
            </a:r>
          </a:p>
        </p:txBody>
      </p:sp>
      <p:sp>
        <p:nvSpPr>
          <p:cNvPr id="9" name="TextBox 8"/>
          <p:cNvSpPr txBox="1"/>
          <p:nvPr/>
        </p:nvSpPr>
        <p:spPr>
          <a:xfrm>
            <a:off x="1216152" y="3352897"/>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 It is walk-in trade: a real order with real revenue and no customer recorded. It becomes an error only if somebody joins to customers without noticing, which silently removes UGX 390,632,335 from the answer.</a:t>
            </a:r>
          </a:p>
        </p:txBody>
      </p:sp>
      <p:sp>
        <p:nvSpPr>
          <p:cNvPr id="10" name="Oval 9"/>
          <p:cNvSpPr/>
          <p:nvPr/>
        </p:nvSpPr>
        <p:spPr>
          <a:xfrm>
            <a:off x="685800" y="4592054"/>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555478"/>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Row count after joining orders to lines</a:t>
            </a:r>
          </a:p>
        </p:txBody>
      </p:sp>
      <p:sp>
        <p:nvSpPr>
          <p:cNvPr id="12" name="TextBox 11"/>
          <p:cNvSpPr txBox="1"/>
          <p:nvPr/>
        </p:nvSpPr>
        <p:spPr>
          <a:xfrm>
            <a:off x="1216152" y="4848086"/>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More. It is one-to-many, so each order appears once per line: 6,000 becomes 20,234. That is correct, and summing an order-level figure on that result is not.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LAB · 50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Map the six tables by clicking</a:t>
            </a:r>
          </a:p>
        </p:txBody>
      </p:sp>
      <p:sp>
        <p:nvSpPr>
          <p:cNvPr id="4" name="Rounded Rectangle 3"/>
          <p:cNvSpPr/>
          <p:nvPr/>
        </p:nvSpPr>
        <p:spPr>
          <a:xfrm>
            <a:off x="685800" y="1911095"/>
            <a:ext cx="10820095" cy="1617199"/>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251439"/>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No SQL tonight. In DB Browser's Browse Data tab, work through all six tables and fill in the sheet: grain, primary key, foreign keys. Then draw the six boxes and the arrows between them on paper. Drawing it by hand is what makes it stick.</a:t>
            </a:r>
          </a:p>
        </p:txBody>
      </p:sp>
      <p:sp>
        <p:nvSpPr>
          <p:cNvPr id="6" name="TextBox 5"/>
          <p:cNvSpPr txBox="1"/>
          <p:nvPr/>
        </p:nvSpPr>
        <p:spPr>
          <a:xfrm>
            <a:off x="685800" y="380261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278103"/>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Grain of each table: one row is one what?</a:t>
            </a:r>
          </a:p>
        </p:txBody>
      </p:sp>
      <p:sp>
        <p:nvSpPr>
          <p:cNvPr id="8" name="TextBox 7"/>
          <p:cNvSpPr txBox="1"/>
          <p:nvPr/>
        </p:nvSpPr>
        <p:spPr>
          <a:xfrm>
            <a:off x="685800" y="4755045"/>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Primary key of each table.</a:t>
            </a:r>
          </a:p>
        </p:txBody>
      </p:sp>
      <p:sp>
        <p:nvSpPr>
          <p:cNvPr id="9" name="TextBox 8"/>
          <p:cNvSpPr txBox="1"/>
          <p:nvPr/>
        </p:nvSpPr>
        <p:spPr>
          <a:xfrm>
            <a:off x="685800" y="5231987"/>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Every column that points at another table.</a:t>
            </a:r>
          </a:p>
        </p:txBody>
      </p:sp>
      <p:sp>
        <p:nvSpPr>
          <p:cNvPr id="10" name="TextBox 9"/>
          <p:cNvSpPr txBox="1"/>
          <p:nvPr/>
        </p:nvSpPr>
        <p:spPr>
          <a:xfrm>
            <a:off x="6278727" y="4278103"/>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Draw the six boxes and the arrows, on paper.</a:t>
            </a:r>
          </a:p>
        </p:txBody>
      </p:sp>
      <p:sp>
        <p:nvSpPr>
          <p:cNvPr id="11" name="TextBox 10"/>
          <p:cNvSpPr txBox="1"/>
          <p:nvPr/>
        </p:nvSpPr>
        <p:spPr>
          <a:xfrm>
            <a:off x="6278727" y="4755045"/>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Find an order with no customer and say what it means.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TONIGHT IN THREE LINES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can do now</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Explain why a business keeps orders and customers in separate tables instead of one big sheet.</a:t>
            </a:r>
          </a:p>
        </p:txBody>
      </p:sp>
      <p:sp>
        <p:nvSpPr>
          <p:cNvPr id="6" name="Oval 5"/>
          <p:cNvSpPr/>
          <p:nvPr/>
        </p:nvSpPr>
        <p:spPr>
          <a:xfrm>
            <a:off x="685800" y="246802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413161"/>
            <a:ext cx="10271455" cy="81210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Find the key that connects two tables, and predict what happens to the row count when they are joined.</a:t>
            </a:r>
          </a:p>
        </p:txBody>
      </p:sp>
      <p:sp>
        <p:nvSpPr>
          <p:cNvPr id="8" name="Oval 7"/>
          <p:cNvSpPr/>
          <p:nvPr/>
        </p:nvSpPr>
        <p:spPr>
          <a:xfrm>
            <a:off x="685800" y="332585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270988"/>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Say what one row means in each of the six course tables.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HOMEWORK · 45 TO 60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the next session</a:t>
            </a:r>
          </a:p>
        </p:txBody>
      </p:sp>
      <p:sp>
        <p:nvSpPr>
          <p:cNvPr id="4" name="Rounded Rectangle 3"/>
          <p:cNvSpPr/>
          <p:nvPr/>
        </p:nvSpPr>
        <p:spPr>
          <a:xfrm>
            <a:off x="685800" y="1911095"/>
            <a:ext cx="10820095" cy="1237967"/>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30552"/>
            <a:ext cx="10234879" cy="835631"/>
          </a:xfrm>
          <a:prstGeom prst="rect">
            <a:avLst/>
          </a:prstGeom>
          <a:noFill/>
        </p:spPr>
        <p:txBody>
          <a:bodyPr wrap="square" lIns="0" rIns="0" tIns="0" bIns="0" anchor="t">
            <a:spAutoFit/>
          </a:bodyPr>
          <a:lstStyle/>
          <a:p>
            <a:pPr algn="l">
              <a:lnSpc>
                <a:spcPct val="122000"/>
              </a:lnSpc>
              <a:spcAft>
                <a:spcPts val="600"/>
              </a:spcAft>
            </a:pPr>
            <a:r>
              <a:rPr sz="2021" b="0" i="0">
                <a:solidFill>
                  <a:srgbClr val="1C3144"/>
                </a:solidFill>
                <a:latin typeface="Calibri"/>
              </a:rPr>
              <a:t>Take one report you receive at work and work out how many tables it was probably built from. Name them and the key each would join on. You will be right more often than you expect.</a:t>
            </a:r>
          </a:p>
        </p:txBody>
      </p:sp>
      <p:sp>
        <p:nvSpPr>
          <p:cNvPr id="6" name="Rounded Rectangle 5"/>
          <p:cNvSpPr/>
          <p:nvPr/>
        </p:nvSpPr>
        <p:spPr>
          <a:xfrm>
            <a:off x="685800" y="3423383"/>
            <a:ext cx="4826861"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WHY IT IS ALWAYS OPTIONAL ON YOUR OWN DATA</a:t>
            </a:r>
          </a:p>
        </p:txBody>
      </p:sp>
      <p:sp>
        <p:nvSpPr>
          <p:cNvPr id="7" name="TextBox 6"/>
          <p:cNvSpPr txBox="1"/>
          <p:nvPr/>
        </p:nvSpPr>
        <p:spPr>
          <a:xfrm>
            <a:off x="685800" y="3990311"/>
            <a:ext cx="10820095" cy="1097280"/>
          </a:xfrm>
          <a:prstGeom prst="rect">
            <a:avLst/>
          </a:prstGeom>
          <a:noFill/>
        </p:spPr>
        <p:txBody>
          <a:bodyPr wrap="square" lIns="0" rIns="0" tIns="0" bIns="0" anchor="t">
            <a:spAutoFit/>
          </a:bodyPr>
          <a:lstStyle/>
          <a:p>
            <a:pPr algn="l">
              <a:lnSpc>
                <a:spcPct val="122000"/>
              </a:lnSpc>
              <a:spcAft>
                <a:spcPts val="600"/>
              </a:spcAft>
            </a:pPr>
            <a:r>
              <a:rPr sz="1923" b="0" i="0">
                <a:solidFill>
                  <a:srgbClr val="334657"/>
                </a:solidFill>
                <a:latin typeface="Calibri"/>
              </a:rPr>
              <a:t>Homework on a dataset you already care about gets done. Homework on a teaching dataset competes with your job and loses. Either version counts, and the one on your own data is worth more to you.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Say the grain out loud, every time</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Nearly every wrong total in the rest of this course comes from a grain nobody stated. Two sessions with no code buys you that habit, and it is the cheapest thing you will learn here.</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session: the same tables, and your first query.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