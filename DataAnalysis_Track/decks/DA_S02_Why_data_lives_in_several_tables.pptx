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is session 2 of twelve.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what tonight is marked against, in the sense that the lab checks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one big sheet stores the same fact many times, and every copy is a chance to be wrong.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column whose value is never repeated, so it identifies exactly one row. Every proper table has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column that holds another table's primary key. It is what connects the two tables.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row on one side matches several rows on the other. It is the commonest relationship in business data and the reason totals go wrong.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one row is one order. Right: one row is one order line, so an order appears more than once. Both are real rows from the course data. The caption is the number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counts from the course data. The INNER JOIN loses the 172 walk-in orders because they have no customer to match, and nothing in the output says so.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build exactly this in Power BI in session 14. Tonight you only need to see that the arrows all point the same way: many orders to one customer.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Assuming one row means what you assume it means. Every wrong total later in this course comes from a grain nobody said out loud.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SQL tonight. In DB Browser's Browse Data tab, work through all six tables and fill in the sheet: grain, primary key, foreign keys. Then draw the six boxes and the arrows between them on paper. Drawing it by hand is what makes it stick.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one report you receive at work and work out how many tables it was probably built from. Name them and the key each would join on. You will be right more often than you expect.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Nearly every wrong total in the rest of this course comes from a grain nobody stated. Two sessions with no code buys you that habit, and it is the cheapest thing you will learn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103851"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2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Why data lives in several tables</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Because one big sheet stores the same fact many times, and every copy is a chance to be wrong.</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1  ·  FOUNDATIONS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Data modelling basics; relational thinking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60039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554672"/>
          </a:xfrm>
          <a:prstGeom prst="rect">
            <a:avLst/>
          </a:prstGeom>
          <a:noFill/>
        </p:spPr>
        <p:txBody>
          <a:bodyPr wrap="square" lIns="0" rIns="0" tIns="0" bIns="0" anchor="t">
            <a:spAutoFit/>
          </a:bodyPr>
          <a:lstStyle/>
          <a:p>
            <a:pPr algn="l">
              <a:lnSpc>
                <a:spcPct val="114000"/>
              </a:lnSpc>
              <a:spcAft>
                <a:spcPts val="600"/>
              </a:spcAft>
            </a:pPr>
            <a:r>
              <a:rPr sz="1452" b="1" i="0">
                <a:solidFill>
                  <a:srgbClr val="1C3144"/>
                </a:solidFill>
                <a:latin typeface="Calibri"/>
              </a:rPr>
              <a:t>Primary key</a:t>
            </a:r>
          </a:p>
        </p:txBody>
      </p:sp>
      <p:sp>
        <p:nvSpPr>
          <p:cNvPr id="9" name="TextBox 8"/>
          <p:cNvSpPr txBox="1"/>
          <p:nvPr/>
        </p:nvSpPr>
        <p:spPr>
          <a:xfrm>
            <a:off x="3154680" y="2276856"/>
            <a:ext cx="4892040" cy="554672"/>
          </a:xfrm>
          <a:prstGeom prst="rect">
            <a:avLst/>
          </a:prstGeom>
          <a:noFill/>
        </p:spPr>
        <p:txBody>
          <a:bodyPr wrap="square" lIns="0" rIns="0" tIns="0" bIns="0" anchor="t">
            <a:spAutoFit/>
          </a:bodyPr>
          <a:lstStyle/>
          <a:p>
            <a:pPr algn="l">
              <a:lnSpc>
                <a:spcPct val="116000"/>
              </a:lnSpc>
              <a:spcAft>
                <a:spcPts val="600"/>
              </a:spcAft>
            </a:pPr>
            <a:r>
              <a:rPr sz="1386" b="0" i="0">
                <a:solidFill>
                  <a:srgbClr val="334657"/>
                </a:solidFill>
                <a:latin typeface="Calibri"/>
              </a:rPr>
              <a:t>A column whose value is never repeated, so it identifies one row exactly.</a:t>
            </a:r>
          </a:p>
        </p:txBody>
      </p:sp>
      <p:sp>
        <p:nvSpPr>
          <p:cNvPr id="10" name="TextBox 9"/>
          <p:cNvSpPr txBox="1"/>
          <p:nvPr/>
        </p:nvSpPr>
        <p:spPr>
          <a:xfrm>
            <a:off x="8275320" y="2276856"/>
            <a:ext cx="3230575" cy="554672"/>
          </a:xfrm>
          <a:prstGeom prst="rect">
            <a:avLst/>
          </a:prstGeom>
          <a:noFill/>
        </p:spPr>
        <p:txBody>
          <a:bodyPr wrap="square" lIns="0" rIns="0" tIns="0" bIns="0" anchor="t">
            <a:spAutoFit/>
          </a:bodyPr>
          <a:lstStyle/>
          <a:p>
            <a:pPr algn="l">
              <a:lnSpc>
                <a:spcPct val="116000"/>
              </a:lnSpc>
              <a:spcAft>
                <a:spcPts val="600"/>
              </a:spcAft>
            </a:pPr>
            <a:r>
              <a:rPr sz="1386" b="0" i="0">
                <a:solidFill>
                  <a:srgbClr val="2E7D6F"/>
                </a:solidFill>
                <a:latin typeface="Calibri"/>
              </a:rPr>
              <a:t>The column you would VLOOKUP on</a:t>
            </a:r>
          </a:p>
        </p:txBody>
      </p:sp>
      <p:sp>
        <p:nvSpPr>
          <p:cNvPr id="11" name="TextBox 10"/>
          <p:cNvSpPr txBox="1"/>
          <p:nvPr/>
        </p:nvSpPr>
        <p:spPr>
          <a:xfrm>
            <a:off x="685800" y="2913824"/>
            <a:ext cx="2240280" cy="554672"/>
          </a:xfrm>
          <a:prstGeom prst="rect">
            <a:avLst/>
          </a:prstGeom>
          <a:noFill/>
        </p:spPr>
        <p:txBody>
          <a:bodyPr wrap="square" lIns="0" rIns="0" tIns="0" bIns="0" anchor="t">
            <a:spAutoFit/>
          </a:bodyPr>
          <a:lstStyle/>
          <a:p>
            <a:pPr algn="l">
              <a:lnSpc>
                <a:spcPct val="114000"/>
              </a:lnSpc>
              <a:spcAft>
                <a:spcPts val="600"/>
              </a:spcAft>
            </a:pPr>
            <a:r>
              <a:rPr sz="1452" b="1" i="0">
                <a:solidFill>
                  <a:srgbClr val="1C3144"/>
                </a:solidFill>
                <a:latin typeface="Calibri"/>
              </a:rPr>
              <a:t>Foreign key</a:t>
            </a:r>
          </a:p>
        </p:txBody>
      </p:sp>
      <p:sp>
        <p:nvSpPr>
          <p:cNvPr id="12" name="TextBox 11"/>
          <p:cNvSpPr txBox="1"/>
          <p:nvPr/>
        </p:nvSpPr>
        <p:spPr>
          <a:xfrm>
            <a:off x="3154680" y="2913824"/>
            <a:ext cx="4892040" cy="554672"/>
          </a:xfrm>
          <a:prstGeom prst="rect">
            <a:avLst/>
          </a:prstGeom>
          <a:noFill/>
        </p:spPr>
        <p:txBody>
          <a:bodyPr wrap="square" lIns="0" rIns="0" tIns="0" bIns="0" anchor="t">
            <a:spAutoFit/>
          </a:bodyPr>
          <a:lstStyle/>
          <a:p>
            <a:pPr algn="l">
              <a:lnSpc>
                <a:spcPct val="116000"/>
              </a:lnSpc>
              <a:spcAft>
                <a:spcPts val="600"/>
              </a:spcAft>
            </a:pPr>
            <a:r>
              <a:rPr sz="1386" b="0" i="0">
                <a:solidFill>
                  <a:srgbClr val="334657"/>
                </a:solidFill>
                <a:latin typeface="Calibri"/>
              </a:rPr>
              <a:t>A column that holds another table's primary key, which is what links the two.</a:t>
            </a:r>
          </a:p>
        </p:txBody>
      </p:sp>
      <p:sp>
        <p:nvSpPr>
          <p:cNvPr id="13" name="TextBox 12"/>
          <p:cNvSpPr txBox="1"/>
          <p:nvPr/>
        </p:nvSpPr>
        <p:spPr>
          <a:xfrm>
            <a:off x="8275320" y="2913824"/>
            <a:ext cx="3230575" cy="554672"/>
          </a:xfrm>
          <a:prstGeom prst="rect">
            <a:avLst/>
          </a:prstGeom>
          <a:noFill/>
        </p:spPr>
        <p:txBody>
          <a:bodyPr wrap="square" lIns="0" rIns="0" tIns="0" bIns="0" anchor="t">
            <a:spAutoFit/>
          </a:bodyPr>
          <a:lstStyle/>
          <a:p>
            <a:pPr algn="l">
              <a:lnSpc>
                <a:spcPct val="116000"/>
              </a:lnSpc>
              <a:spcAft>
                <a:spcPts val="600"/>
              </a:spcAft>
            </a:pPr>
            <a:r>
              <a:rPr sz="1386" b="0" i="0">
                <a:solidFill>
                  <a:srgbClr val="2E7D6F"/>
                </a:solidFill>
                <a:latin typeface="Calibri"/>
              </a:rPr>
              <a:t>The lookup value you type into VLOOKUP</a:t>
            </a:r>
          </a:p>
        </p:txBody>
      </p:sp>
      <p:sp>
        <p:nvSpPr>
          <p:cNvPr id="14" name="Rectangle 13"/>
          <p:cNvSpPr/>
          <p:nvPr/>
        </p:nvSpPr>
        <p:spPr>
          <a:xfrm>
            <a:off x="576072" y="3514217"/>
            <a:ext cx="11039551" cy="60039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550793"/>
            <a:ext cx="2240280" cy="554672"/>
          </a:xfrm>
          <a:prstGeom prst="rect">
            <a:avLst/>
          </a:prstGeom>
          <a:noFill/>
        </p:spPr>
        <p:txBody>
          <a:bodyPr wrap="square" lIns="0" rIns="0" tIns="0" bIns="0" anchor="t">
            <a:spAutoFit/>
          </a:bodyPr>
          <a:lstStyle/>
          <a:p>
            <a:pPr algn="l">
              <a:lnSpc>
                <a:spcPct val="114000"/>
              </a:lnSpc>
              <a:spcAft>
                <a:spcPts val="600"/>
              </a:spcAft>
            </a:pPr>
            <a:r>
              <a:rPr sz="1452" b="1" i="0">
                <a:solidFill>
                  <a:srgbClr val="1C3144"/>
                </a:solidFill>
                <a:latin typeface="Calibri"/>
              </a:rPr>
              <a:t>One-to-many</a:t>
            </a:r>
          </a:p>
        </p:txBody>
      </p:sp>
      <p:sp>
        <p:nvSpPr>
          <p:cNvPr id="16" name="TextBox 15"/>
          <p:cNvSpPr txBox="1"/>
          <p:nvPr/>
        </p:nvSpPr>
        <p:spPr>
          <a:xfrm>
            <a:off x="3154680" y="3550793"/>
            <a:ext cx="4892040" cy="554672"/>
          </a:xfrm>
          <a:prstGeom prst="rect">
            <a:avLst/>
          </a:prstGeom>
          <a:noFill/>
        </p:spPr>
        <p:txBody>
          <a:bodyPr wrap="square" lIns="0" rIns="0" tIns="0" bIns="0" anchor="t">
            <a:spAutoFit/>
          </a:bodyPr>
          <a:lstStyle/>
          <a:p>
            <a:pPr algn="l">
              <a:lnSpc>
                <a:spcPct val="116000"/>
              </a:lnSpc>
              <a:spcAft>
                <a:spcPts val="600"/>
              </a:spcAft>
            </a:pPr>
            <a:r>
              <a:rPr sz="1386" b="0" i="0">
                <a:solidFill>
                  <a:srgbClr val="334657"/>
                </a:solidFill>
                <a:latin typeface="Calibri"/>
              </a:rPr>
              <a:t>One row on one side matches several rows on the other. One order, several order lines.</a:t>
            </a:r>
          </a:p>
        </p:txBody>
      </p:sp>
      <p:sp>
        <p:nvSpPr>
          <p:cNvPr id="17" name="TextBox 16"/>
          <p:cNvSpPr txBox="1"/>
          <p:nvPr/>
        </p:nvSpPr>
        <p:spPr>
          <a:xfrm>
            <a:off x="8275320" y="3550793"/>
            <a:ext cx="3230575" cy="554672"/>
          </a:xfrm>
          <a:prstGeom prst="rect">
            <a:avLst/>
          </a:prstGeom>
          <a:noFill/>
        </p:spPr>
        <p:txBody>
          <a:bodyPr wrap="square" lIns="0" rIns="0" tIns="0" bIns="0" anchor="t">
            <a:spAutoFit/>
          </a:bodyPr>
          <a:lstStyle/>
          <a:p>
            <a:pPr algn="l">
              <a:lnSpc>
                <a:spcPct val="116000"/>
              </a:lnSpc>
              <a:spcAft>
                <a:spcPts val="600"/>
              </a:spcAft>
            </a:pPr>
            <a:r>
              <a:rPr sz="1386" b="0" i="1">
                <a:solidFill>
                  <a:srgbClr val="6B7A8A"/>
                </a:solidFill>
                <a:latin typeface="Calibri"/>
              </a:rPr>
              <a:t>no direct equivalent</a:t>
            </a:r>
          </a:p>
        </p:txBody>
      </p:sp>
      <p:sp>
        <p:nvSpPr>
          <p:cNvPr id="18" name="TextBox 17"/>
          <p:cNvSpPr txBox="1"/>
          <p:nvPr/>
        </p:nvSpPr>
        <p:spPr>
          <a:xfrm>
            <a:off x="685800" y="4187762"/>
            <a:ext cx="2240280" cy="554672"/>
          </a:xfrm>
          <a:prstGeom prst="rect">
            <a:avLst/>
          </a:prstGeom>
          <a:noFill/>
        </p:spPr>
        <p:txBody>
          <a:bodyPr wrap="square" lIns="0" rIns="0" tIns="0" bIns="0" anchor="t">
            <a:spAutoFit/>
          </a:bodyPr>
          <a:lstStyle/>
          <a:p>
            <a:pPr algn="l">
              <a:lnSpc>
                <a:spcPct val="114000"/>
              </a:lnSpc>
              <a:spcAft>
                <a:spcPts val="600"/>
              </a:spcAft>
            </a:pPr>
            <a:r>
              <a:rPr sz="1452" b="1" i="0">
                <a:solidFill>
                  <a:srgbClr val="1C3144"/>
                </a:solidFill>
                <a:latin typeface="Calibri"/>
              </a:rPr>
              <a:t>Join</a:t>
            </a:r>
          </a:p>
        </p:txBody>
      </p:sp>
      <p:sp>
        <p:nvSpPr>
          <p:cNvPr id="19" name="TextBox 18"/>
          <p:cNvSpPr txBox="1"/>
          <p:nvPr/>
        </p:nvSpPr>
        <p:spPr>
          <a:xfrm>
            <a:off x="3154680" y="4187762"/>
            <a:ext cx="4892040" cy="554672"/>
          </a:xfrm>
          <a:prstGeom prst="rect">
            <a:avLst/>
          </a:prstGeom>
          <a:noFill/>
        </p:spPr>
        <p:txBody>
          <a:bodyPr wrap="square" lIns="0" rIns="0" tIns="0" bIns="0" anchor="t">
            <a:spAutoFit/>
          </a:bodyPr>
          <a:lstStyle/>
          <a:p>
            <a:pPr algn="l">
              <a:lnSpc>
                <a:spcPct val="116000"/>
              </a:lnSpc>
              <a:spcAft>
                <a:spcPts val="600"/>
              </a:spcAft>
            </a:pPr>
            <a:r>
              <a:rPr sz="1386" b="0" i="0">
                <a:solidFill>
                  <a:srgbClr val="334657"/>
                </a:solidFill>
                <a:latin typeface="Calibri"/>
              </a:rPr>
              <a:t>Putting two tables side by side by matching a key, so you can use columns from both.</a:t>
            </a:r>
          </a:p>
        </p:txBody>
      </p:sp>
      <p:sp>
        <p:nvSpPr>
          <p:cNvPr id="20" name="TextBox 19"/>
          <p:cNvSpPr txBox="1"/>
          <p:nvPr/>
        </p:nvSpPr>
        <p:spPr>
          <a:xfrm>
            <a:off x="8275320" y="4187762"/>
            <a:ext cx="3230575" cy="554672"/>
          </a:xfrm>
          <a:prstGeom prst="rect">
            <a:avLst/>
          </a:prstGeom>
          <a:noFill/>
        </p:spPr>
        <p:txBody>
          <a:bodyPr wrap="square" lIns="0" rIns="0" tIns="0" bIns="0" anchor="t">
            <a:spAutoFit/>
          </a:bodyPr>
          <a:lstStyle/>
          <a:p>
            <a:pPr algn="l">
              <a:lnSpc>
                <a:spcPct val="116000"/>
              </a:lnSpc>
              <a:spcAft>
                <a:spcPts val="600"/>
              </a:spcAft>
            </a:pPr>
            <a:r>
              <a:rPr sz="1386" b="0" i="0">
                <a:solidFill>
                  <a:srgbClr val="2E7D6F"/>
                </a:solidFill>
                <a:latin typeface="Calibri"/>
              </a:rPr>
              <a:t>VLOOKUP, except it returns EVERY match rather than the first</a:t>
            </a:r>
          </a:p>
        </p:txBody>
      </p:sp>
      <p:sp>
        <p:nvSpPr>
          <p:cNvPr id="21" name="Rectangle 20"/>
          <p:cNvSpPr/>
          <p:nvPr/>
        </p:nvSpPr>
        <p:spPr>
          <a:xfrm>
            <a:off x="576072" y="4788155"/>
            <a:ext cx="11039551" cy="60039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824731"/>
            <a:ext cx="2240280" cy="554672"/>
          </a:xfrm>
          <a:prstGeom prst="rect">
            <a:avLst/>
          </a:prstGeom>
          <a:noFill/>
        </p:spPr>
        <p:txBody>
          <a:bodyPr wrap="square" lIns="0" rIns="0" tIns="0" bIns="0" anchor="t">
            <a:spAutoFit/>
          </a:bodyPr>
          <a:lstStyle/>
          <a:p>
            <a:pPr algn="l">
              <a:lnSpc>
                <a:spcPct val="114000"/>
              </a:lnSpc>
              <a:spcAft>
                <a:spcPts val="600"/>
              </a:spcAft>
            </a:pPr>
            <a:r>
              <a:rPr sz="1452" b="1" i="0">
                <a:solidFill>
                  <a:srgbClr val="1C3144"/>
                </a:solidFill>
                <a:latin typeface="Calibri"/>
              </a:rPr>
              <a:t>Database</a:t>
            </a:r>
          </a:p>
        </p:txBody>
      </p:sp>
      <p:sp>
        <p:nvSpPr>
          <p:cNvPr id="23" name="TextBox 22"/>
          <p:cNvSpPr txBox="1"/>
          <p:nvPr/>
        </p:nvSpPr>
        <p:spPr>
          <a:xfrm>
            <a:off x="3154680" y="4824731"/>
            <a:ext cx="4892040" cy="554672"/>
          </a:xfrm>
          <a:prstGeom prst="rect">
            <a:avLst/>
          </a:prstGeom>
          <a:noFill/>
        </p:spPr>
        <p:txBody>
          <a:bodyPr wrap="square" lIns="0" rIns="0" tIns="0" bIns="0" anchor="t">
            <a:spAutoFit/>
          </a:bodyPr>
          <a:lstStyle/>
          <a:p>
            <a:pPr algn="l">
              <a:lnSpc>
                <a:spcPct val="116000"/>
              </a:lnSpc>
              <a:spcAft>
                <a:spcPts val="600"/>
              </a:spcAft>
            </a:pPr>
            <a:r>
              <a:rPr sz="1386" b="0" i="0">
                <a:solidFill>
                  <a:srgbClr val="334657"/>
                </a:solidFill>
                <a:latin typeface="Calibri"/>
              </a:rPr>
              <a:t>Several related tables kept together, with the types and the keys enforced by the software.</a:t>
            </a:r>
          </a:p>
        </p:txBody>
      </p:sp>
      <p:sp>
        <p:nvSpPr>
          <p:cNvPr id="24" name="TextBox 23"/>
          <p:cNvSpPr txBox="1"/>
          <p:nvPr/>
        </p:nvSpPr>
        <p:spPr>
          <a:xfrm>
            <a:off x="8275320" y="4824731"/>
            <a:ext cx="3230575" cy="554672"/>
          </a:xfrm>
          <a:prstGeom prst="rect">
            <a:avLst/>
          </a:prstGeom>
          <a:noFill/>
        </p:spPr>
        <p:txBody>
          <a:bodyPr wrap="square" lIns="0" rIns="0" tIns="0" bIns="0" anchor="t">
            <a:spAutoFit/>
          </a:bodyPr>
          <a:lstStyle/>
          <a:p>
            <a:pPr algn="l">
              <a:lnSpc>
                <a:spcPct val="116000"/>
              </a:lnSpc>
              <a:spcAft>
                <a:spcPts val="600"/>
              </a:spcAft>
            </a:pPr>
            <a:r>
              <a:rPr sz="1386" b="0" i="0">
                <a:solidFill>
                  <a:srgbClr val="2E7D6F"/>
                </a:solidFill>
                <a:latin typeface="Calibri"/>
              </a:rPr>
              <a:t>A workbook where the rules are not optional</a:t>
            </a:r>
          </a:p>
        </p:txBody>
      </p:sp>
      <p:sp>
        <p:nvSpPr>
          <p:cNvPr id="25" name="TextBox 24"/>
          <p:cNvSpPr txBox="1"/>
          <p:nvPr/>
        </p:nvSpPr>
        <p:spPr>
          <a:xfrm>
            <a:off x="685800" y="5461700"/>
            <a:ext cx="2240280" cy="809149"/>
          </a:xfrm>
          <a:prstGeom prst="rect">
            <a:avLst/>
          </a:prstGeom>
          <a:noFill/>
        </p:spPr>
        <p:txBody>
          <a:bodyPr wrap="square" lIns="0" rIns="0" tIns="0" bIns="0" anchor="t">
            <a:spAutoFit/>
          </a:bodyPr>
          <a:lstStyle/>
          <a:p>
            <a:pPr algn="l">
              <a:lnSpc>
                <a:spcPct val="114000"/>
              </a:lnSpc>
              <a:spcAft>
                <a:spcPts val="600"/>
              </a:spcAft>
            </a:pPr>
            <a:r>
              <a:rPr sz="1452" b="1" i="0">
                <a:solidFill>
                  <a:srgbClr val="1C3144"/>
                </a:solidFill>
                <a:latin typeface="Calibri"/>
              </a:rPr>
              <a:t>Duplication</a:t>
            </a:r>
          </a:p>
        </p:txBody>
      </p:sp>
      <p:sp>
        <p:nvSpPr>
          <p:cNvPr id="26" name="TextBox 25"/>
          <p:cNvSpPr txBox="1"/>
          <p:nvPr/>
        </p:nvSpPr>
        <p:spPr>
          <a:xfrm>
            <a:off x="3154680" y="5461700"/>
            <a:ext cx="4892040" cy="809149"/>
          </a:xfrm>
          <a:prstGeom prst="rect">
            <a:avLst/>
          </a:prstGeom>
          <a:noFill/>
        </p:spPr>
        <p:txBody>
          <a:bodyPr wrap="square" lIns="0" rIns="0" tIns="0" bIns="0" anchor="t">
            <a:spAutoFit/>
          </a:bodyPr>
          <a:lstStyle/>
          <a:p>
            <a:pPr algn="l">
              <a:lnSpc>
                <a:spcPct val="116000"/>
              </a:lnSpc>
              <a:spcAft>
                <a:spcPts val="600"/>
              </a:spcAft>
            </a:pPr>
            <a:r>
              <a:rPr sz="1386" b="0" i="0">
                <a:solidFill>
                  <a:srgbClr val="334657"/>
                </a:solidFill>
                <a:latin typeface="Calibri"/>
              </a:rPr>
              <a:t>The same fact stored in more than one place. It is why one big sheet goes wrong: change a customer's region and you have to change it in every row.</a:t>
            </a:r>
          </a:p>
        </p:txBody>
      </p:sp>
      <p:sp>
        <p:nvSpPr>
          <p:cNvPr id="27" name="TextBox 26"/>
          <p:cNvSpPr txBox="1"/>
          <p:nvPr/>
        </p:nvSpPr>
        <p:spPr>
          <a:xfrm>
            <a:off x="8275320" y="5461700"/>
            <a:ext cx="3230575" cy="809149"/>
          </a:xfrm>
          <a:prstGeom prst="rect">
            <a:avLst/>
          </a:prstGeom>
          <a:noFill/>
        </p:spPr>
        <p:txBody>
          <a:bodyPr wrap="square" lIns="0" rIns="0" tIns="0" bIns="0" anchor="t">
            <a:spAutoFit/>
          </a:bodyPr>
          <a:lstStyle/>
          <a:p>
            <a:pPr algn="l">
              <a:lnSpc>
                <a:spcPct val="116000"/>
              </a:lnSpc>
              <a:spcAft>
                <a:spcPts val="600"/>
              </a:spcAft>
            </a:pPr>
            <a:r>
              <a:rPr sz="1386" b="0" i="1">
                <a:solidFill>
                  <a:srgbClr val="6B7A8A"/>
                </a:solidFill>
                <a:latin typeface="Calibri"/>
              </a:rPr>
              <a:t>no direct equivalent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Explain why a business keeps orders and customers in separate tables instead of one big sheet.</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73532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Find the key that connects two tables, and predict what happens to the row count when they are joined.</a:t>
            </a:r>
          </a:p>
        </p:txBody>
      </p:sp>
      <p:sp>
        <p:nvSpPr>
          <p:cNvPr id="8" name="Oval 7"/>
          <p:cNvSpPr/>
          <p:nvPr/>
        </p:nvSpPr>
        <p:spPr>
          <a:xfrm>
            <a:off x="685800" y="3624827"/>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88251"/>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Say what one row means in each of the six course tables.</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2 of 15  ·  Foundations  ·  Why data lives in several tables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Why is this data in six tables</a:t>
            </a:r>
          </a:p>
          <a:p>
            <a:pPr algn="l">
              <a:lnSpc>
                <a:spcPct val="115000"/>
              </a:lnSpc>
              <a:spcAft>
                <a:spcPts val="600"/>
              </a:spcAft>
            </a:pPr>
            <a:r>
              <a:rPr sz="3400" b="0" i="1">
                <a:solidFill>
                  <a:srgbClr val="FFFFFF"/>
                </a:solidFill>
                <a:latin typeface="Cambria"/>
              </a:rPr>
              <a:t>instead of one big sheet?</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Because one big sheet stores the same fact many times, and every copy is a chance to be wrong.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Why not one big sheet</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Why not one big sheet. Start from the flat export everybody recognises and break it: a customer changes region, and the same fact now has to be edited in four hundred rows, some of which get missed. Then the same data 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PROBLEM</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goes wrong with one big sheet</a:t>
            </a:r>
          </a:p>
        </p:txBody>
      </p:sp>
      <p:sp>
        <p:nvSpPr>
          <p:cNvPr id="4" name="Rounded Rectangle 3"/>
          <p:cNvSpPr/>
          <p:nvPr/>
        </p:nvSpPr>
        <p:spPr>
          <a:xfrm>
            <a:off x="685800" y="1911095"/>
            <a:ext cx="10820095" cy="853900"/>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 y="2146022"/>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6" name="TextBox 5"/>
          <p:cNvSpPr txBox="1"/>
          <p:nvPr/>
        </p:nvSpPr>
        <p:spPr>
          <a:xfrm>
            <a:off x="1554480" y="2029967"/>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The same fact, stored many times</a:t>
            </a:r>
          </a:p>
        </p:txBody>
      </p:sp>
      <p:sp>
        <p:nvSpPr>
          <p:cNvPr id="7" name="TextBox 6"/>
          <p:cNvSpPr txBox="1"/>
          <p:nvPr/>
        </p:nvSpPr>
        <p:spPr>
          <a:xfrm>
            <a:off x="1554480" y="2295144"/>
            <a:ext cx="9631375" cy="378412"/>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A customer's region appears on every one of their orders. One customer, dozens of copies of one fact.</a:t>
            </a:r>
          </a:p>
        </p:txBody>
      </p:sp>
      <p:sp>
        <p:nvSpPr>
          <p:cNvPr id="8" name="Rounded Rectangle 7"/>
          <p:cNvSpPr/>
          <p:nvPr/>
        </p:nvSpPr>
        <p:spPr>
          <a:xfrm>
            <a:off x="685800" y="2819860"/>
            <a:ext cx="10820095" cy="112049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3188083"/>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10" name="TextBox 9"/>
          <p:cNvSpPr txBox="1"/>
          <p:nvPr/>
        </p:nvSpPr>
        <p:spPr>
          <a:xfrm>
            <a:off x="1554480" y="2938732"/>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Every copy is a chance to disagree</a:t>
            </a:r>
          </a:p>
        </p:txBody>
      </p:sp>
      <p:sp>
        <p:nvSpPr>
          <p:cNvPr id="11" name="TextBox 10"/>
          <p:cNvSpPr txBox="1"/>
          <p:nvPr/>
        </p:nvSpPr>
        <p:spPr>
          <a:xfrm>
            <a:off x="1554480" y="3203908"/>
            <a:ext cx="9631375" cy="64500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The customer moves region. Now you edit dozens of rows, and the ones you miss are still there, still wrong, still being summed.</a:t>
            </a:r>
          </a:p>
        </p:txBody>
      </p:sp>
      <p:sp>
        <p:nvSpPr>
          <p:cNvPr id="12" name="Rounded Rectangle 11"/>
          <p:cNvSpPr/>
          <p:nvPr/>
        </p:nvSpPr>
        <p:spPr>
          <a:xfrm>
            <a:off x="685800" y="3995218"/>
            <a:ext cx="10820095" cy="112049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1832" y="4363442"/>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14" name="TextBox 13"/>
          <p:cNvSpPr txBox="1"/>
          <p:nvPr/>
        </p:nvSpPr>
        <p:spPr>
          <a:xfrm>
            <a:off x="1554480" y="4114090"/>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You cannot record something that has not happened</a:t>
            </a:r>
          </a:p>
        </p:txBody>
      </p:sp>
      <p:sp>
        <p:nvSpPr>
          <p:cNvPr id="15" name="TextBox 14"/>
          <p:cNvSpPr txBox="1"/>
          <p:nvPr/>
        </p:nvSpPr>
        <p:spPr>
          <a:xfrm>
            <a:off x="1554480" y="4379266"/>
            <a:ext cx="9631375" cy="64500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A customer who has not ordered this year has no row at all, so they are invisible to every total. The thing you most want to know is the thing the sheet cannot hold.</a:t>
            </a:r>
          </a:p>
        </p:txBody>
      </p:sp>
      <p:sp>
        <p:nvSpPr>
          <p:cNvPr id="16" name="Rounded Rectangle 15"/>
          <p:cNvSpPr/>
          <p:nvPr/>
        </p:nvSpPr>
        <p:spPr>
          <a:xfrm>
            <a:off x="685800" y="5170577"/>
            <a:ext cx="10820095" cy="112049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1832" y="5538800"/>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4</a:t>
            </a:r>
          </a:p>
        </p:txBody>
      </p:sp>
      <p:sp>
        <p:nvSpPr>
          <p:cNvPr id="18" name="TextBox 17"/>
          <p:cNvSpPr txBox="1"/>
          <p:nvPr/>
        </p:nvSpPr>
        <p:spPr>
          <a:xfrm>
            <a:off x="1554480" y="5289449"/>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Six tables fix all three</a:t>
            </a:r>
          </a:p>
        </p:txBody>
      </p:sp>
      <p:sp>
        <p:nvSpPr>
          <p:cNvPr id="19" name="TextBox 18"/>
          <p:cNvSpPr txBox="1"/>
          <p:nvPr/>
        </p:nvSpPr>
        <p:spPr>
          <a:xfrm>
            <a:off x="1554480" y="5554625"/>
            <a:ext cx="9631375" cy="64500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Each fact is stored once, in the table it belongs to. A region change is one edit. A customer with no orders still exists.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Primary key</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column whose value is never repeated, so it identifies exactly one row. Every proper table has one.</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customer_id in the customers table. There is one row for customer 1007 and there will never be another.</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row number. A row number changes when you sort. A primary key belongs to the thing itself and never moves.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Foreign key</a:t>
            </a:r>
          </a:p>
        </p:txBody>
      </p:sp>
      <p:sp>
        <p:nvSpPr>
          <p:cNvPr id="4" name="Rounded Rectangle 3"/>
          <p:cNvSpPr/>
          <p:nvPr/>
        </p:nvSpPr>
        <p:spPr>
          <a:xfrm>
            <a:off x="685800" y="1854203"/>
            <a:ext cx="10820095" cy="799119"/>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451647"/>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column that holds another table's primary key. It is what connects the two tables.</a:t>
            </a:r>
          </a:p>
        </p:txBody>
      </p:sp>
      <p:sp>
        <p:nvSpPr>
          <p:cNvPr id="6" name="Rounded Rectangle 5"/>
          <p:cNvSpPr/>
          <p:nvPr/>
        </p:nvSpPr>
        <p:spPr>
          <a:xfrm>
            <a:off x="685800" y="2927642"/>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2909354"/>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orders.customer_id holds a value from customers.customer_id. That one column is the whole connection, and 172 orders leave it empty because walk-in trade has no customer.</a:t>
            </a:r>
          </a:p>
        </p:txBody>
      </p:sp>
      <p:sp>
        <p:nvSpPr>
          <p:cNvPr id="8" name="Rounded Rectangle 7"/>
          <p:cNvSpPr/>
          <p:nvPr/>
        </p:nvSpPr>
        <p:spPr>
          <a:xfrm>
            <a:off x="685800" y="389395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3875667"/>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lookup value you type into VLOOKUP. Same idea, except the database can refuse a value that does not exist.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One-to-many</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One row on one side matches several rows on the other. It is the commonest relationship in business data and the reason totals go wrong.</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One order has several order lines. One customer has many orders. One rep has many customers. 6,000 orders become 20,234 order 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same business, two different grains</a:t>
            </a:r>
          </a:p>
        </p:txBody>
      </p:sp>
      <p:pic>
        <p:nvPicPr>
          <p:cNvPr id="4" name="Picture 3" descr="fig_grain.png"/>
          <p:cNvPicPr>
            <a:picLocks noChangeAspect="1"/>
          </p:cNvPicPr>
          <p:nvPr/>
        </p:nvPicPr>
        <p:blipFill>
          <a:blip r:embed="rId2"/>
          <a:stretch>
            <a:fillRect/>
          </a:stretch>
        </p:blipFill>
        <p:spPr>
          <a:xfrm>
            <a:off x="2762277" y="1911095"/>
            <a:ext cx="6667139" cy="3709827"/>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Left: one row is one order. Right: one row is one order line, so an order appears more than once. Both are real rows from the course data. The caption is the number to remember.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Grain, keys, and what a join does</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Grain, and what a join does to it. The grain figure: one row is one order against one row is one order line. Then the join figure: INNER against LEFT, and the walk-in orders that disappear from one and survive the other.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128016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a join does, and what an INNER JOIN quietly throws away</a:t>
            </a:r>
          </a:p>
        </p:txBody>
      </p:sp>
      <p:pic>
        <p:nvPicPr>
          <p:cNvPr id="4" name="Picture 3" descr="fig_join.png"/>
          <p:cNvPicPr>
            <a:picLocks noChangeAspect="1"/>
          </p:cNvPicPr>
          <p:nvPr/>
        </p:nvPicPr>
        <p:blipFill>
          <a:blip r:embed="rId2"/>
          <a:stretch>
            <a:fillRect/>
          </a:stretch>
        </p:blipFill>
        <p:spPr>
          <a:xfrm>
            <a:off x="3280483" y="2395728"/>
            <a:ext cx="5630727" cy="3225195"/>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Real counts from the course data. The INNER JOIN loses the 172 walk-in orders because they have no customer to match, and nothing in the output says 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six tables, and how they connect</a:t>
            </a:r>
          </a:p>
        </p:txBody>
      </p:sp>
      <p:pic>
        <p:nvPicPr>
          <p:cNvPr id="4" name="Picture 3" descr="fig_star_schema.png"/>
          <p:cNvPicPr>
            <a:picLocks noChangeAspect="1"/>
          </p:cNvPicPr>
          <p:nvPr/>
        </p:nvPicPr>
        <p:blipFill>
          <a:blip r:embed="rId2"/>
          <a:stretch>
            <a:fillRect/>
          </a:stretch>
        </p:blipFill>
        <p:spPr>
          <a:xfrm>
            <a:off x="2630905" y="1911095"/>
            <a:ext cx="6929884" cy="3709827"/>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You will build exactly this in Power BI in session 14. Tonight you only need to see that the arrows all point the same way: many orders to one customer.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NO TYPING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Tonight's lab has no SQL in it</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DB Browser, Browse Data tab</a:t>
            </a:r>
          </a:p>
        </p:txBody>
      </p:sp>
      <p:sp>
        <p:nvSpPr>
          <p:cNvPr id="5" name="TextBox 4"/>
          <p:cNvSpPr txBox="1"/>
          <p:nvPr/>
        </p:nvSpPr>
        <p:spPr>
          <a:xfrm>
            <a:off x="685800" y="2409332"/>
            <a:ext cx="5204307" cy="1126959"/>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You will click, not type. Open riverside.db, go to Browse Data, and use the dropdown to look at each of the six tables.</a:t>
            </a:r>
          </a:p>
        </p:txBody>
      </p:sp>
      <p:sp>
        <p:nvSpPr>
          <p:cNvPr id="6" name="TextBox 5"/>
          <p:cNvSpPr txBox="1"/>
          <p:nvPr/>
        </p:nvSpPr>
        <p:spPr>
          <a:xfrm>
            <a:off x="685800" y="3591155"/>
            <a:ext cx="5204307" cy="1487372"/>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The point is to get the SHAPE of this business into your head before any syntax arrives. Next session the typing starts, and it is much easier when you already know what is in there.</a:t>
            </a:r>
          </a:p>
        </p:txBody>
      </p:sp>
      <p:sp>
        <p:nvSpPr>
          <p:cNvPr id="7" name="Rounded Rectangle 6"/>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For each of the six tables</a:t>
            </a:r>
          </a:p>
        </p:txBody>
      </p:sp>
      <p:sp>
        <p:nvSpPr>
          <p:cNvPr id="9" name="TextBox 8"/>
          <p:cNvSpPr txBox="1"/>
          <p:nvPr/>
        </p:nvSpPr>
        <p:spPr>
          <a:xfrm>
            <a:off x="6575907" y="2496312"/>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What is the grain? One row is one what?</a:t>
            </a:r>
          </a:p>
        </p:txBody>
      </p:sp>
      <p:sp>
        <p:nvSpPr>
          <p:cNvPr id="10" name="TextBox 9"/>
          <p:cNvSpPr txBox="1"/>
          <p:nvPr/>
        </p:nvSpPr>
        <p:spPr>
          <a:xfrm>
            <a:off x="6575907" y="3025401"/>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What is the primary key?</a:t>
            </a:r>
          </a:p>
        </p:txBody>
      </p:sp>
      <p:sp>
        <p:nvSpPr>
          <p:cNvPr id="11" name="TextBox 10"/>
          <p:cNvSpPr txBox="1"/>
          <p:nvPr/>
        </p:nvSpPr>
        <p:spPr>
          <a:xfrm>
            <a:off x="6575907" y="3554491"/>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Which columns point at another table?</a:t>
            </a:r>
          </a:p>
        </p:txBody>
      </p:sp>
      <p:sp>
        <p:nvSpPr>
          <p:cNvPr id="12" name="TextBox 11"/>
          <p:cNvSpPr txBox="1"/>
          <p:nvPr/>
        </p:nvSpPr>
        <p:spPr>
          <a:xfrm>
            <a:off x="6575907" y="4083581"/>
            <a:ext cx="4655667" cy="974621"/>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Then find an order with no customer_id, and write down what you think that means about how this business trades.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10037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Assuming one row means what you assume it means. Every wrong total later in this course comes from a grain nobody said out loud.</a:t>
            </a:r>
          </a:p>
        </p:txBody>
      </p:sp>
      <p:sp>
        <p:nvSpPr>
          <p:cNvPr id="5" name="TextBox 4"/>
          <p:cNvSpPr txBox="1"/>
          <p:nvPr/>
        </p:nvSpPr>
        <p:spPr>
          <a:xfrm>
            <a:off x="685800" y="27920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2 of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customer moves from Central to Eastern. How many edits in one big sheet, and how many in six tables?</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orders.customer_id is empty on 172 rows. Is that a data error?</a:t>
            </a:r>
          </a:p>
        </p:txBody>
      </p:sp>
      <p:sp>
        <p:nvSpPr>
          <p:cNvPr id="8" name="Oval 7"/>
          <p:cNvSpPr/>
          <p:nvPr/>
        </p:nvSpPr>
        <p:spPr>
          <a:xfrm>
            <a:off x="685800" y="3380716"/>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344140"/>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join orders to order_items. Will the result have more rows, fewer, or the same?</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One edit or many</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One edit in the customers table. In a flat sheet, one edit per order that customer ever placed, and the ones you miss stay wrong and keep being summed.</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Empty customer_id on 172 orders</a:t>
            </a:r>
          </a:p>
        </p:txBody>
      </p:sp>
      <p:sp>
        <p:nvSpPr>
          <p:cNvPr id="9" name="TextBox 8"/>
          <p:cNvSpPr txBox="1"/>
          <p:nvPr/>
        </p:nvSpPr>
        <p:spPr>
          <a:xfrm>
            <a:off x="1216152" y="3352897"/>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No. It is walk-in trade: a real order with real revenue and no customer recorded. It becomes an error only if somebody joins to customers without noticing, which silently removes UGX 390,632,335 from the answer.</a:t>
            </a:r>
          </a:p>
        </p:txBody>
      </p:sp>
      <p:sp>
        <p:nvSpPr>
          <p:cNvPr id="10" name="Oval 9"/>
          <p:cNvSpPr/>
          <p:nvPr/>
        </p:nvSpPr>
        <p:spPr>
          <a:xfrm>
            <a:off x="685800" y="4592054"/>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555478"/>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Row count after joining orders to lines</a:t>
            </a:r>
          </a:p>
        </p:txBody>
      </p:sp>
      <p:sp>
        <p:nvSpPr>
          <p:cNvPr id="12" name="TextBox 11"/>
          <p:cNvSpPr txBox="1"/>
          <p:nvPr/>
        </p:nvSpPr>
        <p:spPr>
          <a:xfrm>
            <a:off x="1216152" y="4848086"/>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More. It is one-to-many, so each order appears once per line: 6,000 becomes 20,234. That is correct, and summing an order-level figure on that result is not.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Map the six tables by clicking</a:t>
            </a:r>
          </a:p>
        </p:txBody>
      </p:sp>
      <p:sp>
        <p:nvSpPr>
          <p:cNvPr id="4" name="Rounded Rectangle 3"/>
          <p:cNvSpPr/>
          <p:nvPr/>
        </p:nvSpPr>
        <p:spPr>
          <a:xfrm>
            <a:off x="685800" y="1911095"/>
            <a:ext cx="10820095" cy="124358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877823"/>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No SQL tonight. In DB Browser's Browse Data tab, work through all six tables and fill in the sheet: grain, primary key, foreign keys. Then draw the six boxes and the arrows between them on paper. Drawing it by hand is what makes it stick.</a:t>
            </a:r>
          </a:p>
        </p:txBody>
      </p:sp>
      <p:sp>
        <p:nvSpPr>
          <p:cNvPr id="6" name="TextBox 5"/>
          <p:cNvSpPr txBox="1"/>
          <p:nvPr/>
        </p:nvSpPr>
        <p:spPr>
          <a:xfrm>
            <a:off x="685800" y="3465575"/>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88620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Grain of each table: one row is one what?</a:t>
            </a:r>
          </a:p>
        </p:txBody>
      </p:sp>
      <p:sp>
        <p:nvSpPr>
          <p:cNvPr id="8" name="TextBox 7"/>
          <p:cNvSpPr txBox="1"/>
          <p:nvPr/>
        </p:nvSpPr>
        <p:spPr>
          <a:xfrm>
            <a:off x="685800" y="430682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Primary key of each table.</a:t>
            </a:r>
          </a:p>
        </p:txBody>
      </p:sp>
      <p:sp>
        <p:nvSpPr>
          <p:cNvPr id="9" name="TextBox 8"/>
          <p:cNvSpPr txBox="1"/>
          <p:nvPr/>
        </p:nvSpPr>
        <p:spPr>
          <a:xfrm>
            <a:off x="685800" y="472744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Every column that points at another table.</a:t>
            </a:r>
          </a:p>
        </p:txBody>
      </p:sp>
      <p:sp>
        <p:nvSpPr>
          <p:cNvPr id="10" name="TextBox 9"/>
          <p:cNvSpPr txBox="1"/>
          <p:nvPr/>
        </p:nvSpPr>
        <p:spPr>
          <a:xfrm>
            <a:off x="6278727" y="388620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Draw the six boxes and the arrows, on paper.</a:t>
            </a:r>
          </a:p>
        </p:txBody>
      </p:sp>
      <p:sp>
        <p:nvSpPr>
          <p:cNvPr id="11" name="TextBox 10"/>
          <p:cNvSpPr txBox="1"/>
          <p:nvPr/>
        </p:nvSpPr>
        <p:spPr>
          <a:xfrm>
            <a:off x="6278727" y="430682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Find an order with no customer and say what it means.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Explain why a business keeps orders and customers in separate tables instead of one big sheet.</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81210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Find the key that connects two tables, and predict what happens to the row count when they are joined.</a:t>
            </a:r>
          </a:p>
        </p:txBody>
      </p:sp>
      <p:sp>
        <p:nvSpPr>
          <p:cNvPr id="8" name="Oval 7"/>
          <p:cNvSpPr/>
          <p:nvPr/>
        </p:nvSpPr>
        <p:spPr>
          <a:xfrm>
            <a:off x="685800" y="3325852"/>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270988"/>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Say what one row means in each of the six course tables.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1237967"/>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835631"/>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Take one report you receive at work and work out how many tables it was probably built from. Name them and the key each would join on. You will be right more often than you expect.</a:t>
            </a:r>
          </a:p>
        </p:txBody>
      </p:sp>
      <p:sp>
        <p:nvSpPr>
          <p:cNvPr id="6" name="Rounded Rectangle 5"/>
          <p:cNvSpPr/>
          <p:nvPr/>
        </p:nvSpPr>
        <p:spPr>
          <a:xfrm>
            <a:off x="685800" y="3423383"/>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990311"/>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Say the grain out loud, every time</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Nearly every wrong total in the rest of this course comes from a grain nobody stated. Two sessions with no code buys you that habit, and it is the cheapest thing you will learn here.</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session: the same tables, and your first query.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