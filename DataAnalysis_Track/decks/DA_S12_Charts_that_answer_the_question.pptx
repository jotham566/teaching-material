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on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is session 12 of twelve.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are what tonight is marked against, in the sense that the lab checks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it needs narrating, it is a chart for you rather than a chart for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scale down the side or along the bottom. Every axis needs a label and a unit, and a value axis usually needs to start at zero.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chart of a distribution: values in bands along the bottom, counts up the side. It is not a bar chart, and the difference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stating the FINDING. Not the variables, not the method: the thing you want the reader to leave with, in words, above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chart is a summary and every summary drops something. Naming what yours drops is the difference between a chart and a claim.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cannot be told to label an axis if nobody has said which part is the axis. Learn these eight words and every piece of chart advice you ever read becomes actionable.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Drawn from the real course data. Pick the chart from the QUESTION, not from the menu: change over time, comparison across categories, the shape of one column, or whether two things move together.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Identical numbers. The left chart does not start at zero, which turns an ordinary month into a collapse. Neither chart contains a false number.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Titling a chart 'Revenue by month'. That is the axes read aloud, and it leaves the reader to do the work you were paid to 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three of the questions from week one and answer each with one chart. Each gets a title that states its finding, labelled axes with units, and one sentence underneath naming what it hides.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chart from a report you receive and redraw it so the title states its finding. Bring both versions.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the cheapest improvement available to any chart you will ever make, and it forces you to decide what you actually found. A chart you cannot title has not finished being analysed.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219724"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12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Charts that answer the question</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If it needs narrating, it is a chart for you rather than a chart for them.</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4  ·  CHARTS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Data visualisation; choosing the right chart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6488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603144"/>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Axis</a:t>
            </a:r>
          </a:p>
        </p:txBody>
      </p:sp>
      <p:sp>
        <p:nvSpPr>
          <p:cNvPr id="9" name="TextBox 8"/>
          <p:cNvSpPr txBox="1"/>
          <p:nvPr/>
        </p:nvSpPr>
        <p:spPr>
          <a:xfrm>
            <a:off x="3154680" y="2276856"/>
            <a:ext cx="4892040" cy="603144"/>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The scale down the side or along the bottom. Every axis needs a label and a unit.</a:t>
            </a:r>
          </a:p>
        </p:txBody>
      </p:sp>
      <p:sp>
        <p:nvSpPr>
          <p:cNvPr id="10" name="TextBox 9"/>
          <p:cNvSpPr txBox="1"/>
          <p:nvPr/>
        </p:nvSpPr>
        <p:spPr>
          <a:xfrm>
            <a:off x="8275320" y="2276856"/>
            <a:ext cx="3230575" cy="603144"/>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
        <p:nvSpPr>
          <p:cNvPr id="11" name="TextBox 10"/>
          <p:cNvSpPr txBox="1"/>
          <p:nvPr/>
        </p:nvSpPr>
        <p:spPr>
          <a:xfrm>
            <a:off x="685800" y="2962296"/>
            <a:ext cx="2240280" cy="603144"/>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Data series</a:t>
            </a:r>
          </a:p>
        </p:txBody>
      </p:sp>
      <p:sp>
        <p:nvSpPr>
          <p:cNvPr id="12" name="TextBox 11"/>
          <p:cNvSpPr txBox="1"/>
          <p:nvPr/>
        </p:nvSpPr>
        <p:spPr>
          <a:xfrm>
            <a:off x="3154680" y="2962296"/>
            <a:ext cx="4892040" cy="603144"/>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One set of values drawn together: one line, one set of bars.</a:t>
            </a:r>
          </a:p>
        </p:txBody>
      </p:sp>
      <p:sp>
        <p:nvSpPr>
          <p:cNvPr id="13" name="TextBox 12"/>
          <p:cNvSpPr txBox="1"/>
          <p:nvPr/>
        </p:nvSpPr>
        <p:spPr>
          <a:xfrm>
            <a:off x="8275320" y="2962296"/>
            <a:ext cx="3230575" cy="603144"/>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
        <p:nvSpPr>
          <p:cNvPr id="14" name="Rectangle 13"/>
          <p:cNvSpPr/>
          <p:nvPr/>
        </p:nvSpPr>
        <p:spPr>
          <a:xfrm>
            <a:off x="576072" y="3611161"/>
            <a:ext cx="11039551" cy="66307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647737"/>
            <a:ext cx="2240280" cy="617351"/>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Categorical and continuous</a:t>
            </a:r>
          </a:p>
        </p:txBody>
      </p:sp>
      <p:sp>
        <p:nvSpPr>
          <p:cNvPr id="16" name="TextBox 15"/>
          <p:cNvSpPr txBox="1"/>
          <p:nvPr/>
        </p:nvSpPr>
        <p:spPr>
          <a:xfrm>
            <a:off x="3154680" y="3647737"/>
            <a:ext cx="4892040" cy="617351"/>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Categories are named groups; continuous values are measured numbers. They need different charts.</a:t>
            </a:r>
          </a:p>
        </p:txBody>
      </p:sp>
      <p:sp>
        <p:nvSpPr>
          <p:cNvPr id="17" name="TextBox 16"/>
          <p:cNvSpPr txBox="1"/>
          <p:nvPr/>
        </p:nvSpPr>
        <p:spPr>
          <a:xfrm>
            <a:off x="8275320" y="3647737"/>
            <a:ext cx="3230575" cy="617351"/>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
        <p:nvSpPr>
          <p:cNvPr id="18" name="TextBox 17"/>
          <p:cNvSpPr txBox="1"/>
          <p:nvPr/>
        </p:nvSpPr>
        <p:spPr>
          <a:xfrm>
            <a:off x="685800" y="4347384"/>
            <a:ext cx="2240280" cy="603144"/>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Histogram</a:t>
            </a:r>
          </a:p>
        </p:txBody>
      </p:sp>
      <p:sp>
        <p:nvSpPr>
          <p:cNvPr id="19" name="TextBox 18"/>
          <p:cNvSpPr txBox="1"/>
          <p:nvPr/>
        </p:nvSpPr>
        <p:spPr>
          <a:xfrm>
            <a:off x="3154680" y="4347384"/>
            <a:ext cx="4892040" cy="603144"/>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A chart of a distribution: values in bands along the bottom, counts up the side. Not a bar chart.</a:t>
            </a:r>
          </a:p>
        </p:txBody>
      </p:sp>
      <p:sp>
        <p:nvSpPr>
          <p:cNvPr id="20" name="TextBox 19"/>
          <p:cNvSpPr txBox="1"/>
          <p:nvPr/>
        </p:nvSpPr>
        <p:spPr>
          <a:xfrm>
            <a:off x="8275320" y="4347384"/>
            <a:ext cx="3230575" cy="603144"/>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
        <p:nvSpPr>
          <p:cNvPr id="21" name="Rectangle 20"/>
          <p:cNvSpPr/>
          <p:nvPr/>
        </p:nvSpPr>
        <p:spPr>
          <a:xfrm>
            <a:off x="576072" y="4996249"/>
            <a:ext cx="11039551" cy="6488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032825"/>
            <a:ext cx="2240280" cy="603144"/>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Truncated axis</a:t>
            </a:r>
          </a:p>
        </p:txBody>
      </p:sp>
      <p:sp>
        <p:nvSpPr>
          <p:cNvPr id="23" name="TextBox 22"/>
          <p:cNvSpPr txBox="1"/>
          <p:nvPr/>
        </p:nvSpPr>
        <p:spPr>
          <a:xfrm>
            <a:off x="3154680" y="5032825"/>
            <a:ext cx="4892040" cy="603144"/>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A value axis that does not start at zero, which makes a small change look enormous.</a:t>
            </a:r>
          </a:p>
        </p:txBody>
      </p:sp>
      <p:sp>
        <p:nvSpPr>
          <p:cNvPr id="24" name="TextBox 23"/>
          <p:cNvSpPr txBox="1"/>
          <p:nvPr/>
        </p:nvSpPr>
        <p:spPr>
          <a:xfrm>
            <a:off x="8275320" y="5032825"/>
            <a:ext cx="3230575" cy="603144"/>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
        <p:nvSpPr>
          <p:cNvPr id="25" name="TextBox 24"/>
          <p:cNvSpPr txBox="1"/>
          <p:nvPr/>
        </p:nvSpPr>
        <p:spPr>
          <a:xfrm>
            <a:off x="685800" y="5718265"/>
            <a:ext cx="2240280" cy="603144"/>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Annotation</a:t>
            </a:r>
          </a:p>
        </p:txBody>
      </p:sp>
      <p:sp>
        <p:nvSpPr>
          <p:cNvPr id="26" name="TextBox 25"/>
          <p:cNvSpPr txBox="1"/>
          <p:nvPr/>
        </p:nvSpPr>
        <p:spPr>
          <a:xfrm>
            <a:off x="3154680" y="5718265"/>
            <a:ext cx="4892040" cy="603144"/>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A note on the chart itself, pointing at the thing you want seen.</a:t>
            </a:r>
          </a:p>
        </p:txBody>
      </p:sp>
      <p:sp>
        <p:nvSpPr>
          <p:cNvPr id="27" name="TextBox 26"/>
          <p:cNvSpPr txBox="1"/>
          <p:nvPr/>
        </p:nvSpPr>
        <p:spPr>
          <a:xfrm>
            <a:off x="8275320" y="5718265"/>
            <a:ext cx="3230575" cy="603144"/>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Name the parts of a chart, and pick the chart a question implies.</a:t>
            </a:r>
          </a:p>
        </p:txBody>
      </p:sp>
      <p:sp>
        <p:nvSpPr>
          <p:cNvPr id="6" name="Oval 5"/>
          <p:cNvSpPr/>
          <p:nvPr/>
        </p:nvSpPr>
        <p:spPr>
          <a:xfrm>
            <a:off x="685800" y="277977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4320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Label a chart so it can be read without you standing next to it.</a:t>
            </a:r>
          </a:p>
        </p:txBody>
      </p:sp>
      <p:sp>
        <p:nvSpPr>
          <p:cNvPr id="8" name="Oval 7"/>
          <p:cNvSpPr/>
          <p:nvPr/>
        </p:nvSpPr>
        <p:spPr>
          <a:xfrm>
            <a:off x="685800" y="360273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6616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Name what your own chart hides.</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12 of 15  ·  Charts  ·  Charts that answer the question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Can somebody read your chart</a:t>
            </a:r>
          </a:p>
          <a:p>
            <a:pPr algn="l">
              <a:lnSpc>
                <a:spcPct val="115000"/>
              </a:lnSpc>
              <a:spcAft>
                <a:spcPts val="600"/>
              </a:spcAft>
            </a:pPr>
            <a:r>
              <a:rPr sz="3400" b="0" i="1">
                <a:solidFill>
                  <a:srgbClr val="FFFFFF"/>
                </a:solidFill>
                <a:latin typeface="Cambria"/>
              </a:rPr>
              <a:t>without you standing next to it?</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If it needs narrating, it is a chart for you rather than a chart for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50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The parts of a chart, and the four that matter</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The anatomy figure first: every part of a chart named, because you cannot be told to label an axis if nobody has said which part is the axis. Then the four charts and the question each answers: line for change over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Axis</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scale down the side or along the bottom. Every axis needs a label and a unit, and a value axis usually needs to start at zero.</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"Revenue, UGX billions" is a labelled axis. "Revenue" is not, because the reader does not know whether the 2 means two shillings, two million or two billion.</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same thing Excel calls an axis. The difference is that here you have to choose the scale deliberately.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Histogram</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chart of a distribution: values in bands along the bottom, counts up the side. It is not a bar chart, and the difference matters.</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bar chart compares named categories. A histogram shows the shape of ONE column of numbers. You met one in session 10; this is the name for it.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Excel will build you a bar chart if you ask for a histogram, and the result looks fine and answers a different question.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chart title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One line stating the FINDING. Not the variables, not the method: the thing you want the reader to leave with, in words, above the picture.</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"Eastern is our largest region, at UGX 2.51bn" rather than "Revenue by region". The second is the axis labels read aloud.</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default title Excel gives you IS the variables. Changing it is the single highest-value thing in this session.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What a chart hides</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Every chart is a summary and every summary drops something. Naming what yours drops is the difference between a chart and a claim.</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monthly revenue line hides the 6,000 individual orders behind it, including whether one order made a month. A regional bar hides that 172 walk-in orders, worth UGX 390,632,335, are in no region at 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LOOK AT THIS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Every part of a chart has a name</a:t>
            </a:r>
          </a:p>
        </p:txBody>
      </p:sp>
      <p:pic>
        <p:nvPicPr>
          <p:cNvPr id="4" name="Picture 3" descr="fig_chart_anatomy.png"/>
          <p:cNvPicPr>
            <a:picLocks noChangeAspect="1"/>
          </p:cNvPicPr>
          <p:nvPr/>
        </p:nvPicPr>
        <p:blipFill>
          <a:blip r:embed="rId2"/>
          <a:stretch>
            <a:fillRect/>
          </a:stretch>
        </p:blipFill>
        <p:spPr>
          <a:xfrm>
            <a:off x="2346554" y="1911095"/>
            <a:ext cx="7498586" cy="3709827"/>
          </a:xfrm>
          <a:prstGeom prst="rect">
            <a:avLst/>
          </a:prstGeom>
        </p:spPr>
      </p:pic>
      <p:sp>
        <p:nvSpPr>
          <p:cNvPr id="5" name="TextBox 4"/>
          <p:cNvSpPr txBox="1"/>
          <p:nvPr/>
        </p:nvSpPr>
        <p:spPr>
          <a:xfrm>
            <a:off x="685800" y="5767227"/>
            <a:ext cx="10820095" cy="706724"/>
          </a:xfrm>
          <a:prstGeom prst="rect">
            <a:avLst/>
          </a:prstGeom>
          <a:noFill/>
        </p:spPr>
        <p:txBody>
          <a:bodyPr wrap="square" lIns="0" rIns="0" tIns="0" bIns="0" anchor="t">
            <a:spAutoFit/>
          </a:bodyPr>
          <a:lstStyle/>
          <a:p>
            <a:pPr algn="l">
              <a:lnSpc>
                <a:spcPct val="120000"/>
              </a:lnSpc>
              <a:spcAft>
                <a:spcPts val="600"/>
              </a:spcAft>
            </a:pPr>
            <a:r>
              <a:rPr sz="1716" b="0" i="0">
                <a:solidFill>
                  <a:srgbClr val="334657"/>
                </a:solidFill>
                <a:latin typeface="Calibri"/>
              </a:rPr>
              <a:t>You cannot be told to label an axis if nobody has said which part is the axis. Learn these eight words and every piece of chart advice you ever read becomes actionable.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LOOK AT THIS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charts, and the question each one answers</a:t>
            </a:r>
          </a:p>
        </p:txBody>
      </p:sp>
      <p:pic>
        <p:nvPicPr>
          <p:cNvPr id="4" name="Picture 3" descr="fig_four_charts.png"/>
          <p:cNvPicPr>
            <a:picLocks noChangeAspect="1"/>
          </p:cNvPicPr>
          <p:nvPr/>
        </p:nvPicPr>
        <p:blipFill>
          <a:blip r:embed="rId2"/>
          <a:stretch>
            <a:fillRect/>
          </a:stretch>
        </p:blipFill>
        <p:spPr>
          <a:xfrm>
            <a:off x="2949119" y="1911095"/>
            <a:ext cx="6293456" cy="3709827"/>
          </a:xfrm>
          <a:prstGeom prst="rect">
            <a:avLst/>
          </a:prstGeom>
        </p:spPr>
      </p:pic>
      <p:sp>
        <p:nvSpPr>
          <p:cNvPr id="5" name="TextBox 4"/>
          <p:cNvSpPr txBox="1"/>
          <p:nvPr/>
        </p:nvSpPr>
        <p:spPr>
          <a:xfrm>
            <a:off x="685800" y="5767227"/>
            <a:ext cx="10820095" cy="706724"/>
          </a:xfrm>
          <a:prstGeom prst="rect">
            <a:avLst/>
          </a:prstGeom>
          <a:noFill/>
        </p:spPr>
        <p:txBody>
          <a:bodyPr wrap="square" lIns="0" rIns="0" tIns="0" bIns="0" anchor="t">
            <a:spAutoFit/>
          </a:bodyPr>
          <a:lstStyle/>
          <a:p>
            <a:pPr algn="l">
              <a:lnSpc>
                <a:spcPct val="120000"/>
              </a:lnSpc>
              <a:spcAft>
                <a:spcPts val="600"/>
              </a:spcAft>
            </a:pPr>
            <a:r>
              <a:rPr sz="1716" b="0" i="0">
                <a:solidFill>
                  <a:srgbClr val="334657"/>
                </a:solidFill>
                <a:latin typeface="Calibri"/>
              </a:rPr>
              <a:t>Drawn from the real course data. Pick the chart from the QUESTION, not from the menu: change over time, comparison across categories, the shape of one column, or whether two things move together.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A line chart nobody has to ask about</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JUPYTER OR COLAB</a:t>
            </a:r>
          </a:p>
        </p:txBody>
      </p:sp>
      <p:sp>
        <p:nvSpPr>
          <p:cNvPr id="5" name="Rectangle 4"/>
          <p:cNvSpPr/>
          <p:nvPr/>
        </p:nvSpPr>
        <p:spPr>
          <a:xfrm>
            <a:off x="685800" y="1911095"/>
            <a:ext cx="10820095" cy="3464052"/>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171444"/>
          </a:xfrm>
          <a:prstGeom prst="rect">
            <a:avLst/>
          </a:prstGeom>
          <a:noFill/>
        </p:spPr>
        <p:txBody>
          <a:bodyPr wrap="square" lIns="0" rIns="0" tIns="0" bIns="0" anchor="t">
            <a:spAutoFit/>
          </a:bodyPr>
          <a:lstStyle/>
          <a:p>
            <a:pPr algn="l">
              <a:lnSpc>
                <a:spcPts val="2244"/>
              </a:lnSpc>
              <a:spcAft>
                <a:spcPts val="0"/>
              </a:spcAft>
            </a:pPr>
            <a:r>
              <a:rPr sz="1650" b="0" i="0">
                <a:solidFill>
                  <a:srgbClr val="D8E3EC"/>
                </a:solidFill>
                <a:latin typeface="Courier New"/>
              </a:rPr>
              <a:t>import matplotlib.pyplot as plt</a:t>
            </a:r>
          </a:p>
          <a:p>
            <a:pPr algn="l">
              <a:lnSpc>
                <a:spcPts val="2244"/>
              </a:lnSpc>
              <a:spcAft>
                <a:spcPts val="0"/>
              </a:spcAft>
            </a:pPr>
            <a:r>
              <a:rPr sz="1650" b="0" i="0">
                <a:solidFill>
                  <a:srgbClr val="D8E3EC"/>
                </a:solidFill>
                <a:latin typeface="Courier New"/>
              </a:rPr>
              <a:t/>
            </a:r>
          </a:p>
          <a:p>
            <a:pPr algn="l">
              <a:lnSpc>
                <a:spcPts val="2244"/>
              </a:lnSpc>
              <a:spcAft>
                <a:spcPts val="0"/>
              </a:spcAft>
            </a:pPr>
            <a:r>
              <a:rPr sz="1650" b="0" i="0">
                <a:solidFill>
                  <a:srgbClr val="D8E3EC"/>
                </a:solidFill>
                <a:latin typeface="Courier New"/>
              </a:rPr>
              <a:t>fig, ax = plt.subplots(figsize=(10, 4.5))</a:t>
            </a:r>
          </a:p>
          <a:p>
            <a:pPr algn="l">
              <a:lnSpc>
                <a:spcPts val="2244"/>
              </a:lnSpc>
              <a:spcAft>
                <a:spcPts val="0"/>
              </a:spcAft>
            </a:pPr>
            <a:r>
              <a:rPr sz="1650" b="0" i="0">
                <a:solidFill>
                  <a:srgbClr val="D8E3EC"/>
                </a:solidFill>
                <a:latin typeface="Courier New"/>
              </a:rPr>
              <a:t>m.plot(ax=ax, linewidth=2)</a:t>
            </a:r>
          </a:p>
          <a:p>
            <a:pPr algn="l">
              <a:lnSpc>
                <a:spcPts val="2244"/>
              </a:lnSpc>
              <a:spcAft>
                <a:spcPts val="0"/>
              </a:spcAft>
            </a:pPr>
            <a:r>
              <a:rPr sz="1650" b="0" i="0">
                <a:solidFill>
                  <a:srgbClr val="D8E3EC"/>
                </a:solidFill>
                <a:latin typeface="Courier New"/>
              </a:rPr>
              <a:t/>
            </a:r>
          </a:p>
          <a:p>
            <a:pPr algn="l">
              <a:lnSpc>
                <a:spcPts val="2244"/>
              </a:lnSpc>
              <a:spcAft>
                <a:spcPts val="0"/>
              </a:spcAft>
            </a:pPr>
            <a:r>
              <a:rPr sz="1650" b="0" i="0">
                <a:solidFill>
                  <a:srgbClr val="D8E3EC"/>
                </a:solidFill>
                <a:latin typeface="Courier New"/>
              </a:rPr>
              <a:t>ax.set_title("December is the biggest month in both years",</a:t>
            </a:r>
          </a:p>
          <a:p>
            <a:pPr algn="l">
              <a:lnSpc>
                <a:spcPts val="2244"/>
              </a:lnSpc>
              <a:spcAft>
                <a:spcPts val="0"/>
              </a:spcAft>
            </a:pPr>
            <a:r>
              <a:rPr sz="1650" b="0" i="0">
                <a:solidFill>
                  <a:srgbClr val="D8E3EC"/>
                </a:solidFill>
                <a:latin typeface="Courier New"/>
              </a:rPr>
              <a:t>             loc="left", fontsize=14, weight="bold")</a:t>
            </a:r>
          </a:p>
          <a:p>
            <a:pPr algn="l">
              <a:lnSpc>
                <a:spcPts val="2244"/>
              </a:lnSpc>
              <a:spcAft>
                <a:spcPts val="0"/>
              </a:spcAft>
            </a:pPr>
            <a:r>
              <a:rPr sz="1650" b="0" i="0">
                <a:solidFill>
                  <a:srgbClr val="D8E3EC"/>
                </a:solidFill>
                <a:latin typeface="Courier New"/>
              </a:rPr>
              <a:t>ax.set_ylabel("Revenue, UGX")</a:t>
            </a:r>
          </a:p>
          <a:p>
            <a:pPr algn="l">
              <a:lnSpc>
                <a:spcPts val="2244"/>
              </a:lnSpc>
              <a:spcAft>
                <a:spcPts val="0"/>
              </a:spcAft>
            </a:pPr>
            <a:r>
              <a:rPr sz="1650" b="0" i="0">
                <a:solidFill>
                  <a:srgbClr val="D8E3EC"/>
                </a:solidFill>
                <a:latin typeface="Courier New"/>
              </a:rPr>
              <a:t>ax.set_xlabel("")              # the dates say it already</a:t>
            </a:r>
          </a:p>
          <a:p>
            <a:pPr algn="l">
              <a:lnSpc>
                <a:spcPts val="2244"/>
              </a:lnSpc>
              <a:spcAft>
                <a:spcPts val="0"/>
              </a:spcAft>
            </a:pPr>
            <a:r>
              <a:rPr sz="1650" b="0" i="0">
                <a:solidFill>
                  <a:srgbClr val="D8E3EC"/>
                </a:solidFill>
                <a:latin typeface="Courier New"/>
              </a:rPr>
              <a:t>ax.set_ylim(0)                  # START AT ZERO</a:t>
            </a:r>
          </a:p>
          <a:p>
            <a:pPr algn="l">
              <a:lnSpc>
                <a:spcPts val="2244"/>
              </a:lnSpc>
              <a:spcAft>
                <a:spcPts val="0"/>
              </a:spcAft>
            </a:pPr>
            <a:r>
              <a:rPr sz="1650" b="0" i="0">
                <a:solidFill>
                  <a:srgbClr val="D8E3EC"/>
                </a:solidFill>
                <a:latin typeface="Courier New"/>
              </a:rPr>
              <a:t>ax.spines[["top", "right"]].set_visible(False)</a:t>
            </a:r>
          </a:p>
        </p:txBody>
      </p:sp>
      <p:sp>
        <p:nvSpPr>
          <p:cNvPr id="7" name="Rounded Rectangle 6"/>
          <p:cNvSpPr/>
          <p:nvPr/>
        </p:nvSpPr>
        <p:spPr>
          <a:xfrm>
            <a:off x="685800" y="5594604"/>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603748"/>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Remove ax.set_ylim(0). matplotlib starts the axis wherever it likes, and on this series an ordinary month suddenly looks like a collapse. It is the commonest accidental lie in business charting and it is one line to prevent.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45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Honesty, and putting the finding in the title</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Honesty and its opposite, each shown beside its corrected version: the truncated axis, the dual axis, the pie chart with eleven slices, the bar chart sorted alphabetically. Then the title rule, which is the whole session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A bar chart, sorted by what it is about</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JUPYTER OR COLAB</a:t>
            </a:r>
          </a:p>
        </p:txBody>
      </p:sp>
      <p:sp>
        <p:nvSpPr>
          <p:cNvPr id="5" name="Rectangle 4"/>
          <p:cNvSpPr/>
          <p:nvPr/>
        </p:nvSpPr>
        <p:spPr>
          <a:xfrm>
            <a:off x="685800" y="1911095"/>
            <a:ext cx="10820095" cy="3293059"/>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000451"/>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rev = (lines.groupby("region")["revenue"].sum()</a:t>
            </a:r>
          </a:p>
          <a:p>
            <a:pPr algn="l">
              <a:lnSpc>
                <a:spcPts val="2333"/>
              </a:lnSpc>
              <a:spcAft>
                <a:spcPts val="0"/>
              </a:spcAft>
            </a:pPr>
            <a:r>
              <a:rPr sz="1716" b="0" i="0">
                <a:solidFill>
                  <a:srgbClr val="D8E3EC"/>
                </a:solidFill>
                <a:latin typeface="Courier New"/>
              </a:rPr>
              <a:t>       .sort_values())            # ascending, for barh</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fig, ax = plt.subplots(figsize=(9, 4))</a:t>
            </a:r>
          </a:p>
          <a:p>
            <a:pPr algn="l">
              <a:lnSpc>
                <a:spcPts val="2333"/>
              </a:lnSpc>
              <a:spcAft>
                <a:spcPts val="0"/>
              </a:spcAft>
            </a:pPr>
            <a:r>
              <a:rPr sz="1716" b="0" i="0">
                <a:solidFill>
                  <a:srgbClr val="D8E3EC"/>
                </a:solidFill>
                <a:latin typeface="Courier New"/>
              </a:rPr>
              <a:t>ax.barh(rev.index, rev / 1e9)</a:t>
            </a:r>
          </a:p>
          <a:p>
            <a:pPr algn="l">
              <a:lnSpc>
                <a:spcPts val="2333"/>
              </a:lnSpc>
              <a:spcAft>
                <a:spcPts val="0"/>
              </a:spcAft>
            </a:pPr>
            <a:r>
              <a:rPr sz="1716" b="0" i="0">
                <a:solidFill>
                  <a:srgbClr val="D8E3EC"/>
                </a:solidFill>
                <a:latin typeface="Courier New"/>
              </a:rPr>
              <a:t>ax.set_title("Eastern is our largest region",</a:t>
            </a:r>
          </a:p>
          <a:p>
            <a:pPr algn="l">
              <a:lnSpc>
                <a:spcPts val="2333"/>
              </a:lnSpc>
              <a:spcAft>
                <a:spcPts val="0"/>
              </a:spcAft>
            </a:pPr>
            <a:r>
              <a:rPr sz="1716" b="0" i="0">
                <a:solidFill>
                  <a:srgbClr val="D8E3EC"/>
                </a:solidFill>
                <a:latin typeface="Courier New"/>
              </a:rPr>
              <a:t>             loc="left", fontsize=14, weight="bold")</a:t>
            </a:r>
          </a:p>
          <a:p>
            <a:pPr algn="l">
              <a:lnSpc>
                <a:spcPts val="2333"/>
              </a:lnSpc>
              <a:spcAft>
                <a:spcPts val="0"/>
              </a:spcAft>
            </a:pPr>
            <a:r>
              <a:rPr sz="1716" b="0" i="0">
                <a:solidFill>
                  <a:srgbClr val="D8E3EC"/>
                </a:solidFill>
                <a:latin typeface="Courier New"/>
              </a:rPr>
              <a:t>ax.set_xlabel("Revenue, UGX billions")</a:t>
            </a:r>
          </a:p>
          <a:p>
            <a:pPr algn="l">
              <a:lnSpc>
                <a:spcPts val="2333"/>
              </a:lnSpc>
              <a:spcAft>
                <a:spcPts val="0"/>
              </a:spcAft>
            </a:pPr>
            <a:r>
              <a:rPr sz="1716" b="0" i="0">
                <a:solidFill>
                  <a:srgbClr val="D8E3EC"/>
                </a:solidFill>
                <a:latin typeface="Courier New"/>
              </a:rPr>
              <a:t>for i, v in enumerate(rev / 1e9):</a:t>
            </a:r>
          </a:p>
          <a:p>
            <a:pPr algn="l">
              <a:lnSpc>
                <a:spcPts val="2333"/>
              </a:lnSpc>
              <a:spcAft>
                <a:spcPts val="0"/>
              </a:spcAft>
            </a:pPr>
            <a:r>
              <a:rPr sz="1716" b="0" i="0">
                <a:solidFill>
                  <a:srgbClr val="D8E3EC"/>
                </a:solidFill>
                <a:latin typeface="Courier New"/>
              </a:rPr>
              <a:t>    ax.text(v, i, f" {v:.2f}", va="center")</a:t>
            </a:r>
          </a:p>
        </p:txBody>
      </p:sp>
      <p:sp>
        <p:nvSpPr>
          <p:cNvPr id="7" name="Rounded Rectangle 6"/>
          <p:cNvSpPr/>
          <p:nvPr/>
        </p:nvSpPr>
        <p:spPr>
          <a:xfrm>
            <a:off x="685800" y="5423611"/>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432755"/>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Sort it alphabetically instead. The chart still looks professional, and the ranking, which is the entire point, now has to be worked out by the reader one bar at a 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LOOK AT THIS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same real data, twice, telling two different stories</a:t>
            </a:r>
          </a:p>
        </p:txBody>
      </p:sp>
      <p:pic>
        <p:nvPicPr>
          <p:cNvPr id="4" name="Picture 3" descr="fig_axis_honesty.png"/>
          <p:cNvPicPr>
            <a:picLocks noChangeAspect="1"/>
          </p:cNvPicPr>
          <p:nvPr/>
        </p:nvPicPr>
        <p:blipFill>
          <a:blip r:embed="rId2"/>
          <a:stretch>
            <a:fillRect/>
          </a:stretch>
        </p:blipFill>
        <p:spPr>
          <a:xfrm>
            <a:off x="2346554" y="1911095"/>
            <a:ext cx="7498586" cy="3709827"/>
          </a:xfrm>
          <a:prstGeom prst="rect">
            <a:avLst/>
          </a:prstGeom>
        </p:spPr>
      </p:pic>
      <p:sp>
        <p:nvSpPr>
          <p:cNvPr id="5" name="TextBox 4"/>
          <p:cNvSpPr txBox="1"/>
          <p:nvPr/>
        </p:nvSpPr>
        <p:spPr>
          <a:xfrm>
            <a:off x="685800" y="5767227"/>
            <a:ext cx="10820095" cy="706724"/>
          </a:xfrm>
          <a:prstGeom prst="rect">
            <a:avLst/>
          </a:prstGeom>
          <a:noFill/>
        </p:spPr>
        <p:txBody>
          <a:bodyPr wrap="square" lIns="0" rIns="0" tIns="0" bIns="0" anchor="t">
            <a:spAutoFit/>
          </a:bodyPr>
          <a:lstStyle/>
          <a:p>
            <a:pPr algn="l">
              <a:lnSpc>
                <a:spcPct val="120000"/>
              </a:lnSpc>
              <a:spcAft>
                <a:spcPts val="600"/>
              </a:spcAft>
            </a:pPr>
            <a:r>
              <a:rPr sz="1716" b="0" i="0">
                <a:solidFill>
                  <a:srgbClr val="334657"/>
                </a:solidFill>
                <a:latin typeface="Calibri"/>
              </a:rPr>
              <a:t>Identical numbers. The left chart does not start at zero, which turns an ordinary month into a collapse. Neither chart contains a false number.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1100371"/>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Titling a chart 'Revenue by month'. That is the axes read aloud, and it leaves the reader to do the work you were paid to do.</a:t>
            </a:r>
          </a:p>
        </p:txBody>
      </p:sp>
      <p:sp>
        <p:nvSpPr>
          <p:cNvPr id="5" name="TextBox 4"/>
          <p:cNvSpPr txBox="1"/>
          <p:nvPr/>
        </p:nvSpPr>
        <p:spPr>
          <a:xfrm>
            <a:off x="685800" y="2792011"/>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12 of 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chart is titled "Revenue by region". What is wrong with that?</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When is a truncated y axis legitimate?</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Name something a monthly revenue line necessarily hides.</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"Revenue by region" as a title</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It is the axes read aloud. It states the method rather than the finding, so the reader has to do the analysis themselves. "Eastern is our largest region, at UGX 2.51bn" is the same chart doing its job.</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When truncation is legitimate</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When zero is not meaningful and the audience knows it: body temperature, an index, a share price over one day. For revenue, volumes or counts, start at zero.</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What a monthly line hides</a:t>
            </a:r>
          </a:p>
        </p:txBody>
      </p:sp>
      <p:sp>
        <p:nvSpPr>
          <p:cNvPr id="12" name="TextBox 11"/>
          <p:cNvSpPr txBox="1"/>
          <p:nvPr/>
        </p:nvSpPr>
        <p:spPr>
          <a:xfrm>
            <a:off x="1216152" y="4502090"/>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The distribution inside each month. One large order can make a month, and the line cannot show you that. The largest single order here is UGX 46,552,400, which is visible in a histogram and invisible in a monthly total.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Three charts that answer three questions</a:t>
            </a:r>
          </a:p>
        </p:txBody>
      </p:sp>
      <p:sp>
        <p:nvSpPr>
          <p:cNvPr id="4" name="Rounded Rectangle 3"/>
          <p:cNvSpPr/>
          <p:nvPr/>
        </p:nvSpPr>
        <p:spPr>
          <a:xfrm>
            <a:off x="685800" y="1911095"/>
            <a:ext cx="10820095" cy="96926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603504"/>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Take three of the questions from week one and answer each with one chart. Each gets a title that states its finding, labelled axes with units, and one sentence underneath naming what it hides.</a:t>
            </a:r>
          </a:p>
        </p:txBody>
      </p:sp>
      <p:sp>
        <p:nvSpPr>
          <p:cNvPr id="6" name="TextBox 5"/>
          <p:cNvSpPr txBox="1"/>
          <p:nvPr/>
        </p:nvSpPr>
        <p:spPr>
          <a:xfrm>
            <a:off x="685800" y="319125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Which of the four chart types does each question imply?</a:t>
            </a:r>
          </a:p>
        </p:txBody>
      </p:sp>
      <p:sp>
        <p:nvSpPr>
          <p:cNvPr id="8" name="TextBox 7"/>
          <p:cNvSpPr txBox="1"/>
          <p:nvPr/>
        </p:nvSpPr>
        <p:spPr>
          <a:xfrm>
            <a:off x="685800"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Title: the finding, in words, not the variables.</a:t>
            </a:r>
          </a:p>
        </p:txBody>
      </p:sp>
      <p:sp>
        <p:nvSpPr>
          <p:cNvPr id="9" name="TextBox 8"/>
          <p:cNvSpPr txBox="1"/>
          <p:nvPr/>
        </p:nvSpPr>
        <p:spPr>
          <a:xfrm>
            <a:off x="685800" y="445312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Axis labels with units. Y axis from zero unless you can justify otherwise.</a:t>
            </a:r>
          </a:p>
        </p:txBody>
      </p:sp>
      <p:sp>
        <p:nvSpPr>
          <p:cNvPr id="10" name="TextBox 9"/>
          <p:cNvSpPr txBox="1"/>
          <p:nvPr/>
        </p:nvSpPr>
        <p:spPr>
          <a:xfrm>
            <a:off x="6278727"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One annotation pointing at the thing you want seen.</a:t>
            </a:r>
          </a:p>
        </p:txBody>
      </p:sp>
      <p:sp>
        <p:nvSpPr>
          <p:cNvPr id="11" name="TextBox 10"/>
          <p:cNvSpPr txBox="1"/>
          <p:nvPr/>
        </p:nvSpPr>
        <p:spPr>
          <a:xfrm>
            <a:off x="6278727"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One sentence under each: what does this chart NOT show?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Name the parts of a chart, and pick the chart a question implies.</a:t>
            </a:r>
          </a:p>
        </p:txBody>
      </p:sp>
      <p:sp>
        <p:nvSpPr>
          <p:cNvPr id="6" name="Oval 5"/>
          <p:cNvSpPr/>
          <p:nvPr/>
        </p:nvSpPr>
        <p:spPr>
          <a:xfrm>
            <a:off x="685800" y="246802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13161"/>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Label a chart so it can be read without you standing next to it.</a:t>
            </a:r>
          </a:p>
        </p:txBody>
      </p:sp>
      <p:sp>
        <p:nvSpPr>
          <p:cNvPr id="8" name="Oval 7"/>
          <p:cNvSpPr/>
          <p:nvPr/>
        </p:nvSpPr>
        <p:spPr>
          <a:xfrm>
            <a:off x="685800" y="297009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15227"/>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Name what your own chart hides.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1237967"/>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835631"/>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Take a chart from a report you receive and redraw it so the title states its finding. Bring both versions.</a:t>
            </a:r>
          </a:p>
        </p:txBody>
      </p:sp>
      <p:sp>
        <p:nvSpPr>
          <p:cNvPr id="6" name="Rounded Rectangle 5"/>
          <p:cNvSpPr/>
          <p:nvPr/>
        </p:nvSpPr>
        <p:spPr>
          <a:xfrm>
            <a:off x="685800" y="3423383"/>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990311"/>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Put the finding in the title</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It is the cheapest improvement available to any chart you will ever make, and it forces you to decide what you actually found. A chart you cannot title has not finished being analysed.</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week: a whole investigation, then Power BI, then five minutes in front of the room.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