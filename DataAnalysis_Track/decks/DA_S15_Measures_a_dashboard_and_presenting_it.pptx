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on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is session 15 of twelve.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what tonight is marked against, in the sense that the lab checks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number, one comparison, and a title that says what you found. Everything else on the page is competing with those.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calculation worked out when a visual asks for it, inside that visual's filters. The same measure gives a different number in every cell of a table, which is the point of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calculation worked out once per row when the data loads, and then fixed. It cannot respond to a slicer.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somebody should do, with the number that justifies it and the conditions under which it stops being true. One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more than about fourteen participants, five minutes each will not fit alongside the dashboard clinic. Either run the presentations in two parallel groups with a second marker, or add a sixteenth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dashboard with fourteen visuals and no answer, presented method first. Nobody outside the room cares which library you used.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fifty minutes: finish it, with every total reconciled. Then five minutes each plus questions from the room, and twenty minutes at the end on the one report you will replace at work this month.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Send the dashboard to the person who asked the question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 smaller claim than a certificate implies and a bigger one than it sounds. Most organisations have very few people who will say what they found, what it cost, and what would change their mind.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21972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15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Measures, a dashboard, and presenting it</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One number, one comparison, and a title that says what you found. Everything else on the page is competing with those.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POWER BI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BI tools: DAX basics, dashboards; reporting and storytelling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731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Measure</a:t>
            </a:r>
          </a:p>
        </p:txBody>
      </p:sp>
      <p:sp>
        <p:nvSpPr>
          <p:cNvPr id="9" name="TextBox 8"/>
          <p:cNvSpPr txBox="1"/>
          <p:nvPr/>
        </p:nvSpPr>
        <p:spPr>
          <a:xfrm>
            <a:off x="3154680" y="2276856"/>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A calculation worked out when a visual asks for it, inside that visual's filters.</a:t>
            </a:r>
          </a:p>
        </p:txBody>
      </p:sp>
      <p:sp>
        <p:nvSpPr>
          <p:cNvPr id="10" name="TextBox 9"/>
          <p:cNvSpPr txBox="1"/>
          <p:nvPr/>
        </p:nvSpPr>
        <p:spPr>
          <a:xfrm>
            <a:off x="8275320" y="2276856"/>
            <a:ext cx="3230575"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 pivot table value field</a:t>
            </a:r>
          </a:p>
        </p:txBody>
      </p:sp>
      <p:sp>
        <p:nvSpPr>
          <p:cNvPr id="11" name="TextBox 10"/>
          <p:cNvSpPr txBox="1"/>
          <p:nvPr/>
        </p:nvSpPr>
        <p:spPr>
          <a:xfrm>
            <a:off x="685800" y="2986532"/>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Calculated column</a:t>
            </a:r>
          </a:p>
        </p:txBody>
      </p:sp>
      <p:sp>
        <p:nvSpPr>
          <p:cNvPr id="12" name="TextBox 11"/>
          <p:cNvSpPr txBox="1"/>
          <p:nvPr/>
        </p:nvSpPr>
        <p:spPr>
          <a:xfrm>
            <a:off x="3154680" y="2986532"/>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A calculation worked out once per row when the data loads, and then fixed.</a:t>
            </a:r>
          </a:p>
        </p:txBody>
      </p:sp>
      <p:sp>
        <p:nvSpPr>
          <p:cNvPr id="13" name="TextBox 12"/>
          <p:cNvSpPr txBox="1"/>
          <p:nvPr/>
        </p:nvSpPr>
        <p:spPr>
          <a:xfrm>
            <a:off x="8275320" y="2986532"/>
            <a:ext cx="3230575"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 formula column</a:t>
            </a:r>
          </a:p>
        </p:txBody>
      </p:sp>
      <p:sp>
        <p:nvSpPr>
          <p:cNvPr id="14" name="Rectangle 13"/>
          <p:cNvSpPr/>
          <p:nvPr/>
        </p:nvSpPr>
        <p:spPr>
          <a:xfrm>
            <a:off x="576072" y="3659632"/>
            <a:ext cx="11039551" cy="6731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696208"/>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Filter context</a:t>
            </a:r>
          </a:p>
        </p:txBody>
      </p:sp>
      <p:sp>
        <p:nvSpPr>
          <p:cNvPr id="16" name="TextBox 15"/>
          <p:cNvSpPr txBox="1"/>
          <p:nvPr/>
        </p:nvSpPr>
        <p:spPr>
          <a:xfrm>
            <a:off x="3154680" y="3696208"/>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The filters in force where a measure is evaluated: the row, the slicer, the chart axis.</a:t>
            </a:r>
          </a:p>
        </p:txBody>
      </p:sp>
      <p:sp>
        <p:nvSpPr>
          <p:cNvPr id="17" name="TextBox 16"/>
          <p:cNvSpPr txBox="1"/>
          <p:nvPr/>
        </p:nvSpPr>
        <p:spPr>
          <a:xfrm>
            <a:off x="8275320" y="3696208"/>
            <a:ext cx="3230575" cy="627380"/>
          </a:xfrm>
          <a:prstGeom prst="rect">
            <a:avLst/>
          </a:prstGeom>
          <a:noFill/>
        </p:spPr>
        <p:txBody>
          <a:bodyPr wrap="square" lIns="0" rIns="0" tIns="0" bIns="0" anchor="t">
            <a:spAutoFit/>
          </a:bodyPr>
          <a:lstStyle/>
          <a:p>
            <a:pPr algn="l">
              <a:lnSpc>
                <a:spcPct val="116000"/>
              </a:lnSpc>
              <a:spcAft>
                <a:spcPts val="600"/>
              </a:spcAft>
            </a:pPr>
            <a:r>
              <a:rPr sz="1584" b="0" i="1">
                <a:solidFill>
                  <a:srgbClr val="6B7A8A"/>
                </a:solidFill>
                <a:latin typeface="Calibri"/>
              </a:rPr>
              <a:t>no direct equivalent</a:t>
            </a:r>
          </a:p>
        </p:txBody>
      </p:sp>
      <p:sp>
        <p:nvSpPr>
          <p:cNvPr id="18" name="TextBox 17"/>
          <p:cNvSpPr txBox="1"/>
          <p:nvPr/>
        </p:nvSpPr>
        <p:spPr>
          <a:xfrm>
            <a:off x="685800" y="4405885"/>
            <a:ext cx="2240280" cy="343444"/>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DAX</a:t>
            </a:r>
          </a:p>
        </p:txBody>
      </p:sp>
      <p:sp>
        <p:nvSpPr>
          <p:cNvPr id="19" name="TextBox 18"/>
          <p:cNvSpPr txBox="1"/>
          <p:nvPr/>
        </p:nvSpPr>
        <p:spPr>
          <a:xfrm>
            <a:off x="3154680" y="4405885"/>
            <a:ext cx="4892040"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The formula language Power BI measures are written in.</a:t>
            </a:r>
          </a:p>
        </p:txBody>
      </p:sp>
      <p:sp>
        <p:nvSpPr>
          <p:cNvPr id="20" name="TextBox 19"/>
          <p:cNvSpPr txBox="1"/>
          <p:nvPr/>
        </p:nvSpPr>
        <p:spPr>
          <a:xfrm>
            <a:off x="8275320" y="4405885"/>
            <a:ext cx="3230575" cy="343444"/>
          </a:xfrm>
          <a:prstGeom prst="rect">
            <a:avLst/>
          </a:prstGeom>
          <a:noFill/>
        </p:spPr>
        <p:txBody>
          <a:bodyPr wrap="square" lIns="0" rIns="0" tIns="0" bIns="0" anchor="t">
            <a:spAutoFit/>
          </a:bodyPr>
          <a:lstStyle/>
          <a:p>
            <a:pPr algn="l">
              <a:lnSpc>
                <a:spcPct val="116000"/>
              </a:lnSpc>
              <a:spcAft>
                <a:spcPts val="600"/>
              </a:spcAft>
            </a:pPr>
            <a:r>
              <a:rPr sz="1584" b="0" i="1">
                <a:solidFill>
                  <a:srgbClr val="6B7A8A"/>
                </a:solidFill>
                <a:latin typeface="Calibri"/>
              </a:rPr>
              <a:t>no direct equivalent</a:t>
            </a:r>
          </a:p>
        </p:txBody>
      </p:sp>
      <p:sp>
        <p:nvSpPr>
          <p:cNvPr id="21" name="Rectangle 20"/>
          <p:cNvSpPr/>
          <p:nvPr/>
        </p:nvSpPr>
        <p:spPr>
          <a:xfrm>
            <a:off x="576072" y="4795049"/>
            <a:ext cx="11039551" cy="3891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831625"/>
            <a:ext cx="2240280" cy="343444"/>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Slicer</a:t>
            </a:r>
          </a:p>
        </p:txBody>
      </p:sp>
      <p:sp>
        <p:nvSpPr>
          <p:cNvPr id="23" name="TextBox 22"/>
          <p:cNvSpPr txBox="1"/>
          <p:nvPr/>
        </p:nvSpPr>
        <p:spPr>
          <a:xfrm>
            <a:off x="3154680" y="4831625"/>
            <a:ext cx="4892040"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An on-page filter the reader can change.</a:t>
            </a:r>
          </a:p>
        </p:txBody>
      </p:sp>
      <p:sp>
        <p:nvSpPr>
          <p:cNvPr id="24" name="TextBox 23"/>
          <p:cNvSpPr txBox="1"/>
          <p:nvPr/>
        </p:nvSpPr>
        <p:spPr>
          <a:xfrm>
            <a:off x="8275320" y="4831625"/>
            <a:ext cx="3230575" cy="343444"/>
          </a:xfrm>
          <a:prstGeom prst="rect">
            <a:avLst/>
          </a:prstGeom>
          <a:noFill/>
        </p:spPr>
        <p:txBody>
          <a:bodyPr wrap="square" lIns="0" rIns="0" tIns="0" bIns="0" anchor="t">
            <a:spAutoFit/>
          </a:bodyPr>
          <a:lstStyle/>
          <a:p>
            <a:pPr algn="l">
              <a:lnSpc>
                <a:spcPct val="116000"/>
              </a:lnSpc>
              <a:spcAft>
                <a:spcPts val="600"/>
              </a:spcAft>
            </a:pPr>
            <a:r>
              <a:rPr sz="1584" b="0" i="0">
                <a:solidFill>
                  <a:srgbClr val="2E7D6F"/>
                </a:solidFill>
                <a:latin typeface="Calibri"/>
              </a:rPr>
              <a:t>A pivot table filter</a:t>
            </a:r>
          </a:p>
        </p:txBody>
      </p:sp>
      <p:sp>
        <p:nvSpPr>
          <p:cNvPr id="25" name="TextBox 24"/>
          <p:cNvSpPr txBox="1"/>
          <p:nvPr/>
        </p:nvSpPr>
        <p:spPr>
          <a:xfrm>
            <a:off x="685800" y="5257366"/>
            <a:ext cx="2240280" cy="627380"/>
          </a:xfrm>
          <a:prstGeom prst="rect">
            <a:avLst/>
          </a:prstGeom>
          <a:noFill/>
        </p:spPr>
        <p:txBody>
          <a:bodyPr wrap="square" lIns="0" rIns="0" tIns="0" bIns="0" anchor="t">
            <a:spAutoFit/>
          </a:bodyPr>
          <a:lstStyle/>
          <a:p>
            <a:pPr algn="l">
              <a:lnSpc>
                <a:spcPct val="114000"/>
              </a:lnSpc>
              <a:spcAft>
                <a:spcPts val="600"/>
              </a:spcAft>
            </a:pPr>
            <a:r>
              <a:rPr sz="1650" b="1" i="0">
                <a:solidFill>
                  <a:srgbClr val="1C3144"/>
                </a:solidFill>
                <a:latin typeface="Calibri"/>
              </a:rPr>
              <a:t>Recommendation</a:t>
            </a:r>
          </a:p>
        </p:txBody>
      </p:sp>
      <p:sp>
        <p:nvSpPr>
          <p:cNvPr id="26" name="TextBox 25"/>
          <p:cNvSpPr txBox="1"/>
          <p:nvPr/>
        </p:nvSpPr>
        <p:spPr>
          <a:xfrm>
            <a:off x="3154680" y="5257366"/>
            <a:ext cx="4892040" cy="627380"/>
          </a:xfrm>
          <a:prstGeom prst="rect">
            <a:avLst/>
          </a:prstGeom>
          <a:noFill/>
        </p:spPr>
        <p:txBody>
          <a:bodyPr wrap="square" lIns="0" rIns="0" tIns="0" bIns="0" anchor="t">
            <a:spAutoFit/>
          </a:bodyPr>
          <a:lstStyle/>
          <a:p>
            <a:pPr algn="l">
              <a:lnSpc>
                <a:spcPct val="116000"/>
              </a:lnSpc>
              <a:spcAft>
                <a:spcPts val="600"/>
              </a:spcAft>
            </a:pPr>
            <a:r>
              <a:rPr sz="1584" b="0" i="0">
                <a:solidFill>
                  <a:srgbClr val="334657"/>
                </a:solidFill>
                <a:latin typeface="Calibri"/>
              </a:rPr>
              <a:t>What somebody should do, with the number that justifies it and the conditions under which it stops being true.</a:t>
            </a:r>
          </a:p>
        </p:txBody>
      </p:sp>
      <p:sp>
        <p:nvSpPr>
          <p:cNvPr id="27" name="TextBox 26"/>
          <p:cNvSpPr txBox="1"/>
          <p:nvPr/>
        </p:nvSpPr>
        <p:spPr>
          <a:xfrm>
            <a:off x="8275320" y="5257366"/>
            <a:ext cx="3230575" cy="627380"/>
          </a:xfrm>
          <a:prstGeom prst="rect">
            <a:avLst/>
          </a:prstGeom>
          <a:noFill/>
        </p:spPr>
        <p:txBody>
          <a:bodyPr wrap="square" lIns="0" rIns="0" tIns="0" bIns="0" anchor="t">
            <a:spAutoFit/>
          </a:bodyPr>
          <a:lstStyle/>
          <a:p>
            <a:pPr algn="l">
              <a:lnSpc>
                <a:spcPct val="116000"/>
              </a:lnSpc>
              <a:spcAft>
                <a:spcPts val="600"/>
              </a:spcAft>
            </a:pPr>
            <a:r>
              <a:rPr sz="1584"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Write a measure, and say why it is not a column.</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Lay out a dashboard for somebody who will look at it for thirty seconds.</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Present an analysis in five minutes and take a hard question.</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15 of 15  ·  Power BI  ·  Measures, a dashboard, and presenting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What does somebody take away</a:t>
            </a:r>
          </a:p>
          <a:p>
            <a:pPr algn="l">
              <a:lnSpc>
                <a:spcPct val="115000"/>
              </a:lnSpc>
              <a:spcAft>
                <a:spcPts val="600"/>
              </a:spcAft>
            </a:pPr>
            <a:r>
              <a:rPr sz="3400" b="0" i="1">
                <a:solidFill>
                  <a:srgbClr val="FFFFFF"/>
                </a:solidFill>
                <a:latin typeface="Cambria"/>
              </a:rPr>
              <a:t>in the thirty seconds they will give you?</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One number, one comparison, and a title that says what you found. Everything else on the page is competing with those.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measures, and why a measure is not a column</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Three measures and one rule: a measure is evaluated in the filter context of whatever asked for it, which is why it is not a column. SUM, DIVIDE instead of the division operator, and CALCULATE to change the filter. Each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LAYOUT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dashboard for somebody with thirty seconds</a:t>
            </a:r>
          </a:p>
        </p:txBody>
      </p:sp>
      <p:sp>
        <p:nvSpPr>
          <p:cNvPr id="4" name="Rounded Rectangle 3"/>
          <p:cNvSpPr/>
          <p:nvPr/>
        </p:nvSpPr>
        <p:spPr>
          <a:xfrm>
            <a:off x="685800" y="1911095"/>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135124"/>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number they came for, top left</a:t>
            </a:r>
          </a:p>
        </p:txBody>
      </p:sp>
      <p:sp>
        <p:nvSpPr>
          <p:cNvPr id="7" name="TextBox 6"/>
          <p:cNvSpPr txBox="1"/>
          <p:nvPr/>
        </p:nvSpPr>
        <p:spPr>
          <a:xfrm>
            <a:off x="1554480" y="2295144"/>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card. Readers start top left, and the number in that position is the one that gets remembered.</a:t>
            </a:r>
          </a:p>
        </p:txBody>
      </p:sp>
      <p:sp>
        <p:nvSpPr>
          <p:cNvPr id="8" name="Rounded Rectangle 7"/>
          <p:cNvSpPr/>
          <p:nvPr/>
        </p:nvSpPr>
        <p:spPr>
          <a:xfrm>
            <a:off x="685800" y="2798064"/>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02209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291693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Five visuals, maximum. Four is better.</a:t>
            </a:r>
          </a:p>
        </p:txBody>
      </p:sp>
      <p:sp>
        <p:nvSpPr>
          <p:cNvPr id="11" name="TextBox 10"/>
          <p:cNvSpPr txBox="1"/>
          <p:nvPr/>
        </p:nvSpPr>
        <p:spPr>
          <a:xfrm>
            <a:off x="1554480" y="3182112"/>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Every extra visual reduces the chance that any of them is read.</a:t>
            </a:r>
          </a:p>
        </p:txBody>
      </p:sp>
      <p:sp>
        <p:nvSpPr>
          <p:cNvPr id="12" name="Rounded Rectangle 11"/>
          <p:cNvSpPr/>
          <p:nvPr/>
        </p:nvSpPr>
        <p:spPr>
          <a:xfrm>
            <a:off x="685800" y="3685032"/>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390906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3803904"/>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 title that states the finding</a:t>
            </a:r>
          </a:p>
        </p:txBody>
      </p:sp>
      <p:sp>
        <p:nvSpPr>
          <p:cNvPr id="15" name="TextBox 14"/>
          <p:cNvSpPr txBox="1"/>
          <p:nvPr/>
        </p:nvSpPr>
        <p:spPr>
          <a:xfrm>
            <a:off x="1554480" y="4069080"/>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Not "Sales Dashboard". The same rule as a chart title, applied to the page.</a:t>
            </a:r>
          </a:p>
        </p:txBody>
      </p:sp>
      <p:sp>
        <p:nvSpPr>
          <p:cNvPr id="16" name="Rounded Rectangle 15"/>
          <p:cNvSpPr/>
          <p:nvPr/>
        </p:nvSpPr>
        <p:spPr>
          <a:xfrm>
            <a:off x="685800" y="4572000"/>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4796028"/>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46908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One slicer, not five</a:t>
            </a:r>
          </a:p>
        </p:txBody>
      </p:sp>
      <p:sp>
        <p:nvSpPr>
          <p:cNvPr id="19" name="TextBox 18"/>
          <p:cNvSpPr txBox="1"/>
          <p:nvPr/>
        </p:nvSpPr>
        <p:spPr>
          <a:xfrm>
            <a:off x="1554480" y="4956048"/>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Every slicer is a way for a reader to produce a view you have never seen and cannot defend.</a:t>
            </a:r>
          </a:p>
        </p:txBody>
      </p:sp>
      <p:sp>
        <p:nvSpPr>
          <p:cNvPr id="20" name="Rounded Rectangle 19"/>
          <p:cNvSpPr/>
          <p:nvPr/>
        </p:nvSpPr>
        <p:spPr>
          <a:xfrm>
            <a:off x="685800" y="5458968"/>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568299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5</a:t>
            </a:r>
          </a:p>
        </p:txBody>
      </p:sp>
      <p:sp>
        <p:nvSpPr>
          <p:cNvPr id="22" name="TextBox 21"/>
          <p:cNvSpPr txBox="1"/>
          <p:nvPr/>
        </p:nvSpPr>
        <p:spPr>
          <a:xfrm>
            <a:off x="1554480" y="557784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One accent colour</a:t>
            </a:r>
          </a:p>
        </p:txBody>
      </p:sp>
      <p:sp>
        <p:nvSpPr>
          <p:cNvPr id="23" name="TextBox 22"/>
          <p:cNvSpPr txBox="1"/>
          <p:nvPr/>
        </p:nvSpPr>
        <p:spPr>
          <a:xfrm>
            <a:off x="1554480" y="5843016"/>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Colour should mean something. If everything is coloured, nothing is emphasised.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PRESENTATION</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Five minutes, in the order they listen</a:t>
            </a:r>
          </a:p>
        </p:txBody>
      </p:sp>
      <p:sp>
        <p:nvSpPr>
          <p:cNvPr id="4" name="Rounded Rectangle 3"/>
          <p:cNvSpPr/>
          <p:nvPr/>
        </p:nvSpPr>
        <p:spPr>
          <a:xfrm>
            <a:off x="685800" y="1911095"/>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135124"/>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question, in one sentence</a:t>
            </a:r>
          </a:p>
        </p:txBody>
      </p:sp>
      <p:sp>
        <p:nvSpPr>
          <p:cNvPr id="7" name="TextBox 6"/>
          <p:cNvSpPr txBox="1"/>
          <p:nvPr/>
        </p:nvSpPr>
        <p:spPr>
          <a:xfrm>
            <a:off x="1554480" y="2295144"/>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one you were actually asked. Fifteen seconds.</a:t>
            </a:r>
          </a:p>
        </p:txBody>
      </p:sp>
      <p:sp>
        <p:nvSpPr>
          <p:cNvPr id="8" name="Rounded Rectangle 7"/>
          <p:cNvSpPr/>
          <p:nvPr/>
        </p:nvSpPr>
        <p:spPr>
          <a:xfrm>
            <a:off x="685800" y="2798064"/>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02209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291693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answer, with its number</a:t>
            </a:r>
          </a:p>
        </p:txBody>
      </p:sp>
      <p:sp>
        <p:nvSpPr>
          <p:cNvPr id="11" name="TextBox 10"/>
          <p:cNvSpPr txBox="1"/>
          <p:nvPr/>
        </p:nvSpPr>
        <p:spPr>
          <a:xfrm>
            <a:off x="1554480" y="3182112"/>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Immediately. Not the method, not the journey. Attention is highest at the start and you cannot control when it ends.</a:t>
            </a:r>
          </a:p>
        </p:txBody>
      </p:sp>
      <p:sp>
        <p:nvSpPr>
          <p:cNvPr id="12" name="Rounded Rectangle 11"/>
          <p:cNvSpPr/>
          <p:nvPr/>
        </p:nvSpPr>
        <p:spPr>
          <a:xfrm>
            <a:off x="685800" y="3685032"/>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390906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3803904"/>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you know</a:t>
            </a:r>
          </a:p>
        </p:txBody>
      </p:sp>
      <p:sp>
        <p:nvSpPr>
          <p:cNvPr id="15" name="TextBox 14"/>
          <p:cNvSpPr txBox="1"/>
          <p:nvPr/>
        </p:nvSpPr>
        <p:spPr>
          <a:xfrm>
            <a:off x="1554480" y="4069080"/>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data, the window, and the one chart that carries it. Ninety seconds, one chart.</a:t>
            </a:r>
          </a:p>
        </p:txBody>
      </p:sp>
      <p:sp>
        <p:nvSpPr>
          <p:cNvPr id="16" name="Rounded Rectangle 15"/>
          <p:cNvSpPr/>
          <p:nvPr/>
        </p:nvSpPr>
        <p:spPr>
          <a:xfrm>
            <a:off x="685800" y="4572000"/>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4796028"/>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46908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you accepted in exchange for what</a:t>
            </a:r>
          </a:p>
        </p:txBody>
      </p:sp>
      <p:sp>
        <p:nvSpPr>
          <p:cNvPr id="19" name="TextBox 18"/>
          <p:cNvSpPr txBox="1"/>
          <p:nvPr/>
        </p:nvSpPr>
        <p:spPr>
          <a:xfrm>
            <a:off x="1554480" y="4956048"/>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trade you made: a narrower window, a dropped segment, a simpler measure. Naming it is what makes the rest credible.</a:t>
            </a:r>
          </a:p>
        </p:txBody>
      </p:sp>
      <p:sp>
        <p:nvSpPr>
          <p:cNvPr id="20" name="Rounded Rectangle 19"/>
          <p:cNvSpPr/>
          <p:nvPr/>
        </p:nvSpPr>
        <p:spPr>
          <a:xfrm>
            <a:off x="685800" y="5458968"/>
            <a:ext cx="10820095" cy="832104"/>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568299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5</a:t>
            </a:r>
          </a:p>
        </p:txBody>
      </p:sp>
      <p:sp>
        <p:nvSpPr>
          <p:cNvPr id="22" name="TextBox 21"/>
          <p:cNvSpPr txBox="1"/>
          <p:nvPr/>
        </p:nvSpPr>
        <p:spPr>
          <a:xfrm>
            <a:off x="1554480" y="557784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would change your answer</a:t>
            </a:r>
          </a:p>
        </p:txBody>
      </p:sp>
      <p:sp>
        <p:nvSpPr>
          <p:cNvPr id="23" name="TextBox 22"/>
          <p:cNvSpPr txBox="1"/>
          <p:nvPr/>
        </p:nvSpPr>
        <p:spPr>
          <a:xfrm>
            <a:off x="1554480" y="5843016"/>
            <a:ext cx="9631375" cy="356616"/>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sentence that separates an analyst from an advocate.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measure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calculation worked out when a visual asks for it, inside that visual's filters. The same measure gives a different number in every cell of a table, which is the point of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Revenue UGX in a card with no filter gives UGX 10,758,894,480. The same measure on a bar chart by region gives each region's share, with no extra work.</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pivot table value field. You drop Revenue into Values once and it recalculates for every row and column combination. Identical idea.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calculated column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calculation worked out once per row when the data loads, and then fixed. It cannot respond to a slicer.</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Line value, quantity times price times one minus discount, is reasonable as a column: it depends only on that row. Average order value is not, because it depends on which rows the user is looking at.</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formula column in the sheet. Confusing these two is the commonest Power BI mistake there 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recommendation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What somebody should do, with the number that justifies it and the conditions under which it stops being true. One page.</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"Move one rep from Western to Eastern for the December peak. Eastern did UGX 2.51bn against UGX 1.81bn, and December is the biggest month in both years. If December 2026 is flat by week two, revert it."</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finding says what is true. A recommendation says what to do, and carries the risk of being acted 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measures, and the function that prevents an incident</a:t>
            </a:r>
          </a:p>
        </p:txBody>
      </p:sp>
      <p:sp>
        <p:nvSpPr>
          <p:cNvPr id="4" name="Rounded Rectangle 3"/>
          <p:cNvSpPr/>
          <p:nvPr/>
        </p:nvSpPr>
        <p:spPr>
          <a:xfrm>
            <a:off x="7200461" y="512064"/>
            <a:ext cx="43054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POWER BI · MODELLING · NEW MEASURE</a:t>
            </a:r>
          </a:p>
        </p:txBody>
      </p:sp>
      <p:sp>
        <p:nvSpPr>
          <p:cNvPr id="5" name="Rectangle 4"/>
          <p:cNvSpPr/>
          <p:nvPr/>
        </p:nvSpPr>
        <p:spPr>
          <a:xfrm>
            <a:off x="685800" y="2395728"/>
            <a:ext cx="10820095" cy="275965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542032"/>
            <a:ext cx="10234879" cy="246704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Revenue UGX =</a:t>
            </a:r>
          </a:p>
          <a:p>
            <a:pPr algn="l">
              <a:lnSpc>
                <a:spcPts val="1795"/>
              </a:lnSpc>
              <a:spcAft>
                <a:spcPts val="0"/>
              </a:spcAft>
            </a:pPr>
            <a:r>
              <a:rPr sz="1320" b="0" i="0">
                <a:solidFill>
                  <a:srgbClr val="D8E3EC"/>
                </a:solidFill>
                <a:latin typeface="Courier New"/>
              </a:rPr>
              <a:t>SUMX(</a:t>
            </a:r>
          </a:p>
          <a:p>
            <a:pPr algn="l">
              <a:lnSpc>
                <a:spcPts val="1795"/>
              </a:lnSpc>
              <a:spcAft>
                <a:spcPts val="0"/>
              </a:spcAft>
            </a:pPr>
            <a:r>
              <a:rPr sz="1320" b="0" i="0">
                <a:solidFill>
                  <a:srgbClr val="D8E3EC"/>
                </a:solidFill>
                <a:latin typeface="Courier New"/>
              </a:rPr>
              <a:t>    order_items,</a:t>
            </a:r>
          </a:p>
          <a:p>
            <a:pPr algn="l">
              <a:lnSpc>
                <a:spcPts val="1795"/>
              </a:lnSpc>
              <a:spcAft>
                <a:spcPts val="0"/>
              </a:spcAft>
            </a:pPr>
            <a:r>
              <a:rPr sz="1320" b="0" i="0">
                <a:solidFill>
                  <a:srgbClr val="D8E3EC"/>
                </a:solidFill>
                <a:latin typeface="Courier New"/>
              </a:rPr>
              <a:t>    order_items[quantity] * order_items[unit_price_ugx]</a:t>
            </a:r>
          </a:p>
          <a:p>
            <a:pPr algn="l">
              <a:lnSpc>
                <a:spcPts val="1795"/>
              </a:lnSpc>
              <a:spcAft>
                <a:spcPts val="0"/>
              </a:spcAft>
            </a:pPr>
            <a:r>
              <a:rPr sz="1320" b="0" i="0">
                <a:solidFill>
                  <a:srgbClr val="D8E3EC"/>
                </a:solidFill>
                <a:latin typeface="Courier New"/>
              </a:rPr>
              <a:t>        * (1 - order_items[discount])</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Delivered Revenue UGX =</a:t>
            </a:r>
          </a:p>
          <a:p>
            <a:pPr algn="l">
              <a:lnSpc>
                <a:spcPts val="1795"/>
              </a:lnSpc>
              <a:spcAft>
                <a:spcPts val="0"/>
              </a:spcAft>
            </a:pPr>
            <a:r>
              <a:rPr sz="1320" b="0" i="0">
                <a:solidFill>
                  <a:srgbClr val="D8E3EC"/>
                </a:solidFill>
                <a:latin typeface="Courier New"/>
              </a:rPr>
              <a:t>CALCULATE([Revenue UGX], orders[status] = "Delivered")</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Avg Order Value UGX =</a:t>
            </a:r>
          </a:p>
          <a:p>
            <a:pPr algn="l">
              <a:lnSpc>
                <a:spcPts val="1795"/>
              </a:lnSpc>
              <a:spcAft>
                <a:spcPts val="0"/>
              </a:spcAft>
            </a:pPr>
            <a:r>
              <a:rPr sz="1320" b="0" i="0">
                <a:solidFill>
                  <a:srgbClr val="D8E3EC"/>
                </a:solidFill>
                <a:latin typeface="Courier New"/>
              </a:rPr>
              <a:t>DIVIDE(</a:t>
            </a:r>
          </a:p>
          <a:p>
            <a:pPr algn="l">
              <a:lnSpc>
                <a:spcPts val="1795"/>
              </a:lnSpc>
              <a:spcAft>
                <a:spcPts val="0"/>
              </a:spcAft>
            </a:pPr>
            <a:r>
              <a:rPr sz="1320" b="0" i="0">
                <a:solidFill>
                  <a:srgbClr val="D8E3EC"/>
                </a:solidFill>
                <a:latin typeface="Courier New"/>
              </a:rPr>
              <a:t>    [Delivered Revenue UGX],</a:t>
            </a:r>
          </a:p>
          <a:p>
            <a:pPr algn="l">
              <a:lnSpc>
                <a:spcPts val="1795"/>
              </a:lnSpc>
              <a:spcAft>
                <a:spcPts val="0"/>
              </a:spcAft>
            </a:pPr>
            <a:r>
              <a:rPr sz="1320" b="0" i="0">
                <a:solidFill>
                  <a:srgbClr val="D8E3EC"/>
                </a:solidFill>
                <a:latin typeface="Courier New"/>
              </a:rPr>
              <a:t>    CALCULATE(DISTINCTCOUNT(orders[order_id]),</a:t>
            </a:r>
          </a:p>
          <a:p>
            <a:pPr algn="l">
              <a:lnSpc>
                <a:spcPts val="1795"/>
              </a:lnSpc>
              <a:spcAft>
                <a:spcPts val="0"/>
              </a:spcAft>
            </a:pPr>
            <a:r>
              <a:rPr sz="1320" b="0" i="0">
                <a:solidFill>
                  <a:srgbClr val="D8E3EC"/>
                </a:solidFill>
                <a:latin typeface="Courier New"/>
              </a:rPr>
              <a:t>              orders[status] = "Delivered")</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 expected: UGX 10,758,894,480, UGX 8,751,705,520, about UGX 1,809,000</a:t>
            </a:r>
          </a:p>
          <a:p>
            <a:pPr algn="l">
              <a:lnSpc>
                <a:spcPts val="1795"/>
              </a:lnSpc>
              <a:spcAft>
                <a:spcPts val="0"/>
              </a:spcAft>
            </a:pPr>
            <a:r>
              <a:rPr sz="1320" b="0" i="0">
                <a:solidFill>
                  <a:srgbClr val="D8E3EC"/>
                </a:solidFill>
                <a:latin typeface="Courier New"/>
              </a:rPr>
              <a:t>-- NOTE the CALCULATE on the denominator. Both halves of an</a:t>
            </a:r>
          </a:p>
          <a:p>
            <a:pPr algn="l">
              <a:lnSpc>
                <a:spcPts val="1795"/>
              </a:lnSpc>
              <a:spcAft>
                <a:spcPts val="0"/>
              </a:spcAft>
            </a:pPr>
            <a:r>
              <a:rPr sz="1320" b="0" i="0">
                <a:solidFill>
                  <a:srgbClr val="D8E3EC"/>
                </a:solidFill>
                <a:latin typeface="Courier New"/>
              </a:rPr>
              <a:t>-- average have to cover the SAME population.</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Take the CALCULATE off the denominator. The measure still works and now divides delivered revenue by ALL 6,000 orders instead of the 4,837 delivered ones, so it reads UGX 1,459,000 instead of UGX 1,809,000. That is 19% low, it is not an error, and nothing on the card tells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Thirty seconds of attention, and five minutes of yours</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Design for thirty seconds: the number they came for top left, no more than five visuals, one accent colour, one slicer, and a title that states the finding. Then the five-minute presentation structure: the question, the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DISTINCTCOUNT, which is session 5 again</a:t>
            </a:r>
          </a:p>
        </p:txBody>
      </p:sp>
      <p:sp>
        <p:nvSpPr>
          <p:cNvPr id="4" name="Rounded Rectangle 3"/>
          <p:cNvSpPr/>
          <p:nvPr/>
        </p:nvSpPr>
        <p:spPr>
          <a:xfrm>
            <a:off x="7200461" y="512064"/>
            <a:ext cx="430543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POWER BI · MODELLING · NEW MEASURE</a:t>
            </a:r>
          </a:p>
        </p:txBody>
      </p:sp>
      <p:sp>
        <p:nvSpPr>
          <p:cNvPr id="5" name="Rectangle 4"/>
          <p:cNvSpPr/>
          <p:nvPr/>
        </p:nvSpPr>
        <p:spPr>
          <a:xfrm>
            <a:off x="685800" y="1911095"/>
            <a:ext cx="10820095" cy="2700284"/>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407676"/>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 WRONG: counts order LINES, because that is the fact table</a:t>
            </a:r>
          </a:p>
          <a:p>
            <a:pPr algn="l">
              <a:lnSpc>
                <a:spcPts val="2333"/>
              </a:lnSpc>
              <a:spcAft>
                <a:spcPts val="0"/>
              </a:spcAft>
            </a:pPr>
            <a:r>
              <a:rPr sz="1716" b="0" i="0">
                <a:solidFill>
                  <a:srgbClr val="D8E3EC"/>
                </a:solidFill>
                <a:latin typeface="Courier New"/>
              </a:rPr>
              <a:t>Orders Wrong = COUNTROWS(order_items)      -- 20,234</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RIGHT: counts distinct orders</a:t>
            </a:r>
          </a:p>
          <a:p>
            <a:pPr algn="l">
              <a:lnSpc>
                <a:spcPts val="2333"/>
              </a:lnSpc>
              <a:spcAft>
                <a:spcPts val="0"/>
              </a:spcAft>
            </a:pPr>
            <a:r>
              <a:rPr sz="1716" b="0" i="0">
                <a:solidFill>
                  <a:srgbClr val="D8E3EC"/>
                </a:solidFill>
                <a:latin typeface="Courier New"/>
              </a:rPr>
              <a:t>Orders = DISTINCTCOUNT(orders[order_id])   -- 6,000</a:t>
            </a:r>
          </a:p>
          <a:p>
            <a:pPr algn="l">
              <a:lnSpc>
                <a:spcPts val="2333"/>
              </a:lnSpc>
              <a:spcAft>
                <a:spcPts val="0"/>
              </a:spcAft>
            </a:pPr>
            <a:r>
              <a:rPr sz="1716" b="0" i="0">
                <a:solidFill>
                  <a:srgbClr val="D8E3EC"/>
                </a:solidFill>
                <a:latin typeface="Courier New"/>
              </a:rPr>
              <a:t/>
            </a:r>
          </a:p>
          <a:p>
            <a:pPr algn="l">
              <a:lnSpc>
                <a:spcPts val="2333"/>
              </a:lnSpc>
              <a:spcAft>
                <a:spcPts val="0"/>
              </a:spcAft>
            </a:pPr>
            <a:r>
              <a:rPr sz="1716" b="0" i="0">
                <a:solidFill>
                  <a:srgbClr val="D8E3EC"/>
                </a:solidFill>
                <a:latin typeface="Courier New"/>
              </a:rPr>
              <a:t>-- so average order value with the wrong one is about a third</a:t>
            </a:r>
          </a:p>
          <a:p>
            <a:pPr algn="l">
              <a:lnSpc>
                <a:spcPts val="2333"/>
              </a:lnSpc>
              <a:spcAft>
                <a:spcPts val="0"/>
              </a:spcAft>
            </a:pPr>
            <a:r>
              <a:rPr sz="1716" b="0" i="0">
                <a:solidFill>
                  <a:srgbClr val="D8E3EC"/>
                </a:solidFill>
                <a:latin typeface="Courier New"/>
              </a:rPr>
              <a:t>-- of the truth, and looks entirely plausible on a card.</a:t>
            </a:r>
          </a:p>
        </p:txBody>
      </p:sp>
      <p:sp>
        <p:nvSpPr>
          <p:cNvPr id="7" name="Rounded Rectangle 6"/>
          <p:cNvSpPr/>
          <p:nvPr/>
        </p:nvSpPr>
        <p:spPr>
          <a:xfrm>
            <a:off x="685800" y="4830836"/>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4839980"/>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Build both cards side by side and put them on the page next to each other. The grain problem from session 1 has now bitten you in a spreadsheet, in SQL, in pandas and in Power BI. That is why it was the first thing taught.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CAPSTONE · 40% OF THE MARK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hand in, and what you say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Five minutes</a:t>
            </a:r>
          </a:p>
        </p:txBody>
      </p:sp>
      <p:sp>
        <p:nvSpPr>
          <p:cNvPr id="5" name="TextBox 4"/>
          <p:cNvSpPr txBox="1"/>
          <p:nvPr/>
        </p:nvSpPr>
        <p:spPr>
          <a:xfrm>
            <a:off x="685800" y="240933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question, in one sentence.</a:t>
            </a:r>
          </a:p>
        </p:txBody>
      </p:sp>
      <p:sp>
        <p:nvSpPr>
          <p:cNvPr id="6" name="TextBox 5"/>
          <p:cNvSpPr txBox="1"/>
          <p:nvPr/>
        </p:nvSpPr>
        <p:spPr>
          <a:xfrm>
            <a:off x="685800" y="2870329"/>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The answer, with its number, immediately after.</a:t>
            </a:r>
          </a:p>
        </p:txBody>
      </p:sp>
      <p:sp>
        <p:nvSpPr>
          <p:cNvPr id="7" name="TextBox 6"/>
          <p:cNvSpPr txBox="1"/>
          <p:nvPr/>
        </p:nvSpPr>
        <p:spPr>
          <a:xfrm>
            <a:off x="685800" y="3331326"/>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One chart. One.</a:t>
            </a:r>
          </a:p>
        </p:txBody>
      </p:sp>
      <p:sp>
        <p:nvSpPr>
          <p:cNvPr id="8" name="TextBox 7"/>
          <p:cNvSpPr txBox="1"/>
          <p:nvPr/>
        </p:nvSpPr>
        <p:spPr>
          <a:xfrm>
            <a:off x="685800" y="3792323"/>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What you traded away.</a:t>
            </a:r>
          </a:p>
        </p:txBody>
      </p:sp>
      <p:sp>
        <p:nvSpPr>
          <p:cNvPr id="9" name="TextBox 8"/>
          <p:cNvSpPr txBox="1"/>
          <p:nvPr/>
        </p:nvSpPr>
        <p:spPr>
          <a:xfrm>
            <a:off x="685800" y="4253320"/>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What would change your answer.</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And what is marked</a:t>
            </a:r>
          </a:p>
        </p:txBody>
      </p:sp>
      <p:sp>
        <p:nvSpPr>
          <p:cNvPr id="12" name="TextBox 11"/>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 dashboard, or the notebook, whichever carries the work.</a:t>
            </a:r>
          </a:p>
        </p:txBody>
      </p:sp>
      <p:sp>
        <p:nvSpPr>
          <p:cNvPr id="13" name="TextBox 12"/>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One page: question, answer, how you know, the trade, and what would change it.</a:t>
            </a:r>
          </a:p>
        </p:txBody>
      </p:sp>
      <p:sp>
        <p:nvSpPr>
          <p:cNvPr id="14" name="TextBox 13"/>
          <p:cNvSpPr txBox="1"/>
          <p:nvPr/>
        </p:nvSpPr>
        <p:spPr>
          <a:xfrm>
            <a:off x="6575907" y="417375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Marked on whether a decision maker could act on it. Not on the code, not on the number of visuals.</a:t>
            </a:r>
          </a:p>
        </p:txBody>
      </p:sp>
      <p:sp>
        <p:nvSpPr>
          <p:cNvPr id="15" name="TextBox 14"/>
          <p:cNvSpPr txBox="1"/>
          <p:nvPr/>
        </p:nvSpPr>
        <p:spPr>
          <a:xfrm>
            <a:off x="6575907" y="5012483"/>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Everybody asks at least one question of somebody else. That is how you learn what a weak answer sounds like.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TO DO NEXT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Monday morning, and what to learn next</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Pick one report and replace it</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One report somebody produces by hand every month. Not the biggest: the most repetitive. Automate that one and the second is easier.</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Expect the bottleneck to be access, not skill</a:t>
            </a:r>
          </a:p>
        </p:txBody>
      </p:sp>
      <p:sp>
        <p:nvSpPr>
          <p:cNvPr id="7" name="TextBox 6"/>
          <p:cNvSpPr txBox="1"/>
          <p:nvPr/>
        </p:nvSpPr>
        <p:spPr>
          <a:xfrm>
            <a:off x="685800" y="4088012"/>
            <a:ext cx="5158587" cy="1738837"/>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Most people leaving this course find the hard part is getting to the data rather than analysing it. That is a conversation with whoever owns the database, and it goes better when you can name the tables you need and the grain you want them at.</a:t>
            </a:r>
          </a:p>
        </p:txBody>
      </p:sp>
      <p:sp>
        <p:nvSpPr>
          <p:cNvPr id="8" name="TextBox 7"/>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Where to go next, honestly</a:t>
            </a:r>
          </a:p>
        </p:txBody>
      </p:sp>
      <p:sp>
        <p:nvSpPr>
          <p:cNvPr id="9" name="TextBox 8"/>
          <p:cNvSpPr txBox="1"/>
          <p:nvPr/>
        </p:nvSpPr>
        <p:spPr>
          <a:xfrm>
            <a:off x="6347307" y="2352629"/>
            <a:ext cx="5158587" cy="1738837"/>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Statistics and experiment design if your questions are about causes. Machine learning if they are about prediction. Data engineering if the bottleneck turned out to be access. Forty-five hours buys a competent analyst; it does not buy the other three.</a:t>
            </a:r>
          </a:p>
        </p:txBody>
      </p:sp>
      <p:sp>
        <p:nvSpPr>
          <p:cNvPr id="10" name="TextBox 9"/>
          <p:cNvSpPr txBox="1"/>
          <p:nvPr/>
        </p:nvSpPr>
        <p:spPr>
          <a:xfrm>
            <a:off x="6347307" y="4320067"/>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Keep the habits, if nothing else</a:t>
            </a:r>
          </a:p>
        </p:txBody>
      </p:sp>
      <p:sp>
        <p:nvSpPr>
          <p:cNvPr id="11" name="TextBox 10"/>
          <p:cNvSpPr txBox="1"/>
          <p:nvPr/>
        </p:nvSpPr>
        <p:spPr>
          <a:xfrm>
            <a:off x="6347307" y="4761601"/>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question before the query. The grain said out loud. The row count after every join. The cleaning log. The finding in the title. Those five are most of the value here and none of them need a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NOTE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start tonight</a:t>
            </a:r>
          </a:p>
        </p:txBody>
      </p:sp>
      <p:sp>
        <p:nvSpPr>
          <p:cNvPr id="4" name="Rounded Rectangle 3"/>
          <p:cNvSpPr/>
          <p:nvPr/>
        </p:nvSpPr>
        <p:spPr>
          <a:xfrm>
            <a:off x="685800" y="1911095"/>
            <a:ext cx="10820095" cy="162835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1226014"/>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With more than about fourteen participants, five minutes each will not fit alongside the dashboard clinic. Either run the presentations in two parallel groups with a second marker, or add a sixteenth session.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10037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 dashboard with fourteen visuals and no answer, presented method first. Nobody outside the room cares which library you used.</a:t>
            </a:r>
          </a:p>
        </p:txBody>
      </p:sp>
      <p:sp>
        <p:nvSpPr>
          <p:cNvPr id="5" name="TextBox 4"/>
          <p:cNvSpPr txBox="1"/>
          <p:nvPr/>
        </p:nvSpPr>
        <p:spPr>
          <a:xfrm>
            <a:off x="685800" y="27920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15 of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When does something have to be a measure rather than a column?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Somebody asks a question you cannot answer. What do you say?</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the answer come second rather than last?</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Measure against column</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If the answer depends on what the reader filtered, it must be a measure. A column is fixed when the data loads and cannot respond to a slicer.</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 question you cannot answer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 do not know, and here is what I would need to find out." It costs you nothing and it protects every other number you gave them. Guessing costs you all of them.</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the answer comes second</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Attention is highest at the start and you cannot control when it ends. Build to a conclusion and you may never reach it: somebody interrupts at minute three and the room leaves with your method.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Finish the dashboard, then present</a:t>
            </a:r>
          </a:p>
        </p:txBody>
      </p:sp>
      <p:sp>
        <p:nvSpPr>
          <p:cNvPr id="4" name="Rounded Rectangle 3"/>
          <p:cNvSpPr/>
          <p:nvPr/>
        </p:nvSpPr>
        <p:spPr>
          <a:xfrm>
            <a:off x="685800" y="1911095"/>
            <a:ext cx="10820095" cy="96926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60350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First fifty minutes: finish it, with every total reconciled. Then five minutes each plus questions from the room, and twenty minutes at the end on the one report you will replace at work this month.</a:t>
            </a:r>
          </a:p>
        </p:txBody>
      </p:sp>
      <p:sp>
        <p:nvSpPr>
          <p:cNvPr id="6" name="TextBox 5"/>
          <p:cNvSpPr txBox="1"/>
          <p:nvPr/>
        </p:nvSpPr>
        <p:spPr>
          <a:xfrm>
            <a:off x="685800" y="31912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Four visuals, three measures, one slicer.</a:t>
            </a:r>
          </a:p>
        </p:txBody>
      </p:sp>
      <p:sp>
        <p:nvSpPr>
          <p:cNvPr id="8" name="TextBox 7"/>
          <p:cNvSpPr txBox="1"/>
          <p:nvPr/>
        </p:nvSpPr>
        <p:spPr>
          <a:xfrm>
            <a:off x="685800"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Every total reconciled against a number you already trust.</a:t>
            </a:r>
          </a:p>
        </p:txBody>
      </p:sp>
      <p:sp>
        <p:nvSpPr>
          <p:cNvPr id="9" name="TextBox 8"/>
          <p:cNvSpPr txBox="1"/>
          <p:nvPr/>
        </p:nvSpPr>
        <p:spPr>
          <a:xfrm>
            <a:off x="685800"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 title that states your finding.</a:t>
            </a:r>
          </a:p>
        </p:txBody>
      </p:sp>
      <p:sp>
        <p:nvSpPr>
          <p:cNvPr id="10" name="TextBox 9"/>
          <p:cNvSpPr txBox="1"/>
          <p:nvPr/>
        </p:nvSpPr>
        <p:spPr>
          <a:xfrm>
            <a:off x="6278727"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Five minutes: question, answer, how you know, the trade, what would change it.</a:t>
            </a:r>
          </a:p>
        </p:txBody>
      </p:sp>
      <p:sp>
        <p:nvSpPr>
          <p:cNvPr id="11" name="TextBox 10"/>
          <p:cNvSpPr txBox="1"/>
          <p:nvPr/>
        </p:nvSpPr>
        <p:spPr>
          <a:xfrm>
            <a:off x="6278727"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Ask at least one question of somebody else.</a:t>
            </a:r>
          </a:p>
        </p:txBody>
      </p:sp>
      <p:sp>
        <p:nvSpPr>
          <p:cNvPr id="12" name="TextBox 11"/>
          <p:cNvSpPr txBox="1"/>
          <p:nvPr/>
        </p:nvSpPr>
        <p:spPr>
          <a:xfrm>
            <a:off x="6278727"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Write down: the report you will replace, the first step, and who you need to ask.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Write a measure, and say why it is not a column.</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Lay out a dashboard for somebody who will look at it for thirty seconds.</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Present an analysis in five minutes and take a hard question.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847583"/>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445247"/>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None. Send the dashboard to the person who asked the question in week one.</a:t>
            </a:r>
          </a:p>
        </p:txBody>
      </p:sp>
      <p:sp>
        <p:nvSpPr>
          <p:cNvPr id="6" name="Rounded Rectangle 5"/>
          <p:cNvSpPr/>
          <p:nvPr/>
        </p:nvSpPr>
        <p:spPr>
          <a:xfrm>
            <a:off x="685800" y="3032999"/>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599927"/>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can answer a question with a number attached</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That is a smaller claim than a certificate implies and a bigger one than it sounds. Most organisations have very few people who will say what they found, what it cost, and what would change their mind.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Send it to the person who asked in week one. That is the last step and it is the one people skip.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