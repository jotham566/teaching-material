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0006.xml" ContentType="application/vnd.openxmlformats-officedocument.presentationml.notesSlide+xml"/>
  <Override PartName="/ppt/notesSlides/notesSlide10016.xml" ContentType="application/vnd.openxmlformats-officedocument.presentationml.notesSlide+xml"/>
  <Override PartName="/ppt/notesSlides/notesSlide10025.xml" ContentType="application/vnd.openxmlformats-officedocument.presentationml.notesSlide+xml"/>
  <Override PartName="/ppt/notesSlides/notesSlide1002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006.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6.xml" /></ns0:Relationships>
</file>

<file path=ppt/notesSlides/_rels/notesSlide10016.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6.xml" /></ns0:Relationships>
</file>

<file path=ppt/notesSlides/_rels/notesSlide10025.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5.xml" /></ns0:Relationships>
</file>

<file path=ppt/notesSlides/_rels/notesSlide10027.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7.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Measures, a dashboard, and presenting it</a:t>
            </a:r>
          </a:p>
          <a:p>
            <a:r>
              <a:t/>
            </a:r>
          </a:p>
          <a:p>
            <a:r>
              <a:t>LECTURER CUE</a:t>
            </a:r>
          </a:p>
          <a:p>
            <a:r>
              <a:t>Start on time.</a:t>
            </a:r>
          </a:p>
          <a:p>
            <a:r>
              <a:t/>
            </a:r>
          </a:p>
          <a:p>
            <a:r>
              <a:t>EXPLAIN IN ORDINARY WORDS</a:t>
            </a:r>
          </a:p>
          <a:p>
            <a:r>
              <a:t>Begin with the question and intended comparison. Identify what an axis, bar, point or colour represents, including its unit. A chart summarises data and may hide variation.</a:t>
            </a:r>
          </a:p>
          <a:p>
            <a:r>
              <a:t/>
            </a:r>
          </a:p>
          <a:p>
            <a:r>
              <a:t>CHECK AND EXPECTED ANSWER</a:t>
            </a:r>
          </a:p>
          <a:p>
            <a:r>
              <a:t>For a bar chart comparing amounts, why normally start the value axis at zero? Bar length encodes magnitude; truncation can exaggerate differences.</a:t>
            </a:r>
          </a:p>
          <a:p>
            <a:r>
              <a:t/>
            </a:r>
          </a:p>
          <a:p>
            <a:r>
              <a:t>IF LEARNERS ARE STUCK</a:t>
            </a:r>
          </a:p>
          <a:p>
            <a:r>
              <a:t>Read one mark aloud as a sentence. Check the population, period, filters and units before stating the finding.</a:t>
            </a:r>
          </a:p>
          <a:p>
            <a:r>
              <a:t/>
            </a:r>
          </a:p>
          <a:p>
            <a:r>
              <a:t>NEXT</a:t>
            </a:r>
          </a:p>
          <a:p>
            <a:r>
              <a:t>Where tonight sits.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Where tonight sits</a:t>
            </a:r>
          </a:p>
          <a:p>
            <a:r>
              <a:t/>
            </a:r>
          </a:p>
          <a:p>
            <a:r>
              <a:t>CONNECT</a:t>
            </a:r>
          </a:p>
          <a:p>
            <a:r>
              <a:t>Build on the preceding slide: Measures, a dashboard, and presenting it.</a:t>
            </a:r>
          </a:p>
          <a:p>
            <a:r>
              <a:t/>
            </a:r>
          </a:p>
          <a:p>
            <a:r>
              <a:t>LECTURER CUE</a:t>
            </a:r>
          </a:p>
          <a:p>
            <a:r>
              <a:t>Tonight is session 15 of fifteen.</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The words for tonight.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words for tonight</a:t>
            </a:r>
          </a:p>
          <a:p>
            <a:r>
              <a:t/>
            </a:r>
          </a:p>
          <a:p>
            <a:r>
              <a:t>CONNECT</a:t>
            </a:r>
          </a:p>
          <a:p>
            <a:r>
              <a:t>Build on the preceding slide: Where tonight sits.</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By the end of tonight you can….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By the end of tonight you can…</a:t>
            </a:r>
          </a:p>
          <a:p>
            <a:r>
              <a:t/>
            </a:r>
          </a:p>
          <a:p>
            <a:r>
              <a:t>CONNECT</a:t>
            </a:r>
          </a:p>
          <a:p>
            <a:r>
              <a:t>Build on the preceding slide: The words for tonight.</a:t>
            </a:r>
          </a:p>
          <a:p>
            <a:r>
              <a:t/>
            </a:r>
          </a:p>
          <a:p>
            <a:r>
              <a:t>LECTURER CUE</a:t>
            </a:r>
          </a:p>
          <a:p>
            <a:r>
              <a:t>These three are what tonight is marked against, in the sense that the lab checks them.</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What does somebody take away.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What does somebody take away</a:t>
            </a:r>
          </a:p>
          <a:p>
            <a:r>
              <a:t/>
            </a:r>
          </a:p>
          <a:p>
            <a:r>
              <a:t>CONNECT</a:t>
            </a:r>
          </a:p>
          <a:p>
            <a:r>
              <a:t>Build on the preceding slide: By the end of tonight you can….</a:t>
            </a:r>
          </a:p>
          <a:p>
            <a:r>
              <a:t/>
            </a:r>
          </a:p>
          <a:p>
            <a:r>
              <a:t>LECTURER CUE</a:t>
            </a:r>
          </a:p>
          <a:p>
            <a:r>
              <a:t>One number, one comparison, and a title that says what you found. Everything else on the page is competing with those.</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NEXT</a:t>
            </a:r>
          </a:p>
          <a:p>
            <a:r>
              <a:t>Three measures, and why a measure is not a column.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 dashboard for somebody with thirty seconds</a:t>
            </a:r>
          </a:p>
          <a:p>
            <a:r>
              <a:t/>
            </a:r>
          </a:p>
          <a:p>
            <a:r>
              <a:t>CONNECT</a:t>
            </a:r>
          </a:p>
          <a:p>
            <a:r>
              <a:t>Build on the preceding slide: Three measures, and why a measure is not a column.</a:t>
            </a:r>
          </a:p>
          <a:p>
            <a:r>
              <a:t/>
            </a:r>
          </a:p>
          <a:p>
            <a:r>
              <a:t>EXPLAIN IN ORDINARY WORDS</a:t>
            </a:r>
          </a:p>
          <a:p>
            <a:r>
              <a:t>Begin with the question and intended comparison. Identify what an axis, bar, point or colour represents, including its unit. A chart summarises data and may hide variation.</a:t>
            </a:r>
          </a:p>
          <a:p>
            <a:r>
              <a:t/>
            </a:r>
          </a:p>
          <a:p>
            <a:r>
              <a:t>CHECK AND EXPECTED ANSWER</a:t>
            </a:r>
          </a:p>
          <a:p>
            <a:r>
              <a:t>For a bar chart comparing amounts, why normally start the value axis at zero? Bar length encodes magnitude; truncation can exaggerate differences.</a:t>
            </a:r>
          </a:p>
          <a:p>
            <a:r>
              <a:t/>
            </a:r>
          </a:p>
          <a:p>
            <a:r>
              <a:t>IF LEARNERS ARE STUCK</a:t>
            </a:r>
          </a:p>
          <a:p>
            <a:r>
              <a:t>Read one mark aloud as a sentence. Check the population, period, filters and units before stating the finding.</a:t>
            </a:r>
          </a:p>
          <a:p>
            <a:r>
              <a:t/>
            </a:r>
          </a:p>
          <a:p>
            <a:r>
              <a:t>NEXT</a:t>
            </a:r>
          </a:p>
          <a:p>
            <a:r>
              <a:t>Five minutes, in the order they listen.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Five minutes, in the order they listen</a:t>
            </a:r>
          </a:p>
          <a:p>
            <a:r>
              <a:t/>
            </a:r>
          </a:p>
          <a:p>
            <a:r>
              <a:t>CONNECT</a:t>
            </a:r>
          </a:p>
          <a:p>
            <a:r>
              <a:t>Build on the preceding slide: A dashboard for somebody with thirty seconds.</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A measure.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 measure</a:t>
            </a:r>
          </a:p>
          <a:p>
            <a:r>
              <a:t/>
            </a:r>
          </a:p>
          <a:p>
            <a:r>
              <a:t>CONNECT</a:t>
            </a:r>
          </a:p>
          <a:p>
            <a:r>
              <a:t>Build on the preceding slide: Five minutes, in the order they listen.</a:t>
            </a:r>
          </a:p>
          <a:p>
            <a:r>
              <a:t/>
            </a:r>
          </a:p>
          <a:p>
            <a:r>
              <a:t>LECTURER CUE</a:t>
            </a:r>
          </a:p>
          <a:p>
            <a:r>
              <a:t>A calculation worked out when a visual asks for it, inside that visual's filters. The same measure gives a different number in every cell of a table, which is the point of it.</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A calculated column.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 calculated column</a:t>
            </a:r>
          </a:p>
          <a:p>
            <a:r>
              <a:t/>
            </a:r>
          </a:p>
          <a:p>
            <a:r>
              <a:t>CONNECT</a:t>
            </a:r>
          </a:p>
          <a:p>
            <a:r>
              <a:t>Build on the preceding slide: A measure.</a:t>
            </a:r>
          </a:p>
          <a:p>
            <a:r>
              <a:t/>
            </a:r>
          </a:p>
          <a:p>
            <a:r>
              <a:t>LECTURER CUE</a:t>
            </a:r>
          </a:p>
          <a:p>
            <a:r>
              <a:t>A calculation worked out once per row when the data loads, and then fixed. It cannot respond to a slicer.</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A recommendation.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 recommendation</a:t>
            </a:r>
          </a:p>
          <a:p>
            <a:r>
              <a:t/>
            </a:r>
          </a:p>
          <a:p>
            <a:r>
              <a:t>CONNECT</a:t>
            </a:r>
          </a:p>
          <a:p>
            <a:r>
              <a:t>Build on the preceding slide: A calculated column.</a:t>
            </a:r>
          </a:p>
          <a:p>
            <a:r>
              <a:t/>
            </a:r>
          </a:p>
          <a:p>
            <a:r>
              <a:t>LECTURER CUE</a:t>
            </a:r>
          </a:p>
          <a:p>
            <a:r>
              <a:t>What somebody should do, with the number that justifies it and the conditions under which it stops being true. One page.</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Revenue: sum the value of each order line.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Revenue: sum the value of each order line</a:t>
            </a:r>
          </a:p>
          <a:p>
            <a:r>
              <a:t/>
            </a:r>
          </a:p>
          <a:p>
            <a:r>
              <a:t>CONNECT</a:t>
            </a:r>
          </a:p>
          <a:p>
            <a:r>
              <a:t>Build on the preceding slide: A recommendation.</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Delivered revenue: change the filter context.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Delivered revenue: change the filter context</a:t>
            </a:r>
          </a:p>
          <a:p>
            <a:r>
              <a:t/>
            </a:r>
          </a:p>
          <a:p>
            <a:r>
              <a:t>CONNECT</a:t>
            </a:r>
          </a:p>
          <a:p>
            <a:r>
              <a:t>Build on the preceding slide: Revenue: sum the value of each order line.</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Average order value: match both populations.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Average order value: match both populations</a:t>
            </a:r>
          </a:p>
          <a:p>
            <a:r>
              <a:t/>
            </a:r>
          </a:p>
          <a:p>
            <a:r>
              <a:t>CONNECT</a:t>
            </a:r>
          </a:p>
          <a:p>
            <a:r>
              <a:t>Build on the preceding slide: Delivered revenue: change the filter context.</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Break.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Break</a:t>
            </a:r>
          </a:p>
          <a:p>
            <a:r>
              <a:t/>
            </a:r>
          </a:p>
          <a:p>
            <a:r>
              <a:t>CONNECT</a:t>
            </a:r>
          </a:p>
          <a:p>
            <a:r>
              <a:t>Build on the preceding slide: Average order value: match both populations.</a:t>
            </a:r>
          </a:p>
          <a:p>
            <a:r>
              <a:t/>
            </a:r>
          </a:p>
          <a:p>
            <a:r>
              <a:t>LECTURER CUE</a:t>
            </a:r>
          </a:p>
          <a:p>
            <a:r>
              <a:t>Ten minutes.</a:t>
            </a:r>
          </a:p>
          <a:p>
            <a:r>
              <a:t/>
            </a:r>
          </a:p>
          <a:p>
            <a:r>
              <a:t>NEXT</a:t>
            </a:r>
          </a:p>
          <a:p>
            <a:r>
              <a:t>Thirty seconds of attention, and five minutes of yours.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DISTINCTCOUNT, which is session 5 again</a:t>
            </a:r>
          </a:p>
          <a:p>
            <a:r>
              <a:t/>
            </a:r>
          </a:p>
          <a:p>
            <a:r>
              <a:t>CONNECT</a:t>
            </a:r>
          </a:p>
          <a:p>
            <a:r>
              <a:t>Build on the preceding slide: Thirty seconds of attention, and five minutes of yours.</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What you hand in, and what you say.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What you hand in, and what you say</a:t>
            </a:r>
          </a:p>
          <a:p>
            <a:r>
              <a:t/>
            </a:r>
          </a:p>
          <a:p>
            <a:r>
              <a:t>CONNECT</a:t>
            </a:r>
          </a:p>
          <a:p>
            <a:r>
              <a:t>Build on the preceding slide: DISTINCTCOUNT, which is session 5 again.</a:t>
            </a:r>
          </a:p>
          <a:p>
            <a:r>
              <a:t/>
            </a:r>
          </a:p>
          <a:p>
            <a:r>
              <a:t>EXPLAIN IN ORDINARY WORDS</a:t>
            </a:r>
          </a:p>
          <a:p>
            <a:r>
              <a:t>Begin with the question and intended comparison. Identify what an axis, bar, point or colour represents, including its unit. A chart summarises data and may hide variation.</a:t>
            </a:r>
          </a:p>
          <a:p>
            <a:r>
              <a:t/>
            </a:r>
          </a:p>
          <a:p>
            <a:r>
              <a:t>CHECK AND EXPECTED ANSWER</a:t>
            </a:r>
          </a:p>
          <a:p>
            <a:r>
              <a:t>For a bar chart comparing amounts, why normally start the value axis at zero? Bar length encodes magnitude; truncation can exaggerate differences.</a:t>
            </a:r>
          </a:p>
          <a:p>
            <a:r>
              <a:t/>
            </a:r>
          </a:p>
          <a:p>
            <a:r>
              <a:t>IF LEARNERS ARE STUCK</a:t>
            </a:r>
          </a:p>
          <a:p>
            <a:r>
              <a:t>Read one mark aloud as a sentence. Check the population, period, filters and units before stating the finding.</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CAPSTONE FILES</a:t>
            </a:r>
          </a:p>
          <a:p>
            <a:r>
              <a:t>The S15 guide requires PPTX with narration in speaker notes, plus DOCX or selectable-text PDF if evidence is separate. Include all five S15CHECK lines from NUMERICAL_EVIDENCE.md as text. Keep PBIX or an authorised report link as supporting material; the upload form does not accept PBIX or ZIP. Release remains subject to grading checks.</a:t>
            </a:r>
          </a:p>
          <a:p>
            <a:r>
              <a:t/>
            </a:r>
          </a:p>
          <a:p>
            <a:r>
              <a:t>NEXT</a:t>
            </a:r>
          </a:p>
          <a:p>
            <a:r>
              <a:t>Monday morning, and what to learn next.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Monday morning, and what to learn next</a:t>
            </a:r>
          </a:p>
          <a:p>
            <a:r>
              <a:t/>
            </a:r>
          </a:p>
          <a:p>
            <a:r>
              <a:t>CONNECT</a:t>
            </a:r>
          </a:p>
          <a:p>
            <a:r>
              <a:t>Build on the preceding slide: What you hand in, and what you say.</a:t>
            </a:r>
          </a:p>
          <a:p>
            <a:r>
              <a:t/>
            </a:r>
          </a:p>
          <a:p>
            <a:r>
              <a:t>LECTURER CUE</a:t>
            </a:r>
          </a:p>
          <a:p>
            <a:r>
              <a:t>Reference.</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Before you start tonight.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Before you start tonight</a:t>
            </a:r>
          </a:p>
          <a:p>
            <a:r>
              <a:t/>
            </a:r>
          </a:p>
          <a:p>
            <a:r>
              <a:t>CONNECT</a:t>
            </a:r>
          </a:p>
          <a:p>
            <a:r>
              <a:t>Build on the preceding slide: Monday morning, and what to learn next.</a:t>
            </a:r>
          </a:p>
          <a:p>
            <a:r>
              <a:t/>
            </a:r>
          </a:p>
          <a:p>
            <a:r>
              <a:t>LECTURER CUE</a:t>
            </a:r>
          </a:p>
          <a:p>
            <a:r>
              <a:t>Session 15 uses 30 minutes for DAX, 10 break, 20 for design, 50 dashboard completion, 10 break, 40 selected demonstrations and 20 application planning. Every learner submits a five-minute narrated presentation with the capstone for rubric assessment; selected live demonstrations provide discussion, not extra marks.</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CAPSTONE FILES</a:t>
            </a:r>
          </a:p>
          <a:p>
            <a:r>
              <a:t>The S15 guide requires PPTX with narration in speaker notes, plus DOCX or selectable-text PDF if evidence is separate. Include all five S15CHECK lines from NUMERICAL_EVIDENCE.md as text. Keep PBIX or an authorised report link as supporting material; the upload form does not accept PBIX or ZIP. Release remains subject to grading checks.</a:t>
            </a:r>
          </a:p>
          <a:p>
            <a:r>
              <a:t/>
            </a:r>
          </a:p>
          <a:p>
            <a:r>
              <a:t>NEXT</a:t>
            </a:r>
          </a:p>
          <a:p>
            <a:r>
              <a:t>A dashboard with fourteen visuals and no answer, presented method first. Nobody outside the room cares which library you used..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 dashboard with fourteen visuals and no answer, presented method first. Nobody outside the room cares which library you used.</a:t>
            </a:r>
          </a:p>
          <a:p>
            <a:r>
              <a:t/>
            </a:r>
          </a:p>
          <a:p>
            <a:r>
              <a:t>CONNECT</a:t>
            </a:r>
          </a:p>
          <a:p>
            <a:r>
              <a:t>Build on the preceding slide: Before you start tonight.</a:t>
            </a:r>
          </a:p>
          <a:p>
            <a:r>
              <a:t/>
            </a:r>
          </a:p>
          <a:p>
            <a:r>
              <a:t>LECTURER CUE</a:t>
            </a:r>
          </a:p>
          <a:p>
            <a:r>
              <a:t>A dashboard with fourteen visuals and no answer, presented method first. Nobody outside the room cares which library you used.</a:t>
            </a:r>
          </a:p>
          <a:p>
            <a:r>
              <a:t/>
            </a:r>
          </a:p>
          <a:p>
            <a:r>
              <a:t>EXPLAIN IN ORDINARY WORDS</a:t>
            </a:r>
          </a:p>
          <a:p>
            <a:r>
              <a:t>Begin with the question and intended comparison. Identify what an axis, bar, point or colour represents, including its unit. A chart summarises data and may hide variation.</a:t>
            </a:r>
          </a:p>
          <a:p>
            <a:r>
              <a:t/>
            </a:r>
          </a:p>
          <a:p>
            <a:r>
              <a:t>CHECK AND EXPECTED ANSWER</a:t>
            </a:r>
          </a:p>
          <a:p>
            <a:r>
              <a:t>For a bar chart comparing amounts, why normally start the value axis at zero? Bar length encodes magnitude; truncation can exaggerate differences.</a:t>
            </a:r>
          </a:p>
          <a:p>
            <a:r>
              <a:t/>
            </a:r>
          </a:p>
          <a:p>
            <a:r>
              <a:t>IF LEARNERS ARE STUCK</a:t>
            </a:r>
          </a:p>
          <a:p>
            <a:r>
              <a:t>Read one mark aloud as a sentence. Check the population, period, filters and units before stating the finding.</a:t>
            </a:r>
          </a:p>
          <a:p>
            <a:r>
              <a:t/>
            </a:r>
          </a:p>
          <a:p>
            <a:r>
              <a:t>NEXT</a:t>
            </a:r>
          </a:p>
          <a:p>
            <a:r>
              <a:t>Can you answer these?.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Can you answer these?</a:t>
            </a:r>
          </a:p>
          <a:p>
            <a:r>
              <a:t/>
            </a:r>
          </a:p>
          <a:p>
            <a:r>
              <a:t>CONNECT</a:t>
            </a:r>
          </a:p>
          <a:p>
            <a:r>
              <a:t>Build on the preceding slide: A dashboard with fourteen visuals and no answer, presented method first. Nobody outside the room cares which library you used..</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DISCUSSION KEY FOR THIS SLIDE</a:t>
            </a:r>
          </a:p>
          <a:p>
            <a:r>
              <a:t>ANSWERS</a:t>
            </a:r>
          </a:p>
          <a:p>
            <a:r>
              <a:t>How did you do?</a:t>
            </a:r>
          </a:p>
          <a:p>
            <a:r>
              <a:t>A</a:t>
            </a:r>
          </a:p>
          <a:p>
            <a:r>
              <a:t>Measure against column</a:t>
            </a:r>
          </a:p>
          <a:p>
            <a:r>
              <a:t>If the answer depends on what the reader filtered, it must be a measure. A column is fixed when the data loads and cannot respond to a slicer.</a:t>
            </a:r>
          </a:p>
          <a:p>
            <a:r>
              <a:t>B</a:t>
            </a:r>
          </a:p>
          <a:p>
            <a:r>
              <a:t>A question you cannot answer</a:t>
            </a:r>
          </a:p>
          <a:p>
            <a:r>
              <a:t>"I do not know, and here is what I would need to find out." It costs you nothing and it protects every other number you gave them. Guessing costs you all of them.</a:t>
            </a:r>
          </a:p>
          <a:p>
            <a:r>
              <a:t>C</a:t>
            </a:r>
          </a:p>
          <a:p>
            <a:r>
              <a:t>Why the answer comes second</a:t>
            </a:r>
          </a:p>
          <a:p>
            <a:r>
              <a:t>Attention is highest at the start and you cannot control when it ends. Build to a conclusion and you may never reach it: somebody interrupts at minute three and the room leaves with your method.</a:t>
            </a:r>
          </a:p>
          <a:p>
            <a:r>
              <a:t>Let learners attempt first; use this to explain the reasoning, not just reveal the answer.</a:t>
            </a:r>
          </a:p>
          <a:p>
            <a:r>
              <a:t/>
            </a:r>
          </a:p>
          <a:p>
            <a:r>
              <a:t>NEXT</a:t>
            </a:r>
          </a:p>
          <a:p>
            <a:r>
              <a:t>How did you do?.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How did you do?</a:t>
            </a:r>
          </a:p>
          <a:p>
            <a:r>
              <a:t/>
            </a:r>
          </a:p>
          <a:p>
            <a:r>
              <a:t>CONNECT</a:t>
            </a:r>
          </a:p>
          <a:p>
            <a:r>
              <a:t>Build on the preceding slide: Can you answer these?.</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Finish the dashboard, then present.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Finish the dashboard, then present</a:t>
            </a:r>
          </a:p>
          <a:p>
            <a:r>
              <a:t/>
            </a:r>
          </a:p>
          <a:p>
            <a:r>
              <a:t>CONNECT</a:t>
            </a:r>
          </a:p>
          <a:p>
            <a:r>
              <a:t>Build on the preceding slide: How did you do?.</a:t>
            </a:r>
          </a:p>
          <a:p>
            <a:r>
              <a:t/>
            </a:r>
          </a:p>
          <a:p>
            <a:r>
              <a:t>LECTURER CUE</a:t>
            </a:r>
          </a:p>
          <a:p>
            <a:r>
              <a:t>Use the 50-minute clinic to finish and reconcile the dashboard. Submit a five-minute narrated presentation. Selected live demonstrations take 40 minutes, followed by 20 minutes on applying the work.</a:t>
            </a:r>
          </a:p>
          <a:p>
            <a:r>
              <a:t/>
            </a:r>
          </a:p>
          <a:p>
            <a:r>
              <a:t>EXPLAIN IN ORDINARY WORDS</a:t>
            </a:r>
          </a:p>
          <a:p>
            <a:r>
              <a:t>Begin with the question and intended comparison. Identify what an axis, bar, point or colour represents, including its unit. A chart summarises data and may hide variation.</a:t>
            </a:r>
          </a:p>
          <a:p>
            <a:r>
              <a:t/>
            </a:r>
          </a:p>
          <a:p>
            <a:r>
              <a:t>CHECK AND EXPECTED ANSWER</a:t>
            </a:r>
          </a:p>
          <a:p>
            <a:r>
              <a:t>For a bar chart comparing amounts, why normally start the value axis at zero? Bar length encodes magnitude; truncation can exaggerate differences.</a:t>
            </a:r>
          </a:p>
          <a:p>
            <a:r>
              <a:t/>
            </a:r>
          </a:p>
          <a:p>
            <a:r>
              <a:t>IF LEARNERS ARE STUCK</a:t>
            </a:r>
          </a:p>
          <a:p>
            <a:r>
              <a:t>Read one mark aloud as a sentence. Check the population, period, filters and units before stating the finding.</a:t>
            </a:r>
          </a:p>
          <a:p>
            <a:r>
              <a:t/>
            </a:r>
          </a:p>
          <a:p>
            <a:r>
              <a:t>CAPSTONE FILES</a:t>
            </a:r>
          </a:p>
          <a:p>
            <a:r>
              <a:t>The S15 guide requires PPTX with narration in speaker notes, plus DOCX or selectable-text PDF if evidence is separate. Include all five S15CHECK lines from NUMERICAL_EVIDENCE.md as text. Keep PBIX or an authorised report link as supporting material; the upload form does not accept PBIX or ZIP. Release remains subject to grading checks.</a:t>
            </a:r>
          </a:p>
          <a:p>
            <a:r>
              <a:t/>
            </a:r>
          </a:p>
          <a:p>
            <a:r>
              <a:t>NEXT</a:t>
            </a:r>
          </a:p>
          <a:p>
            <a:r>
              <a:t>Break.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Eight short demonstrations</a:t>
            </a:r>
          </a:p>
          <a:p>
            <a:r>
              <a:t/>
            </a:r>
          </a:p>
          <a:p>
            <a:r>
              <a:t>CONNECT</a:t>
            </a:r>
          </a:p>
          <a:p>
            <a:r>
              <a:t>Build on the preceding slide: Break.</a:t>
            </a:r>
          </a:p>
          <a:p>
            <a:r>
              <a:t/>
            </a:r>
          </a:p>
          <a:p>
            <a:r>
              <a:t>LECTURER CUE</a:t>
            </a:r>
          </a:p>
          <a:p>
            <a:r>
              <a:t>Every learner submits the same presentation evidence for grading. Selected live demonstrations carry no extra marks.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Use the work beyond tonight.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What you can do now</a:t>
            </a:r>
          </a:p>
          <a:p>
            <a:r>
              <a:t/>
            </a:r>
          </a:p>
          <a:p>
            <a:r>
              <a:t>CONNECT</a:t>
            </a:r>
          </a:p>
          <a:p>
            <a:r>
              <a:t>Build on the preceding slide: Use the work beyond tonight.</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Before the next session.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Before the next session</a:t>
            </a:r>
          </a:p>
          <a:p>
            <a:r>
              <a:t/>
            </a:r>
          </a:p>
          <a:p>
            <a:r>
              <a:t>CONNECT</a:t>
            </a:r>
          </a:p>
          <a:p>
            <a:r>
              <a:t>Build on the preceding slide: What you can do now.</a:t>
            </a:r>
          </a:p>
          <a:p>
            <a:r>
              <a:t/>
            </a:r>
          </a:p>
          <a:p>
            <a:r>
              <a:t>LECTURER CUE</a:t>
            </a:r>
          </a:p>
          <a:p>
            <a:r>
              <a:t>None. Send the dashboard to the person who asked the question in week one.</a:t>
            </a:r>
          </a:p>
          <a:p>
            <a:r>
              <a:t/>
            </a:r>
          </a:p>
          <a:p>
            <a:r>
              <a:t>EXPLAIN IN ORDINARY WORDS</a:t>
            </a:r>
          </a:p>
          <a:p>
            <a:r>
              <a:t>Begin with the question and intended comparison. Identify what an axis, bar, point or colour represents, including its unit. A chart summarises data and may hide variation.</a:t>
            </a:r>
          </a:p>
          <a:p>
            <a:r>
              <a:t/>
            </a:r>
          </a:p>
          <a:p>
            <a:r>
              <a:t>CHECK AND EXPECTED ANSWER</a:t>
            </a:r>
          </a:p>
          <a:p>
            <a:r>
              <a:t>For a bar chart comparing amounts, why normally start the value axis at zero? Bar length encodes magnitude; truncation can exaggerate differences.</a:t>
            </a:r>
          </a:p>
          <a:p>
            <a:r>
              <a:t/>
            </a:r>
          </a:p>
          <a:p>
            <a:r>
              <a:t>IF LEARNERS ARE STUCK</a:t>
            </a:r>
          </a:p>
          <a:p>
            <a:r>
              <a:t>Read one mark aloud as a sentence. Check the population, period, filters and units before stating the finding.</a:t>
            </a:r>
          </a:p>
          <a:p>
            <a:r>
              <a:t/>
            </a:r>
          </a:p>
          <a:p>
            <a:r>
              <a:t>NEXT</a:t>
            </a:r>
          </a:p>
          <a:p>
            <a:r>
              <a:t>You can answer a question with a number attached.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You can answer a question with a number attached</a:t>
            </a:r>
          </a:p>
          <a:p>
            <a:r>
              <a:t/>
            </a:r>
          </a:p>
          <a:p>
            <a:r>
              <a:t>CONNECT</a:t>
            </a:r>
          </a:p>
          <a:p>
            <a:r>
              <a:t>Build on the preceding slide: Before the next session.</a:t>
            </a:r>
          </a:p>
          <a:p>
            <a:r>
              <a:t/>
            </a:r>
          </a:p>
          <a:p>
            <a:r>
              <a:t>LECTURER CUE</a:t>
            </a:r>
          </a:p>
          <a:p>
            <a:r>
              <a:t>That is a smaller claim than a certificate implies and a bigger one than it sounds. Most organisations have very few people who will say what they found, what it cost, and what would change their mind.</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000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Three measures, and why a measure is not a column</a:t>
            </a:r>
          </a:p>
          <a:p>
            <a:r>
              <a:t/>
            </a:r>
          </a:p>
          <a:p>
            <a:r>
              <a:t>CONNECT</a:t>
            </a:r>
          </a:p>
          <a:p>
            <a:r>
              <a:t>Build on the preceding slide: What does somebody take away.</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A dashboard for somebody with thirty seconds.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0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Thirty seconds of attention, and five minutes of yours</a:t>
            </a:r>
          </a:p>
          <a:p>
            <a:r>
              <a:t/>
            </a:r>
          </a:p>
          <a:p>
            <a:r>
              <a:t>CONNECT</a:t>
            </a:r>
          </a:p>
          <a:p>
            <a:r>
              <a:t>Build on the preceding slide: Break.</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DISTINCTCOUNT, which is session 5 again.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0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Break</a:t>
            </a:r>
          </a:p>
          <a:p>
            <a:r>
              <a:t/>
            </a:r>
          </a:p>
          <a:p>
            <a:r>
              <a:t>CONNECT</a:t>
            </a:r>
          </a:p>
          <a:p>
            <a:r>
              <a:t>Build on the preceding slide: Finish the dashboard, then present.</a:t>
            </a:r>
          </a:p>
          <a:p>
            <a:r>
              <a:t/>
            </a:r>
          </a:p>
          <a:p>
            <a:r>
              <a:t>DELIVER THIS SLIDE</a:t>
            </a:r>
          </a:p>
          <a:p>
            <a:r>
              <a:t>Read the stated purpose, then point to the named example or action on the slide. Ask learners to describe what they will do before moving on. For a break slide, announce the return time; for a section divider, name the next concrete task.</a:t>
            </a:r>
          </a:p>
          <a:p>
            <a:r>
              <a:t/>
            </a:r>
          </a:p>
          <a:p>
            <a:r>
              <a:t>NEXT</a:t>
            </a:r>
          </a:p>
          <a:p>
            <a:r>
              <a:t>Eight short demonstrations.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02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Use the work beyond tonight</a:t>
            </a:r>
          </a:p>
          <a:p>
            <a:r>
              <a:t/>
            </a:r>
          </a:p>
          <a:p>
            <a:r>
              <a:t>CONNECT</a:t>
            </a:r>
          </a:p>
          <a:p>
            <a:r>
              <a:t>Build on the preceding slide: Eight short demonstrations.</a:t>
            </a:r>
          </a:p>
          <a:p>
            <a:r>
              <a:t/>
            </a:r>
          </a:p>
          <a:p>
            <a:r>
              <a:t>DELIVER THIS SLIDE</a:t>
            </a:r>
          </a:p>
          <a:p>
            <a:r>
              <a:t>Read the stated purpose, then point to the named example or action on the slide. Ask learners to describe what they will do before moving on. For a break slide, announce the return time; for a section divider, name the next concrete task.</a:t>
            </a:r>
          </a:p>
          <a:p>
            <a:r>
              <a:t/>
            </a:r>
          </a:p>
          <a:p>
            <a:r>
              <a:t>NEXT</a:t>
            </a:r>
          </a:p>
          <a:p>
            <a:r>
              <a:t>What you can do now.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06.xml" /></ns0: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16.xml" /></ns0: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25.xml" /></ns0: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27.xml" /></ns0: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21972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15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Measures, a dashboard, and presenting it</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One number, one comparison, and a title that says what you found. Everything else on the page is competing with those.</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5  ·  POWER BI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BI tools: DAX basics, dashboards; reporting and storytelling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731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Measure</a:t>
            </a:r>
          </a:p>
        </p:txBody>
      </p:sp>
      <p:sp>
        <p:nvSpPr>
          <p:cNvPr id="9" name="TextBox 8"/>
          <p:cNvSpPr txBox="1"/>
          <p:nvPr/>
        </p:nvSpPr>
        <p:spPr>
          <a:xfrm>
            <a:off x="3154680" y="2276856"/>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A calculation worked out when a visual asks for it, inside that visual's filters.</a:t>
            </a:r>
          </a:p>
        </p:txBody>
      </p:sp>
      <p:sp>
        <p:nvSpPr>
          <p:cNvPr id="10" name="TextBox 9"/>
          <p:cNvSpPr txBox="1"/>
          <p:nvPr/>
        </p:nvSpPr>
        <p:spPr>
          <a:xfrm>
            <a:off x="8275320" y="2276856"/>
            <a:ext cx="3230575"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A pivot table value field</a:t>
            </a:r>
          </a:p>
        </p:txBody>
      </p:sp>
      <p:sp>
        <p:nvSpPr>
          <p:cNvPr id="11" name="TextBox 10"/>
          <p:cNvSpPr txBox="1"/>
          <p:nvPr/>
        </p:nvSpPr>
        <p:spPr>
          <a:xfrm>
            <a:off x="685800" y="2986532"/>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Calculated column</a:t>
            </a:r>
          </a:p>
        </p:txBody>
      </p:sp>
      <p:sp>
        <p:nvSpPr>
          <p:cNvPr id="12" name="TextBox 11"/>
          <p:cNvSpPr txBox="1"/>
          <p:nvPr/>
        </p:nvSpPr>
        <p:spPr>
          <a:xfrm>
            <a:off x="3154680" y="2986532"/>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A calculation worked out once per row when the data loads, and then fixed.</a:t>
            </a:r>
          </a:p>
        </p:txBody>
      </p:sp>
      <p:sp>
        <p:nvSpPr>
          <p:cNvPr id="13" name="TextBox 12"/>
          <p:cNvSpPr txBox="1"/>
          <p:nvPr/>
        </p:nvSpPr>
        <p:spPr>
          <a:xfrm>
            <a:off x="8275320" y="2986532"/>
            <a:ext cx="3230575"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A formula column</a:t>
            </a:r>
          </a:p>
        </p:txBody>
      </p:sp>
      <p:sp>
        <p:nvSpPr>
          <p:cNvPr id="14" name="Rectangle 13"/>
          <p:cNvSpPr/>
          <p:nvPr/>
        </p:nvSpPr>
        <p:spPr>
          <a:xfrm>
            <a:off x="576072" y="3659632"/>
            <a:ext cx="11039551" cy="6731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96208"/>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Filter context</a:t>
            </a:r>
          </a:p>
        </p:txBody>
      </p:sp>
      <p:sp>
        <p:nvSpPr>
          <p:cNvPr id="16" name="TextBox 15"/>
          <p:cNvSpPr txBox="1"/>
          <p:nvPr/>
        </p:nvSpPr>
        <p:spPr>
          <a:xfrm>
            <a:off x="3154680" y="3696208"/>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The filters in force where a measure is evaluated: the row, the slicer, the chart axis.</a:t>
            </a:r>
          </a:p>
        </p:txBody>
      </p:sp>
      <p:sp>
        <p:nvSpPr>
          <p:cNvPr id="17" name="TextBox 16"/>
          <p:cNvSpPr txBox="1"/>
          <p:nvPr/>
        </p:nvSpPr>
        <p:spPr>
          <a:xfrm>
            <a:off x="8275320" y="3696208"/>
            <a:ext cx="3230575" cy="627380"/>
          </a:xfrm>
          <a:prstGeom prst="rect">
            <a:avLst/>
          </a:prstGeom>
          <a:noFill/>
        </p:spPr>
        <p:txBody>
          <a:bodyPr wrap="square" lIns="0" rIns="0" tIns="0" bIns="0" anchor="t">
            <a:spAutoFit/>
          </a:bodyPr>
          <a:lstStyle/>
          <a:p>
            <a:pPr algn="l">
              <a:lnSpc>
                <a:spcPct val="116000"/>
              </a:lnSpc>
              <a:spcAft>
                <a:spcPts val="600"/>
              </a:spcAft>
            </a:pPr>
            <a:r>
              <a:rPr sz="1584" b="0" i="1">
                <a:solidFill>
                  <a:srgbClr val="6B7A8A"/>
                </a:solidFill>
                <a:latin typeface="Calibri"/>
              </a:rPr>
              <a:t>no direct equivalent</a:t>
            </a:r>
          </a:p>
        </p:txBody>
      </p:sp>
      <p:sp>
        <p:nvSpPr>
          <p:cNvPr id="18" name="TextBox 17"/>
          <p:cNvSpPr txBox="1"/>
          <p:nvPr/>
        </p:nvSpPr>
        <p:spPr>
          <a:xfrm>
            <a:off x="685800" y="4405885"/>
            <a:ext cx="2240280" cy="343444"/>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DAX</a:t>
            </a:r>
          </a:p>
        </p:txBody>
      </p:sp>
      <p:sp>
        <p:nvSpPr>
          <p:cNvPr id="19" name="TextBox 18"/>
          <p:cNvSpPr txBox="1"/>
          <p:nvPr/>
        </p:nvSpPr>
        <p:spPr>
          <a:xfrm>
            <a:off x="3154680" y="4405885"/>
            <a:ext cx="4892040"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The formula language Power BI measures are written in.</a:t>
            </a:r>
          </a:p>
        </p:txBody>
      </p:sp>
      <p:sp>
        <p:nvSpPr>
          <p:cNvPr id="20" name="TextBox 19"/>
          <p:cNvSpPr txBox="1"/>
          <p:nvPr/>
        </p:nvSpPr>
        <p:spPr>
          <a:xfrm>
            <a:off x="8275320" y="4405885"/>
            <a:ext cx="3230575" cy="343444"/>
          </a:xfrm>
          <a:prstGeom prst="rect">
            <a:avLst/>
          </a:prstGeom>
          <a:noFill/>
        </p:spPr>
        <p:txBody>
          <a:bodyPr wrap="square" lIns="0" rIns="0" tIns="0" bIns="0" anchor="t">
            <a:spAutoFit/>
          </a:bodyPr>
          <a:lstStyle/>
          <a:p>
            <a:pPr algn="l">
              <a:lnSpc>
                <a:spcPct val="116000"/>
              </a:lnSpc>
              <a:spcAft>
                <a:spcPts val="600"/>
              </a:spcAft>
            </a:pPr>
            <a:r>
              <a:rPr sz="1584" b="0" i="1">
                <a:solidFill>
                  <a:srgbClr val="6B7A8A"/>
                </a:solidFill>
                <a:latin typeface="Calibri"/>
              </a:rPr>
              <a:t>no direct equivalent</a:t>
            </a:r>
          </a:p>
        </p:txBody>
      </p:sp>
      <p:sp>
        <p:nvSpPr>
          <p:cNvPr id="21" name="Rectangle 20"/>
          <p:cNvSpPr/>
          <p:nvPr/>
        </p:nvSpPr>
        <p:spPr>
          <a:xfrm>
            <a:off x="576072" y="4795049"/>
            <a:ext cx="11039551" cy="3891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831625"/>
            <a:ext cx="2240280" cy="343444"/>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Slicer</a:t>
            </a:r>
          </a:p>
        </p:txBody>
      </p:sp>
      <p:sp>
        <p:nvSpPr>
          <p:cNvPr id="23" name="TextBox 22"/>
          <p:cNvSpPr txBox="1"/>
          <p:nvPr/>
        </p:nvSpPr>
        <p:spPr>
          <a:xfrm>
            <a:off x="3154680" y="4831625"/>
            <a:ext cx="4892040"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An on-page filter the reader can change.</a:t>
            </a:r>
          </a:p>
        </p:txBody>
      </p:sp>
      <p:sp>
        <p:nvSpPr>
          <p:cNvPr id="24" name="TextBox 23"/>
          <p:cNvSpPr txBox="1"/>
          <p:nvPr/>
        </p:nvSpPr>
        <p:spPr>
          <a:xfrm>
            <a:off x="8275320" y="4831625"/>
            <a:ext cx="3230575" cy="343444"/>
          </a:xfrm>
          <a:prstGeom prst="rect">
            <a:avLst/>
          </a:prstGeom>
          <a:noFill/>
        </p:spPr>
        <p:txBody>
          <a:bodyPr wrap="square" lIns="0" rIns="0" tIns="0" bIns="0" anchor="t">
            <a:spAutoFit/>
          </a:bodyPr>
          <a:lstStyle/>
          <a:p>
            <a:pPr algn="l">
              <a:lnSpc>
                <a:spcPct val="116000"/>
              </a:lnSpc>
              <a:spcAft>
                <a:spcPts val="600"/>
              </a:spcAft>
            </a:pPr>
            <a:r>
              <a:rPr sz="1584" b="0" i="0">
                <a:solidFill>
                  <a:srgbClr val="2E7D6F"/>
                </a:solidFill>
                <a:latin typeface="Calibri"/>
              </a:rPr>
              <a:t>A pivot table filter</a:t>
            </a:r>
          </a:p>
        </p:txBody>
      </p:sp>
      <p:sp>
        <p:nvSpPr>
          <p:cNvPr id="25" name="TextBox 24"/>
          <p:cNvSpPr txBox="1"/>
          <p:nvPr/>
        </p:nvSpPr>
        <p:spPr>
          <a:xfrm>
            <a:off x="685800" y="5257366"/>
            <a:ext cx="2240280" cy="627380"/>
          </a:xfrm>
          <a:prstGeom prst="rect">
            <a:avLst/>
          </a:prstGeom>
          <a:noFill/>
        </p:spPr>
        <p:txBody>
          <a:bodyPr wrap="square" lIns="0" rIns="0" tIns="0" bIns="0" anchor="t">
            <a:spAutoFit/>
          </a:bodyPr>
          <a:lstStyle/>
          <a:p>
            <a:pPr algn="l">
              <a:lnSpc>
                <a:spcPct val="114000"/>
              </a:lnSpc>
              <a:spcAft>
                <a:spcPts val="600"/>
              </a:spcAft>
            </a:pPr>
            <a:r>
              <a:rPr sz="1650" b="1" i="0">
                <a:solidFill>
                  <a:srgbClr val="1C3144"/>
                </a:solidFill>
                <a:latin typeface="Calibri"/>
              </a:rPr>
              <a:t>Recommendation</a:t>
            </a:r>
          </a:p>
        </p:txBody>
      </p:sp>
      <p:sp>
        <p:nvSpPr>
          <p:cNvPr id="26" name="TextBox 25"/>
          <p:cNvSpPr txBox="1"/>
          <p:nvPr/>
        </p:nvSpPr>
        <p:spPr>
          <a:xfrm>
            <a:off x="3154680" y="5257366"/>
            <a:ext cx="4892040" cy="627380"/>
          </a:xfrm>
          <a:prstGeom prst="rect">
            <a:avLst/>
          </a:prstGeom>
          <a:noFill/>
        </p:spPr>
        <p:txBody>
          <a:bodyPr wrap="square" lIns="0" rIns="0" tIns="0" bIns="0" anchor="t">
            <a:spAutoFit/>
          </a:bodyPr>
          <a:lstStyle/>
          <a:p>
            <a:pPr algn="l">
              <a:lnSpc>
                <a:spcPct val="116000"/>
              </a:lnSpc>
              <a:spcAft>
                <a:spcPts val="600"/>
              </a:spcAft>
            </a:pPr>
            <a:r>
              <a:rPr sz="1584" b="0" i="0">
                <a:solidFill>
                  <a:srgbClr val="334657"/>
                </a:solidFill>
                <a:latin typeface="Calibri"/>
              </a:rPr>
              <a:t>What somebody should do, with the number that justifies it and the conditions under which it stops being true.</a:t>
            </a:r>
          </a:p>
        </p:txBody>
      </p:sp>
      <p:sp>
        <p:nvSpPr>
          <p:cNvPr id="27" name="TextBox 26"/>
          <p:cNvSpPr txBox="1"/>
          <p:nvPr/>
        </p:nvSpPr>
        <p:spPr>
          <a:xfrm>
            <a:off x="8275320" y="5257366"/>
            <a:ext cx="3230575" cy="627380"/>
          </a:xfrm>
          <a:prstGeom prst="rect">
            <a:avLst/>
          </a:prstGeom>
          <a:noFill/>
        </p:spPr>
        <p:txBody>
          <a:bodyPr wrap="square" lIns="0" rIns="0" tIns="0" bIns="0" anchor="t">
            <a:spAutoFit/>
          </a:bodyPr>
          <a:lstStyle/>
          <a:p>
            <a:pPr algn="l">
              <a:lnSpc>
                <a:spcPct val="116000"/>
              </a:lnSpc>
              <a:spcAft>
                <a:spcPts val="600"/>
              </a:spcAft>
            </a:pPr>
            <a:r>
              <a:rPr sz="1584"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Write a measure, and say why it is not a column.</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Lay out a dashboard for somebody who will look at it for thirty seconds.</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Present an analysis in five minutes and take a hard question.</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15 of 15  ·  Power BI  ·  Measures, a dashboard, and presenting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What does somebody take away</a:t>
            </a:r>
          </a:p>
          <a:p>
            <a:pPr algn="l">
              <a:lnSpc>
                <a:spcPct val="115000"/>
              </a:lnSpc>
              <a:spcAft>
                <a:spcPts val="600"/>
              </a:spcAft>
            </a:pPr>
            <a:r>
              <a:rPr sz="3400" b="0" i="1">
                <a:solidFill>
                  <a:srgbClr val="FFFFFF"/>
                </a:solidFill>
                <a:latin typeface="Cambria"/>
              </a:rPr>
              <a:t>in the thirty seconds they will give you?</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One number, one comparison, and a title that says what you found. Everything else on the page is competing with those.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30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Three measures, and why a measure is not a column</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Three measures and one rule: a measure is evaluated in the filter context of whatever asked for it, which is why it is not a column.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LAYOUT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 dashboard for somebody with thirty seconds</a:t>
            </a:r>
          </a:p>
        </p:txBody>
      </p:sp>
      <p:sp>
        <p:nvSpPr>
          <p:cNvPr id="4" name="Rounded Rectangle 3"/>
          <p:cNvSpPr/>
          <p:nvPr/>
        </p:nvSpPr>
        <p:spPr>
          <a:xfrm>
            <a:off x="685800" y="1911095"/>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135124"/>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02996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number they came for, top left</a:t>
            </a:r>
          </a:p>
        </p:txBody>
      </p:sp>
      <p:sp>
        <p:nvSpPr>
          <p:cNvPr id="7" name="TextBox 6"/>
          <p:cNvSpPr txBox="1"/>
          <p:nvPr/>
        </p:nvSpPr>
        <p:spPr>
          <a:xfrm>
            <a:off x="1554480" y="2295144"/>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One card. Readers start top left, and the number in that position is the one that gets remembered.</a:t>
            </a:r>
          </a:p>
        </p:txBody>
      </p:sp>
      <p:sp>
        <p:nvSpPr>
          <p:cNvPr id="8" name="Rounded Rectangle 7"/>
          <p:cNvSpPr/>
          <p:nvPr/>
        </p:nvSpPr>
        <p:spPr>
          <a:xfrm>
            <a:off x="685800" y="2798064"/>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022092"/>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2916936"/>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Five visuals, maximum. Four is better.</a:t>
            </a:r>
          </a:p>
        </p:txBody>
      </p:sp>
      <p:sp>
        <p:nvSpPr>
          <p:cNvPr id="11" name="TextBox 10"/>
          <p:cNvSpPr txBox="1"/>
          <p:nvPr/>
        </p:nvSpPr>
        <p:spPr>
          <a:xfrm>
            <a:off x="1554480" y="3182112"/>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Every extra visual reduces the chance that any of them is read.</a:t>
            </a:r>
          </a:p>
        </p:txBody>
      </p:sp>
      <p:sp>
        <p:nvSpPr>
          <p:cNvPr id="12" name="Rounded Rectangle 11"/>
          <p:cNvSpPr/>
          <p:nvPr/>
        </p:nvSpPr>
        <p:spPr>
          <a:xfrm>
            <a:off x="685800" y="3685032"/>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3909060"/>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3803904"/>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 title that states the finding</a:t>
            </a:r>
          </a:p>
        </p:txBody>
      </p:sp>
      <p:sp>
        <p:nvSpPr>
          <p:cNvPr id="15" name="TextBox 14"/>
          <p:cNvSpPr txBox="1"/>
          <p:nvPr/>
        </p:nvSpPr>
        <p:spPr>
          <a:xfrm>
            <a:off x="1554480" y="4069080"/>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Not "Sales Dashboard". The same rule as a chart title, applied to the page.</a:t>
            </a:r>
          </a:p>
        </p:txBody>
      </p:sp>
      <p:sp>
        <p:nvSpPr>
          <p:cNvPr id="16" name="Rounded Rectangle 15"/>
          <p:cNvSpPr/>
          <p:nvPr/>
        </p:nvSpPr>
        <p:spPr>
          <a:xfrm>
            <a:off x="685800" y="4572000"/>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4796028"/>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4690872"/>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One slicer, not five</a:t>
            </a:r>
          </a:p>
        </p:txBody>
      </p:sp>
      <p:sp>
        <p:nvSpPr>
          <p:cNvPr id="19" name="TextBox 18"/>
          <p:cNvSpPr txBox="1"/>
          <p:nvPr/>
        </p:nvSpPr>
        <p:spPr>
          <a:xfrm>
            <a:off x="1554480" y="4956048"/>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Every slicer is a way for a reader to produce a view you have never seen and cannot defend.</a:t>
            </a:r>
          </a:p>
        </p:txBody>
      </p:sp>
      <p:sp>
        <p:nvSpPr>
          <p:cNvPr id="20" name="Rounded Rectangle 19"/>
          <p:cNvSpPr/>
          <p:nvPr/>
        </p:nvSpPr>
        <p:spPr>
          <a:xfrm>
            <a:off x="685800" y="5458968"/>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568299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5</a:t>
            </a:r>
          </a:p>
        </p:txBody>
      </p:sp>
      <p:sp>
        <p:nvSpPr>
          <p:cNvPr id="22" name="TextBox 21"/>
          <p:cNvSpPr txBox="1"/>
          <p:nvPr/>
        </p:nvSpPr>
        <p:spPr>
          <a:xfrm>
            <a:off x="1554480" y="557784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One accent colour</a:t>
            </a:r>
          </a:p>
        </p:txBody>
      </p:sp>
      <p:sp>
        <p:nvSpPr>
          <p:cNvPr id="23" name="TextBox 22"/>
          <p:cNvSpPr txBox="1"/>
          <p:nvPr/>
        </p:nvSpPr>
        <p:spPr>
          <a:xfrm>
            <a:off x="1554480" y="5843016"/>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Colour should mean something. If everything is coloured, nothing is emphasised.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PRESENTATION</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Five minutes, in the order they listen</a:t>
            </a:r>
          </a:p>
        </p:txBody>
      </p:sp>
      <p:sp>
        <p:nvSpPr>
          <p:cNvPr id="4" name="Rounded Rectangle 3"/>
          <p:cNvSpPr/>
          <p:nvPr/>
        </p:nvSpPr>
        <p:spPr>
          <a:xfrm>
            <a:off x="685800" y="1911095"/>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135124"/>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02996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question, in one sentence</a:t>
            </a:r>
          </a:p>
        </p:txBody>
      </p:sp>
      <p:sp>
        <p:nvSpPr>
          <p:cNvPr id="7" name="TextBox 6"/>
          <p:cNvSpPr txBox="1"/>
          <p:nvPr/>
        </p:nvSpPr>
        <p:spPr>
          <a:xfrm>
            <a:off x="1554480" y="2295144"/>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The one you were actually asked. Fifteen seconds.</a:t>
            </a:r>
          </a:p>
        </p:txBody>
      </p:sp>
      <p:sp>
        <p:nvSpPr>
          <p:cNvPr id="8" name="Rounded Rectangle 7"/>
          <p:cNvSpPr/>
          <p:nvPr/>
        </p:nvSpPr>
        <p:spPr>
          <a:xfrm>
            <a:off x="685800" y="2798064"/>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022092"/>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2916936"/>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answer, with its number</a:t>
            </a:r>
          </a:p>
        </p:txBody>
      </p:sp>
      <p:sp>
        <p:nvSpPr>
          <p:cNvPr id="11" name="TextBox 10"/>
          <p:cNvSpPr txBox="1"/>
          <p:nvPr/>
        </p:nvSpPr>
        <p:spPr>
          <a:xfrm>
            <a:off x="1554480" y="3182112"/>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Immediately. Not the method, not the journey. Attention is highest at the start and you cannot control when it ends.</a:t>
            </a:r>
          </a:p>
        </p:txBody>
      </p:sp>
      <p:sp>
        <p:nvSpPr>
          <p:cNvPr id="12" name="Rounded Rectangle 11"/>
          <p:cNvSpPr/>
          <p:nvPr/>
        </p:nvSpPr>
        <p:spPr>
          <a:xfrm>
            <a:off x="685800" y="3685032"/>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3909060"/>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3803904"/>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How you know</a:t>
            </a:r>
          </a:p>
        </p:txBody>
      </p:sp>
      <p:sp>
        <p:nvSpPr>
          <p:cNvPr id="15" name="TextBox 14"/>
          <p:cNvSpPr txBox="1"/>
          <p:nvPr/>
        </p:nvSpPr>
        <p:spPr>
          <a:xfrm>
            <a:off x="1554480" y="4069080"/>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The data, the window, and the one chart that carries it. Ninety seconds, one chart.</a:t>
            </a:r>
          </a:p>
        </p:txBody>
      </p:sp>
      <p:sp>
        <p:nvSpPr>
          <p:cNvPr id="16" name="Rounded Rectangle 15"/>
          <p:cNvSpPr/>
          <p:nvPr/>
        </p:nvSpPr>
        <p:spPr>
          <a:xfrm>
            <a:off x="685800" y="4572000"/>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4796028"/>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4690872"/>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you accepted in exchange for what</a:t>
            </a:r>
          </a:p>
        </p:txBody>
      </p:sp>
      <p:sp>
        <p:nvSpPr>
          <p:cNvPr id="19" name="TextBox 18"/>
          <p:cNvSpPr txBox="1"/>
          <p:nvPr/>
        </p:nvSpPr>
        <p:spPr>
          <a:xfrm>
            <a:off x="1554480" y="4956048"/>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The trade you made: a narrower window, a dropped segment, a simpler measure. Naming it is what makes the rest credible.</a:t>
            </a:r>
          </a:p>
        </p:txBody>
      </p:sp>
      <p:sp>
        <p:nvSpPr>
          <p:cNvPr id="20" name="Rounded Rectangle 19"/>
          <p:cNvSpPr/>
          <p:nvPr/>
        </p:nvSpPr>
        <p:spPr>
          <a:xfrm>
            <a:off x="685800" y="5458968"/>
            <a:ext cx="10820095" cy="832104"/>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568299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5</a:t>
            </a:r>
          </a:p>
        </p:txBody>
      </p:sp>
      <p:sp>
        <p:nvSpPr>
          <p:cNvPr id="22" name="TextBox 21"/>
          <p:cNvSpPr txBox="1"/>
          <p:nvPr/>
        </p:nvSpPr>
        <p:spPr>
          <a:xfrm>
            <a:off x="1554480" y="557784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would change your answer</a:t>
            </a:r>
          </a:p>
        </p:txBody>
      </p:sp>
      <p:sp>
        <p:nvSpPr>
          <p:cNvPr id="23" name="TextBox 22"/>
          <p:cNvSpPr txBox="1"/>
          <p:nvPr/>
        </p:nvSpPr>
        <p:spPr>
          <a:xfrm>
            <a:off x="1554480" y="5843016"/>
            <a:ext cx="9631375" cy="356616"/>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The sentence that separates an analyst from an advocate.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measure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calculation worked out when a visual asks for it, inside that visual's filters. The same measure gives a different number in every cell of a table, which is the point of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Revenue UGX in a card with no filter gives UGX 10,758,894,480. The same measure on a bar chart by region gives each region's share, with no extra work.</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pivot table value field. You drop Revenue into Values once and it recalculates for every row and column combination. Identical idea.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calculated column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calculation worked out once per row when the data loads, and then fixed. It cannot respond to a slicer.</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Line value, quantity times price times one minus discount, is reasonable as a column: it depends only on that row. Average order value is not, because it depends on which rows the user is looking at.</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formula column in the sheet. Confusing these two is the commonest Power BI mistake there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recommendation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What somebody should do, with the number that justifies it and the conditions under which it stops being true. One page.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"Move one rep from Western to Eastern for the December peak. Eastern did UGX 2.51bn against UGX 1.81bn, and December is the biggest month in both years. If December 2026 is flat by week two, revert it."</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finding says what is true. A recommendation says what to do, and carries the risk of being acted 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Revenue: sum the value of each order line</a:t>
            </a:r>
          </a:p>
        </p:txBody>
      </p:sp>
      <p:sp>
        <p:nvSpPr>
          <p:cNvPr id="4" name="Rounded Rectangle 3"/>
          <p:cNvSpPr/>
          <p:nvPr/>
        </p:nvSpPr>
        <p:spPr>
          <a:xfrm>
            <a:off x="7200461" y="512064"/>
            <a:ext cx="430543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POWER BI · MODELLING · NEW MEASURE</a:t>
            </a:r>
          </a:p>
        </p:txBody>
      </p:sp>
      <p:sp>
        <p:nvSpPr>
          <p:cNvPr id="5" name="Rectangle 4"/>
          <p:cNvSpPr/>
          <p:nvPr/>
        </p:nvSpPr>
        <p:spPr>
          <a:xfrm>
            <a:off x="685800" y="1911095"/>
            <a:ext cx="10820095" cy="2403896"/>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111288"/>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Revenue UGX =</a:t>
            </a:r>
          </a:p>
          <a:p>
            <a:pPr algn="l">
              <a:lnSpc>
                <a:spcPts val="2333"/>
              </a:lnSpc>
              <a:spcAft>
                <a:spcPts val="0"/>
              </a:spcAft>
            </a:pPr>
            <a:r>
              <a:rPr sz="1716" b="0" i="0">
                <a:solidFill>
                  <a:srgbClr val="D8E3EC"/>
                </a:solidFill>
                <a:latin typeface="Courier New"/>
              </a:rPr>
              <a:t>SUMX(</a:t>
            </a:r>
          </a:p>
          <a:p>
            <a:pPr algn="l">
              <a:lnSpc>
                <a:spcPts val="2333"/>
              </a:lnSpc>
              <a:spcAft>
                <a:spcPts val="0"/>
              </a:spcAft>
            </a:pPr>
            <a:r>
              <a:rPr sz="1716" b="0" i="0">
                <a:solidFill>
                  <a:srgbClr val="D8E3EC"/>
                </a:solidFill>
                <a:latin typeface="Courier New"/>
              </a:rPr>
              <a:t>    order_items,</a:t>
            </a:r>
          </a:p>
          <a:p>
            <a:pPr algn="l">
              <a:lnSpc>
                <a:spcPts val="2333"/>
              </a:lnSpc>
              <a:spcAft>
                <a:spcPts val="0"/>
              </a:spcAft>
            </a:pPr>
            <a:r>
              <a:rPr sz="1716" b="0" i="0">
                <a:solidFill>
                  <a:srgbClr val="D8E3EC"/>
                </a:solidFill>
                <a:latin typeface="Courier New"/>
              </a:rPr>
              <a:t>    order_items[quantity] * order_items[unit_price_ugx]</a:t>
            </a:r>
          </a:p>
          <a:p>
            <a:pPr algn="l">
              <a:lnSpc>
                <a:spcPts val="2333"/>
              </a:lnSpc>
              <a:spcAft>
                <a:spcPts val="0"/>
              </a:spcAft>
            </a:pPr>
            <a:r>
              <a:rPr sz="1716" b="0" i="0">
                <a:solidFill>
                  <a:srgbClr val="D8E3EC"/>
                </a:solidFill>
                <a:latin typeface="Courier New"/>
              </a:rPr>
              <a:t>        * (1 - order_items[discount])</a:t>
            </a:r>
          </a:p>
          <a:p>
            <a:pPr algn="l">
              <a:lnSpc>
                <a:spcPts val="2333"/>
              </a:lnSpc>
              <a:spcAft>
                <a:spcPts val="0"/>
              </a:spcAft>
            </a:pPr>
            <a:r>
              <a:rPr sz="1716" b="0" i="0">
                <a:solidFill>
                  <a:srgbClr val="D8E3EC"/>
                </a:solidFill>
                <a:latin typeface="Courier New"/>
              </a:rPr>
              <a:t>)</a:t>
            </a:r>
          </a:p>
          <a:p>
            <a:pPr algn="l">
              <a:lnSpc>
                <a:spcPts val="2333"/>
              </a:lnSpc>
              <a:spcAft>
                <a:spcPts val="0"/>
              </a:spcAft>
            </a:pPr>
            <a:r>
              <a:rPr sz="1716" b="0" i="0">
                <a:solidFill>
                  <a:srgbClr val="D8E3EC"/>
                </a:solidFill>
                <a:latin typeface="Courier New"/>
              </a:rPr>
              <a:t>-- expected: UGX 10,758,894,480</a:t>
            </a:r>
          </a:p>
        </p:txBody>
      </p:sp>
      <p:sp>
        <p:nvSpPr>
          <p:cNvPr id="7" name="Rounded Rectangle 6"/>
          <p:cNvSpPr/>
          <p:nvPr/>
        </p:nvSpPr>
        <p:spPr>
          <a:xfrm>
            <a:off x="685800" y="4534448"/>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4543592"/>
            <a:ext cx="7208215" cy="695860"/>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Check that discount is a fraction, and multiply at the order-line grain before summing.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Delivered revenue: change the filter context</a:t>
            </a:r>
          </a:p>
        </p:txBody>
      </p:sp>
      <p:sp>
        <p:nvSpPr>
          <p:cNvPr id="4" name="Rounded Rectangle 3"/>
          <p:cNvSpPr/>
          <p:nvPr/>
        </p:nvSpPr>
        <p:spPr>
          <a:xfrm>
            <a:off x="7200461" y="512064"/>
            <a:ext cx="430543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POWER BI · MODELLING · NEW MEASURE</a:t>
            </a:r>
          </a:p>
        </p:txBody>
      </p:sp>
      <p:sp>
        <p:nvSpPr>
          <p:cNvPr id="5" name="Rectangle 4"/>
          <p:cNvSpPr/>
          <p:nvPr/>
        </p:nvSpPr>
        <p:spPr>
          <a:xfrm>
            <a:off x="685800" y="1911095"/>
            <a:ext cx="10820095" cy="210750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181490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Delivered Revenue UGX =</a:t>
            </a:r>
          </a:p>
          <a:p>
            <a:pPr algn="l">
              <a:lnSpc>
                <a:spcPts val="2333"/>
              </a:lnSpc>
              <a:spcAft>
                <a:spcPts val="0"/>
              </a:spcAft>
            </a:pPr>
            <a:r>
              <a:rPr sz="1716" b="0" i="0">
                <a:solidFill>
                  <a:srgbClr val="D8E3EC"/>
                </a:solidFill>
                <a:latin typeface="Courier New"/>
              </a:rPr>
              <a:t>CALCULATE(</a:t>
            </a:r>
          </a:p>
          <a:p>
            <a:pPr algn="l">
              <a:lnSpc>
                <a:spcPts val="2333"/>
              </a:lnSpc>
              <a:spcAft>
                <a:spcPts val="0"/>
              </a:spcAft>
            </a:pPr>
            <a:r>
              <a:rPr sz="1716" b="0" i="0">
                <a:solidFill>
                  <a:srgbClr val="D8E3EC"/>
                </a:solidFill>
                <a:latin typeface="Courier New"/>
              </a:rPr>
              <a:t>    [Revenue UGX],</a:t>
            </a:r>
          </a:p>
          <a:p>
            <a:pPr algn="l">
              <a:lnSpc>
                <a:spcPts val="2333"/>
              </a:lnSpc>
              <a:spcAft>
                <a:spcPts val="0"/>
              </a:spcAft>
            </a:pPr>
            <a:r>
              <a:rPr sz="1716" b="0" i="0">
                <a:solidFill>
                  <a:srgbClr val="D8E3EC"/>
                </a:solidFill>
                <a:latin typeface="Courier New"/>
              </a:rPr>
              <a:t>    orders[status] = "Delivered"</a:t>
            </a:r>
          </a:p>
          <a:p>
            <a:pPr algn="l">
              <a:lnSpc>
                <a:spcPts val="2333"/>
              </a:lnSpc>
              <a:spcAft>
                <a:spcPts val="0"/>
              </a:spcAft>
            </a:pPr>
            <a:r>
              <a:rPr sz="1716" b="0" i="0">
                <a:solidFill>
                  <a:srgbClr val="D8E3EC"/>
                </a:solidFill>
                <a:latin typeface="Courier New"/>
              </a:rPr>
              <a:t>)</a:t>
            </a:r>
          </a:p>
          <a:p>
            <a:pPr algn="l">
              <a:lnSpc>
                <a:spcPts val="2333"/>
              </a:lnSpc>
              <a:spcAft>
                <a:spcPts val="0"/>
              </a:spcAft>
            </a:pPr>
            <a:r>
              <a:rPr sz="1716" b="0" i="0">
                <a:solidFill>
                  <a:srgbClr val="D8E3EC"/>
                </a:solidFill>
                <a:latin typeface="Courier New"/>
              </a:rPr>
              <a:t>-- expected: UGX 8,751,705,520</a:t>
            </a:r>
          </a:p>
        </p:txBody>
      </p:sp>
      <p:sp>
        <p:nvSpPr>
          <p:cNvPr id="7" name="Rounded Rectangle 6"/>
          <p:cNvSpPr/>
          <p:nvPr/>
        </p:nvSpPr>
        <p:spPr>
          <a:xfrm>
            <a:off x="685800" y="423806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4247205"/>
            <a:ext cx="7208215" cy="695860"/>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Compare the two revenue cards. The status filter must propagate through the relationship to order_items.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Average order value: match both populations</a:t>
            </a:r>
          </a:p>
        </p:txBody>
      </p:sp>
      <p:sp>
        <p:nvSpPr>
          <p:cNvPr id="4" name="Rounded Rectangle 3"/>
          <p:cNvSpPr/>
          <p:nvPr/>
        </p:nvSpPr>
        <p:spPr>
          <a:xfrm>
            <a:off x="7200461" y="512064"/>
            <a:ext cx="430543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POWER BI · MODELLING · NEW MEASURE</a:t>
            </a:r>
          </a:p>
        </p:txBody>
      </p:sp>
      <p:sp>
        <p:nvSpPr>
          <p:cNvPr id="5" name="Rectangle 4"/>
          <p:cNvSpPr/>
          <p:nvPr/>
        </p:nvSpPr>
        <p:spPr>
          <a:xfrm>
            <a:off x="685800" y="1911095"/>
            <a:ext cx="10820095" cy="2403896"/>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111288"/>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Avg Order Value UGX =</a:t>
            </a:r>
          </a:p>
          <a:p>
            <a:pPr algn="l">
              <a:lnSpc>
                <a:spcPts val="2333"/>
              </a:lnSpc>
              <a:spcAft>
                <a:spcPts val="0"/>
              </a:spcAft>
            </a:pPr>
            <a:r>
              <a:rPr sz="1716" b="0" i="0">
                <a:solidFill>
                  <a:srgbClr val="D8E3EC"/>
                </a:solidFill>
                <a:latin typeface="Courier New"/>
              </a:rPr>
              <a:t>DIVIDE(</a:t>
            </a:r>
          </a:p>
          <a:p>
            <a:pPr algn="l">
              <a:lnSpc>
                <a:spcPts val="2333"/>
              </a:lnSpc>
              <a:spcAft>
                <a:spcPts val="0"/>
              </a:spcAft>
            </a:pPr>
            <a:r>
              <a:rPr sz="1716" b="0" i="0">
                <a:solidFill>
                  <a:srgbClr val="D8E3EC"/>
                </a:solidFill>
                <a:latin typeface="Courier New"/>
              </a:rPr>
              <a:t>    [Delivered Revenue UGX],</a:t>
            </a:r>
          </a:p>
          <a:p>
            <a:pPr algn="l">
              <a:lnSpc>
                <a:spcPts val="2333"/>
              </a:lnSpc>
              <a:spcAft>
                <a:spcPts val="0"/>
              </a:spcAft>
            </a:pPr>
            <a:r>
              <a:rPr sz="1716" b="0" i="0">
                <a:solidFill>
                  <a:srgbClr val="D8E3EC"/>
                </a:solidFill>
                <a:latin typeface="Courier New"/>
              </a:rPr>
              <a:t>    CALCULATE(DISTINCTCOUNT(orders[order_id]),</a:t>
            </a:r>
          </a:p>
          <a:p>
            <a:pPr algn="l">
              <a:lnSpc>
                <a:spcPts val="2333"/>
              </a:lnSpc>
              <a:spcAft>
                <a:spcPts val="0"/>
              </a:spcAft>
            </a:pPr>
            <a:r>
              <a:rPr sz="1716" b="0" i="0">
                <a:solidFill>
                  <a:srgbClr val="D8E3EC"/>
                </a:solidFill>
                <a:latin typeface="Courier New"/>
              </a:rPr>
              <a:t>              orders[status] = "Delivered")</a:t>
            </a:r>
          </a:p>
          <a:p>
            <a:pPr algn="l">
              <a:lnSpc>
                <a:spcPts val="2333"/>
              </a:lnSpc>
              <a:spcAft>
                <a:spcPts val="0"/>
              </a:spcAft>
            </a:pPr>
            <a:r>
              <a:rPr sz="1716" b="0" i="0">
                <a:solidFill>
                  <a:srgbClr val="D8E3EC"/>
                </a:solidFill>
                <a:latin typeface="Courier New"/>
              </a:rPr>
              <a:t>)</a:t>
            </a:r>
          </a:p>
          <a:p>
            <a:pPr algn="l">
              <a:lnSpc>
                <a:spcPts val="2333"/>
              </a:lnSpc>
              <a:spcAft>
                <a:spcPts val="0"/>
              </a:spcAft>
            </a:pPr>
            <a:r>
              <a:rPr sz="1716" b="0" i="0">
                <a:solidFill>
                  <a:srgbClr val="D8E3EC"/>
                </a:solidFill>
                <a:latin typeface="Courier New"/>
              </a:rPr>
              <a:t>-- expected: about UGX 1,809,000</a:t>
            </a:r>
          </a:p>
        </p:txBody>
      </p:sp>
      <p:sp>
        <p:nvSpPr>
          <p:cNvPr id="7" name="Rounded Rectangle 6"/>
          <p:cNvSpPr/>
          <p:nvPr/>
        </p:nvSpPr>
        <p:spPr>
          <a:xfrm>
            <a:off x="685800" y="4534448"/>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4543592"/>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Without CALCULATE in the denominator, delivered revenue is divided by all 6,000 orders instead of 4,837 delivered orders. The plausible result UGX 1,459,000 is about 19% 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20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Thirty seconds of attention, and five minutes of yours</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Design for thirty seconds: the number they came for top left, no more than five visuals, one accent colour, one slicer, and a title that states the finding.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DISTINCTCOUNT, which is session 5 again</a:t>
            </a:r>
          </a:p>
        </p:txBody>
      </p:sp>
      <p:sp>
        <p:nvSpPr>
          <p:cNvPr id="4" name="Rounded Rectangle 3"/>
          <p:cNvSpPr/>
          <p:nvPr/>
        </p:nvSpPr>
        <p:spPr>
          <a:xfrm>
            <a:off x="7200461" y="512064"/>
            <a:ext cx="430543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POWER BI · MODELLING · NEW MEASURE</a:t>
            </a:r>
          </a:p>
        </p:txBody>
      </p:sp>
      <p:sp>
        <p:nvSpPr>
          <p:cNvPr id="5" name="Rectangle 4"/>
          <p:cNvSpPr/>
          <p:nvPr/>
        </p:nvSpPr>
        <p:spPr>
          <a:xfrm>
            <a:off x="685800" y="1911095"/>
            <a:ext cx="10820095" cy="2700284"/>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407676"/>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 WRONG: counts order LINES, because that is the fact table</a:t>
            </a:r>
          </a:p>
          <a:p>
            <a:pPr algn="l">
              <a:lnSpc>
                <a:spcPts val="2333"/>
              </a:lnSpc>
              <a:spcAft>
                <a:spcPts val="0"/>
              </a:spcAft>
            </a:pPr>
            <a:r>
              <a:rPr sz="1716" b="0" i="0">
                <a:solidFill>
                  <a:srgbClr val="D8E3EC"/>
                </a:solidFill>
                <a:latin typeface="Courier New"/>
              </a:rPr>
              <a:t>Orders Wrong = COUNTROWS(order_items)      -- 20,234</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RIGHT: counts distinct orders</a:t>
            </a:r>
          </a:p>
          <a:p>
            <a:pPr algn="l">
              <a:lnSpc>
                <a:spcPts val="2333"/>
              </a:lnSpc>
              <a:spcAft>
                <a:spcPts val="0"/>
              </a:spcAft>
            </a:pPr>
            <a:r>
              <a:rPr sz="1716" b="0" i="0">
                <a:solidFill>
                  <a:srgbClr val="D8E3EC"/>
                </a:solidFill>
                <a:latin typeface="Courier New"/>
              </a:rPr>
              <a:t>Orders = DISTINCTCOUNT(orders[order_id])   -- 6,000</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so average order value with the wrong one is about a third</a:t>
            </a:r>
          </a:p>
          <a:p>
            <a:pPr algn="l">
              <a:lnSpc>
                <a:spcPts val="2333"/>
              </a:lnSpc>
              <a:spcAft>
                <a:spcPts val="0"/>
              </a:spcAft>
            </a:pPr>
            <a:r>
              <a:rPr sz="1716" b="0" i="0">
                <a:solidFill>
                  <a:srgbClr val="D8E3EC"/>
                </a:solidFill>
                <a:latin typeface="Courier New"/>
              </a:rPr>
              <a:t>-- of the truth, and looks entirely plausible on a card.</a:t>
            </a:r>
          </a:p>
        </p:txBody>
      </p:sp>
      <p:sp>
        <p:nvSpPr>
          <p:cNvPr id="7" name="Rounded Rectangle 6"/>
          <p:cNvSpPr/>
          <p:nvPr/>
        </p:nvSpPr>
        <p:spPr>
          <a:xfrm>
            <a:off x="685800" y="4830836"/>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4839980"/>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Build both cards side by side and put them on the page next to each other. The grain problem from session 1 has now bitten you in a spreadsheet, in SQL, in pandas and in Power BI. That is why it was the first thing taught.</a:t>
            </a:r>
          </a:p>
        </p:txBody>
      </p:sp>
    </p:spTree>
  </p:cSld>
  <p:clrMapOvr>
    <a:masterClrMapping/>
  </p:clrMapOvr>
</p:sld>
</file>

<file path=ppt/slides/slide18.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CAPSTONE · 40% OF THE MARK</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hand in, and what you say</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Five minutes</a:t>
            </a:r>
          </a:p>
        </p:txBody>
      </p:sp>
      <p:sp>
        <p:nvSpPr>
          <p:cNvPr id="5" name="TextBox 4"/>
          <p:cNvSpPr txBox="1"/>
          <p:nvPr/>
        </p:nvSpPr>
        <p:spPr>
          <a:xfrm>
            <a:off x="685800" y="2409332"/>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The question, in one sentence.</a:t>
            </a:r>
          </a:p>
        </p:txBody>
      </p:sp>
      <p:sp>
        <p:nvSpPr>
          <p:cNvPr id="6" name="TextBox 5"/>
          <p:cNvSpPr txBox="1"/>
          <p:nvPr/>
        </p:nvSpPr>
        <p:spPr>
          <a:xfrm>
            <a:off x="685800" y="2870329"/>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The answer, with its number, immediately after.</a:t>
            </a:r>
          </a:p>
        </p:txBody>
      </p:sp>
      <p:sp>
        <p:nvSpPr>
          <p:cNvPr id="7" name="TextBox 6"/>
          <p:cNvSpPr txBox="1"/>
          <p:nvPr/>
        </p:nvSpPr>
        <p:spPr>
          <a:xfrm>
            <a:off x="685800" y="3331326"/>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One chart. One.</a:t>
            </a:r>
          </a:p>
        </p:txBody>
      </p:sp>
      <p:sp>
        <p:nvSpPr>
          <p:cNvPr id="8" name="TextBox 7"/>
          <p:cNvSpPr txBox="1"/>
          <p:nvPr/>
        </p:nvSpPr>
        <p:spPr>
          <a:xfrm>
            <a:off x="685800" y="3792323"/>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What you traded away.</a:t>
            </a:r>
          </a:p>
        </p:txBody>
      </p:sp>
      <p:sp>
        <p:nvSpPr>
          <p:cNvPr id="9" name="TextBox 8"/>
          <p:cNvSpPr txBox="1"/>
          <p:nvPr/>
        </p:nvSpPr>
        <p:spPr>
          <a:xfrm>
            <a:off x="685800" y="4253320"/>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What would change your answer.</a:t>
            </a:r>
          </a:p>
        </p:txBody>
      </p:sp>
      <p:sp>
        <p:nvSpPr>
          <p:cNvPr id="10" name="Rounded Rectangle 9"/>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And what is marked</a:t>
            </a:r>
          </a:p>
        </p:txBody>
      </p:sp>
      <p:sp>
        <p:nvSpPr>
          <p:cNvPr id="12" name="TextBox 11"/>
          <p:cNvSpPr txBox="1"/>
          <p:nvPr/>
        </p:nvSpPr>
        <p:spPr>
          <a:xfrm>
            <a:off x="6575907" y="2496312"/>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Upload PPTX with narration notes and numerical evidence.</a:t>
            </a:r>
          </a:p>
        </p:txBody>
      </p:sp>
      <p:sp>
        <p:nvSpPr>
          <p:cNvPr id="13" name="TextBox 12"/>
          <p:cNvSpPr txBox="1"/>
          <p:nvPr/>
        </p:nvSpPr>
        <p:spPr>
          <a:xfrm>
            <a:off x="6575907" y="333503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Add a DOCX/PDF appendix if needed. Keep PBIX as supporting material.</a:t>
            </a:r>
          </a:p>
        </p:txBody>
      </p:sp>
      <p:sp>
        <p:nvSpPr>
          <p:cNvPr id="14" name="TextBox 13"/>
          <p:cNvSpPr txBox="1"/>
          <p:nvPr/>
        </p:nvSpPr>
        <p:spPr>
          <a:xfrm>
            <a:off x="6575907" y="4173759"/>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Marks reward a supported decision and the required evidence.</a:t>
            </a:r>
          </a:p>
        </p:txBody>
      </p:sp>
      <p:sp>
        <p:nvSpPr>
          <p:cNvPr id="15" name="TextBox 14"/>
          <p:cNvSpPr txBox="1"/>
          <p:nvPr/>
        </p:nvSpPr>
        <p:spPr>
          <a:xfrm>
            <a:off x="6575907" y="5012483"/>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Everybody asks at least one question of somebody else. That is how you learn what a weak answer sounds like.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TO DO NEXT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Monday morning, and what to learn next</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Pick one report and replace it</a:t>
            </a:r>
          </a:p>
        </p:txBody>
      </p:sp>
      <p:sp>
        <p:nvSpPr>
          <p:cNvPr id="5" name="TextBox 4"/>
          <p:cNvSpPr txBox="1"/>
          <p:nvPr/>
        </p:nvSpPr>
        <p:spPr>
          <a:xfrm>
            <a:off x="685800" y="235262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One report somebody produces by hand every month. Not the biggest: the most repetitive. Automate that one and the second is easier.</a:t>
            </a:r>
          </a:p>
        </p:txBody>
      </p:sp>
      <p:sp>
        <p:nvSpPr>
          <p:cNvPr id="6" name="TextBox 5"/>
          <p:cNvSpPr txBox="1"/>
          <p:nvPr/>
        </p:nvSpPr>
        <p:spPr>
          <a:xfrm>
            <a:off x="685800" y="3646478"/>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Expect the bottleneck to be access, not skill</a:t>
            </a:r>
          </a:p>
        </p:txBody>
      </p:sp>
      <p:sp>
        <p:nvSpPr>
          <p:cNvPr id="7" name="TextBox 6"/>
          <p:cNvSpPr txBox="1"/>
          <p:nvPr/>
        </p:nvSpPr>
        <p:spPr>
          <a:xfrm>
            <a:off x="685800" y="4088012"/>
            <a:ext cx="5158587" cy="1738837"/>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Most people leaving this course find the hard part is getting to the data rather than analysing it. That is a conversation with whoever owns the database, and it goes better when you can name the tables you need and the grain you want them at.</a:t>
            </a:r>
          </a:p>
        </p:txBody>
      </p:sp>
      <p:sp>
        <p:nvSpPr>
          <p:cNvPr id="8" name="TextBox 7"/>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Where to go next, honestly</a:t>
            </a:r>
          </a:p>
        </p:txBody>
      </p:sp>
      <p:sp>
        <p:nvSpPr>
          <p:cNvPr id="9" name="TextBox 8"/>
          <p:cNvSpPr txBox="1"/>
          <p:nvPr/>
        </p:nvSpPr>
        <p:spPr>
          <a:xfrm>
            <a:off x="6347307" y="2352629"/>
            <a:ext cx="5158587" cy="1738837"/>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Statistics and experiment design if your questions are about causes. Machine learning if they are about prediction. Data engineering if the bottleneck turned out to be access. Forty-five hours buys a competent analyst; it does not buy the other three.</a:t>
            </a:r>
          </a:p>
        </p:txBody>
      </p:sp>
      <p:sp>
        <p:nvSpPr>
          <p:cNvPr id="10" name="TextBox 9"/>
          <p:cNvSpPr txBox="1"/>
          <p:nvPr/>
        </p:nvSpPr>
        <p:spPr>
          <a:xfrm>
            <a:off x="6347307" y="4320067"/>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Keep the habits, if nothing else</a:t>
            </a:r>
          </a:p>
        </p:txBody>
      </p:sp>
      <p:sp>
        <p:nvSpPr>
          <p:cNvPr id="11" name="TextBox 10"/>
          <p:cNvSpPr txBox="1"/>
          <p:nvPr/>
        </p:nvSpPr>
        <p:spPr>
          <a:xfrm>
            <a:off x="6347307" y="4761601"/>
            <a:ext cx="5158587" cy="1402042"/>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question before the query. The grain said out loud. The row count after every join. The cleaning log. The finding in the title. Those five are most of the value here and none of them need a tool.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PRACTICAL NOTE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you start tonight</a:t>
            </a:r>
          </a:p>
        </p:txBody>
      </p:sp>
      <p:sp>
        <p:nvSpPr>
          <p:cNvPr id="4" name="Rounded Rectangle 3"/>
          <p:cNvSpPr/>
          <p:nvPr/>
        </p:nvSpPr>
        <p:spPr>
          <a:xfrm>
            <a:off x="685800" y="1911095"/>
            <a:ext cx="10820095" cy="201873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1616398"/>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Session 15 uses 30 minutes for DAX, 10 break, 20 for design, 50 dashboard completion, 10 break, 40 selected demonstrations and 20 application planning. Every learner submits a five-minute narrated presentation with the capstone for rubric assessment; selected live demonstrations provide discussion, not extra marks.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60329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A dashboard with fourteen visuals and no answer, presented method first. Nobody outside the room cares which library you used.</a:t>
            </a:r>
          </a:p>
        </p:txBody>
      </p:sp>
      <p:sp>
        <p:nvSpPr>
          <p:cNvPr id="5" name="TextBox 4"/>
          <p:cNvSpPr txBox="1"/>
          <p:nvPr/>
        </p:nvSpPr>
        <p:spPr>
          <a:xfrm>
            <a:off x="685800" y="34778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15 of 15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When does something have to be a measure rather than a column?</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Somebody asks a question you cannot answer. What do you say?</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the answer come second rather than last?</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Measure against column</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If the answer depends on what the reader filtered, it must be a measure. A column is fixed when the data loads and cannot respond to a slicer.</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A question you cannot answer</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"I do not know, and here is what I would need to find out." It costs you nothing and it protects every other number you gave them. Guessing costs you all of them.</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the answer comes second</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Attention is highest at the start and you cannot control when it ends. Build to a conclusion and you may never reach it: somebody interrupts at minute three and the room leaves with your method.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Finish the dashboard, then present</a:t>
            </a:r>
          </a:p>
        </p:txBody>
      </p:sp>
      <p:sp>
        <p:nvSpPr>
          <p:cNvPr id="4" name="Rounded Rectangle 3"/>
          <p:cNvSpPr/>
          <p:nvPr/>
        </p:nvSpPr>
        <p:spPr>
          <a:xfrm>
            <a:off x="685800" y="1911095"/>
            <a:ext cx="10820095" cy="1617199"/>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1251439"/>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Use the 50-minute clinic to finish and reconcile the dashboard. Submit a five-minute narrated presentation. Selected live demonstrations take 40 minutes, followed by 20 minutes on applying the work.</a:t>
            </a:r>
          </a:p>
        </p:txBody>
      </p:sp>
      <p:sp>
        <p:nvSpPr>
          <p:cNvPr id="6" name="TextBox 5"/>
          <p:cNvSpPr txBox="1"/>
          <p:nvPr/>
        </p:nvSpPr>
        <p:spPr>
          <a:xfrm>
            <a:off x="685800" y="3802615"/>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4278103"/>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Four visuals, three measures, one slicer.</a:t>
            </a:r>
          </a:p>
        </p:txBody>
      </p:sp>
      <p:sp>
        <p:nvSpPr>
          <p:cNvPr id="8" name="TextBox 7"/>
          <p:cNvSpPr txBox="1"/>
          <p:nvPr/>
        </p:nvSpPr>
        <p:spPr>
          <a:xfrm>
            <a:off x="685800" y="4755045"/>
            <a:ext cx="5227167" cy="69785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Every total reconciled against a number you already trust.</a:t>
            </a:r>
          </a:p>
        </p:txBody>
      </p:sp>
      <p:sp>
        <p:nvSpPr>
          <p:cNvPr id="9" name="TextBox 8"/>
          <p:cNvSpPr txBox="1"/>
          <p:nvPr/>
        </p:nvSpPr>
        <p:spPr>
          <a:xfrm>
            <a:off x="685800" y="5544337"/>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A title that states your finding.</a:t>
            </a:r>
          </a:p>
        </p:txBody>
      </p:sp>
      <p:sp>
        <p:nvSpPr>
          <p:cNvPr id="10" name="TextBox 9"/>
          <p:cNvSpPr txBox="1"/>
          <p:nvPr/>
        </p:nvSpPr>
        <p:spPr>
          <a:xfrm>
            <a:off x="6278727" y="4278103"/>
            <a:ext cx="5227167" cy="69785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Five minutes: question, answer, how you know, the trade, what would change it.</a:t>
            </a:r>
          </a:p>
        </p:txBody>
      </p:sp>
      <p:sp>
        <p:nvSpPr>
          <p:cNvPr id="11" name="TextBox 10"/>
          <p:cNvSpPr txBox="1"/>
          <p:nvPr/>
        </p:nvSpPr>
        <p:spPr>
          <a:xfrm>
            <a:off x="6278727" y="5067395"/>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Ask at least one question of somebody else.</a:t>
            </a:r>
          </a:p>
        </p:txBody>
      </p:sp>
      <p:sp>
        <p:nvSpPr>
          <p:cNvPr id="12" name="TextBox 11"/>
          <p:cNvSpPr txBox="1"/>
          <p:nvPr/>
        </p:nvSpPr>
        <p:spPr>
          <a:xfrm>
            <a:off x="6278727" y="5544337"/>
            <a:ext cx="5227167" cy="69785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Write down: the report you will replace, the first step, and who you need to ask.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Selected demonstrations follow; keep your submitted slides ready.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DEMONSTRATIONS · 40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Eight short demonstrations</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Five minutes each. Start with the decision, show the supporting evidence, and name one limitation.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APPLICATION PLANNING · 20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Use the work beyond tonight</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Choose one portfolio improvement and one concrete next step for a client or job application.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Write a measure, and say why it is not a column.</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Lay out a dashboard for somebody who will look at it for thirty seconds.</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Present an analysis in five minutes and take a hard question.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847583"/>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445247"/>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None. Send the dashboard to the person who asked the question in week one.</a:t>
            </a:r>
          </a:p>
        </p:txBody>
      </p:sp>
      <p:sp>
        <p:nvSpPr>
          <p:cNvPr id="6" name="Rounded Rectangle 5"/>
          <p:cNvSpPr/>
          <p:nvPr/>
        </p:nvSpPr>
        <p:spPr>
          <a:xfrm>
            <a:off x="685800" y="3032999"/>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599927"/>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You can answer a question with a number attached</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That is a smaller claim than a certificate implies and a bigger one than it sounds. Most organisations have very few people who will say what they found, what it cost, and what would change their mind.</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Send it to the person who asked in week one. That is the last step and it is the one people skip.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