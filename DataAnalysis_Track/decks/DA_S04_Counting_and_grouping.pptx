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on time.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Tonight is session 4 of twelve.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are what tonight is marked against, in the sense that the lab checks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runs again next month without you, somebody else can check it, and it works on files a spreadsheet will not open.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calculation that collapses many rows into one number: count, sum, average, minimum, maximum.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Says which rows belong together before the aggregate runs. Group by region and you get one number per region.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filter on the GROUPS, applied after the aggregation. WHERE filters rows before grouping; HAVING filters the results afterwards.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number the data does not store, computed from columns that it does.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regions, four average order values. The national average is not the average of those four, and the gap is not small.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Averaging an average. The average of four regional averages is not the national average unless the regions are the same size. Sum the top, sum the bottom, then divide.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Revenue by channel, by segment and by month, delivered orders only. Then export the order lines to CSV, build the same three figures as pivot tables, and confirm they agree. Where they disagree, the SQL is usually right and the pivot has quietly included something.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more groupings on the sheet, then one sentence: which grouping of your own work data would you most like to see, and which columns would it need?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now runs again next month without you, on a file too big for a spreadsheet, and somebody else can read what you did. That is the whole argument for SQL and you have just made it yourself.</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2103851"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SESSION 4 OF 15</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Counting and grouping</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It runs again next month without you, somebody else can check it, and it works on files a spreadsheet will not open.</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2  ·  SQL  ·  3 HOURS</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Data Analysis with Python, SQL and Power BI  ·  roadmap.sh: SQL: aggregates, GROUP BY, HAVING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FIFTEEN SESSIONS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tonight sits</a:t>
            </a:r>
          </a:p>
        </p:txBody>
      </p:sp>
      <p:sp>
        <p:nvSpPr>
          <p:cNvPr id="4" name="Rounded Rectangle 3"/>
          <p:cNvSpPr/>
          <p:nvPr/>
        </p:nvSpPr>
        <p:spPr>
          <a:xfrm>
            <a:off x="685800"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2104"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  ·  FOUNDATIONS</a:t>
            </a:r>
          </a:p>
        </p:txBody>
      </p:sp>
      <p:sp>
        <p:nvSpPr>
          <p:cNvPr id="6" name="TextBox 5"/>
          <p:cNvSpPr txBox="1"/>
          <p:nvPr/>
        </p:nvSpPr>
        <p:spPr>
          <a:xfrm>
            <a:off x="832104"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From a spreadsheet to data</a:t>
            </a:r>
          </a:p>
        </p:txBody>
      </p:sp>
      <p:sp>
        <p:nvSpPr>
          <p:cNvPr id="7" name="Rounded Rectangle 6"/>
          <p:cNvSpPr/>
          <p:nvPr/>
        </p:nvSpPr>
        <p:spPr>
          <a:xfrm>
            <a:off x="3459403"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5707"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2  ·  FOUNDATIONS</a:t>
            </a:r>
          </a:p>
        </p:txBody>
      </p:sp>
      <p:sp>
        <p:nvSpPr>
          <p:cNvPr id="9" name="TextBox 8"/>
          <p:cNvSpPr txBox="1"/>
          <p:nvPr/>
        </p:nvSpPr>
        <p:spPr>
          <a:xfrm>
            <a:off x="3605707"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Why data lives in several tables</a:t>
            </a:r>
          </a:p>
        </p:txBody>
      </p:sp>
      <p:sp>
        <p:nvSpPr>
          <p:cNvPr id="10" name="Rounded Rectangle 9"/>
          <p:cNvSpPr/>
          <p:nvPr/>
        </p:nvSpPr>
        <p:spPr>
          <a:xfrm>
            <a:off x="6233007"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9311"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3  ·  SQL</a:t>
            </a:r>
          </a:p>
        </p:txBody>
      </p:sp>
      <p:sp>
        <p:nvSpPr>
          <p:cNvPr id="12" name="TextBox 11"/>
          <p:cNvSpPr txBox="1"/>
          <p:nvPr/>
        </p:nvSpPr>
        <p:spPr>
          <a:xfrm>
            <a:off x="6379311"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Asking a database for rows</a:t>
            </a:r>
          </a:p>
        </p:txBody>
      </p:sp>
      <p:sp>
        <p:nvSpPr>
          <p:cNvPr id="13" name="Rounded Rectangle 12"/>
          <p:cNvSpPr/>
          <p:nvPr/>
        </p:nvSpPr>
        <p:spPr>
          <a:xfrm>
            <a:off x="9006611" y="1947672"/>
            <a:ext cx="2499283" cy="1060704"/>
          </a:xfrm>
          <a:prstGeom prst="roundRect">
            <a:avLst>
              <a:gd name="adj" fmla="val 6000"/>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2020824"/>
            <a:ext cx="2206675" cy="256032"/>
          </a:xfrm>
          <a:prstGeom prst="rect">
            <a:avLst/>
          </a:prstGeom>
          <a:noFill/>
        </p:spPr>
        <p:txBody>
          <a:bodyPr wrap="square" lIns="0" rIns="0" tIns="0" bIns="0" anchor="t">
            <a:spAutoFit/>
          </a:bodyPr>
          <a:lstStyle/>
          <a:p>
            <a:pPr algn="l">
              <a:spcAft>
                <a:spcPts val="600"/>
              </a:spcAft>
            </a:pPr>
            <a:r>
              <a:rPr sz="1254" b="1" i="0">
                <a:solidFill>
                  <a:srgbClr val="FFFFFF"/>
                </a:solidFill>
                <a:latin typeface="Calibri"/>
              </a:rPr>
              <a:t>4  ·  SQL</a:t>
            </a:r>
          </a:p>
        </p:txBody>
      </p:sp>
      <p:sp>
        <p:nvSpPr>
          <p:cNvPr id="15" name="TextBox 14"/>
          <p:cNvSpPr txBox="1"/>
          <p:nvPr/>
        </p:nvSpPr>
        <p:spPr>
          <a:xfrm>
            <a:off x="9152915" y="2295144"/>
            <a:ext cx="2206675" cy="640080"/>
          </a:xfrm>
          <a:prstGeom prst="rect">
            <a:avLst/>
          </a:prstGeom>
          <a:noFill/>
        </p:spPr>
        <p:txBody>
          <a:bodyPr wrap="square" lIns="0" rIns="0" tIns="0" bIns="0" anchor="t">
            <a:spAutoFit/>
          </a:bodyPr>
          <a:lstStyle/>
          <a:p>
            <a:pPr algn="l">
              <a:lnSpc>
                <a:spcPct val="112000"/>
              </a:lnSpc>
              <a:spcAft>
                <a:spcPts val="600"/>
              </a:spcAft>
            </a:pPr>
            <a:r>
              <a:rPr sz="1452" b="1" i="0">
                <a:solidFill>
                  <a:srgbClr val="FFFFFF"/>
                </a:solidFill>
                <a:latin typeface="Calibri"/>
              </a:rPr>
              <a:t>Counting and grouping</a:t>
            </a:r>
          </a:p>
        </p:txBody>
      </p:sp>
      <p:sp>
        <p:nvSpPr>
          <p:cNvPr id="16" name="Rounded Rectangle 15"/>
          <p:cNvSpPr/>
          <p:nvPr/>
        </p:nvSpPr>
        <p:spPr>
          <a:xfrm>
            <a:off x="685800"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5  ·  SQL</a:t>
            </a:r>
          </a:p>
        </p:txBody>
      </p:sp>
      <p:sp>
        <p:nvSpPr>
          <p:cNvPr id="18" name="TextBox 17"/>
          <p:cNvSpPr txBox="1"/>
          <p:nvPr/>
        </p:nvSpPr>
        <p:spPr>
          <a:xfrm>
            <a:off x="832104"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Joining tables, carefully</a:t>
            </a:r>
          </a:p>
        </p:txBody>
      </p:sp>
      <p:sp>
        <p:nvSpPr>
          <p:cNvPr id="19" name="Rounded Rectangle 18"/>
          <p:cNvSpPr/>
          <p:nvPr/>
        </p:nvSpPr>
        <p:spPr>
          <a:xfrm>
            <a:off x="3459403"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5707"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6  ·  PYTHON</a:t>
            </a:r>
          </a:p>
        </p:txBody>
      </p:sp>
      <p:sp>
        <p:nvSpPr>
          <p:cNvPr id="21" name="TextBox 20"/>
          <p:cNvSpPr txBox="1"/>
          <p:nvPr/>
        </p:nvSpPr>
        <p:spPr>
          <a:xfrm>
            <a:off x="3605707"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Your first program</a:t>
            </a:r>
          </a:p>
        </p:txBody>
      </p:sp>
      <p:sp>
        <p:nvSpPr>
          <p:cNvPr id="22" name="Rounded Rectangle 21"/>
          <p:cNvSpPr/>
          <p:nvPr/>
        </p:nvSpPr>
        <p:spPr>
          <a:xfrm>
            <a:off x="6233007"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9311"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7  ·  PYTHON</a:t>
            </a:r>
          </a:p>
        </p:txBody>
      </p:sp>
      <p:sp>
        <p:nvSpPr>
          <p:cNvPr id="24" name="TextBox 23"/>
          <p:cNvSpPr txBox="1"/>
          <p:nvPr/>
        </p:nvSpPr>
        <p:spPr>
          <a:xfrm>
            <a:off x="6379311"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Reading a file, and looking at it</a:t>
            </a:r>
          </a:p>
        </p:txBody>
      </p:sp>
      <p:sp>
        <p:nvSpPr>
          <p:cNvPr id="25" name="Rounded Rectangle 24"/>
          <p:cNvSpPr/>
          <p:nvPr/>
        </p:nvSpPr>
        <p:spPr>
          <a:xfrm>
            <a:off x="9006611"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52915"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8  ·  PYTHON</a:t>
            </a:r>
          </a:p>
        </p:txBody>
      </p:sp>
      <p:sp>
        <p:nvSpPr>
          <p:cNvPr id="27" name="TextBox 26"/>
          <p:cNvSpPr txBox="1"/>
          <p:nvPr/>
        </p:nvSpPr>
        <p:spPr>
          <a:xfrm>
            <a:off x="9152915"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Cleaning, and writing down what you did</a:t>
            </a:r>
          </a:p>
        </p:txBody>
      </p:sp>
      <p:sp>
        <p:nvSpPr>
          <p:cNvPr id="28" name="Rounded Rectangle 27"/>
          <p:cNvSpPr/>
          <p:nvPr/>
        </p:nvSpPr>
        <p:spPr>
          <a:xfrm>
            <a:off x="685800"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9  ·  PYTHON</a:t>
            </a:r>
          </a:p>
        </p:txBody>
      </p:sp>
      <p:sp>
        <p:nvSpPr>
          <p:cNvPr id="30" name="TextBox 29"/>
          <p:cNvSpPr txBox="1"/>
          <p:nvPr/>
        </p:nvSpPr>
        <p:spPr>
          <a:xfrm>
            <a:off x="832104"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Grouping and joining in pandas</a:t>
            </a:r>
          </a:p>
        </p:txBody>
      </p:sp>
      <p:sp>
        <p:nvSpPr>
          <p:cNvPr id="31" name="Rounded Rectangle 30"/>
          <p:cNvSpPr/>
          <p:nvPr/>
        </p:nvSpPr>
        <p:spPr>
          <a:xfrm>
            <a:off x="3459403"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05707"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10  ·  STATISTICS</a:t>
            </a:r>
          </a:p>
        </p:txBody>
      </p:sp>
      <p:sp>
        <p:nvSpPr>
          <p:cNvPr id="33" name="TextBox 32"/>
          <p:cNvSpPr txBox="1"/>
          <p:nvPr/>
        </p:nvSpPr>
        <p:spPr>
          <a:xfrm>
            <a:off x="3605707"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Describing one column</a:t>
            </a:r>
          </a:p>
        </p:txBody>
      </p:sp>
      <p:sp>
        <p:nvSpPr>
          <p:cNvPr id="34" name="Rounded Rectangle 33"/>
          <p:cNvSpPr/>
          <p:nvPr/>
        </p:nvSpPr>
        <p:spPr>
          <a:xfrm>
            <a:off x="6233007"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9311"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11  ·  STATISTICS</a:t>
            </a:r>
          </a:p>
        </p:txBody>
      </p:sp>
      <p:sp>
        <p:nvSpPr>
          <p:cNvPr id="36" name="TextBox 35"/>
          <p:cNvSpPr txBox="1"/>
          <p:nvPr/>
        </p:nvSpPr>
        <p:spPr>
          <a:xfrm>
            <a:off x="6379311"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Comparing groups, and reading time</a:t>
            </a:r>
          </a:p>
        </p:txBody>
      </p:sp>
      <p:sp>
        <p:nvSpPr>
          <p:cNvPr id="37" name="Rounded Rectangle 36"/>
          <p:cNvSpPr/>
          <p:nvPr/>
        </p:nvSpPr>
        <p:spPr>
          <a:xfrm>
            <a:off x="9006611"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52915"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12  ·  CHARTS</a:t>
            </a:r>
          </a:p>
        </p:txBody>
      </p:sp>
      <p:sp>
        <p:nvSpPr>
          <p:cNvPr id="39" name="TextBox 38"/>
          <p:cNvSpPr txBox="1"/>
          <p:nvPr/>
        </p:nvSpPr>
        <p:spPr>
          <a:xfrm>
            <a:off x="9152915"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Charts that answer the question</a:t>
            </a:r>
          </a:p>
        </p:txBody>
      </p:sp>
      <p:sp>
        <p:nvSpPr>
          <p:cNvPr id="40" name="Rounded Rectangle 39"/>
          <p:cNvSpPr/>
          <p:nvPr/>
        </p:nvSpPr>
        <p:spPr>
          <a:xfrm>
            <a:off x="685800"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13  ·  INVESTIGATION</a:t>
            </a:r>
          </a:p>
        </p:txBody>
      </p:sp>
      <p:sp>
        <p:nvSpPr>
          <p:cNvPr id="42" name="TextBox 41"/>
          <p:cNvSpPr txBox="1"/>
          <p:nvPr/>
        </p:nvSpPr>
        <p:spPr>
          <a:xfrm>
            <a:off x="832104"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 whole investigation, end to end</a:t>
            </a:r>
          </a:p>
        </p:txBody>
      </p:sp>
      <p:sp>
        <p:nvSpPr>
          <p:cNvPr id="43" name="Rounded Rectangle 42"/>
          <p:cNvSpPr/>
          <p:nvPr/>
        </p:nvSpPr>
        <p:spPr>
          <a:xfrm>
            <a:off x="3459403"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5707"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14  ·  POWER BI</a:t>
            </a:r>
          </a:p>
        </p:txBody>
      </p:sp>
      <p:sp>
        <p:nvSpPr>
          <p:cNvPr id="45" name="TextBox 44"/>
          <p:cNvSpPr txBox="1"/>
          <p:nvPr/>
        </p:nvSpPr>
        <p:spPr>
          <a:xfrm>
            <a:off x="3605707"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Getting data in, and modelling it</a:t>
            </a:r>
          </a:p>
        </p:txBody>
      </p:sp>
      <p:sp>
        <p:nvSpPr>
          <p:cNvPr id="46" name="Rounded Rectangle 45"/>
          <p:cNvSpPr/>
          <p:nvPr/>
        </p:nvSpPr>
        <p:spPr>
          <a:xfrm>
            <a:off x="6233007"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79311"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15  ·  POWER BI</a:t>
            </a:r>
          </a:p>
        </p:txBody>
      </p:sp>
      <p:sp>
        <p:nvSpPr>
          <p:cNvPr id="48" name="TextBox 47"/>
          <p:cNvSpPr txBox="1"/>
          <p:nvPr/>
        </p:nvSpPr>
        <p:spPr>
          <a:xfrm>
            <a:off x="6379311"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Measures, a dashboard, and presenting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BEFORE WE START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for tonight</a:t>
            </a:r>
          </a:p>
        </p:txBody>
      </p:sp>
      <p:sp>
        <p:nvSpPr>
          <p:cNvPr id="4" name="TextBox 3"/>
          <p:cNvSpPr txBox="1"/>
          <p:nvPr/>
        </p:nvSpPr>
        <p:spPr>
          <a:xfrm>
            <a:off x="685800" y="1911095"/>
            <a:ext cx="224028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TERM</a:t>
            </a:r>
          </a:p>
        </p:txBody>
      </p:sp>
      <p:sp>
        <p:nvSpPr>
          <p:cNvPr id="5" name="TextBox 4"/>
          <p:cNvSpPr txBox="1"/>
          <p:nvPr/>
        </p:nvSpPr>
        <p:spPr>
          <a:xfrm>
            <a:off x="3154680" y="1911095"/>
            <a:ext cx="489204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WHAT IT MEANS</a:t>
            </a:r>
          </a:p>
        </p:txBody>
      </p:sp>
      <p:sp>
        <p:nvSpPr>
          <p:cNvPr id="6" name="TextBox 5"/>
          <p:cNvSpPr txBox="1"/>
          <p:nvPr/>
        </p:nvSpPr>
        <p:spPr>
          <a:xfrm>
            <a:off x="8275320" y="1911095"/>
            <a:ext cx="3230575"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IN A SPREADSHEET</a:t>
            </a:r>
          </a:p>
        </p:txBody>
      </p:sp>
      <p:sp>
        <p:nvSpPr>
          <p:cNvPr id="7" name="Rectangle 6"/>
          <p:cNvSpPr/>
          <p:nvPr/>
        </p:nvSpPr>
        <p:spPr>
          <a:xfrm>
            <a:off x="576072" y="2240279"/>
            <a:ext cx="11039551" cy="69733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276856"/>
            <a:ext cx="2240280" cy="651616"/>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Aggregate</a:t>
            </a:r>
          </a:p>
        </p:txBody>
      </p:sp>
      <p:sp>
        <p:nvSpPr>
          <p:cNvPr id="9" name="TextBox 8"/>
          <p:cNvSpPr txBox="1"/>
          <p:nvPr/>
        </p:nvSpPr>
        <p:spPr>
          <a:xfrm>
            <a:off x="3154680" y="2276856"/>
            <a:ext cx="4892040"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A calculation that collapses many rows into one number: count, sum, average, minimum, maximum.</a:t>
            </a:r>
          </a:p>
        </p:txBody>
      </p:sp>
      <p:sp>
        <p:nvSpPr>
          <p:cNvPr id="10" name="TextBox 9"/>
          <p:cNvSpPr txBox="1"/>
          <p:nvPr/>
        </p:nvSpPr>
        <p:spPr>
          <a:xfrm>
            <a:off x="8275320" y="2276856"/>
            <a:ext cx="3230575"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2E7D6F"/>
                </a:solidFill>
                <a:latin typeface="Calibri"/>
              </a:rPr>
              <a:t>What a pivot table does in its value area</a:t>
            </a:r>
          </a:p>
        </p:txBody>
      </p:sp>
      <p:sp>
        <p:nvSpPr>
          <p:cNvPr id="11" name="TextBox 10"/>
          <p:cNvSpPr txBox="1"/>
          <p:nvPr/>
        </p:nvSpPr>
        <p:spPr>
          <a:xfrm>
            <a:off x="685800" y="3010768"/>
            <a:ext cx="2240280" cy="651616"/>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GROUP BY</a:t>
            </a:r>
          </a:p>
        </p:txBody>
      </p:sp>
      <p:sp>
        <p:nvSpPr>
          <p:cNvPr id="12" name="TextBox 11"/>
          <p:cNvSpPr txBox="1"/>
          <p:nvPr/>
        </p:nvSpPr>
        <p:spPr>
          <a:xfrm>
            <a:off x="3154680" y="3010768"/>
            <a:ext cx="4892040"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Says which rows belong together before the aggregate runs.</a:t>
            </a:r>
          </a:p>
        </p:txBody>
      </p:sp>
      <p:sp>
        <p:nvSpPr>
          <p:cNvPr id="13" name="TextBox 12"/>
          <p:cNvSpPr txBox="1"/>
          <p:nvPr/>
        </p:nvSpPr>
        <p:spPr>
          <a:xfrm>
            <a:off x="8275320" y="3010768"/>
            <a:ext cx="3230575"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2E7D6F"/>
                </a:solidFill>
                <a:latin typeface="Calibri"/>
              </a:rPr>
              <a:t>The Rows area of a pivot table</a:t>
            </a:r>
          </a:p>
        </p:txBody>
      </p:sp>
      <p:sp>
        <p:nvSpPr>
          <p:cNvPr id="14" name="Rectangle 13"/>
          <p:cNvSpPr/>
          <p:nvPr/>
        </p:nvSpPr>
        <p:spPr>
          <a:xfrm>
            <a:off x="576072" y="3708104"/>
            <a:ext cx="11039551" cy="69733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744680"/>
            <a:ext cx="2240280" cy="651616"/>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HAVING</a:t>
            </a:r>
          </a:p>
        </p:txBody>
      </p:sp>
      <p:sp>
        <p:nvSpPr>
          <p:cNvPr id="16" name="TextBox 15"/>
          <p:cNvSpPr txBox="1"/>
          <p:nvPr/>
        </p:nvSpPr>
        <p:spPr>
          <a:xfrm>
            <a:off x="3154680" y="3744680"/>
            <a:ext cx="4892040"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A filter on the GROUPS, applied after the aggregation.</a:t>
            </a:r>
          </a:p>
        </p:txBody>
      </p:sp>
      <p:sp>
        <p:nvSpPr>
          <p:cNvPr id="17" name="TextBox 16"/>
          <p:cNvSpPr txBox="1"/>
          <p:nvPr/>
        </p:nvSpPr>
        <p:spPr>
          <a:xfrm>
            <a:off x="8275320" y="3744680"/>
            <a:ext cx="3230575"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2E7D6F"/>
                </a:solidFill>
                <a:latin typeface="Calibri"/>
              </a:rPr>
              <a:t>Filtering a pivot table by its totals</a:t>
            </a:r>
          </a:p>
        </p:txBody>
      </p:sp>
      <p:sp>
        <p:nvSpPr>
          <p:cNvPr id="18" name="TextBox 17"/>
          <p:cNvSpPr txBox="1"/>
          <p:nvPr/>
        </p:nvSpPr>
        <p:spPr>
          <a:xfrm>
            <a:off x="685800" y="4478592"/>
            <a:ext cx="2240280" cy="651616"/>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Alias</a:t>
            </a:r>
          </a:p>
        </p:txBody>
      </p:sp>
      <p:sp>
        <p:nvSpPr>
          <p:cNvPr id="19" name="TextBox 18"/>
          <p:cNvSpPr txBox="1"/>
          <p:nvPr/>
        </p:nvSpPr>
        <p:spPr>
          <a:xfrm>
            <a:off x="3154680" y="4478592"/>
            <a:ext cx="4892040"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A name you give a computed column so the output is readable.</a:t>
            </a:r>
          </a:p>
        </p:txBody>
      </p:sp>
      <p:sp>
        <p:nvSpPr>
          <p:cNvPr id="20" name="TextBox 19"/>
          <p:cNvSpPr txBox="1"/>
          <p:nvPr/>
        </p:nvSpPr>
        <p:spPr>
          <a:xfrm>
            <a:off x="8275320" y="4478592"/>
            <a:ext cx="3230575"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2E7D6F"/>
                </a:solidFill>
                <a:latin typeface="Calibri"/>
              </a:rPr>
              <a:t>Typing a header over a formula</a:t>
            </a:r>
          </a:p>
        </p:txBody>
      </p:sp>
      <p:sp>
        <p:nvSpPr>
          <p:cNvPr id="21" name="Rectangle 20"/>
          <p:cNvSpPr/>
          <p:nvPr/>
        </p:nvSpPr>
        <p:spPr>
          <a:xfrm>
            <a:off x="576072" y="5175928"/>
            <a:ext cx="11039551" cy="1000284"/>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212504"/>
            <a:ext cx="2240280" cy="954564"/>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Derived value</a:t>
            </a:r>
          </a:p>
        </p:txBody>
      </p:sp>
      <p:sp>
        <p:nvSpPr>
          <p:cNvPr id="23" name="TextBox 22"/>
          <p:cNvSpPr txBox="1"/>
          <p:nvPr/>
        </p:nvSpPr>
        <p:spPr>
          <a:xfrm>
            <a:off x="3154680" y="5212504"/>
            <a:ext cx="4892040" cy="954564"/>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A number the data does not store, computed from columns that it does. Revenue here is quantity times price times one minus discount.</a:t>
            </a:r>
          </a:p>
        </p:txBody>
      </p:sp>
      <p:sp>
        <p:nvSpPr>
          <p:cNvPr id="24" name="TextBox 23"/>
          <p:cNvSpPr txBox="1"/>
          <p:nvPr/>
        </p:nvSpPr>
        <p:spPr>
          <a:xfrm>
            <a:off x="8275320" y="5212504"/>
            <a:ext cx="3230575" cy="954564"/>
          </a:xfrm>
          <a:prstGeom prst="rect">
            <a:avLst/>
          </a:prstGeom>
          <a:noFill/>
        </p:spPr>
        <p:txBody>
          <a:bodyPr wrap="square" lIns="0" rIns="0" tIns="0" bIns="0" anchor="t">
            <a:spAutoFit/>
          </a:bodyPr>
          <a:lstStyle/>
          <a:p>
            <a:pPr algn="l">
              <a:lnSpc>
                <a:spcPct val="116000"/>
              </a:lnSpc>
              <a:spcAft>
                <a:spcPts val="600"/>
              </a:spcAft>
            </a:pPr>
            <a:r>
              <a:rPr sz="1650" b="0" i="0">
                <a:solidFill>
                  <a:srgbClr val="2E7D6F"/>
                </a:solidFill>
                <a:latin typeface="Calibri"/>
              </a:rPr>
              <a:t>A formula column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YOU WILL BE ABLE TO DO</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libri"/>
              </a:rPr>
              <a:t>By the end of tonight you can…</a:t>
            </a:r>
          </a:p>
        </p:txBody>
      </p:sp>
      <p:sp>
        <p:nvSpPr>
          <p:cNvPr id="4" name="Oval 3"/>
          <p:cNvSpPr/>
          <p:nvPr/>
        </p:nvSpPr>
        <p:spPr>
          <a:xfrm>
            <a:off x="685800" y="195681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5" name="TextBox 4"/>
          <p:cNvSpPr txBox="1"/>
          <p:nvPr/>
        </p:nvSpPr>
        <p:spPr>
          <a:xfrm>
            <a:off x="1234440" y="192024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Aggregate with COUNT, SUM and AVG, and group by one or more columns.</a:t>
            </a:r>
          </a:p>
        </p:txBody>
      </p:sp>
      <p:sp>
        <p:nvSpPr>
          <p:cNvPr id="6" name="Oval 5"/>
          <p:cNvSpPr/>
          <p:nvPr/>
        </p:nvSpPr>
        <p:spPr>
          <a:xfrm>
            <a:off x="685800" y="277977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7" name="TextBox 6"/>
          <p:cNvSpPr txBox="1"/>
          <p:nvPr/>
        </p:nvSpPr>
        <p:spPr>
          <a:xfrm>
            <a:off x="1234440" y="274320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Filter groups with HAVING, and say why WHERE cannot do it.</a:t>
            </a:r>
          </a:p>
        </p:txBody>
      </p:sp>
      <p:sp>
        <p:nvSpPr>
          <p:cNvPr id="8" name="Oval 7"/>
          <p:cNvSpPr/>
          <p:nvPr/>
        </p:nvSpPr>
        <p:spPr>
          <a:xfrm>
            <a:off x="685800" y="360273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9" name="TextBox 8"/>
          <p:cNvSpPr txBox="1"/>
          <p:nvPr/>
        </p:nvSpPr>
        <p:spPr>
          <a:xfrm>
            <a:off x="1234440" y="356616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Spot an averaged average and correct it.</a:t>
            </a:r>
          </a:p>
        </p:txBody>
      </p:sp>
      <p:sp>
        <p:nvSpPr>
          <p:cNvPr id="10" name="TextBox 9"/>
          <p:cNvSpPr txBox="1"/>
          <p:nvPr/>
        </p:nvSpPr>
        <p:spPr>
          <a:xfrm>
            <a:off x="685800" y="6144768"/>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Session 4 of 15  ·  SQL  ·  Counting and grouping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TONIGHT ANSWERS</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You can already build a pivot table.</a:t>
            </a:r>
          </a:p>
          <a:p>
            <a:pPr algn="l">
              <a:lnSpc>
                <a:spcPct val="115000"/>
              </a:lnSpc>
              <a:spcAft>
                <a:spcPts val="600"/>
              </a:spcAft>
            </a:pPr>
            <a:r>
              <a:rPr sz="3400" b="0" i="1">
                <a:solidFill>
                  <a:srgbClr val="FFFFFF"/>
                </a:solidFill>
                <a:latin typeface="Cambria"/>
              </a:rPr>
              <a:t>What does writing it down buy you?</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It runs again next month without you, somebody else can check it, and it works on files a spreadsheet will not open.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ONE · 50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Your pivot table, written down</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This session is a pivot table, written down. Say that first: the room already knows what they want, and GROUP BY is the vocabulary for it. COUNT, SUM, AVG, MIN, MAX, then GROUP BY on one column, then two, with the pivot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Aggregate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calculation that collapses many rows into one number: count, sum, average, minimum, maximum.</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SUM over 20,234 order lines gives one revenue figure. COUNT over 6,000 orders gives one number. The rows go in; one value comes out.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value area of a pivot table. Exactly the same thing, and you have been doing it for years.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GROUP BY</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Says which rows belong together before the aggregate runs. Group by region and you get one number per region.</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GROUP BY channel gives one row per channel. GROUP BY channel, status gives one row per combination, which is a two-level pivot.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Rows area of a pivot table. Drag region in there and you have written GROUP BY region.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HAVING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filter on the GROUPS, applied after the aggregation. WHERE filters rows before grouping; HAVING filters the results afterwards.</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WHERE status = 'Delivered' throws away rows. HAVING COUNT(*) &gt; 80 throws away whole groups, and you cannot do it with WHERE because at that point no count exists yet.</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400860"/>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Filtering a pivot table on its totals rather than on the source rows.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Derived value</a:t>
            </a:r>
          </a:p>
        </p:txBody>
      </p:sp>
      <p:sp>
        <p:nvSpPr>
          <p:cNvPr id="4" name="Rounded Rectangle 3"/>
          <p:cNvSpPr/>
          <p:nvPr/>
        </p:nvSpPr>
        <p:spPr>
          <a:xfrm>
            <a:off x="685800" y="1854203"/>
            <a:ext cx="10820095" cy="799119"/>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451647"/>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number the data does not store, computed from columns that it does.</a:t>
            </a:r>
          </a:p>
        </p:txBody>
      </p:sp>
      <p:sp>
        <p:nvSpPr>
          <p:cNvPr id="6" name="Rounded Rectangle 5"/>
          <p:cNvSpPr/>
          <p:nvPr/>
        </p:nvSpPr>
        <p:spPr>
          <a:xfrm>
            <a:off x="685800" y="2927642"/>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2909354"/>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Revenue is derived: quantity x unit_price x (1 - discount). There is no revenue column anywhere in this database, and there should not be, because a stored total goes stale the moment a line changes.</a:t>
            </a:r>
          </a:p>
        </p:txBody>
      </p:sp>
      <p:sp>
        <p:nvSpPr>
          <p:cNvPr id="8" name="Rounded Rectangle 7"/>
          <p:cNvSpPr/>
          <p:nvPr/>
        </p:nvSpPr>
        <p:spPr>
          <a:xfrm>
            <a:off x="685800" y="423995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21664"/>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formula column. The difference is that yours is computed fresh every time the query runs.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answer, both ways</a:t>
            </a:r>
          </a:p>
        </p:txBody>
      </p:sp>
      <p:sp>
        <p:nvSpPr>
          <p:cNvPr id="4" name="Rounded Rectangle 3"/>
          <p:cNvSpPr/>
          <p:nvPr/>
        </p:nvSpPr>
        <p:spPr>
          <a:xfrm>
            <a:off x="8359188" y="512064"/>
            <a:ext cx="3146706"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DB BROWSER · EXECUTE SQL</a:t>
            </a:r>
          </a:p>
        </p:txBody>
      </p:sp>
      <p:sp>
        <p:nvSpPr>
          <p:cNvPr id="5" name="Rectangle 4"/>
          <p:cNvSpPr/>
          <p:nvPr/>
        </p:nvSpPr>
        <p:spPr>
          <a:xfrm>
            <a:off x="685800" y="1911095"/>
            <a:ext cx="10820095" cy="2996671"/>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704063"/>
          </a:xfrm>
          <a:prstGeom prst="rect">
            <a:avLst/>
          </a:prstGeom>
          <a:noFill/>
        </p:spPr>
        <p:txBody>
          <a:bodyPr wrap="square" lIns="0" rIns="0" tIns="0" bIns="0" anchor="t">
            <a:spAutoFit/>
          </a:bodyPr>
          <a:lstStyle/>
          <a:p>
            <a:pPr algn="l">
              <a:lnSpc>
                <a:spcPts val="2333"/>
              </a:lnSpc>
              <a:spcAft>
                <a:spcPts val="0"/>
              </a:spcAft>
            </a:pPr>
            <a:r>
              <a:rPr sz="1716" b="0" i="0">
                <a:solidFill>
                  <a:srgbClr val="D8E3EC"/>
                </a:solidFill>
                <a:latin typeface="Courier New"/>
              </a:rPr>
              <a:t>-- build this, then build the same thing as a pivot table</a:t>
            </a:r>
          </a:p>
          <a:p>
            <a:pPr algn="l">
              <a:lnSpc>
                <a:spcPts val="2333"/>
              </a:lnSpc>
              <a:spcAft>
                <a:spcPts val="0"/>
              </a:spcAft>
            </a:pPr>
            <a:r>
              <a:rPr sz="1716" b="0" i="0">
                <a:solidFill>
                  <a:srgbClr val="D8E3EC"/>
                </a:solidFill>
                <a:latin typeface="Courier New"/>
              </a:rPr>
              <a:t>-- from orders.csv, and check they agree</a:t>
            </a:r>
          </a:p>
          <a:p>
            <a:pPr algn="l">
              <a:lnSpc>
                <a:spcPts val="2333"/>
              </a:lnSpc>
              <a:spcAft>
                <a:spcPts val="0"/>
              </a:spcAft>
            </a:pPr>
            <a:r>
              <a:rPr sz="1716" b="0" i="0">
                <a:solidFill>
                  <a:srgbClr val="D8E3EC"/>
                </a:solidFill>
                <a:latin typeface="Courier New"/>
              </a:rPr>
              <a:t>SELECT channel,</a:t>
            </a:r>
          </a:p>
          <a:p>
            <a:pPr algn="l">
              <a:lnSpc>
                <a:spcPts val="2333"/>
              </a:lnSpc>
              <a:spcAft>
                <a:spcPts val="0"/>
              </a:spcAft>
            </a:pPr>
            <a:r>
              <a:rPr sz="1716" b="0" i="0">
                <a:solidFill>
                  <a:srgbClr val="D8E3EC"/>
                </a:solidFill>
                <a:latin typeface="Courier New"/>
              </a:rPr>
              <a:t>       COUNT(*)                AS orders,</a:t>
            </a:r>
          </a:p>
          <a:p>
            <a:pPr algn="l">
              <a:lnSpc>
                <a:spcPts val="2333"/>
              </a:lnSpc>
              <a:spcAft>
                <a:spcPts val="0"/>
              </a:spcAft>
            </a:pPr>
            <a:r>
              <a:rPr sz="1716" b="0" i="0">
                <a:solidFill>
                  <a:srgbClr val="D8E3EC"/>
                </a:solidFill>
                <a:latin typeface="Courier New"/>
              </a:rPr>
              <a:t>       COUNT(customer_id)      AS with_a_customer</a:t>
            </a:r>
          </a:p>
          <a:p>
            <a:pPr algn="l">
              <a:lnSpc>
                <a:spcPts val="2333"/>
              </a:lnSpc>
              <a:spcAft>
                <a:spcPts val="0"/>
              </a:spcAft>
            </a:pPr>
            <a:r>
              <a:rPr sz="1716" b="0" i="0">
                <a:solidFill>
                  <a:srgbClr val="D8E3EC"/>
                </a:solidFill>
                <a:latin typeface="Courier New"/>
              </a:rPr>
              <a:t>FROM orders</a:t>
            </a:r>
          </a:p>
          <a:p>
            <a:pPr algn="l">
              <a:lnSpc>
                <a:spcPts val="2333"/>
              </a:lnSpc>
              <a:spcAft>
                <a:spcPts val="0"/>
              </a:spcAft>
            </a:pPr>
            <a:r>
              <a:rPr sz="1716" b="0" i="0">
                <a:solidFill>
                  <a:srgbClr val="D8E3EC"/>
                </a:solidFill>
                <a:latin typeface="Courier New"/>
              </a:rPr>
              <a:t>WHERE status = 'Delivered'</a:t>
            </a:r>
          </a:p>
          <a:p>
            <a:pPr algn="l">
              <a:lnSpc>
                <a:spcPts val="2333"/>
              </a:lnSpc>
              <a:spcAft>
                <a:spcPts val="0"/>
              </a:spcAft>
            </a:pPr>
            <a:r>
              <a:rPr sz="1716" b="0" i="0">
                <a:solidFill>
                  <a:srgbClr val="D8E3EC"/>
                </a:solidFill>
                <a:latin typeface="Courier New"/>
              </a:rPr>
              <a:t>GROUP BY channel</a:t>
            </a:r>
          </a:p>
          <a:p>
            <a:pPr algn="l">
              <a:lnSpc>
                <a:spcPts val="2333"/>
              </a:lnSpc>
              <a:spcAft>
                <a:spcPts val="0"/>
              </a:spcAft>
            </a:pPr>
            <a:r>
              <a:rPr sz="1716" b="0" i="0">
                <a:solidFill>
                  <a:srgbClr val="D8E3EC"/>
                </a:solidFill>
                <a:latin typeface="Courier New"/>
              </a:rPr>
              <a:t>ORDER BY orders DESC;</a:t>
            </a:r>
          </a:p>
        </p:txBody>
      </p:sp>
      <p:sp>
        <p:nvSpPr>
          <p:cNvPr id="7" name="Rounded Rectangle 6"/>
          <p:cNvSpPr/>
          <p:nvPr/>
        </p:nvSpPr>
        <p:spPr>
          <a:xfrm>
            <a:off x="685800" y="5127223"/>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136367"/>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Add ORDER BY orders DESC and remove it again. Note that you can sort by a number you just computed and named, which a pivot table makes you click three times to do.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TWO · 45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Filtering groups, and the trap in every average</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HAVING, and the difference between filtering rows and filtering groups, demonstrated by getting it wrong first and reading the error out loud. Then revenue, which is not a column: the definition used for the rest of the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Revenue, which is not a column</a:t>
            </a:r>
          </a:p>
        </p:txBody>
      </p:sp>
      <p:sp>
        <p:nvSpPr>
          <p:cNvPr id="4" name="Rounded Rectangle 3"/>
          <p:cNvSpPr/>
          <p:nvPr/>
        </p:nvSpPr>
        <p:spPr>
          <a:xfrm>
            <a:off x="8359188" y="512064"/>
            <a:ext cx="3146706"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DB BROWSER · EXECUTE SQL</a:t>
            </a:r>
          </a:p>
        </p:txBody>
      </p:sp>
      <p:sp>
        <p:nvSpPr>
          <p:cNvPr id="5" name="Rectangle 4"/>
          <p:cNvSpPr/>
          <p:nvPr/>
        </p:nvSpPr>
        <p:spPr>
          <a:xfrm>
            <a:off x="685800" y="1911095"/>
            <a:ext cx="10820095" cy="3293059"/>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000451"/>
          </a:xfrm>
          <a:prstGeom prst="rect">
            <a:avLst/>
          </a:prstGeom>
          <a:noFill/>
        </p:spPr>
        <p:txBody>
          <a:bodyPr wrap="square" lIns="0" rIns="0" tIns="0" bIns="0" anchor="t">
            <a:spAutoFit/>
          </a:bodyPr>
          <a:lstStyle/>
          <a:p>
            <a:pPr algn="l">
              <a:lnSpc>
                <a:spcPts val="2333"/>
              </a:lnSpc>
              <a:spcAft>
                <a:spcPts val="0"/>
              </a:spcAft>
            </a:pPr>
            <a:r>
              <a:rPr sz="1716" b="0" i="0">
                <a:solidFill>
                  <a:srgbClr val="D8E3EC"/>
                </a:solidFill>
                <a:latin typeface="Courier New"/>
              </a:rPr>
              <a:t>SELECT c.segment,</a:t>
            </a:r>
          </a:p>
          <a:p>
            <a:pPr algn="l">
              <a:lnSpc>
                <a:spcPts val="2333"/>
              </a:lnSpc>
              <a:spcAft>
                <a:spcPts val="0"/>
              </a:spcAft>
            </a:pPr>
            <a:r>
              <a:rPr sz="1716" b="0" i="0">
                <a:solidFill>
                  <a:srgbClr val="D8E3EC"/>
                </a:solidFill>
                <a:latin typeface="Courier New"/>
              </a:rPr>
              <a:t>       ROUND(SUM(oi.quantity * oi.unit_price_ugx</a:t>
            </a:r>
          </a:p>
          <a:p>
            <a:pPr algn="l">
              <a:lnSpc>
                <a:spcPts val="2333"/>
              </a:lnSpc>
              <a:spcAft>
                <a:spcPts val="0"/>
              </a:spcAft>
            </a:pPr>
            <a:r>
              <a:rPr sz="1716" b="0" i="0">
                <a:solidFill>
                  <a:srgbClr val="D8E3EC"/>
                </a:solidFill>
                <a:latin typeface="Courier New"/>
              </a:rPr>
              <a:t>                 * (1 - oi.discount))) AS revenue_ugx,</a:t>
            </a:r>
          </a:p>
          <a:p>
            <a:pPr algn="l">
              <a:lnSpc>
                <a:spcPts val="2333"/>
              </a:lnSpc>
              <a:spcAft>
                <a:spcPts val="0"/>
              </a:spcAft>
            </a:pPr>
            <a:r>
              <a:rPr sz="1716" b="0" i="0">
                <a:solidFill>
                  <a:srgbClr val="D8E3EC"/>
                </a:solidFill>
                <a:latin typeface="Courier New"/>
              </a:rPr>
              <a:t>       COUNT(DISTINCT o.order_id)       AS orders</a:t>
            </a:r>
          </a:p>
          <a:p>
            <a:pPr algn="l">
              <a:lnSpc>
                <a:spcPts val="2333"/>
              </a:lnSpc>
              <a:spcAft>
                <a:spcPts val="0"/>
              </a:spcAft>
            </a:pPr>
            <a:r>
              <a:rPr sz="1716" b="0" i="0">
                <a:solidFill>
                  <a:srgbClr val="D8E3EC"/>
                </a:solidFill>
                <a:latin typeface="Courier New"/>
              </a:rPr>
              <a:t>FROM order_items oi</a:t>
            </a:r>
          </a:p>
          <a:p>
            <a:pPr algn="l">
              <a:lnSpc>
                <a:spcPts val="2333"/>
              </a:lnSpc>
              <a:spcAft>
                <a:spcPts val="0"/>
              </a:spcAft>
            </a:pPr>
            <a:r>
              <a:rPr sz="1716" b="0" i="0">
                <a:solidFill>
                  <a:srgbClr val="D8E3EC"/>
                </a:solidFill>
                <a:latin typeface="Courier New"/>
              </a:rPr>
              <a:t>JOIN orders    o ON o.order_id    = oi.order_id</a:t>
            </a:r>
          </a:p>
          <a:p>
            <a:pPr algn="l">
              <a:lnSpc>
                <a:spcPts val="2333"/>
              </a:lnSpc>
              <a:spcAft>
                <a:spcPts val="0"/>
              </a:spcAft>
            </a:pPr>
            <a:r>
              <a:rPr sz="1716" b="0" i="0">
                <a:solidFill>
                  <a:srgbClr val="D8E3EC"/>
                </a:solidFill>
                <a:latin typeface="Courier New"/>
              </a:rPr>
              <a:t>JOIN customers c ON c.customer_id = o.customer_id</a:t>
            </a:r>
          </a:p>
          <a:p>
            <a:pPr algn="l">
              <a:lnSpc>
                <a:spcPts val="2333"/>
              </a:lnSpc>
              <a:spcAft>
                <a:spcPts val="0"/>
              </a:spcAft>
            </a:pPr>
            <a:r>
              <a:rPr sz="1716" b="0" i="0">
                <a:solidFill>
                  <a:srgbClr val="D8E3EC"/>
                </a:solidFill>
                <a:latin typeface="Courier New"/>
              </a:rPr>
              <a:t>WHERE o.status = 'Delivered'</a:t>
            </a:r>
          </a:p>
          <a:p>
            <a:pPr algn="l">
              <a:lnSpc>
                <a:spcPts val="2333"/>
              </a:lnSpc>
              <a:spcAft>
                <a:spcPts val="0"/>
              </a:spcAft>
            </a:pPr>
            <a:r>
              <a:rPr sz="1716" b="0" i="0">
                <a:solidFill>
                  <a:srgbClr val="D8E3EC"/>
                </a:solidFill>
                <a:latin typeface="Courier New"/>
              </a:rPr>
              <a:t>GROUP BY c.segment</a:t>
            </a:r>
          </a:p>
          <a:p>
            <a:pPr algn="l">
              <a:lnSpc>
                <a:spcPts val="2333"/>
              </a:lnSpc>
              <a:spcAft>
                <a:spcPts val="0"/>
              </a:spcAft>
            </a:pPr>
            <a:r>
              <a:rPr sz="1716" b="0" i="0">
                <a:solidFill>
                  <a:srgbClr val="D8E3EC"/>
                </a:solidFill>
                <a:latin typeface="Courier New"/>
              </a:rPr>
              <a:t>ORDER BY revenue_ugx DESC;</a:t>
            </a:r>
          </a:p>
        </p:txBody>
      </p:sp>
      <p:sp>
        <p:nvSpPr>
          <p:cNvPr id="7" name="Rounded Rectangle 6"/>
          <p:cNvSpPr/>
          <p:nvPr/>
        </p:nvSpPr>
        <p:spPr>
          <a:xfrm>
            <a:off x="685800" y="5423611"/>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432755"/>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Change COUNT(DISTINCT o.order_id) to COUNT(*) and the order count jumps, because there is one row per LINE and not per order. Same query, same data, and now the average order value underneath it is wrong by a factor of three.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HAVING, after getting it wrong first</a:t>
            </a:r>
          </a:p>
        </p:txBody>
      </p:sp>
      <p:sp>
        <p:nvSpPr>
          <p:cNvPr id="4" name="Rounded Rectangle 3"/>
          <p:cNvSpPr/>
          <p:nvPr/>
        </p:nvSpPr>
        <p:spPr>
          <a:xfrm>
            <a:off x="8359188" y="512064"/>
            <a:ext cx="3146706"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DB BROWSER · EXECUTE SQL</a:t>
            </a:r>
          </a:p>
        </p:txBody>
      </p:sp>
      <p:sp>
        <p:nvSpPr>
          <p:cNvPr id="5" name="Rectangle 4"/>
          <p:cNvSpPr/>
          <p:nvPr/>
        </p:nvSpPr>
        <p:spPr>
          <a:xfrm>
            <a:off x="685800" y="1911095"/>
            <a:ext cx="10820095" cy="3475451"/>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182843"/>
          </a:xfrm>
          <a:prstGeom prst="rect">
            <a:avLst/>
          </a:prstGeom>
          <a:noFill/>
        </p:spPr>
        <p:txBody>
          <a:bodyPr wrap="square" lIns="0" rIns="0" tIns="0" bIns="0" anchor="t">
            <a:spAutoFit/>
          </a:bodyPr>
          <a:lstStyle/>
          <a:p>
            <a:pPr algn="l">
              <a:lnSpc>
                <a:spcPts val="2064"/>
              </a:lnSpc>
              <a:spcAft>
                <a:spcPts val="0"/>
              </a:spcAft>
            </a:pPr>
            <a:r>
              <a:rPr sz="1518" b="0" i="0">
                <a:solidFill>
                  <a:srgbClr val="D8E3EC"/>
                </a:solidFill>
                <a:latin typeface="Courier New"/>
              </a:rPr>
              <a:t>-- this one FAILS. Run it and read the message.</a:t>
            </a:r>
          </a:p>
          <a:p>
            <a:pPr algn="l">
              <a:lnSpc>
                <a:spcPts val="2064"/>
              </a:lnSpc>
              <a:spcAft>
                <a:spcPts val="0"/>
              </a:spcAft>
            </a:pPr>
            <a:r>
              <a:rPr sz="1518" b="0" i="0">
                <a:solidFill>
                  <a:srgbClr val="D8E3EC"/>
                </a:solidFill>
                <a:latin typeface="Courier New"/>
              </a:rPr>
              <a:t>SELECT segment, COUNT(*) AS customers</a:t>
            </a:r>
          </a:p>
          <a:p>
            <a:pPr algn="l">
              <a:lnSpc>
                <a:spcPts val="2064"/>
              </a:lnSpc>
              <a:spcAft>
                <a:spcPts val="0"/>
              </a:spcAft>
            </a:pPr>
            <a:r>
              <a:rPr sz="1518" b="0" i="0">
                <a:solidFill>
                  <a:srgbClr val="D8E3EC"/>
                </a:solidFill>
                <a:latin typeface="Courier New"/>
              </a:rPr>
              <a:t>FROM customers</a:t>
            </a:r>
          </a:p>
          <a:p>
            <a:pPr algn="l">
              <a:lnSpc>
                <a:spcPts val="2064"/>
              </a:lnSpc>
              <a:spcAft>
                <a:spcPts val="0"/>
              </a:spcAft>
            </a:pPr>
            <a:r>
              <a:rPr sz="1518" b="0" i="0">
                <a:solidFill>
                  <a:srgbClr val="D8E3EC"/>
                </a:solidFill>
                <a:latin typeface="Courier New"/>
              </a:rPr>
              <a:t>WHERE COUNT(*) &gt; 80</a:t>
            </a:r>
          </a:p>
          <a:p>
            <a:pPr algn="l">
              <a:lnSpc>
                <a:spcPts val="2064"/>
              </a:lnSpc>
              <a:spcAft>
                <a:spcPts val="0"/>
              </a:spcAft>
            </a:pPr>
            <a:r>
              <a:rPr sz="1518" b="0" i="0">
                <a:solidFill>
                  <a:srgbClr val="D8E3EC"/>
                </a:solidFill>
                <a:latin typeface="Courier New"/>
              </a:rPr>
              <a:t>GROUP BY segment;</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 this one works</a:t>
            </a:r>
          </a:p>
          <a:p>
            <a:pPr algn="l">
              <a:lnSpc>
                <a:spcPts val="2064"/>
              </a:lnSpc>
              <a:spcAft>
                <a:spcPts val="0"/>
              </a:spcAft>
            </a:pPr>
            <a:r>
              <a:rPr sz="1518" b="0" i="0">
                <a:solidFill>
                  <a:srgbClr val="D8E3EC"/>
                </a:solidFill>
                <a:latin typeface="Courier New"/>
              </a:rPr>
              <a:t>SELECT segment, COUNT(*) AS customers</a:t>
            </a:r>
          </a:p>
          <a:p>
            <a:pPr algn="l">
              <a:lnSpc>
                <a:spcPts val="2064"/>
              </a:lnSpc>
              <a:spcAft>
                <a:spcPts val="0"/>
              </a:spcAft>
            </a:pPr>
            <a:r>
              <a:rPr sz="1518" b="0" i="0">
                <a:solidFill>
                  <a:srgbClr val="D8E3EC"/>
                </a:solidFill>
                <a:latin typeface="Courier New"/>
              </a:rPr>
              <a:t>FROM customers</a:t>
            </a:r>
          </a:p>
          <a:p>
            <a:pPr algn="l">
              <a:lnSpc>
                <a:spcPts val="2064"/>
              </a:lnSpc>
              <a:spcAft>
                <a:spcPts val="0"/>
              </a:spcAft>
            </a:pPr>
            <a:r>
              <a:rPr sz="1518" b="0" i="0">
                <a:solidFill>
                  <a:srgbClr val="D8E3EC"/>
                </a:solidFill>
                <a:latin typeface="Courier New"/>
              </a:rPr>
              <a:t>GROUP BY segment</a:t>
            </a:r>
          </a:p>
          <a:p>
            <a:pPr algn="l">
              <a:lnSpc>
                <a:spcPts val="2064"/>
              </a:lnSpc>
              <a:spcAft>
                <a:spcPts val="0"/>
              </a:spcAft>
            </a:pPr>
            <a:r>
              <a:rPr sz="1518" b="0" i="0">
                <a:solidFill>
                  <a:srgbClr val="D8E3EC"/>
                </a:solidFill>
                <a:latin typeface="Courier New"/>
              </a:rPr>
              <a:t>HAVING COUNT(*) &gt; 80</a:t>
            </a:r>
          </a:p>
          <a:p>
            <a:pPr algn="l">
              <a:lnSpc>
                <a:spcPts val="2064"/>
              </a:lnSpc>
              <a:spcAft>
                <a:spcPts val="0"/>
              </a:spcAft>
            </a:pPr>
            <a:r>
              <a:rPr sz="1518" b="0" i="0">
                <a:solidFill>
                  <a:srgbClr val="D8E3EC"/>
                </a:solidFill>
                <a:latin typeface="Courier New"/>
              </a:rPr>
              <a:t>ORDER BY customers DESC;</a:t>
            </a:r>
          </a:p>
        </p:txBody>
      </p:sp>
      <p:sp>
        <p:nvSpPr>
          <p:cNvPr id="7" name="Rounded Rectangle 6"/>
          <p:cNvSpPr/>
          <p:nvPr/>
        </p:nvSpPr>
        <p:spPr>
          <a:xfrm>
            <a:off x="685800" y="5606003"/>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615147"/>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The error is the lesson: WHERE runs before the rows are grouped, so there is no count to test yet. Read the message out loud. Most SQL errors say what is wrong if you read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Why you must never average an average</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Four regions, four average order values. The national average is not the average of those four, and the gap is not small.</a:t>
            </a:r>
          </a:p>
        </p:txBody>
      </p:sp>
      <p:sp>
        <p:nvSpPr>
          <p:cNvPr id="5" name="Rounded Rectangle 4"/>
          <p:cNvSpPr/>
          <p:nvPr/>
        </p:nvSpPr>
        <p:spPr>
          <a:xfrm>
            <a:off x="685800" y="2732347"/>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Compute the average order value per region. Four numbers, all correct.</a:t>
            </a:r>
          </a:p>
        </p:txBody>
      </p:sp>
      <p:sp>
        <p:nvSpPr>
          <p:cNvPr id="8" name="Rounded Rectangle 7"/>
          <p:cNvSpPr/>
          <p:nvPr/>
        </p:nvSpPr>
        <p:spPr>
          <a:xfrm>
            <a:off x="685800" y="3212227"/>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6709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57947"/>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Average those four numbers. Write the answer down.</a:t>
            </a:r>
          </a:p>
        </p:txBody>
      </p:sp>
      <p:sp>
        <p:nvSpPr>
          <p:cNvPr id="11" name="Rounded Rectangle 10"/>
          <p:cNvSpPr/>
          <p:nvPr/>
        </p:nvSpPr>
        <p:spPr>
          <a:xfrm>
            <a:off x="685800" y="3692107"/>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74697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737827"/>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Now compute the national average properly: total revenue divided by total orders.</a:t>
            </a:r>
          </a:p>
        </p:txBody>
      </p:sp>
      <p:sp>
        <p:nvSpPr>
          <p:cNvPr id="14" name="Rounded Rectangle 13"/>
          <p:cNvSpPr/>
          <p:nvPr/>
        </p:nvSpPr>
        <p:spPr>
          <a:xfrm>
            <a:off x="685800" y="4171987"/>
            <a:ext cx="10820095" cy="703728"/>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2268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217707"/>
            <a:ext cx="9814255" cy="612288"/>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They differ, because the regions have different numbers of orders. The simple average treats a region with 400 orders and one with 1,900 as equally important.</a:t>
            </a:r>
          </a:p>
        </p:txBody>
      </p:sp>
      <p:sp>
        <p:nvSpPr>
          <p:cNvPr id="17" name="Rounded Rectangle 16"/>
          <p:cNvSpPr/>
          <p:nvPr/>
        </p:nvSpPr>
        <p:spPr>
          <a:xfrm>
            <a:off x="685800" y="4930580"/>
            <a:ext cx="10820095" cy="42501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98544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976300"/>
            <a:ext cx="9814255" cy="333576"/>
          </a:xfrm>
          <a:prstGeom prst="rect">
            <a:avLst/>
          </a:prstGeom>
          <a:noFill/>
        </p:spPr>
        <p:txBody>
          <a:bodyPr wrap="square" lIns="0" rIns="0" tIns="0" bIns="0" anchor="t">
            <a:spAutoFit/>
          </a:bodyPr>
          <a:lstStyle/>
          <a:p>
            <a:pPr algn="l">
              <a:lnSpc>
                <a:spcPct val="116000"/>
              </a:lnSpc>
              <a:spcAft>
                <a:spcPts val="600"/>
              </a:spcAft>
            </a:pPr>
            <a:r>
              <a:rPr sz="1518" b="0" i="0">
                <a:solidFill>
                  <a:srgbClr val="1C3144"/>
                </a:solidFill>
                <a:latin typeface="Calibri"/>
              </a:rPr>
              <a:t>The rule: sum the top, sum the bottom, then divide. Never average an average unless the groups are the same size.</a:t>
            </a:r>
          </a:p>
        </p:txBody>
      </p:sp>
      <p:sp>
        <p:nvSpPr>
          <p:cNvPr id="20" name="Rounded Rectangle 19"/>
          <p:cNvSpPr/>
          <p:nvPr/>
        </p:nvSpPr>
        <p:spPr>
          <a:xfrm>
            <a:off x="685800" y="5465324"/>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602484"/>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Delivered revenue is UGX 8,751,705,520 over 4,837 delivered orders, so the average delivered order is about UGX 1,809,000.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96012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MISTAKE THIS SESSION PREVENTS</a:t>
            </a:r>
          </a:p>
        </p:txBody>
      </p:sp>
      <p:sp>
        <p:nvSpPr>
          <p:cNvPr id="4" name="TextBox 3"/>
          <p:cNvSpPr txBox="1"/>
          <p:nvPr/>
        </p:nvSpPr>
        <p:spPr>
          <a:xfrm>
            <a:off x="685800" y="1600200"/>
            <a:ext cx="10820095" cy="1604837"/>
          </a:xfrm>
          <a:prstGeom prst="rect">
            <a:avLst/>
          </a:prstGeom>
          <a:noFill/>
        </p:spPr>
        <p:txBody>
          <a:bodyPr wrap="square" lIns="0" rIns="0" tIns="0" bIns="0" anchor="t">
            <a:spAutoFit/>
          </a:bodyPr>
          <a:lstStyle/>
          <a:p>
            <a:pPr algn="l">
              <a:lnSpc>
                <a:spcPct val="114000"/>
              </a:lnSpc>
              <a:spcAft>
                <a:spcPts val="600"/>
              </a:spcAft>
            </a:pPr>
            <a:r>
              <a:rPr sz="2795" b="1" i="0">
                <a:solidFill>
                  <a:srgbClr val="FFFFFF"/>
                </a:solidFill>
                <a:latin typeface="Calibri"/>
              </a:rPr>
              <a:t>Averaging an average. The average of four regional averages is not the national average unless the regions are the same size. Sum the top, sum the bottom, then divide.</a:t>
            </a:r>
          </a:p>
        </p:txBody>
      </p:sp>
      <p:sp>
        <p:nvSpPr>
          <p:cNvPr id="5" name="TextBox 4"/>
          <p:cNvSpPr txBox="1"/>
          <p:nvPr/>
        </p:nvSpPr>
        <p:spPr>
          <a:xfrm>
            <a:off x="685800" y="3296477"/>
            <a:ext cx="10820095" cy="457200"/>
          </a:xfrm>
          <a:prstGeom prst="rect">
            <a:avLst/>
          </a:prstGeom>
          <a:noFill/>
        </p:spPr>
        <p:txBody>
          <a:bodyPr wrap="square" lIns="0" rIns="0" tIns="0" bIns="0" anchor="t">
            <a:spAutoFit/>
          </a:bodyPr>
          <a:lstStyle/>
          <a:p>
            <a:pPr algn="l">
              <a:spcAft>
                <a:spcPts val="600"/>
              </a:spcAft>
            </a:pPr>
            <a:r>
              <a:rPr sz="1923" b="0" i="0">
                <a:solidFill>
                  <a:srgbClr val="B8C9D8"/>
                </a:solidFill>
                <a:latin typeface="Calibri"/>
              </a:rPr>
              <a:t>It is in tonight's lab on purpose.</a:t>
            </a:r>
          </a:p>
        </p:txBody>
      </p:sp>
      <p:sp>
        <p:nvSpPr>
          <p:cNvPr id="6" name="TextBox 5"/>
          <p:cNvSpPr txBox="1"/>
          <p:nvPr/>
        </p:nvSpPr>
        <p:spPr>
          <a:xfrm>
            <a:off x="685800" y="608076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Session 4 of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does WHERE COUNT(*) &gt; 80 fail?</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grouped by region and the totals do not add up to the overall figure. Why?</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average order value came out three times too small. What did you do?</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Why WHERE COUNT(*) &gt; 80 fails</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WHERE is evaluated before the rows are grouped, so no count exists yet. Filtering on an aggregate is what HAVING is for.</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Regional totals not adding up</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Grouping by region needs a join to customers, and the 172 walk-in orders have no customer to join to. They drop out silently, taking UGX 390,632,335 with them.</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Average order value three times too small</a:t>
            </a:r>
          </a:p>
        </p:txBody>
      </p:sp>
      <p:sp>
        <p:nvSpPr>
          <p:cNvPr id="12" name="TextBox 11"/>
          <p:cNvSpPr txBox="1"/>
          <p:nvPr/>
        </p:nvSpPr>
        <p:spPr>
          <a:xfrm>
            <a:off x="1216152" y="450209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You divided by the number of order LINES instead of the number of ORDERS. There are 20,234 lines and 6,000 orders. COUNT(DISTINCT order_id) is the fix, and it is the grain lesson from session 1 arriving in arithmetic.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LAB · 50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groupings, then check them in Excel</a:t>
            </a:r>
          </a:p>
        </p:txBody>
      </p:sp>
      <p:sp>
        <p:nvSpPr>
          <p:cNvPr id="4" name="Rounded Rectangle 3"/>
          <p:cNvSpPr/>
          <p:nvPr/>
        </p:nvSpPr>
        <p:spPr>
          <a:xfrm>
            <a:off x="685800" y="1911095"/>
            <a:ext cx="10820095" cy="124358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877823"/>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Revenue by channel, by segment and by month, delivered orders only. Then export the order lines to CSV, build the same three figures as pivot tables, and confirm they agree. Where they disagree, the SQL is usually right and the pivot has quietly included something.</a:t>
            </a:r>
          </a:p>
        </p:txBody>
      </p:sp>
      <p:sp>
        <p:nvSpPr>
          <p:cNvPr id="6" name="TextBox 5"/>
          <p:cNvSpPr txBox="1"/>
          <p:nvPr/>
        </p:nvSpPr>
        <p:spPr>
          <a:xfrm>
            <a:off x="685800" y="346557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388620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Revenue by channel, delivered only.</a:t>
            </a:r>
          </a:p>
        </p:txBody>
      </p:sp>
      <p:sp>
        <p:nvSpPr>
          <p:cNvPr id="8" name="TextBox 7"/>
          <p:cNvSpPr txBox="1"/>
          <p:nvPr/>
        </p:nvSpPr>
        <p:spPr>
          <a:xfrm>
            <a:off x="685800" y="430682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Revenue by customer segment, delivered only.</a:t>
            </a:r>
          </a:p>
        </p:txBody>
      </p:sp>
      <p:sp>
        <p:nvSpPr>
          <p:cNvPr id="9" name="TextBox 8"/>
          <p:cNvSpPr txBox="1"/>
          <p:nvPr/>
        </p:nvSpPr>
        <p:spPr>
          <a:xfrm>
            <a:off x="685800" y="472744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Revenue by month for 2025.</a:t>
            </a:r>
          </a:p>
        </p:txBody>
      </p:sp>
      <p:sp>
        <p:nvSpPr>
          <p:cNvPr id="10" name="TextBox 9"/>
          <p:cNvSpPr txBox="1"/>
          <p:nvPr/>
        </p:nvSpPr>
        <p:spPr>
          <a:xfrm>
            <a:off x="6278727" y="3886200"/>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The same three as pivot tables from the exported CSV.</a:t>
            </a:r>
          </a:p>
        </p:txBody>
      </p:sp>
      <p:sp>
        <p:nvSpPr>
          <p:cNvPr id="11" name="TextBox 10"/>
          <p:cNvSpPr txBox="1"/>
          <p:nvPr/>
        </p:nvSpPr>
        <p:spPr>
          <a:xfrm>
            <a:off x="6278727" y="430682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Any disagreement: which one is wrong, and why?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TONIGHT IN THREE LINES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can do now</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Aggregate with COUNT, SUM and AVG, and group by one or more columns.</a:t>
            </a:r>
          </a:p>
        </p:txBody>
      </p:sp>
      <p:sp>
        <p:nvSpPr>
          <p:cNvPr id="6" name="Oval 5"/>
          <p:cNvSpPr/>
          <p:nvPr/>
        </p:nvSpPr>
        <p:spPr>
          <a:xfrm>
            <a:off x="685800" y="246802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413161"/>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Filter groups with HAVING, and say why WHERE cannot do it.</a:t>
            </a:r>
          </a:p>
        </p:txBody>
      </p:sp>
      <p:sp>
        <p:nvSpPr>
          <p:cNvPr id="8" name="Oval 7"/>
          <p:cNvSpPr/>
          <p:nvPr/>
        </p:nvSpPr>
        <p:spPr>
          <a:xfrm>
            <a:off x="685800" y="29700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915227"/>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Spot an averaged average and correct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HOMEWORK · 45 TO 60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the next session</a:t>
            </a:r>
          </a:p>
        </p:txBody>
      </p:sp>
      <p:sp>
        <p:nvSpPr>
          <p:cNvPr id="4" name="Rounded Rectangle 3"/>
          <p:cNvSpPr/>
          <p:nvPr/>
        </p:nvSpPr>
        <p:spPr>
          <a:xfrm>
            <a:off x="685800" y="1911095"/>
            <a:ext cx="10820095" cy="1237967"/>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30552"/>
            <a:ext cx="10234879" cy="835631"/>
          </a:xfrm>
          <a:prstGeom prst="rect">
            <a:avLst/>
          </a:prstGeom>
          <a:noFill/>
        </p:spPr>
        <p:txBody>
          <a:bodyPr wrap="square" lIns="0" rIns="0" tIns="0" bIns="0" anchor="t">
            <a:spAutoFit/>
          </a:bodyPr>
          <a:lstStyle/>
          <a:p>
            <a:pPr algn="l">
              <a:lnSpc>
                <a:spcPct val="122000"/>
              </a:lnSpc>
              <a:spcAft>
                <a:spcPts val="600"/>
              </a:spcAft>
            </a:pPr>
            <a:r>
              <a:rPr sz="2021" b="0" i="0">
                <a:solidFill>
                  <a:srgbClr val="1C3144"/>
                </a:solidFill>
                <a:latin typeface="Calibri"/>
              </a:rPr>
              <a:t>Two more groupings on the sheet, then one sentence: which grouping of your own work data would you most like to see, and which columns would it need?</a:t>
            </a:r>
          </a:p>
        </p:txBody>
      </p:sp>
      <p:sp>
        <p:nvSpPr>
          <p:cNvPr id="6" name="Rounded Rectangle 5"/>
          <p:cNvSpPr/>
          <p:nvPr/>
        </p:nvSpPr>
        <p:spPr>
          <a:xfrm>
            <a:off x="685800" y="3423383"/>
            <a:ext cx="4826861"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WHY IT IS ALWAYS OPTIONAL ON YOUR OWN DATA</a:t>
            </a:r>
          </a:p>
        </p:txBody>
      </p:sp>
      <p:sp>
        <p:nvSpPr>
          <p:cNvPr id="7" name="TextBox 6"/>
          <p:cNvSpPr txBox="1"/>
          <p:nvPr/>
        </p:nvSpPr>
        <p:spPr>
          <a:xfrm>
            <a:off x="685800" y="3990311"/>
            <a:ext cx="10820095" cy="1097280"/>
          </a:xfrm>
          <a:prstGeom prst="rect">
            <a:avLst/>
          </a:prstGeom>
          <a:noFill/>
        </p:spPr>
        <p:txBody>
          <a:bodyPr wrap="square" lIns="0" rIns="0" tIns="0" bIns="0" anchor="t">
            <a:spAutoFit/>
          </a:bodyPr>
          <a:lstStyle/>
          <a:p>
            <a:pPr algn="l">
              <a:lnSpc>
                <a:spcPct val="122000"/>
              </a:lnSpc>
              <a:spcAft>
                <a:spcPts val="600"/>
              </a:spcAft>
            </a:pPr>
            <a:r>
              <a:rPr sz="1923" b="0" i="0">
                <a:solidFill>
                  <a:srgbClr val="334657"/>
                </a:solidFill>
                <a:latin typeface="Calibri"/>
              </a:rPr>
              <a:t>Homework on a dataset you already care about gets done. Homework on a teaching dataset competes with your job and loses. Either version counts, and the one on your own data is worth more to you.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You have written your first pivot table down</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It now runs again next month without you, on a file too big for a spreadsheet, and somebody else can read what you did. That is the whole argument for SQL and you have just made it yourself.</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session: joining tables, carefully. This is the one that goes wrong in real reports.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