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10006.xml" ContentType="application/vnd.openxmlformats-officedocument.presentationml.notesSlide+xml"/>
  <Override PartName="/ppt/notesSlides/notesSlide100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006.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6.xml" /></ns0:Relationships>
</file>

<file path=ppt/notesSlides/_rels/notesSlide10013.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3.xml" /></ns0: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Counting and grouping</a:t>
            </a:r>
          </a:p>
          <a:p>
            <a:r>
              <a:t/>
            </a:r>
          </a:p>
          <a:p>
            <a:r>
              <a:t>LECTURER CUE</a:t>
            </a:r>
          </a:p>
          <a:p>
            <a:r>
              <a:t>Start on time.</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NEXT</a:t>
            </a:r>
          </a:p>
          <a:p>
            <a:r>
              <a:t>Where tonight sits.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Where tonight sits</a:t>
            </a:r>
          </a:p>
          <a:p>
            <a:r>
              <a:t/>
            </a:r>
          </a:p>
          <a:p>
            <a:r>
              <a:t>CONNECT</a:t>
            </a:r>
          </a:p>
          <a:p>
            <a:r>
              <a:t>Build on the preceding slide: Counting and grouping.</a:t>
            </a:r>
          </a:p>
          <a:p>
            <a:r>
              <a:t/>
            </a:r>
          </a:p>
          <a:p>
            <a:r>
              <a:t>LECTURER CUE</a:t>
            </a:r>
          </a:p>
          <a:p>
            <a:r>
              <a:t>Tonight is session 4 of fifteen.</a:t>
            </a:r>
          </a:p>
          <a:p>
            <a:r>
              <a:t/>
            </a:r>
          </a:p>
          <a:p>
            <a:r>
              <a:t>EXPLAIN IN ORDINARY WORDS</a:t>
            </a:r>
          </a:p>
          <a:p>
            <a:r>
              <a:t>Grain means what one row represents. A key identifies a row; a primary key may use more than one column. A join matches keys, and multiple matches can multiply rows.</a:t>
            </a:r>
          </a:p>
          <a:p>
            <a:r>
              <a:t/>
            </a:r>
          </a:p>
          <a:p>
            <a:r>
              <a:t>CHECK AND EXPECTED ANSWER</a:t>
            </a:r>
          </a:p>
          <a:p>
            <a:r>
              <a:t>One order has two lines. After joining orders to lines, how many rows for it? Two. Summing a repeated order-level total would double-count.</a:t>
            </a:r>
          </a:p>
          <a:p>
            <a:r>
              <a:t/>
            </a:r>
          </a:p>
          <a:p>
            <a:r>
              <a:t>IF LEARNERS ARE STUCK</a:t>
            </a:r>
          </a:p>
          <a:p>
            <a:r>
              <a:t>Write one example row from each table. Circle keys and trace each match. Aggregate to the intended grain and check counts and totals.</a:t>
            </a:r>
          </a:p>
          <a:p>
            <a:r>
              <a:t/>
            </a:r>
          </a:p>
          <a:p>
            <a:r>
              <a:t>NEXT</a:t>
            </a:r>
          </a:p>
          <a:p>
            <a:r>
              <a:t>The words for tonight.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The words for tonight</a:t>
            </a:r>
          </a:p>
          <a:p>
            <a:r>
              <a:t/>
            </a:r>
          </a:p>
          <a:p>
            <a:r>
              <a:t>CONNECT</a:t>
            </a:r>
          </a:p>
          <a:p>
            <a:r>
              <a:t>Build on the preceding slide: Where tonight sits.</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NEXT</a:t>
            </a:r>
          </a:p>
          <a:p>
            <a:r>
              <a:t>By the end of tonight you can….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By the end of tonight you can…</a:t>
            </a:r>
          </a:p>
          <a:p>
            <a:r>
              <a:t/>
            </a:r>
          </a:p>
          <a:p>
            <a:r>
              <a:t>CONNECT</a:t>
            </a:r>
          </a:p>
          <a:p>
            <a:r>
              <a:t>Build on the preceding slide: The words for tonight.</a:t>
            </a:r>
          </a:p>
          <a:p>
            <a:r>
              <a:t/>
            </a:r>
          </a:p>
          <a:p>
            <a:r>
              <a:t>LECTURER CUE</a:t>
            </a:r>
          </a:p>
          <a:p>
            <a:r>
              <a:t>These three are what tonight is marked against, in the sense that the lab checks them.</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NEXT</a:t>
            </a:r>
          </a:p>
          <a:p>
            <a:r>
              <a:t>You can already build a pivot table..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You can already build a pivot table.</a:t>
            </a:r>
          </a:p>
          <a:p>
            <a:r>
              <a:t/>
            </a:r>
          </a:p>
          <a:p>
            <a:r>
              <a:t>CONNECT</a:t>
            </a:r>
          </a:p>
          <a:p>
            <a:r>
              <a:t>Build on the preceding slide: By the end of tonight you can….</a:t>
            </a:r>
          </a:p>
          <a:p>
            <a:r>
              <a:t/>
            </a:r>
          </a:p>
          <a:p>
            <a:r>
              <a:t>LECTURER CUE</a:t>
            </a:r>
          </a:p>
          <a:p>
            <a:r>
              <a:t>It runs again next month without you, somebody else can check it, and it works on files a spreadsheet will not open.</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NEXT</a:t>
            </a:r>
          </a:p>
          <a:p>
            <a:r>
              <a:t>Your pivot table, written down.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Aggregate</a:t>
            </a:r>
          </a:p>
          <a:p>
            <a:r>
              <a:t/>
            </a:r>
          </a:p>
          <a:p>
            <a:r>
              <a:t>CONNECT</a:t>
            </a:r>
          </a:p>
          <a:p>
            <a:r>
              <a:t>Build on the preceding slide: Your pivot table, written down.</a:t>
            </a:r>
          </a:p>
          <a:p>
            <a:r>
              <a:t/>
            </a:r>
          </a:p>
          <a:p>
            <a:r>
              <a:t>LECTURER CUE</a:t>
            </a:r>
          </a:p>
          <a:p>
            <a:r>
              <a:t>A calculation that collapses many rows into one number: count, sum, average, minimum, maximum.</a:t>
            </a:r>
          </a:p>
          <a:p>
            <a:r>
              <a:t/>
            </a:r>
          </a:p>
          <a:p>
            <a:r>
              <a:t>NEXT</a:t>
            </a:r>
          </a:p>
          <a:p>
            <a:r>
              <a:t>GROUP BY.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GROUP BY</a:t>
            </a:r>
          </a:p>
          <a:p>
            <a:r>
              <a:t/>
            </a:r>
          </a:p>
          <a:p>
            <a:r>
              <a:t>CONNECT</a:t>
            </a:r>
          </a:p>
          <a:p>
            <a:r>
              <a:t>Build on the preceding slide: Aggregate.</a:t>
            </a:r>
          </a:p>
          <a:p>
            <a:r>
              <a:t/>
            </a:r>
          </a:p>
          <a:p>
            <a:r>
              <a:t>LECTURER CUE</a:t>
            </a:r>
          </a:p>
          <a:p>
            <a:r>
              <a:t>Says which rows belong together before the aggregate runs. Group by region and you get one number per region.</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NEXT</a:t>
            </a:r>
          </a:p>
          <a:p>
            <a:r>
              <a:t>HAVING.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HAVING</a:t>
            </a:r>
          </a:p>
          <a:p>
            <a:r>
              <a:t/>
            </a:r>
          </a:p>
          <a:p>
            <a:r>
              <a:t>CONNECT</a:t>
            </a:r>
          </a:p>
          <a:p>
            <a:r>
              <a:t>Build on the preceding slide: GROUP BY.</a:t>
            </a:r>
          </a:p>
          <a:p>
            <a:r>
              <a:t/>
            </a:r>
          </a:p>
          <a:p>
            <a:r>
              <a:t>LECTURER CUE</a:t>
            </a:r>
          </a:p>
          <a:p>
            <a:r>
              <a:t>A filter on the GROUPS, applied after the aggregation. WHERE filters rows before grouping; HAVING filters the results afterwards.</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NEXT</a:t>
            </a:r>
          </a:p>
          <a:p>
            <a:r>
              <a:t>Derived value.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Derived value</a:t>
            </a:r>
          </a:p>
          <a:p>
            <a:r>
              <a:t/>
            </a:r>
          </a:p>
          <a:p>
            <a:r>
              <a:t>CONNECT</a:t>
            </a:r>
          </a:p>
          <a:p>
            <a:r>
              <a:t>Build on the preceding slide: HAVING.</a:t>
            </a:r>
          </a:p>
          <a:p>
            <a:r>
              <a:t/>
            </a:r>
          </a:p>
          <a:p>
            <a:r>
              <a:t>LECTURER CUE</a:t>
            </a:r>
          </a:p>
          <a:p>
            <a:r>
              <a:t>A number the data does not store, computed from columns that it does.</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NEXT</a:t>
            </a:r>
          </a:p>
          <a:p>
            <a:r>
              <a:t>The same answer, both ways.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The same answer, both ways</a:t>
            </a:r>
          </a:p>
          <a:p>
            <a:r>
              <a:t/>
            </a:r>
          </a:p>
          <a:p>
            <a:r>
              <a:t>CONNECT</a:t>
            </a:r>
          </a:p>
          <a:p>
            <a:r>
              <a:t>Build on the preceding slide: Derived value.</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NEXT</a:t>
            </a:r>
          </a:p>
          <a:p>
            <a:r>
              <a:t>Break.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Break</a:t>
            </a:r>
          </a:p>
          <a:p>
            <a:r>
              <a:t/>
            </a:r>
          </a:p>
          <a:p>
            <a:r>
              <a:t>CONNECT</a:t>
            </a:r>
          </a:p>
          <a:p>
            <a:r>
              <a:t>Build on the preceding slide: The same answer, both ways.</a:t>
            </a:r>
          </a:p>
          <a:p>
            <a:r>
              <a:t/>
            </a:r>
          </a:p>
          <a:p>
            <a:r>
              <a:t>LECTURER CUE</a:t>
            </a:r>
          </a:p>
          <a:p>
            <a:r>
              <a:t>Ten minutes.</a:t>
            </a:r>
          </a:p>
          <a:p>
            <a:r>
              <a:t/>
            </a:r>
          </a:p>
          <a:p>
            <a:r>
              <a:t>NEXT</a:t>
            </a:r>
          </a:p>
          <a:p>
            <a:r>
              <a:t>Filtering groups, and the trap in every average.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Revenue, which is not a column</a:t>
            </a:r>
          </a:p>
          <a:p>
            <a:r>
              <a:t/>
            </a:r>
          </a:p>
          <a:p>
            <a:r>
              <a:t>CONNECT</a:t>
            </a:r>
          </a:p>
          <a:p>
            <a:r>
              <a:t>Build on the preceding slide: Filtering groups, and the trap in every average.</a:t>
            </a:r>
          </a:p>
          <a:p>
            <a:r>
              <a:t/>
            </a:r>
          </a:p>
          <a:p>
            <a:r>
              <a:t>EXPLAIN IN ORDINARY WORDS</a:t>
            </a:r>
          </a:p>
          <a:p>
            <a:r>
              <a:t>Grain means what one row represents. A key identifies a row; a primary key may use more than one column. A join matches keys, and multiple matches can multiply rows.</a:t>
            </a:r>
          </a:p>
          <a:p>
            <a:r>
              <a:t/>
            </a:r>
          </a:p>
          <a:p>
            <a:r>
              <a:t>CHECK AND EXPECTED ANSWER</a:t>
            </a:r>
          </a:p>
          <a:p>
            <a:r>
              <a:t>One order has two lines. After joining orders to lines, how many rows for it? Two. Summing a repeated order-level total would double-count.</a:t>
            </a:r>
          </a:p>
          <a:p>
            <a:r>
              <a:t/>
            </a:r>
          </a:p>
          <a:p>
            <a:r>
              <a:t>IF LEARNERS ARE STUCK</a:t>
            </a:r>
          </a:p>
          <a:p>
            <a:r>
              <a:t>Write one example row from each table. Circle keys and trace each match. Aggregate to the intended grain and check counts and totals.</a:t>
            </a:r>
          </a:p>
          <a:p>
            <a:r>
              <a:t/>
            </a:r>
          </a:p>
          <a:p>
            <a:r>
              <a:t>NEXT</a:t>
            </a:r>
          </a:p>
          <a:p>
            <a:r>
              <a:t>HAVING, after getting it wrong first.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HAVING, after getting it wrong first</a:t>
            </a:r>
          </a:p>
          <a:p>
            <a:r>
              <a:t/>
            </a:r>
          </a:p>
          <a:p>
            <a:r>
              <a:t>CONNECT</a:t>
            </a:r>
          </a:p>
          <a:p>
            <a:r>
              <a:t>Build on the preceding slide: Revenue, which is not a column.</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NEXT</a:t>
            </a:r>
          </a:p>
          <a:p>
            <a:r>
              <a:t>When averaging averages gives a wrong result.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When averaging averages gives a wrong result</a:t>
            </a:r>
          </a:p>
          <a:p>
            <a:r>
              <a:t/>
            </a:r>
          </a:p>
          <a:p>
            <a:r>
              <a:t>CONNECT</a:t>
            </a:r>
          </a:p>
          <a:p>
            <a:r>
              <a:t>Build on the preceding slide: HAVING, after getting it wrong first.</a:t>
            </a:r>
          </a:p>
          <a:p>
            <a:r>
              <a:t/>
            </a:r>
          </a:p>
          <a:p>
            <a:r>
              <a:t>LECTURER CUE</a:t>
            </a:r>
          </a:p>
          <a:p>
            <a:r>
              <a:t>Four regions, four average order values. The national average is not the average of those four, and the gap is not small.</a:t>
            </a:r>
          </a:p>
          <a:p>
            <a:r>
              <a:t/>
            </a:r>
          </a:p>
          <a:p>
            <a:r>
              <a:t>NEXT</a:t>
            </a:r>
          </a:p>
          <a:p>
            <a:r>
              <a:t>Averaging an average. The average of four regional averages is not the national average unless the regions are the same size. Sum the top, sum the bottom, then divide..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Averaging an average. The average of four regional averages is not the national average unless the regions are the same size. Sum the top, sum the bottom, then divide.</a:t>
            </a:r>
          </a:p>
          <a:p>
            <a:r>
              <a:t/>
            </a:r>
          </a:p>
          <a:p>
            <a:r>
              <a:t>CONNECT</a:t>
            </a:r>
          </a:p>
          <a:p>
            <a:r>
              <a:t>Build on the preceding slide: When averaging averages gives a wrong result.</a:t>
            </a:r>
          </a:p>
          <a:p>
            <a:r>
              <a:t/>
            </a:r>
          </a:p>
          <a:p>
            <a:r>
              <a:t>LECTURER CUE</a:t>
            </a:r>
          </a:p>
          <a:p>
            <a:r>
              <a:t>Averaging an average. The average of four regional averages is not the national average unless the regions are the same size. Sum the top, sum the bottom, then divide.</a:t>
            </a:r>
          </a:p>
          <a:p>
            <a:r>
              <a:t/>
            </a:r>
          </a:p>
          <a:p>
            <a:r>
              <a:t>NEXT</a:t>
            </a:r>
          </a:p>
          <a:p>
            <a:r>
              <a:t>Can you answer these?.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Can you answer these?</a:t>
            </a:r>
          </a:p>
          <a:p>
            <a:r>
              <a:t/>
            </a:r>
          </a:p>
          <a:p>
            <a:r>
              <a:t>CONNECT</a:t>
            </a:r>
          </a:p>
          <a:p>
            <a:r>
              <a:t>Build on the preceding slide: Averaging an average. The average of four regional averages is not the national average unless the regions are the same size. Sum the top, sum the bottom, then divide..</a:t>
            </a:r>
          </a:p>
          <a:p>
            <a:r>
              <a:t/>
            </a:r>
          </a:p>
          <a:p>
            <a:r>
              <a:t>DISCUSSION KEY FOR THIS SLIDE</a:t>
            </a:r>
          </a:p>
          <a:p>
            <a:r>
              <a:t>ANSWERS</a:t>
            </a:r>
          </a:p>
          <a:p>
            <a:r>
              <a:t>How did you do?</a:t>
            </a:r>
          </a:p>
          <a:p>
            <a:r>
              <a:t>A</a:t>
            </a:r>
          </a:p>
          <a:p>
            <a:r>
              <a:t>Why WHERE COUNT(*) &gt; 80 fails</a:t>
            </a:r>
          </a:p>
          <a:p>
            <a:r>
              <a:t>WHERE is evaluated before the rows are grouped, so no count exists yet. Filtering on an aggregate is what HAVING is for.</a:t>
            </a:r>
          </a:p>
          <a:p>
            <a:r>
              <a:t>B</a:t>
            </a:r>
          </a:p>
          <a:p>
            <a:r>
              <a:t>Regional totals not adding up</a:t>
            </a:r>
          </a:p>
          <a:p>
            <a:r>
              <a:t>Grouping by region needs a join to customers, and the 172 walk-in orders have no customer to join to. They drop out silently, taking UGX 390,632,335 with them.</a:t>
            </a:r>
          </a:p>
          <a:p>
            <a:r>
              <a:t>C</a:t>
            </a:r>
          </a:p>
          <a:p>
            <a:r>
              <a:t>Average order value three times too small</a:t>
            </a:r>
          </a:p>
          <a:p>
            <a:r>
              <a:t>You divided by the number of order LINES instead of the number of ORDERS. There are 20,234 lines and 6,000 orders. COUNT(DISTINCT order_id) is the fix, and it is the grain lesson from session 1 arriving in arithmetic.</a:t>
            </a:r>
          </a:p>
          <a:p>
            <a:r>
              <a:t>Let learners attempt first; use this to explain the reasoning, not just reveal the answer.</a:t>
            </a:r>
          </a:p>
          <a:p>
            <a:r>
              <a:t/>
            </a:r>
          </a:p>
          <a:p>
            <a:r>
              <a:t>DELIVER THIS SLIDE</a:t>
            </a:r>
          </a:p>
          <a:p>
            <a:r>
              <a:t>Read the stated purpose, then point to the named example or action on the slide. Ask learners to describe what they will do before moving on. For a break slide, announce the return time; for a section divider, name the next concrete task.</a:t>
            </a:r>
          </a:p>
          <a:p>
            <a:r>
              <a:t/>
            </a:r>
          </a:p>
          <a:p>
            <a:r>
              <a:t>NEXT</a:t>
            </a:r>
          </a:p>
          <a:p>
            <a:r>
              <a:t>How did you do?.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How did you do?</a:t>
            </a:r>
          </a:p>
          <a:p>
            <a:r>
              <a:t/>
            </a:r>
          </a:p>
          <a:p>
            <a:r>
              <a:t>CONNECT</a:t>
            </a:r>
          </a:p>
          <a:p>
            <a:r>
              <a:t>Build on the preceding slide: Can you answer these?.</a:t>
            </a:r>
          </a:p>
          <a:p>
            <a:r>
              <a:t/>
            </a:r>
          </a:p>
          <a:p>
            <a:r>
              <a:t>EXPLAIN IN ORDINARY WORDS</a:t>
            </a:r>
          </a:p>
          <a:p>
            <a:r>
              <a:t>Grain means what one row represents. A key identifies a row; a primary key may use more than one column. A join matches keys, and multiple matches can multiply rows.</a:t>
            </a:r>
          </a:p>
          <a:p>
            <a:r>
              <a:t/>
            </a:r>
          </a:p>
          <a:p>
            <a:r>
              <a:t>CHECK AND EXPECTED ANSWER</a:t>
            </a:r>
          </a:p>
          <a:p>
            <a:r>
              <a:t>One order has two lines. After joining orders to lines, how many rows for it? Two. Summing a repeated order-level total would double-count.</a:t>
            </a:r>
          </a:p>
          <a:p>
            <a:r>
              <a:t/>
            </a:r>
          </a:p>
          <a:p>
            <a:r>
              <a:t>IF LEARNERS ARE STUCK</a:t>
            </a:r>
          </a:p>
          <a:p>
            <a:r>
              <a:t>Write one example row from each table. Circle keys and trace each match. Aggregate to the intended grain and check counts and totals.</a:t>
            </a:r>
          </a:p>
          <a:p>
            <a:r>
              <a:t/>
            </a:r>
          </a:p>
          <a:p>
            <a:r>
              <a:t>NEXT</a:t>
            </a:r>
          </a:p>
          <a:p>
            <a:r>
              <a:t>Three groupings, then check them in Excel.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Three groupings, then check them in Excel</a:t>
            </a:r>
          </a:p>
          <a:p>
            <a:r>
              <a:t/>
            </a:r>
          </a:p>
          <a:p>
            <a:r>
              <a:t>CONNECT</a:t>
            </a:r>
          </a:p>
          <a:p>
            <a:r>
              <a:t>Build on the preceding slide: How did you do?.</a:t>
            </a:r>
          </a:p>
          <a:p>
            <a:r>
              <a:t/>
            </a:r>
          </a:p>
          <a:p>
            <a:r>
              <a:t>LECTURER CUE</a:t>
            </a:r>
          </a:p>
          <a:p>
            <a:r>
              <a:t>Revenue by channel, by segment and by month, delivered orders only. Then export the order lines to CSV, build the same three figures as pivot tables, and confirm they agree. Where they disagree, the SQL is usually right and the pivot has quietly included something.</a:t>
            </a:r>
          </a:p>
          <a:p>
            <a:r>
              <a:t/>
            </a:r>
          </a:p>
          <a:p>
            <a:r>
              <a:t>EXPLAIN IN ORDINARY WORDS</a:t>
            </a:r>
          </a:p>
          <a:p>
            <a:r>
              <a:t>A CSV is a text table. The header supplies column names. With csv.DictReader, values start as text, even if they look like numbers. A path tells Python where the file is.</a:t>
            </a:r>
          </a:p>
          <a:p>
            <a:r>
              <a:t/>
            </a:r>
          </a:p>
          <a:p>
            <a:r>
              <a:t>CHECK AND EXPECTED ANSWER</a:t>
            </a:r>
          </a:p>
          <a:p>
            <a:r>
              <a:t>Can "2.5" from csv.DictReader be added as a number without conversion? No; convert valid numeric text first.</a:t>
            </a:r>
          </a:p>
          <a:p>
            <a:r>
              <a:t/>
            </a:r>
          </a:p>
          <a:p>
            <a:r>
              <a:t>IF LEARNERS ARE STUCK</a:t>
            </a:r>
          </a:p>
          <a:p>
            <a:r>
              <a:t>Show the file in the runtime folder and compare its exact filename, case and column headers. Upload data again after a fresh Colab runtime.</a:t>
            </a:r>
          </a:p>
          <a:p>
            <a:r>
              <a:t/>
            </a:r>
          </a:p>
          <a:p>
            <a:r>
              <a:t>NEXT</a:t>
            </a:r>
          </a:p>
          <a:p>
            <a:r>
              <a:t>What you can do now.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What you can do now</a:t>
            </a:r>
          </a:p>
          <a:p>
            <a:r>
              <a:t/>
            </a:r>
          </a:p>
          <a:p>
            <a:r>
              <a:t>CONNECT</a:t>
            </a:r>
          </a:p>
          <a:p>
            <a:r>
              <a:t>Build on the preceding slide: Three groupings, then check them in Excel.</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NEXT</a:t>
            </a:r>
          </a:p>
          <a:p>
            <a:r>
              <a:t>Before the next session.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Before the next session</a:t>
            </a:r>
          </a:p>
          <a:p>
            <a:r>
              <a:t/>
            </a:r>
          </a:p>
          <a:p>
            <a:r>
              <a:t>CONNECT</a:t>
            </a:r>
          </a:p>
          <a:p>
            <a:r>
              <a:t>Build on the preceding slide: What you can do now.</a:t>
            </a:r>
          </a:p>
          <a:p>
            <a:r>
              <a:t/>
            </a:r>
          </a:p>
          <a:p>
            <a:r>
              <a:t>LECTURER CUE</a:t>
            </a:r>
          </a:p>
          <a:p>
            <a:r>
              <a:t>Two more groupings on the sheet, then one sentence: which grouping of your own work data would you most like to see, and which columns would it need?</a:t>
            </a:r>
          </a:p>
          <a:p>
            <a:r>
              <a:t/>
            </a:r>
          </a:p>
          <a:p>
            <a:r>
              <a:t>NEXT</a:t>
            </a:r>
          </a:p>
          <a:p>
            <a:r>
              <a:t>You have written your first pivot table down.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You have written your first pivot table down</a:t>
            </a:r>
          </a:p>
          <a:p>
            <a:r>
              <a:t/>
            </a:r>
          </a:p>
          <a:p>
            <a:r>
              <a:t>CONNECT</a:t>
            </a:r>
          </a:p>
          <a:p>
            <a:r>
              <a:t>Build on the preceding slide: Before the next session.</a:t>
            </a:r>
          </a:p>
          <a:p>
            <a:r>
              <a:t/>
            </a:r>
          </a:p>
          <a:p>
            <a:r>
              <a:t>LECTURER CUE</a:t>
            </a:r>
          </a:p>
          <a:p>
            <a:r>
              <a:t>It now runs again next month without you, on a file too big for a spreadsheet, and somebody else can read what you did. That is the whole argument for SQL and you have just made it yourself.</a:t>
            </a:r>
          </a:p>
          <a:p>
            <a:r>
              <a:t/>
            </a:r>
          </a:p>
          <a:p>
            <a:r>
              <a:t>EXPLAIN IN ORDINARY WORDS</a:t>
            </a:r>
          </a:p>
          <a:p>
            <a:r>
              <a:t>Grain means what one row represents. A key identifies a row; a primary key may use more than one column. A join matches keys, and multiple matches can multiply rows.</a:t>
            </a:r>
          </a:p>
          <a:p>
            <a:r>
              <a:t/>
            </a:r>
          </a:p>
          <a:p>
            <a:r>
              <a:t>CHECK AND EXPECTED ANSWER</a:t>
            </a:r>
          </a:p>
          <a:p>
            <a:r>
              <a:t>One order has two lines. After joining orders to lines, how many rows for it? Two. Summing a repeated order-level total would double-count.</a:t>
            </a:r>
          </a:p>
          <a:p>
            <a:r>
              <a:t/>
            </a:r>
          </a:p>
          <a:p>
            <a:r>
              <a:t>IF LEARNERS ARE STUCK</a:t>
            </a:r>
          </a:p>
          <a:p>
            <a:r>
              <a:t>Write one example row from each table. Circle keys and trace each match. Aggregate to the intended grain and check counts and totals.</a:t>
            </a:r>
          </a:p>
        </p:txBody>
      </p:sp>
      <p:sp>
        <p:nvSpPr>
          <p:cNvPr id="4" name="Slide Number Placeholder 3"/>
          <p:cNvSpPr>
            <a:spLocks noGrp="1"/>
          </p:cNvSpPr>
          <p:nvPr>
            <p:ph type="sldNum" idx="5" sz="quarter"/>
          </p:nvPr>
        </p:nvSpPr>
        <p:spPr/>
      </p:sp>
    </p:spTree>
  </p:cSld>
  <p:clrMapOvr>
    <a:masterClrMapping/>
  </p:clrMapOvr>
</p:notes>
</file>

<file path=ppt/notesSlides/notesSlide1000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Your pivot table, written down</a:t>
            </a:r>
          </a:p>
          <a:p>
            <a:r>
              <a:t/>
            </a:r>
          </a:p>
          <a:p>
            <a:r>
              <a:t>CONNECT</a:t>
            </a:r>
          </a:p>
          <a:p>
            <a:r>
              <a:t>Build on the preceding slide: You can already build a pivot table..</a:t>
            </a:r>
          </a:p>
          <a:p>
            <a:r>
              <a:t/>
            </a:r>
          </a:p>
          <a:p>
            <a:r>
              <a:t>DELIVER THIS SLIDE</a:t>
            </a:r>
          </a:p>
          <a:p>
            <a:r>
              <a:t>Read the stated purpose, then point to the named example or action on the slide. Ask learners to describe what they will do before moving on. For a break slide, announce the return time; for a section divider, name the next concrete task.</a:t>
            </a:r>
          </a:p>
          <a:p>
            <a:r>
              <a:t/>
            </a:r>
          </a:p>
          <a:p>
            <a:r>
              <a:t>NEXT</a:t>
            </a:r>
          </a:p>
          <a:p>
            <a:r>
              <a:t>Aggregate.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001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Filtering groups, and the trap in every average</a:t>
            </a:r>
          </a:p>
          <a:p>
            <a:r>
              <a:t/>
            </a:r>
          </a:p>
          <a:p>
            <a:r>
              <a:t>CONNECT</a:t>
            </a:r>
          </a:p>
          <a:p>
            <a:r>
              <a:t>Build on the preceding slide: Break.</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NEXT</a:t>
            </a:r>
          </a:p>
          <a:p>
            <a:r>
              <a:t>Revenue, which is not a column.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10006.xml" /></ns0: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10013.xml" /></ns0: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2103851"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SESSION 4 OF 15</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Counting and grouping</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It runs again next month without you, somebody else can check it, and it works on files a spreadsheet will not open.</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2  ·  SQL  ·  3 HOURS</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Data Analysis with Python, SQL and Power BI  ·  roadmap.sh: SQL: aggregates, GROUP BY, HAVING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FIFTEEN SESSIONS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Where tonight sits</a:t>
            </a:r>
          </a:p>
        </p:txBody>
      </p:sp>
      <p:sp>
        <p:nvSpPr>
          <p:cNvPr id="4" name="Rounded Rectangle 3"/>
          <p:cNvSpPr/>
          <p:nvPr/>
        </p:nvSpPr>
        <p:spPr>
          <a:xfrm>
            <a:off x="685800"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2104"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  ·  FOUNDATIONS</a:t>
            </a:r>
          </a:p>
        </p:txBody>
      </p:sp>
      <p:sp>
        <p:nvSpPr>
          <p:cNvPr id="6" name="TextBox 5"/>
          <p:cNvSpPr txBox="1"/>
          <p:nvPr/>
        </p:nvSpPr>
        <p:spPr>
          <a:xfrm>
            <a:off x="832104"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From a spreadsheet to data</a:t>
            </a:r>
          </a:p>
        </p:txBody>
      </p:sp>
      <p:sp>
        <p:nvSpPr>
          <p:cNvPr id="7" name="Rounded Rectangle 6"/>
          <p:cNvSpPr/>
          <p:nvPr/>
        </p:nvSpPr>
        <p:spPr>
          <a:xfrm>
            <a:off x="3459403"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5707"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2  ·  FOUNDATIONS</a:t>
            </a:r>
          </a:p>
        </p:txBody>
      </p:sp>
      <p:sp>
        <p:nvSpPr>
          <p:cNvPr id="9" name="TextBox 8"/>
          <p:cNvSpPr txBox="1"/>
          <p:nvPr/>
        </p:nvSpPr>
        <p:spPr>
          <a:xfrm>
            <a:off x="3605707"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Why data lives in several tables</a:t>
            </a:r>
          </a:p>
        </p:txBody>
      </p:sp>
      <p:sp>
        <p:nvSpPr>
          <p:cNvPr id="10" name="Rounded Rectangle 9"/>
          <p:cNvSpPr/>
          <p:nvPr/>
        </p:nvSpPr>
        <p:spPr>
          <a:xfrm>
            <a:off x="6233007"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9311"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3  ·  SQL</a:t>
            </a:r>
          </a:p>
        </p:txBody>
      </p:sp>
      <p:sp>
        <p:nvSpPr>
          <p:cNvPr id="12" name="TextBox 11"/>
          <p:cNvSpPr txBox="1"/>
          <p:nvPr/>
        </p:nvSpPr>
        <p:spPr>
          <a:xfrm>
            <a:off x="6379311"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Asking a database for rows</a:t>
            </a:r>
          </a:p>
        </p:txBody>
      </p:sp>
      <p:sp>
        <p:nvSpPr>
          <p:cNvPr id="13" name="Rounded Rectangle 12"/>
          <p:cNvSpPr/>
          <p:nvPr/>
        </p:nvSpPr>
        <p:spPr>
          <a:xfrm>
            <a:off x="9006611" y="1947672"/>
            <a:ext cx="2499283" cy="1060704"/>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2915" y="2020824"/>
            <a:ext cx="2206675" cy="256032"/>
          </a:xfrm>
          <a:prstGeom prst="rect">
            <a:avLst/>
          </a:prstGeom>
          <a:noFill/>
        </p:spPr>
        <p:txBody>
          <a:bodyPr wrap="square" lIns="0" rIns="0" tIns="0" bIns="0" anchor="t">
            <a:spAutoFit/>
          </a:bodyPr>
          <a:lstStyle/>
          <a:p>
            <a:pPr algn="l">
              <a:spcAft>
                <a:spcPts val="600"/>
              </a:spcAft>
            </a:pPr>
            <a:r>
              <a:rPr sz="1254" b="1" i="0">
                <a:solidFill>
                  <a:srgbClr val="FFFFFF"/>
                </a:solidFill>
                <a:latin typeface="Calibri"/>
              </a:rPr>
              <a:t>4  ·  SQL</a:t>
            </a:r>
          </a:p>
        </p:txBody>
      </p:sp>
      <p:sp>
        <p:nvSpPr>
          <p:cNvPr id="15" name="TextBox 14"/>
          <p:cNvSpPr txBox="1"/>
          <p:nvPr/>
        </p:nvSpPr>
        <p:spPr>
          <a:xfrm>
            <a:off x="9152915" y="2295144"/>
            <a:ext cx="2206675" cy="640080"/>
          </a:xfrm>
          <a:prstGeom prst="rect">
            <a:avLst/>
          </a:prstGeom>
          <a:noFill/>
        </p:spPr>
        <p:txBody>
          <a:bodyPr wrap="square" lIns="0" rIns="0" tIns="0" bIns="0" anchor="t">
            <a:spAutoFit/>
          </a:bodyPr>
          <a:lstStyle/>
          <a:p>
            <a:pPr algn="l">
              <a:lnSpc>
                <a:spcPct val="112000"/>
              </a:lnSpc>
              <a:spcAft>
                <a:spcPts val="600"/>
              </a:spcAft>
            </a:pPr>
            <a:r>
              <a:rPr sz="1452" b="1" i="0">
                <a:solidFill>
                  <a:srgbClr val="FFFFFF"/>
                </a:solidFill>
                <a:latin typeface="Calibri"/>
              </a:rPr>
              <a:t>Counting and grouping</a:t>
            </a:r>
          </a:p>
        </p:txBody>
      </p:sp>
      <p:sp>
        <p:nvSpPr>
          <p:cNvPr id="16" name="Rounded Rectangle 15"/>
          <p:cNvSpPr/>
          <p:nvPr/>
        </p:nvSpPr>
        <p:spPr>
          <a:xfrm>
            <a:off x="685800"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5  ·  SQL</a:t>
            </a:r>
          </a:p>
        </p:txBody>
      </p:sp>
      <p:sp>
        <p:nvSpPr>
          <p:cNvPr id="18" name="TextBox 17"/>
          <p:cNvSpPr txBox="1"/>
          <p:nvPr/>
        </p:nvSpPr>
        <p:spPr>
          <a:xfrm>
            <a:off x="832104"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Joining tables, carefully</a:t>
            </a:r>
          </a:p>
        </p:txBody>
      </p:sp>
      <p:sp>
        <p:nvSpPr>
          <p:cNvPr id="19" name="Rounded Rectangle 18"/>
          <p:cNvSpPr/>
          <p:nvPr/>
        </p:nvSpPr>
        <p:spPr>
          <a:xfrm>
            <a:off x="3459403"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5707"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6  ·  PYTHON</a:t>
            </a:r>
          </a:p>
        </p:txBody>
      </p:sp>
      <p:sp>
        <p:nvSpPr>
          <p:cNvPr id="21" name="TextBox 20"/>
          <p:cNvSpPr txBox="1"/>
          <p:nvPr/>
        </p:nvSpPr>
        <p:spPr>
          <a:xfrm>
            <a:off x="3605707"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Your first program</a:t>
            </a:r>
          </a:p>
        </p:txBody>
      </p:sp>
      <p:sp>
        <p:nvSpPr>
          <p:cNvPr id="22" name="Rounded Rectangle 21"/>
          <p:cNvSpPr/>
          <p:nvPr/>
        </p:nvSpPr>
        <p:spPr>
          <a:xfrm>
            <a:off x="6233007"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9311"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7  ·  PYTHON</a:t>
            </a:r>
          </a:p>
        </p:txBody>
      </p:sp>
      <p:sp>
        <p:nvSpPr>
          <p:cNvPr id="24" name="TextBox 23"/>
          <p:cNvSpPr txBox="1"/>
          <p:nvPr/>
        </p:nvSpPr>
        <p:spPr>
          <a:xfrm>
            <a:off x="6379311"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Reading a file, and looking at it</a:t>
            </a:r>
          </a:p>
        </p:txBody>
      </p:sp>
      <p:sp>
        <p:nvSpPr>
          <p:cNvPr id="25" name="Rounded Rectangle 24"/>
          <p:cNvSpPr/>
          <p:nvPr/>
        </p:nvSpPr>
        <p:spPr>
          <a:xfrm>
            <a:off x="9006611"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52915"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8  ·  PYTHON</a:t>
            </a:r>
          </a:p>
        </p:txBody>
      </p:sp>
      <p:sp>
        <p:nvSpPr>
          <p:cNvPr id="27" name="TextBox 26"/>
          <p:cNvSpPr txBox="1"/>
          <p:nvPr/>
        </p:nvSpPr>
        <p:spPr>
          <a:xfrm>
            <a:off x="9152915"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Cleaning, and writing down what you did</a:t>
            </a:r>
          </a:p>
        </p:txBody>
      </p:sp>
      <p:sp>
        <p:nvSpPr>
          <p:cNvPr id="28" name="Rounded Rectangle 27"/>
          <p:cNvSpPr/>
          <p:nvPr/>
        </p:nvSpPr>
        <p:spPr>
          <a:xfrm>
            <a:off x="685800"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9  ·  PYTHON</a:t>
            </a:r>
          </a:p>
        </p:txBody>
      </p:sp>
      <p:sp>
        <p:nvSpPr>
          <p:cNvPr id="30" name="TextBox 29"/>
          <p:cNvSpPr txBox="1"/>
          <p:nvPr/>
        </p:nvSpPr>
        <p:spPr>
          <a:xfrm>
            <a:off x="832104"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Grouping and joining in pandas</a:t>
            </a:r>
          </a:p>
        </p:txBody>
      </p:sp>
      <p:sp>
        <p:nvSpPr>
          <p:cNvPr id="31" name="Rounded Rectangle 30"/>
          <p:cNvSpPr/>
          <p:nvPr/>
        </p:nvSpPr>
        <p:spPr>
          <a:xfrm>
            <a:off x="3459403"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05707"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10  ·  STATISTICS</a:t>
            </a:r>
          </a:p>
        </p:txBody>
      </p:sp>
      <p:sp>
        <p:nvSpPr>
          <p:cNvPr id="33" name="TextBox 32"/>
          <p:cNvSpPr txBox="1"/>
          <p:nvPr/>
        </p:nvSpPr>
        <p:spPr>
          <a:xfrm>
            <a:off x="3605707"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Describing one column</a:t>
            </a:r>
          </a:p>
        </p:txBody>
      </p:sp>
      <p:sp>
        <p:nvSpPr>
          <p:cNvPr id="34" name="Rounded Rectangle 33"/>
          <p:cNvSpPr/>
          <p:nvPr/>
        </p:nvSpPr>
        <p:spPr>
          <a:xfrm>
            <a:off x="6233007"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9311"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11  ·  STATISTICS</a:t>
            </a:r>
          </a:p>
        </p:txBody>
      </p:sp>
      <p:sp>
        <p:nvSpPr>
          <p:cNvPr id="36" name="TextBox 35"/>
          <p:cNvSpPr txBox="1"/>
          <p:nvPr/>
        </p:nvSpPr>
        <p:spPr>
          <a:xfrm>
            <a:off x="6379311"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Comparing groups, and reading time</a:t>
            </a:r>
          </a:p>
        </p:txBody>
      </p:sp>
      <p:sp>
        <p:nvSpPr>
          <p:cNvPr id="37" name="Rounded Rectangle 36"/>
          <p:cNvSpPr/>
          <p:nvPr/>
        </p:nvSpPr>
        <p:spPr>
          <a:xfrm>
            <a:off x="9006611"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52915"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12  ·  CHARTS</a:t>
            </a:r>
          </a:p>
        </p:txBody>
      </p:sp>
      <p:sp>
        <p:nvSpPr>
          <p:cNvPr id="39" name="TextBox 38"/>
          <p:cNvSpPr txBox="1"/>
          <p:nvPr/>
        </p:nvSpPr>
        <p:spPr>
          <a:xfrm>
            <a:off x="9152915"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Charts that answer the question</a:t>
            </a:r>
          </a:p>
        </p:txBody>
      </p:sp>
      <p:sp>
        <p:nvSpPr>
          <p:cNvPr id="40" name="Rounded Rectangle 39"/>
          <p:cNvSpPr/>
          <p:nvPr/>
        </p:nvSpPr>
        <p:spPr>
          <a:xfrm>
            <a:off x="685800"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13  ·  INVESTIGATION</a:t>
            </a:r>
          </a:p>
        </p:txBody>
      </p:sp>
      <p:sp>
        <p:nvSpPr>
          <p:cNvPr id="42" name="TextBox 41"/>
          <p:cNvSpPr txBox="1"/>
          <p:nvPr/>
        </p:nvSpPr>
        <p:spPr>
          <a:xfrm>
            <a:off x="832104"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 whole investigation, end to end</a:t>
            </a:r>
          </a:p>
        </p:txBody>
      </p:sp>
      <p:sp>
        <p:nvSpPr>
          <p:cNvPr id="43" name="Rounded Rectangle 42"/>
          <p:cNvSpPr/>
          <p:nvPr/>
        </p:nvSpPr>
        <p:spPr>
          <a:xfrm>
            <a:off x="3459403"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05707"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14  ·  POWER BI</a:t>
            </a:r>
          </a:p>
        </p:txBody>
      </p:sp>
      <p:sp>
        <p:nvSpPr>
          <p:cNvPr id="45" name="TextBox 44"/>
          <p:cNvSpPr txBox="1"/>
          <p:nvPr/>
        </p:nvSpPr>
        <p:spPr>
          <a:xfrm>
            <a:off x="3605707"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Getting data in, and modelling it</a:t>
            </a:r>
          </a:p>
        </p:txBody>
      </p:sp>
      <p:sp>
        <p:nvSpPr>
          <p:cNvPr id="46" name="Rounded Rectangle 45"/>
          <p:cNvSpPr/>
          <p:nvPr/>
        </p:nvSpPr>
        <p:spPr>
          <a:xfrm>
            <a:off x="6233007"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79311"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15  ·  POWER BI</a:t>
            </a:r>
          </a:p>
        </p:txBody>
      </p:sp>
      <p:sp>
        <p:nvSpPr>
          <p:cNvPr id="48" name="TextBox 47"/>
          <p:cNvSpPr txBox="1"/>
          <p:nvPr/>
        </p:nvSpPr>
        <p:spPr>
          <a:xfrm>
            <a:off x="6379311"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Measures, a dashboard, and presenting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BEFORE WE START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words for tonight</a:t>
            </a:r>
          </a:p>
        </p:txBody>
      </p:sp>
      <p:sp>
        <p:nvSpPr>
          <p:cNvPr id="4" name="TextBox 3"/>
          <p:cNvSpPr txBox="1"/>
          <p:nvPr/>
        </p:nvSpPr>
        <p:spPr>
          <a:xfrm>
            <a:off x="685800" y="1911095"/>
            <a:ext cx="224028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TERM</a:t>
            </a:r>
          </a:p>
        </p:txBody>
      </p:sp>
      <p:sp>
        <p:nvSpPr>
          <p:cNvPr id="5" name="TextBox 4"/>
          <p:cNvSpPr txBox="1"/>
          <p:nvPr/>
        </p:nvSpPr>
        <p:spPr>
          <a:xfrm>
            <a:off x="3154680" y="1911095"/>
            <a:ext cx="489204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WHAT IT MEANS</a:t>
            </a:r>
          </a:p>
        </p:txBody>
      </p:sp>
      <p:sp>
        <p:nvSpPr>
          <p:cNvPr id="6" name="TextBox 5"/>
          <p:cNvSpPr txBox="1"/>
          <p:nvPr/>
        </p:nvSpPr>
        <p:spPr>
          <a:xfrm>
            <a:off x="8275320" y="1911095"/>
            <a:ext cx="3230575"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IN A SPREADSHEET</a:t>
            </a:r>
          </a:p>
        </p:txBody>
      </p:sp>
      <p:sp>
        <p:nvSpPr>
          <p:cNvPr id="7" name="Rectangle 6"/>
          <p:cNvSpPr/>
          <p:nvPr/>
        </p:nvSpPr>
        <p:spPr>
          <a:xfrm>
            <a:off x="576072" y="2240279"/>
            <a:ext cx="11039551" cy="69733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276856"/>
            <a:ext cx="2240280" cy="651616"/>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Aggregate</a:t>
            </a:r>
          </a:p>
        </p:txBody>
      </p:sp>
      <p:sp>
        <p:nvSpPr>
          <p:cNvPr id="9" name="TextBox 8"/>
          <p:cNvSpPr txBox="1"/>
          <p:nvPr/>
        </p:nvSpPr>
        <p:spPr>
          <a:xfrm>
            <a:off x="3154680" y="2276856"/>
            <a:ext cx="4892040"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A calculation that collapses many rows into one number: count, sum, average, minimum, maximum.</a:t>
            </a:r>
          </a:p>
        </p:txBody>
      </p:sp>
      <p:sp>
        <p:nvSpPr>
          <p:cNvPr id="10" name="TextBox 9"/>
          <p:cNvSpPr txBox="1"/>
          <p:nvPr/>
        </p:nvSpPr>
        <p:spPr>
          <a:xfrm>
            <a:off x="8275320" y="2276856"/>
            <a:ext cx="3230575"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2E7D6F"/>
                </a:solidFill>
                <a:latin typeface="Calibri"/>
              </a:rPr>
              <a:t>What a pivot table does in its value area</a:t>
            </a:r>
          </a:p>
        </p:txBody>
      </p:sp>
      <p:sp>
        <p:nvSpPr>
          <p:cNvPr id="11" name="TextBox 10"/>
          <p:cNvSpPr txBox="1"/>
          <p:nvPr/>
        </p:nvSpPr>
        <p:spPr>
          <a:xfrm>
            <a:off x="685800" y="3010768"/>
            <a:ext cx="2240280" cy="651616"/>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GROUP BY</a:t>
            </a:r>
          </a:p>
        </p:txBody>
      </p:sp>
      <p:sp>
        <p:nvSpPr>
          <p:cNvPr id="12" name="TextBox 11"/>
          <p:cNvSpPr txBox="1"/>
          <p:nvPr/>
        </p:nvSpPr>
        <p:spPr>
          <a:xfrm>
            <a:off x="3154680" y="3010768"/>
            <a:ext cx="4892040"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Says which rows belong together before the aggregate runs.</a:t>
            </a:r>
          </a:p>
        </p:txBody>
      </p:sp>
      <p:sp>
        <p:nvSpPr>
          <p:cNvPr id="13" name="TextBox 12"/>
          <p:cNvSpPr txBox="1"/>
          <p:nvPr/>
        </p:nvSpPr>
        <p:spPr>
          <a:xfrm>
            <a:off x="8275320" y="3010768"/>
            <a:ext cx="3230575"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2E7D6F"/>
                </a:solidFill>
                <a:latin typeface="Calibri"/>
              </a:rPr>
              <a:t>The Rows area of a pivot table</a:t>
            </a:r>
          </a:p>
        </p:txBody>
      </p:sp>
      <p:sp>
        <p:nvSpPr>
          <p:cNvPr id="14" name="Rectangle 13"/>
          <p:cNvSpPr/>
          <p:nvPr/>
        </p:nvSpPr>
        <p:spPr>
          <a:xfrm>
            <a:off x="576072" y="3708104"/>
            <a:ext cx="11039551" cy="69733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744680"/>
            <a:ext cx="2240280" cy="651616"/>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HAVING</a:t>
            </a:r>
          </a:p>
        </p:txBody>
      </p:sp>
      <p:sp>
        <p:nvSpPr>
          <p:cNvPr id="16" name="TextBox 15"/>
          <p:cNvSpPr txBox="1"/>
          <p:nvPr/>
        </p:nvSpPr>
        <p:spPr>
          <a:xfrm>
            <a:off x="3154680" y="3744680"/>
            <a:ext cx="4892040"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A filter on the GROUPS, applied after the aggregation.</a:t>
            </a:r>
          </a:p>
        </p:txBody>
      </p:sp>
      <p:sp>
        <p:nvSpPr>
          <p:cNvPr id="17" name="TextBox 16"/>
          <p:cNvSpPr txBox="1"/>
          <p:nvPr/>
        </p:nvSpPr>
        <p:spPr>
          <a:xfrm>
            <a:off x="8275320" y="3744680"/>
            <a:ext cx="3230575"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2E7D6F"/>
                </a:solidFill>
                <a:latin typeface="Calibri"/>
              </a:rPr>
              <a:t>Filtering a pivot table by its totals</a:t>
            </a:r>
          </a:p>
        </p:txBody>
      </p:sp>
      <p:sp>
        <p:nvSpPr>
          <p:cNvPr id="18" name="TextBox 17"/>
          <p:cNvSpPr txBox="1"/>
          <p:nvPr/>
        </p:nvSpPr>
        <p:spPr>
          <a:xfrm>
            <a:off x="685800" y="4478592"/>
            <a:ext cx="2240280" cy="651616"/>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Alias</a:t>
            </a:r>
          </a:p>
        </p:txBody>
      </p:sp>
      <p:sp>
        <p:nvSpPr>
          <p:cNvPr id="19" name="TextBox 18"/>
          <p:cNvSpPr txBox="1"/>
          <p:nvPr/>
        </p:nvSpPr>
        <p:spPr>
          <a:xfrm>
            <a:off x="3154680" y="4478592"/>
            <a:ext cx="4892040"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A name you give a computed column so the output is readable.</a:t>
            </a:r>
          </a:p>
        </p:txBody>
      </p:sp>
      <p:sp>
        <p:nvSpPr>
          <p:cNvPr id="20" name="TextBox 19"/>
          <p:cNvSpPr txBox="1"/>
          <p:nvPr/>
        </p:nvSpPr>
        <p:spPr>
          <a:xfrm>
            <a:off x="8275320" y="4478592"/>
            <a:ext cx="3230575"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2E7D6F"/>
                </a:solidFill>
                <a:latin typeface="Calibri"/>
              </a:rPr>
              <a:t>Typing a header over a formula</a:t>
            </a:r>
          </a:p>
        </p:txBody>
      </p:sp>
      <p:sp>
        <p:nvSpPr>
          <p:cNvPr id="21" name="Rectangle 20"/>
          <p:cNvSpPr/>
          <p:nvPr/>
        </p:nvSpPr>
        <p:spPr>
          <a:xfrm>
            <a:off x="576072" y="5175928"/>
            <a:ext cx="11039551" cy="100028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212504"/>
            <a:ext cx="2240280" cy="954564"/>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Derived value</a:t>
            </a:r>
          </a:p>
        </p:txBody>
      </p:sp>
      <p:sp>
        <p:nvSpPr>
          <p:cNvPr id="23" name="TextBox 22"/>
          <p:cNvSpPr txBox="1"/>
          <p:nvPr/>
        </p:nvSpPr>
        <p:spPr>
          <a:xfrm>
            <a:off x="3154680" y="5212504"/>
            <a:ext cx="4892040" cy="954564"/>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A number the data does not store, computed from columns that it does. Revenue here is quantity times price times one minus discount.</a:t>
            </a:r>
          </a:p>
        </p:txBody>
      </p:sp>
      <p:sp>
        <p:nvSpPr>
          <p:cNvPr id="24" name="TextBox 23"/>
          <p:cNvSpPr txBox="1"/>
          <p:nvPr/>
        </p:nvSpPr>
        <p:spPr>
          <a:xfrm>
            <a:off x="8275320" y="5212504"/>
            <a:ext cx="3230575" cy="954564"/>
          </a:xfrm>
          <a:prstGeom prst="rect">
            <a:avLst/>
          </a:prstGeom>
          <a:noFill/>
        </p:spPr>
        <p:txBody>
          <a:bodyPr wrap="square" lIns="0" rIns="0" tIns="0" bIns="0" anchor="t">
            <a:spAutoFit/>
          </a:bodyPr>
          <a:lstStyle/>
          <a:p>
            <a:pPr algn="l">
              <a:lnSpc>
                <a:spcPct val="116000"/>
              </a:lnSpc>
              <a:spcAft>
                <a:spcPts val="600"/>
              </a:spcAft>
            </a:pPr>
            <a:r>
              <a:rPr sz="1650" b="0" i="0">
                <a:solidFill>
                  <a:srgbClr val="2E7D6F"/>
                </a:solidFill>
                <a:latin typeface="Calibri"/>
              </a:rPr>
              <a:t>A formula column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WHAT YOU WILL BE ABLE TO DO</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libri"/>
              </a:rPr>
              <a:t>By the end of tonight you can…</a:t>
            </a:r>
          </a:p>
        </p:txBody>
      </p:sp>
      <p:sp>
        <p:nvSpPr>
          <p:cNvPr id="4" name="Oval 3"/>
          <p:cNvSpPr/>
          <p:nvPr/>
        </p:nvSpPr>
        <p:spPr>
          <a:xfrm>
            <a:off x="685800" y="195681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5" name="TextBox 4"/>
          <p:cNvSpPr txBox="1"/>
          <p:nvPr/>
        </p:nvSpPr>
        <p:spPr>
          <a:xfrm>
            <a:off x="1234440" y="192024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Aggregate with COUNT, SUM and AVG, and group by one or more columns.</a:t>
            </a:r>
          </a:p>
        </p:txBody>
      </p:sp>
      <p:sp>
        <p:nvSpPr>
          <p:cNvPr id="6" name="Oval 5"/>
          <p:cNvSpPr/>
          <p:nvPr/>
        </p:nvSpPr>
        <p:spPr>
          <a:xfrm>
            <a:off x="685800" y="277977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7" name="TextBox 6"/>
          <p:cNvSpPr txBox="1"/>
          <p:nvPr/>
        </p:nvSpPr>
        <p:spPr>
          <a:xfrm>
            <a:off x="1234440" y="274320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Filter groups with HAVING, and say why WHERE cannot do it.</a:t>
            </a:r>
          </a:p>
        </p:txBody>
      </p:sp>
      <p:sp>
        <p:nvSpPr>
          <p:cNvPr id="8" name="Oval 7"/>
          <p:cNvSpPr/>
          <p:nvPr/>
        </p:nvSpPr>
        <p:spPr>
          <a:xfrm>
            <a:off x="685800" y="360273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9" name="TextBox 8"/>
          <p:cNvSpPr txBox="1"/>
          <p:nvPr/>
        </p:nvSpPr>
        <p:spPr>
          <a:xfrm>
            <a:off x="1234440" y="356616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Spot an averaged average and correct it.</a:t>
            </a:r>
          </a:p>
        </p:txBody>
      </p:sp>
      <p:sp>
        <p:nvSpPr>
          <p:cNvPr id="10" name="TextBox 9"/>
          <p:cNvSpPr txBox="1"/>
          <p:nvPr/>
        </p:nvSpPr>
        <p:spPr>
          <a:xfrm>
            <a:off x="685800" y="6144768"/>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Session 4 of 15  ·  SQL  ·  Counting and grouping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QUESTION TONIGHT ANSWERS</a:t>
            </a:r>
          </a:p>
        </p:txBody>
      </p:sp>
      <p:sp>
        <p:nvSpPr>
          <p:cNvPr id="4" name="TextBox 3"/>
          <p:cNvSpPr txBox="1"/>
          <p:nvPr/>
        </p:nvSpPr>
        <p:spPr>
          <a:xfrm>
            <a:off x="685800" y="1691640"/>
            <a:ext cx="10820095" cy="2743200"/>
          </a:xfrm>
          <a:prstGeom prst="rect">
            <a:avLst/>
          </a:prstGeom>
          <a:noFill/>
        </p:spPr>
        <p:txBody>
          <a:bodyPr wrap="square" lIns="0" rIns="0" tIns="0" bIns="0" anchor="t">
            <a:spAutoFit/>
          </a:bodyPr>
          <a:lstStyle/>
          <a:p>
            <a:pPr algn="l">
              <a:lnSpc>
                <a:spcPct val="115000"/>
              </a:lnSpc>
              <a:spcAft>
                <a:spcPts val="600"/>
              </a:spcAft>
            </a:pPr>
            <a:r>
              <a:rPr sz="3400" b="0" i="1">
                <a:solidFill>
                  <a:srgbClr val="FFFFFF"/>
                </a:solidFill>
                <a:latin typeface="Cambria"/>
              </a:rPr>
              <a:t>You can already build a pivot table.</a:t>
            </a:r>
          </a:p>
          <a:p>
            <a:pPr algn="l">
              <a:lnSpc>
                <a:spcPct val="115000"/>
              </a:lnSpc>
              <a:spcAft>
                <a:spcPts val="600"/>
              </a:spcAft>
            </a:pPr>
            <a:r>
              <a:rPr sz="3400" b="0" i="1">
                <a:solidFill>
                  <a:srgbClr val="FFFFFF"/>
                </a:solidFill>
                <a:latin typeface="Cambria"/>
              </a:rPr>
              <a:t>What does writing it down buy you?</a:t>
            </a:r>
          </a:p>
        </p:txBody>
      </p:sp>
      <p:sp>
        <p:nvSpPr>
          <p:cNvPr id="5" name="TextBox 4"/>
          <p:cNvSpPr txBox="1"/>
          <p:nvPr/>
        </p:nvSpPr>
        <p:spPr>
          <a:xfrm>
            <a:off x="685800" y="4892040"/>
            <a:ext cx="10820095" cy="1097280"/>
          </a:xfrm>
          <a:prstGeom prst="rect">
            <a:avLst/>
          </a:prstGeom>
          <a:noFill/>
        </p:spPr>
        <p:txBody>
          <a:bodyPr wrap="square" lIns="0" rIns="0" tIns="0" bIns="0" anchor="t">
            <a:spAutoFit/>
          </a:bodyPr>
          <a:lstStyle/>
          <a:p>
            <a:pPr algn="l">
              <a:lnSpc>
                <a:spcPct val="120000"/>
              </a:lnSpc>
              <a:spcAft>
                <a:spcPts val="600"/>
              </a:spcAft>
            </a:pPr>
            <a:r>
              <a:rPr sz="1923" b="0" i="0">
                <a:solidFill>
                  <a:srgbClr val="B8C9D8"/>
                </a:solidFill>
                <a:latin typeface="Calibri"/>
              </a:rPr>
              <a:t>It runs again next month without you, somebody else can check it, and it works on files a spreadsheet will not open.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ONE · 50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Your pivot table, written down</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This session is a pivot table, written down.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Aggregate</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calculation that collapses many rows into one number: count, sum, average, minimum, maximum.</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SUM over 20,234 order lines gives one revenue figure. COUNT over 6,000 orders gives one number. The rows go in; one value comes out.</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The value area of a pivot table. Exactly the same thing, and you have been doing it for years.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GROUP BY</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Says which rows belong together before the aggregate runs. Group by region and you get one number per region.</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GROUP BY channel gives one row per channel. GROUP BY channel, status gives one row per combination, which is a two-level pivot.</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The Rows area of a pivot table. Drag region in there and you have written GROUP BY region.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HAVING</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filter on the GROUPS, applied after the aggregation. WHERE filters rows before grouping; HAVING filters the results afterwards.</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WHERE status = 'Delivered' throws away rows. HAVING COUNT(*) &gt; 80 throws away whole groups, and you cannot do it with WHERE because at that point no count exists yet.</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400860"/>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Filtering a pivot table on its totals rather than on the source rows.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Derived value</a:t>
            </a:r>
          </a:p>
        </p:txBody>
      </p:sp>
      <p:sp>
        <p:nvSpPr>
          <p:cNvPr id="4" name="Rounded Rectangle 3"/>
          <p:cNvSpPr/>
          <p:nvPr/>
        </p:nvSpPr>
        <p:spPr>
          <a:xfrm>
            <a:off x="685800" y="1854203"/>
            <a:ext cx="10820095" cy="799119"/>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451647"/>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number the data does not store, computed from columns that it does.</a:t>
            </a:r>
          </a:p>
        </p:txBody>
      </p:sp>
      <p:sp>
        <p:nvSpPr>
          <p:cNvPr id="6" name="Rounded Rectangle 5"/>
          <p:cNvSpPr/>
          <p:nvPr/>
        </p:nvSpPr>
        <p:spPr>
          <a:xfrm>
            <a:off x="685800" y="2927642"/>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2909354"/>
            <a:ext cx="880841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Revenue is derived: quantity x unit_price x (1 - discount). There is no revenue column anywhere in this database, and there should not be, because a stored total goes stale the moment a line changes.</a:t>
            </a:r>
          </a:p>
        </p:txBody>
      </p:sp>
      <p:sp>
        <p:nvSpPr>
          <p:cNvPr id="8" name="Rounded Rectangle 7"/>
          <p:cNvSpPr/>
          <p:nvPr/>
        </p:nvSpPr>
        <p:spPr>
          <a:xfrm>
            <a:off x="685800" y="4239952"/>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21664"/>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formula column. The difference is that yours is computed fresh every time the query runs.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same answer, both ways</a:t>
            </a:r>
          </a:p>
        </p:txBody>
      </p:sp>
      <p:sp>
        <p:nvSpPr>
          <p:cNvPr id="4" name="Rounded Rectangle 3"/>
          <p:cNvSpPr/>
          <p:nvPr/>
        </p:nvSpPr>
        <p:spPr>
          <a:xfrm>
            <a:off x="8359188" y="512064"/>
            <a:ext cx="3146706"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DB BROWSER · EXECUTE SQL</a:t>
            </a:r>
          </a:p>
        </p:txBody>
      </p:sp>
      <p:sp>
        <p:nvSpPr>
          <p:cNvPr id="5" name="Rectangle 4"/>
          <p:cNvSpPr/>
          <p:nvPr/>
        </p:nvSpPr>
        <p:spPr>
          <a:xfrm>
            <a:off x="685800" y="1911095"/>
            <a:ext cx="10820095" cy="2996671"/>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2704063"/>
          </a:xfrm>
          <a:prstGeom prst="rect">
            <a:avLst/>
          </a:prstGeom>
          <a:noFill/>
        </p:spPr>
        <p:txBody>
          <a:bodyPr wrap="square" lIns="0" rIns="0" tIns="0" bIns="0" anchor="t">
            <a:spAutoFit/>
          </a:bodyPr>
          <a:lstStyle/>
          <a:p>
            <a:pPr algn="l">
              <a:lnSpc>
                <a:spcPts val="2333"/>
              </a:lnSpc>
              <a:spcAft>
                <a:spcPts val="0"/>
              </a:spcAft>
            </a:pPr>
            <a:r>
              <a:rPr sz="1716" b="0" i="0">
                <a:solidFill>
                  <a:srgbClr val="D8E3EC"/>
                </a:solidFill>
                <a:latin typeface="Courier New"/>
              </a:rPr>
              <a:t>-- build this, then build the same thing as a pivot table</a:t>
            </a:r>
          </a:p>
          <a:p>
            <a:pPr algn="l">
              <a:lnSpc>
                <a:spcPts val="2333"/>
              </a:lnSpc>
              <a:spcAft>
                <a:spcPts val="0"/>
              </a:spcAft>
            </a:pPr>
            <a:r>
              <a:rPr sz="1716" b="0" i="0">
                <a:solidFill>
                  <a:srgbClr val="D8E3EC"/>
                </a:solidFill>
                <a:latin typeface="Courier New"/>
              </a:rPr>
              <a:t>-- from orders.csv, and check they agree</a:t>
            </a:r>
          </a:p>
          <a:p>
            <a:pPr algn="l">
              <a:lnSpc>
                <a:spcPts val="2333"/>
              </a:lnSpc>
              <a:spcAft>
                <a:spcPts val="0"/>
              </a:spcAft>
            </a:pPr>
            <a:r>
              <a:rPr sz="1716" b="0" i="0">
                <a:solidFill>
                  <a:srgbClr val="D8E3EC"/>
                </a:solidFill>
                <a:latin typeface="Courier New"/>
              </a:rPr>
              <a:t>SELECT channel,</a:t>
            </a:r>
          </a:p>
          <a:p>
            <a:pPr algn="l">
              <a:lnSpc>
                <a:spcPts val="2333"/>
              </a:lnSpc>
              <a:spcAft>
                <a:spcPts val="0"/>
              </a:spcAft>
            </a:pPr>
            <a:r>
              <a:rPr sz="1716" b="0" i="0">
                <a:solidFill>
                  <a:srgbClr val="D8E3EC"/>
                </a:solidFill>
                <a:latin typeface="Courier New"/>
              </a:rPr>
              <a:t>       COUNT(*)                AS orders,</a:t>
            </a:r>
          </a:p>
          <a:p>
            <a:pPr algn="l">
              <a:lnSpc>
                <a:spcPts val="2333"/>
              </a:lnSpc>
              <a:spcAft>
                <a:spcPts val="0"/>
              </a:spcAft>
            </a:pPr>
            <a:r>
              <a:rPr sz="1716" b="0" i="0">
                <a:solidFill>
                  <a:srgbClr val="D8E3EC"/>
                </a:solidFill>
                <a:latin typeface="Courier New"/>
              </a:rPr>
              <a:t>       COUNT(customer_id)      AS with_a_customer</a:t>
            </a:r>
          </a:p>
          <a:p>
            <a:pPr algn="l">
              <a:lnSpc>
                <a:spcPts val="2333"/>
              </a:lnSpc>
              <a:spcAft>
                <a:spcPts val="0"/>
              </a:spcAft>
            </a:pPr>
            <a:r>
              <a:rPr sz="1716" b="0" i="0">
                <a:solidFill>
                  <a:srgbClr val="D8E3EC"/>
                </a:solidFill>
                <a:latin typeface="Courier New"/>
              </a:rPr>
              <a:t>FROM orders</a:t>
            </a:r>
          </a:p>
          <a:p>
            <a:pPr algn="l">
              <a:lnSpc>
                <a:spcPts val="2333"/>
              </a:lnSpc>
              <a:spcAft>
                <a:spcPts val="0"/>
              </a:spcAft>
            </a:pPr>
            <a:r>
              <a:rPr sz="1716" b="0" i="0">
                <a:solidFill>
                  <a:srgbClr val="D8E3EC"/>
                </a:solidFill>
                <a:latin typeface="Courier New"/>
              </a:rPr>
              <a:t>WHERE status = 'Delivered'</a:t>
            </a:r>
          </a:p>
          <a:p>
            <a:pPr algn="l">
              <a:lnSpc>
                <a:spcPts val="2333"/>
              </a:lnSpc>
              <a:spcAft>
                <a:spcPts val="0"/>
              </a:spcAft>
            </a:pPr>
            <a:r>
              <a:rPr sz="1716" b="0" i="0">
                <a:solidFill>
                  <a:srgbClr val="D8E3EC"/>
                </a:solidFill>
                <a:latin typeface="Courier New"/>
              </a:rPr>
              <a:t>GROUP BY channel</a:t>
            </a:r>
          </a:p>
          <a:p>
            <a:pPr algn="l">
              <a:lnSpc>
                <a:spcPts val="2333"/>
              </a:lnSpc>
              <a:spcAft>
                <a:spcPts val="0"/>
              </a:spcAft>
            </a:pPr>
            <a:r>
              <a:rPr sz="1716" b="0" i="0">
                <a:solidFill>
                  <a:srgbClr val="D8E3EC"/>
                </a:solidFill>
                <a:latin typeface="Courier New"/>
              </a:rPr>
              <a:t>ORDER BY orders DESC;</a:t>
            </a:r>
          </a:p>
        </p:txBody>
      </p:sp>
      <p:sp>
        <p:nvSpPr>
          <p:cNvPr id="7" name="Rounded Rectangle 6"/>
          <p:cNvSpPr/>
          <p:nvPr/>
        </p:nvSpPr>
        <p:spPr>
          <a:xfrm>
            <a:off x="685800" y="5127223"/>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136367"/>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Add ORDER BY orders DESC and remove it again. Note that you can sort by a number you just computed and named, which a pivot table makes you click three times to 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280160"/>
          </a:xfrm>
          <a:prstGeom prst="rect">
            <a:avLst/>
          </a:prstGeom>
          <a:noFill/>
        </p:spPr>
        <p:txBody>
          <a:bodyPr wrap="square" lIns="0" rIns="0" tIns="0" bIns="0" anchor="t">
            <a:spAutoFit/>
          </a:bodyPr>
          <a:lstStyle/>
          <a:p>
            <a:pPr algn="ctr">
              <a:spcAft>
                <a:spcPts val="600"/>
              </a:spcAft>
            </a:pPr>
            <a:r>
              <a:rPr sz="5400" b="1" i="0">
                <a:solidFill>
                  <a:srgbClr val="FFFFFF"/>
                </a:solidFill>
                <a:latin typeface="Cambria"/>
              </a:rPr>
              <a:t>Break</a:t>
            </a:r>
          </a:p>
        </p:txBody>
      </p:sp>
      <p:sp>
        <p:nvSpPr>
          <p:cNvPr id="4" name="TextBox 3"/>
          <p:cNvSpPr txBox="1"/>
          <p:nvPr/>
        </p:nvSpPr>
        <p:spPr>
          <a:xfrm>
            <a:off x="685800" y="3749039"/>
            <a:ext cx="10820095" cy="548640"/>
          </a:xfrm>
          <a:prstGeom prst="rect">
            <a:avLst/>
          </a:prstGeom>
          <a:noFill/>
        </p:spPr>
        <p:txBody>
          <a:bodyPr wrap="square" lIns="0" rIns="0" tIns="0" bIns="0" anchor="t">
            <a:spAutoFit/>
          </a:bodyPr>
          <a:lstStyle/>
          <a:p>
            <a:pPr algn="ctr">
              <a:spcAft>
                <a:spcPts val="600"/>
              </a:spcAft>
            </a:pPr>
            <a:r>
              <a:rPr sz="2531" b="0" i="0">
                <a:solidFill>
                  <a:srgbClr val="E4572E"/>
                </a:solidFill>
                <a:latin typeface="Calibri"/>
              </a:rPr>
              <a:t>10 minutes</a:t>
            </a:r>
          </a:p>
        </p:txBody>
      </p:sp>
      <p:sp>
        <p:nvSpPr>
          <p:cNvPr id="5" name="TextBox 4"/>
          <p:cNvSpPr txBox="1"/>
          <p:nvPr/>
        </p:nvSpPr>
        <p:spPr>
          <a:xfrm>
            <a:off x="685800" y="4572000"/>
            <a:ext cx="10820095" cy="548640"/>
          </a:xfrm>
          <a:prstGeom prst="rect">
            <a:avLst/>
          </a:prstGeom>
          <a:noFill/>
        </p:spPr>
        <p:txBody>
          <a:bodyPr wrap="square" lIns="0" rIns="0" tIns="0" bIns="0" anchor="t">
            <a:spAutoFit/>
          </a:bodyPr>
          <a:lstStyle/>
          <a:p>
            <a:pPr algn="ctr">
              <a:spcAft>
                <a:spcPts val="600"/>
              </a:spcAft>
            </a:pPr>
            <a:r>
              <a:rPr sz="1821" b="0" i="0">
                <a:solidFill>
                  <a:srgbClr val="8EA4B8"/>
                </a:solidFill>
                <a:latin typeface="Calibri"/>
              </a:rPr>
              <a:t>Stretch, and talk to someone you have not worked with. Be back on time: the longest working block of the session is next.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TWO · 45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Filtering groups, and the trap in every average</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HAVING, and the difference between filtering rows and filtering groups, demonstrated by getting it wrong first and reading the error out loud.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Revenue, which is not a column</a:t>
            </a:r>
          </a:p>
        </p:txBody>
      </p:sp>
      <p:sp>
        <p:nvSpPr>
          <p:cNvPr id="4" name="Rounded Rectangle 3"/>
          <p:cNvSpPr/>
          <p:nvPr/>
        </p:nvSpPr>
        <p:spPr>
          <a:xfrm>
            <a:off x="8359188" y="512064"/>
            <a:ext cx="3146706"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DB BROWSER · EXECUTE SQL</a:t>
            </a:r>
          </a:p>
        </p:txBody>
      </p:sp>
      <p:sp>
        <p:nvSpPr>
          <p:cNvPr id="5" name="Rectangle 4"/>
          <p:cNvSpPr/>
          <p:nvPr/>
        </p:nvSpPr>
        <p:spPr>
          <a:xfrm>
            <a:off x="685800" y="1911095"/>
            <a:ext cx="10820095" cy="3293059"/>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000451"/>
          </a:xfrm>
          <a:prstGeom prst="rect">
            <a:avLst/>
          </a:prstGeom>
          <a:noFill/>
        </p:spPr>
        <p:txBody>
          <a:bodyPr wrap="square" lIns="0" rIns="0" tIns="0" bIns="0" anchor="t">
            <a:spAutoFit/>
          </a:bodyPr>
          <a:lstStyle/>
          <a:p>
            <a:pPr algn="l">
              <a:lnSpc>
                <a:spcPts val="2333"/>
              </a:lnSpc>
              <a:spcAft>
                <a:spcPts val="0"/>
              </a:spcAft>
            </a:pPr>
            <a:r>
              <a:rPr sz="1716" b="0" i="0">
                <a:solidFill>
                  <a:srgbClr val="D8E3EC"/>
                </a:solidFill>
                <a:latin typeface="Courier New"/>
              </a:rPr>
              <a:t>SELECT c.segment,</a:t>
            </a:r>
          </a:p>
          <a:p>
            <a:pPr algn="l">
              <a:lnSpc>
                <a:spcPts val="2333"/>
              </a:lnSpc>
              <a:spcAft>
                <a:spcPts val="0"/>
              </a:spcAft>
            </a:pPr>
            <a:r>
              <a:rPr sz="1716" b="0" i="0">
                <a:solidFill>
                  <a:srgbClr val="D8E3EC"/>
                </a:solidFill>
                <a:latin typeface="Courier New"/>
              </a:rPr>
              <a:t>       ROUND(SUM(oi.quantity * oi.unit_price_ugx</a:t>
            </a:r>
          </a:p>
          <a:p>
            <a:pPr algn="l">
              <a:lnSpc>
                <a:spcPts val="2333"/>
              </a:lnSpc>
              <a:spcAft>
                <a:spcPts val="0"/>
              </a:spcAft>
            </a:pPr>
            <a:r>
              <a:rPr sz="1716" b="0" i="0">
                <a:solidFill>
                  <a:srgbClr val="D8E3EC"/>
                </a:solidFill>
                <a:latin typeface="Courier New"/>
              </a:rPr>
              <a:t>                 * (1 - oi.discount))) AS revenue_ugx,</a:t>
            </a:r>
          </a:p>
          <a:p>
            <a:pPr algn="l">
              <a:lnSpc>
                <a:spcPts val="2333"/>
              </a:lnSpc>
              <a:spcAft>
                <a:spcPts val="0"/>
              </a:spcAft>
            </a:pPr>
            <a:r>
              <a:rPr sz="1716" b="0" i="0">
                <a:solidFill>
                  <a:srgbClr val="D8E3EC"/>
                </a:solidFill>
                <a:latin typeface="Courier New"/>
              </a:rPr>
              <a:t>       COUNT(DISTINCT o.order_id)       AS orders</a:t>
            </a:r>
          </a:p>
          <a:p>
            <a:pPr algn="l">
              <a:lnSpc>
                <a:spcPts val="2333"/>
              </a:lnSpc>
              <a:spcAft>
                <a:spcPts val="0"/>
              </a:spcAft>
            </a:pPr>
            <a:r>
              <a:rPr sz="1716" b="0" i="0">
                <a:solidFill>
                  <a:srgbClr val="D8E3EC"/>
                </a:solidFill>
                <a:latin typeface="Courier New"/>
              </a:rPr>
              <a:t>FROM order_items oi</a:t>
            </a:r>
          </a:p>
          <a:p>
            <a:pPr algn="l">
              <a:lnSpc>
                <a:spcPts val="2333"/>
              </a:lnSpc>
              <a:spcAft>
                <a:spcPts val="0"/>
              </a:spcAft>
            </a:pPr>
            <a:r>
              <a:rPr sz="1716" b="0" i="0">
                <a:solidFill>
                  <a:srgbClr val="D8E3EC"/>
                </a:solidFill>
                <a:latin typeface="Courier New"/>
              </a:rPr>
              <a:t>JOIN orders    o ON o.order_id    = oi.order_id</a:t>
            </a:r>
          </a:p>
          <a:p>
            <a:pPr algn="l">
              <a:lnSpc>
                <a:spcPts val="2333"/>
              </a:lnSpc>
              <a:spcAft>
                <a:spcPts val="0"/>
              </a:spcAft>
            </a:pPr>
            <a:r>
              <a:rPr sz="1716" b="0" i="0">
                <a:solidFill>
                  <a:srgbClr val="D8E3EC"/>
                </a:solidFill>
                <a:latin typeface="Courier New"/>
              </a:rPr>
              <a:t>JOIN customers c ON c.customer_id = o.customer_id</a:t>
            </a:r>
          </a:p>
          <a:p>
            <a:pPr algn="l">
              <a:lnSpc>
                <a:spcPts val="2333"/>
              </a:lnSpc>
              <a:spcAft>
                <a:spcPts val="0"/>
              </a:spcAft>
            </a:pPr>
            <a:r>
              <a:rPr sz="1716" b="0" i="0">
                <a:solidFill>
                  <a:srgbClr val="D8E3EC"/>
                </a:solidFill>
                <a:latin typeface="Courier New"/>
              </a:rPr>
              <a:t>WHERE o.status = 'Delivered'</a:t>
            </a:r>
          </a:p>
          <a:p>
            <a:pPr algn="l">
              <a:lnSpc>
                <a:spcPts val="2333"/>
              </a:lnSpc>
              <a:spcAft>
                <a:spcPts val="0"/>
              </a:spcAft>
            </a:pPr>
            <a:r>
              <a:rPr sz="1716" b="0" i="0">
                <a:solidFill>
                  <a:srgbClr val="D8E3EC"/>
                </a:solidFill>
                <a:latin typeface="Courier New"/>
              </a:rPr>
              <a:t>GROUP BY c.segment</a:t>
            </a:r>
          </a:p>
          <a:p>
            <a:pPr algn="l">
              <a:lnSpc>
                <a:spcPts val="2333"/>
              </a:lnSpc>
              <a:spcAft>
                <a:spcPts val="0"/>
              </a:spcAft>
            </a:pPr>
            <a:r>
              <a:rPr sz="1716" b="0" i="0">
                <a:solidFill>
                  <a:srgbClr val="D8E3EC"/>
                </a:solidFill>
                <a:latin typeface="Courier New"/>
              </a:rPr>
              <a:t>ORDER BY revenue_ugx DESC;</a:t>
            </a:r>
          </a:p>
        </p:txBody>
      </p:sp>
      <p:sp>
        <p:nvSpPr>
          <p:cNvPr id="7" name="Rounded Rectangle 6"/>
          <p:cNvSpPr/>
          <p:nvPr/>
        </p:nvSpPr>
        <p:spPr>
          <a:xfrm>
            <a:off x="685800" y="5423611"/>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432755"/>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Change COUNT(DISTINCT o.order_id) to COUNT(*) and the order count jumps, because there is one row per LINE and not per order. Same query, same data, and now the average order value underneath it is wrong by a factor of three.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HAVING, after getting it wrong first</a:t>
            </a:r>
          </a:p>
        </p:txBody>
      </p:sp>
      <p:sp>
        <p:nvSpPr>
          <p:cNvPr id="4" name="Rounded Rectangle 3"/>
          <p:cNvSpPr/>
          <p:nvPr/>
        </p:nvSpPr>
        <p:spPr>
          <a:xfrm>
            <a:off x="8359188" y="512064"/>
            <a:ext cx="3146706"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DB BROWSER · EXECUTE SQL</a:t>
            </a:r>
          </a:p>
        </p:txBody>
      </p:sp>
      <p:sp>
        <p:nvSpPr>
          <p:cNvPr id="5" name="Rectangle 4"/>
          <p:cNvSpPr/>
          <p:nvPr/>
        </p:nvSpPr>
        <p:spPr>
          <a:xfrm>
            <a:off x="685800" y="1911095"/>
            <a:ext cx="10820095" cy="3475451"/>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182843"/>
          </a:xfrm>
          <a:prstGeom prst="rect">
            <a:avLst/>
          </a:prstGeom>
          <a:noFill/>
        </p:spPr>
        <p:txBody>
          <a:bodyPr wrap="square" lIns="0" rIns="0" tIns="0" bIns="0" anchor="t">
            <a:spAutoFit/>
          </a:bodyPr>
          <a:lstStyle/>
          <a:p>
            <a:pPr algn="l">
              <a:lnSpc>
                <a:spcPts val="2064"/>
              </a:lnSpc>
              <a:spcAft>
                <a:spcPts val="0"/>
              </a:spcAft>
            </a:pPr>
            <a:r>
              <a:rPr sz="1518" b="0" i="0">
                <a:solidFill>
                  <a:srgbClr val="D8E3EC"/>
                </a:solidFill>
                <a:latin typeface="Courier New"/>
              </a:rPr>
              <a:t>-- this one FAILS. Run it and read the message.</a:t>
            </a:r>
          </a:p>
          <a:p>
            <a:pPr algn="l">
              <a:lnSpc>
                <a:spcPts val="2064"/>
              </a:lnSpc>
              <a:spcAft>
                <a:spcPts val="0"/>
              </a:spcAft>
            </a:pPr>
            <a:r>
              <a:rPr sz="1518" b="0" i="0">
                <a:solidFill>
                  <a:srgbClr val="D8E3EC"/>
                </a:solidFill>
                <a:latin typeface="Courier New"/>
              </a:rPr>
              <a:t>SELECT segment, COUNT(*) AS customers</a:t>
            </a:r>
          </a:p>
          <a:p>
            <a:pPr algn="l">
              <a:lnSpc>
                <a:spcPts val="2064"/>
              </a:lnSpc>
              <a:spcAft>
                <a:spcPts val="0"/>
              </a:spcAft>
            </a:pPr>
            <a:r>
              <a:rPr sz="1518" b="0" i="0">
                <a:solidFill>
                  <a:srgbClr val="D8E3EC"/>
                </a:solidFill>
                <a:latin typeface="Courier New"/>
              </a:rPr>
              <a:t>FROM customers</a:t>
            </a:r>
          </a:p>
          <a:p>
            <a:pPr algn="l">
              <a:lnSpc>
                <a:spcPts val="2064"/>
              </a:lnSpc>
              <a:spcAft>
                <a:spcPts val="0"/>
              </a:spcAft>
            </a:pPr>
            <a:r>
              <a:rPr sz="1518" b="0" i="0">
                <a:solidFill>
                  <a:srgbClr val="D8E3EC"/>
                </a:solidFill>
                <a:latin typeface="Courier New"/>
              </a:rPr>
              <a:t>WHERE COUNT(*) &gt; 80</a:t>
            </a:r>
          </a:p>
          <a:p>
            <a:pPr algn="l">
              <a:lnSpc>
                <a:spcPts val="2064"/>
              </a:lnSpc>
              <a:spcAft>
                <a:spcPts val="0"/>
              </a:spcAft>
            </a:pPr>
            <a:r>
              <a:rPr sz="1518" b="0" i="0">
                <a:solidFill>
                  <a:srgbClr val="D8E3EC"/>
                </a:solidFill>
                <a:latin typeface="Courier New"/>
              </a:rPr>
              <a:t>GROUP BY segment;</a:t>
            </a:r>
          </a:p>
          <a:p>
            <a:pPr algn="l">
              <a:lnSpc>
                <a:spcPts val="2064"/>
              </a:lnSpc>
              <a:spcAft>
                <a:spcPts val="0"/>
              </a:spcAft>
            </a:pPr>
            <a:r>
              <a:rPr sz="1518" b="0" i="0">
                <a:solidFill>
                  <a:srgbClr val="D8E3EC"/>
                </a:solidFill>
                <a:latin typeface="Courier New"/>
              </a:rPr>
              <a:t/>
            </a:r>
          </a:p>
          <a:p>
            <a:pPr algn="l">
              <a:lnSpc>
                <a:spcPts val="2064"/>
              </a:lnSpc>
              <a:spcAft>
                <a:spcPts val="0"/>
              </a:spcAft>
            </a:pPr>
            <a:r>
              <a:rPr sz="1518" b="0" i="0">
                <a:solidFill>
                  <a:srgbClr val="D8E3EC"/>
                </a:solidFill>
                <a:latin typeface="Courier New"/>
              </a:rPr>
              <a:t>-- this one works</a:t>
            </a:r>
          </a:p>
          <a:p>
            <a:pPr algn="l">
              <a:lnSpc>
                <a:spcPts val="2064"/>
              </a:lnSpc>
              <a:spcAft>
                <a:spcPts val="0"/>
              </a:spcAft>
            </a:pPr>
            <a:r>
              <a:rPr sz="1518" b="0" i="0">
                <a:solidFill>
                  <a:srgbClr val="D8E3EC"/>
                </a:solidFill>
                <a:latin typeface="Courier New"/>
              </a:rPr>
              <a:t>SELECT segment, COUNT(*) AS customers</a:t>
            </a:r>
          </a:p>
          <a:p>
            <a:pPr algn="l">
              <a:lnSpc>
                <a:spcPts val="2064"/>
              </a:lnSpc>
              <a:spcAft>
                <a:spcPts val="0"/>
              </a:spcAft>
            </a:pPr>
            <a:r>
              <a:rPr sz="1518" b="0" i="0">
                <a:solidFill>
                  <a:srgbClr val="D8E3EC"/>
                </a:solidFill>
                <a:latin typeface="Courier New"/>
              </a:rPr>
              <a:t>FROM customers</a:t>
            </a:r>
          </a:p>
          <a:p>
            <a:pPr algn="l">
              <a:lnSpc>
                <a:spcPts val="2064"/>
              </a:lnSpc>
              <a:spcAft>
                <a:spcPts val="0"/>
              </a:spcAft>
            </a:pPr>
            <a:r>
              <a:rPr sz="1518" b="0" i="0">
                <a:solidFill>
                  <a:srgbClr val="D8E3EC"/>
                </a:solidFill>
                <a:latin typeface="Courier New"/>
              </a:rPr>
              <a:t>GROUP BY segment</a:t>
            </a:r>
          </a:p>
          <a:p>
            <a:pPr algn="l">
              <a:lnSpc>
                <a:spcPts val="2064"/>
              </a:lnSpc>
              <a:spcAft>
                <a:spcPts val="0"/>
              </a:spcAft>
            </a:pPr>
            <a:r>
              <a:rPr sz="1518" b="0" i="0">
                <a:solidFill>
                  <a:srgbClr val="D8E3EC"/>
                </a:solidFill>
                <a:latin typeface="Courier New"/>
              </a:rPr>
              <a:t>HAVING COUNT(*) &gt; 80</a:t>
            </a:r>
          </a:p>
          <a:p>
            <a:pPr algn="l">
              <a:lnSpc>
                <a:spcPts val="2064"/>
              </a:lnSpc>
              <a:spcAft>
                <a:spcPts val="0"/>
              </a:spcAft>
            </a:pPr>
            <a:r>
              <a:rPr sz="1518" b="0" i="0">
                <a:solidFill>
                  <a:srgbClr val="D8E3EC"/>
                </a:solidFill>
                <a:latin typeface="Courier New"/>
              </a:rPr>
              <a:t>ORDER BY customers DESC;</a:t>
            </a:r>
          </a:p>
        </p:txBody>
      </p:sp>
      <p:sp>
        <p:nvSpPr>
          <p:cNvPr id="7" name="Rounded Rectangle 6"/>
          <p:cNvSpPr/>
          <p:nvPr/>
        </p:nvSpPr>
        <p:spPr>
          <a:xfrm>
            <a:off x="685800" y="5606003"/>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615147"/>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The error is the lesson: WHERE runs before the rows are grouped, so there is no count to test yet. Read the message out loud. Most SQL errors say what is wrong if you read them.</a:t>
            </a:r>
          </a:p>
        </p:txBody>
      </p:sp>
    </p:spTree>
  </p:cSld>
  <p:clrMapOvr>
    <a:masterClrMapping/>
  </p:clrMapOvr>
</p:sld>
</file>

<file path=ppt/slides/slide16.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WORKED EXAMPLE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When averaging averages gives a wrong result</a:t>
            </a:r>
          </a:p>
        </p:txBody>
      </p:sp>
      <p:sp>
        <p:nvSpPr>
          <p:cNvPr id="4" name="TextBox 3"/>
          <p:cNvSpPr txBox="1"/>
          <p:nvPr/>
        </p:nvSpPr>
        <p:spPr>
          <a:xfrm>
            <a:off x="685800" y="1911095"/>
            <a:ext cx="10820095" cy="766387"/>
          </a:xfrm>
          <a:prstGeom prst="rect">
            <a:avLst/>
          </a:prstGeom>
          <a:noFill/>
        </p:spPr>
        <p:txBody>
          <a:bodyPr wrap="square" lIns="0" rIns="0" tIns="0" bIns="0" anchor="t">
            <a:spAutoFit/>
          </a:bodyPr>
          <a:lstStyle/>
          <a:p>
            <a:pPr algn="l">
              <a:lnSpc>
                <a:spcPct val="120000"/>
              </a:lnSpc>
              <a:spcAft>
                <a:spcPts val="600"/>
              </a:spcAft>
            </a:pPr>
            <a:r>
              <a:rPr sz="1873" b="0" i="0">
                <a:solidFill>
                  <a:srgbClr val="334657"/>
                </a:solidFill>
                <a:latin typeface="Calibri"/>
              </a:rPr>
              <a:t>Four regions, four average order values. The national average is not the average of those four, and the gap is not small.</a:t>
            </a:r>
          </a:p>
        </p:txBody>
      </p:sp>
      <p:sp>
        <p:nvSpPr>
          <p:cNvPr id="5" name="Rounded Rectangle 4"/>
          <p:cNvSpPr/>
          <p:nvPr/>
        </p:nvSpPr>
        <p:spPr>
          <a:xfrm>
            <a:off x="685800" y="2732347"/>
            <a:ext cx="10820095" cy="42501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 y="27872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7" name="TextBox 6"/>
          <p:cNvSpPr txBox="1"/>
          <p:nvPr/>
        </p:nvSpPr>
        <p:spPr>
          <a:xfrm>
            <a:off x="1435607" y="2778067"/>
            <a:ext cx="9814255" cy="333576"/>
          </a:xfrm>
          <a:prstGeom prst="rect">
            <a:avLst/>
          </a:prstGeom>
          <a:noFill/>
        </p:spPr>
        <p:txBody>
          <a:bodyPr wrap="square" lIns="0" rIns="0" tIns="0" bIns="0" anchor="t">
            <a:spAutoFit/>
          </a:bodyPr>
          <a:lstStyle/>
          <a:p>
            <a:pPr algn="l">
              <a:lnSpc>
                <a:spcPct val="116000"/>
              </a:lnSpc>
              <a:spcAft>
                <a:spcPts val="600"/>
              </a:spcAft>
            </a:pPr>
            <a:r>
              <a:rPr sz="1518" b="0" i="0">
                <a:solidFill>
                  <a:srgbClr val="1C3144"/>
                </a:solidFill>
                <a:latin typeface="Calibri"/>
              </a:rPr>
              <a:t>Compute the average order value per region. Four numbers, all correct.</a:t>
            </a:r>
          </a:p>
        </p:txBody>
      </p:sp>
      <p:sp>
        <p:nvSpPr>
          <p:cNvPr id="8" name="Rounded Rectangle 7"/>
          <p:cNvSpPr/>
          <p:nvPr/>
        </p:nvSpPr>
        <p:spPr>
          <a:xfrm>
            <a:off x="685800" y="3212227"/>
            <a:ext cx="10820095" cy="42501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326709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10" name="TextBox 9"/>
          <p:cNvSpPr txBox="1"/>
          <p:nvPr/>
        </p:nvSpPr>
        <p:spPr>
          <a:xfrm>
            <a:off x="1435607" y="3257947"/>
            <a:ext cx="9814255" cy="333576"/>
          </a:xfrm>
          <a:prstGeom prst="rect">
            <a:avLst/>
          </a:prstGeom>
          <a:noFill/>
        </p:spPr>
        <p:txBody>
          <a:bodyPr wrap="square" lIns="0" rIns="0" tIns="0" bIns="0" anchor="t">
            <a:spAutoFit/>
          </a:bodyPr>
          <a:lstStyle/>
          <a:p>
            <a:pPr algn="l">
              <a:lnSpc>
                <a:spcPct val="116000"/>
              </a:lnSpc>
              <a:spcAft>
                <a:spcPts val="600"/>
              </a:spcAft>
            </a:pPr>
            <a:r>
              <a:rPr sz="1518" b="0" i="0">
                <a:solidFill>
                  <a:srgbClr val="1C3144"/>
                </a:solidFill>
                <a:latin typeface="Calibri"/>
              </a:rPr>
              <a:t>Average those four numbers. Write the answer down.</a:t>
            </a:r>
          </a:p>
        </p:txBody>
      </p:sp>
      <p:sp>
        <p:nvSpPr>
          <p:cNvPr id="11" name="Rounded Rectangle 10"/>
          <p:cNvSpPr/>
          <p:nvPr/>
        </p:nvSpPr>
        <p:spPr>
          <a:xfrm>
            <a:off x="685800" y="3692107"/>
            <a:ext cx="10820095" cy="42501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05256" y="374697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13" name="TextBox 12"/>
          <p:cNvSpPr txBox="1"/>
          <p:nvPr/>
        </p:nvSpPr>
        <p:spPr>
          <a:xfrm>
            <a:off x="1435607" y="3737827"/>
            <a:ext cx="9814255" cy="333576"/>
          </a:xfrm>
          <a:prstGeom prst="rect">
            <a:avLst/>
          </a:prstGeom>
          <a:noFill/>
        </p:spPr>
        <p:txBody>
          <a:bodyPr wrap="square" lIns="0" rIns="0" tIns="0" bIns="0" anchor="t">
            <a:spAutoFit/>
          </a:bodyPr>
          <a:lstStyle/>
          <a:p>
            <a:pPr algn="l">
              <a:lnSpc>
                <a:spcPct val="116000"/>
              </a:lnSpc>
              <a:spcAft>
                <a:spcPts val="600"/>
              </a:spcAft>
            </a:pPr>
            <a:r>
              <a:rPr sz="1518" b="0" i="0">
                <a:solidFill>
                  <a:srgbClr val="1C3144"/>
                </a:solidFill>
                <a:latin typeface="Calibri"/>
              </a:rPr>
              <a:t>Now compute the national average properly: total revenue divided by total orders.</a:t>
            </a:r>
          </a:p>
        </p:txBody>
      </p:sp>
      <p:sp>
        <p:nvSpPr>
          <p:cNvPr id="14" name="Rounded Rectangle 13"/>
          <p:cNvSpPr/>
          <p:nvPr/>
        </p:nvSpPr>
        <p:spPr>
          <a:xfrm>
            <a:off x="685800" y="4171987"/>
            <a:ext cx="10820095" cy="703728"/>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5256" y="422685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6" name="TextBox 15"/>
          <p:cNvSpPr txBox="1"/>
          <p:nvPr/>
        </p:nvSpPr>
        <p:spPr>
          <a:xfrm>
            <a:off x="1435607" y="4217707"/>
            <a:ext cx="9814255" cy="612288"/>
          </a:xfrm>
          <a:prstGeom prst="rect">
            <a:avLst/>
          </a:prstGeom>
          <a:noFill/>
        </p:spPr>
        <p:txBody>
          <a:bodyPr wrap="square" lIns="0" rIns="0" tIns="0" bIns="0" anchor="t">
            <a:spAutoFit/>
          </a:bodyPr>
          <a:lstStyle/>
          <a:p>
            <a:pPr algn="l">
              <a:lnSpc>
                <a:spcPct val="116000"/>
              </a:lnSpc>
              <a:spcAft>
                <a:spcPts val="600"/>
              </a:spcAft>
            </a:pPr>
            <a:r>
              <a:rPr sz="1518" b="0" i="0">
                <a:solidFill>
                  <a:srgbClr val="1C3144"/>
                </a:solidFill>
                <a:latin typeface="Calibri"/>
              </a:rPr>
              <a:t>They differ, because the regions have different numbers of orders. The simple average treats a region with 400 orders and one with 1,900 as equally important.</a:t>
            </a:r>
          </a:p>
        </p:txBody>
      </p:sp>
      <p:sp>
        <p:nvSpPr>
          <p:cNvPr id="17" name="Rounded Rectangle 16"/>
          <p:cNvSpPr/>
          <p:nvPr/>
        </p:nvSpPr>
        <p:spPr>
          <a:xfrm>
            <a:off x="685800" y="4930580"/>
            <a:ext cx="10820095" cy="42501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05256" y="4985444"/>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9" name="TextBox 18"/>
          <p:cNvSpPr txBox="1"/>
          <p:nvPr/>
        </p:nvSpPr>
        <p:spPr>
          <a:xfrm>
            <a:off x="1435607" y="4976300"/>
            <a:ext cx="9814255" cy="333576"/>
          </a:xfrm>
          <a:prstGeom prst="rect">
            <a:avLst/>
          </a:prstGeom>
          <a:noFill/>
        </p:spPr>
        <p:txBody>
          <a:bodyPr wrap="square" lIns="0" rIns="0" tIns="0" bIns="0" anchor="t">
            <a:spAutoFit/>
          </a:bodyPr>
          <a:lstStyle/>
          <a:p>
            <a:pPr algn="l">
              <a:lnSpc>
                <a:spcPct val="116000"/>
              </a:lnSpc>
              <a:spcAft>
                <a:spcPts val="600"/>
              </a:spcAft>
            </a:pPr>
            <a:r>
              <a:rPr sz="1518" b="0" i="0">
                <a:solidFill>
                  <a:srgbClr val="1C3144"/>
                </a:solidFill>
                <a:latin typeface="Calibri"/>
              </a:rPr>
              <a:t>Combined mean: total sum divided by total count.</a:t>
            </a:r>
          </a:p>
        </p:txBody>
      </p:sp>
      <p:sp>
        <p:nvSpPr>
          <p:cNvPr id="20" name="Rounded Rectangle 19"/>
          <p:cNvSpPr/>
          <p:nvPr/>
        </p:nvSpPr>
        <p:spPr>
          <a:xfrm>
            <a:off x="685800" y="5465324"/>
            <a:ext cx="10820095" cy="992912"/>
          </a:xfrm>
          <a:prstGeom prst="roundRect">
            <a:avLst>
              <a:gd name="adj" fmla="val 6000"/>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5602484"/>
            <a:ext cx="10234879" cy="718592"/>
          </a:xfrm>
          <a:prstGeom prst="rect">
            <a:avLst/>
          </a:prstGeom>
          <a:noFill/>
        </p:spPr>
        <p:txBody>
          <a:bodyPr wrap="square" lIns="0" rIns="0" tIns="0" bIns="0" anchor="t">
            <a:spAutoFit/>
          </a:bodyPr>
          <a:lstStyle/>
          <a:p>
            <a:pPr algn="l">
              <a:lnSpc>
                <a:spcPct val="118000"/>
              </a:lnSpc>
              <a:spcAft>
                <a:spcPts val="600"/>
              </a:spcAft>
            </a:pPr>
            <a:r>
              <a:rPr sz="2021" b="1" i="0">
                <a:solidFill>
                  <a:srgbClr val="FFFFFF"/>
                </a:solidFill>
                <a:latin typeface="Calibri"/>
              </a:rPr>
              <a:t>Delivered revenue is UGX 8,751,705,520 over 4,837 delivered orders, so the average delivered order is about UGX 1,809,000.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960120"/>
            <a:ext cx="10820095" cy="310896"/>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MISTAKE THIS SESSION PREVENTS</a:t>
            </a:r>
          </a:p>
        </p:txBody>
      </p:sp>
      <p:sp>
        <p:nvSpPr>
          <p:cNvPr id="4" name="TextBox 3"/>
          <p:cNvSpPr txBox="1"/>
          <p:nvPr/>
        </p:nvSpPr>
        <p:spPr>
          <a:xfrm>
            <a:off x="685800" y="1600200"/>
            <a:ext cx="10820095" cy="2107757"/>
          </a:xfrm>
          <a:prstGeom prst="rect">
            <a:avLst/>
          </a:prstGeom>
          <a:noFill/>
        </p:spPr>
        <p:txBody>
          <a:bodyPr wrap="square" lIns="0" rIns="0" tIns="0" bIns="0" anchor="t">
            <a:spAutoFit/>
          </a:bodyPr>
          <a:lstStyle/>
          <a:p>
            <a:pPr algn="l">
              <a:lnSpc>
                <a:spcPct val="114000"/>
              </a:lnSpc>
              <a:spcAft>
                <a:spcPts val="600"/>
              </a:spcAft>
            </a:pPr>
            <a:r>
              <a:rPr sz="2795" b="1" i="0">
                <a:solidFill>
                  <a:srgbClr val="FFFFFF"/>
                </a:solidFill>
                <a:latin typeface="Calibri"/>
              </a:rPr>
              <a:t>Averaging an average. The average of four regional averages is not the national average unless the regions are the same size. Sum the top, sum the bottom, then divide.</a:t>
            </a:r>
          </a:p>
        </p:txBody>
      </p:sp>
      <p:sp>
        <p:nvSpPr>
          <p:cNvPr id="5" name="TextBox 4"/>
          <p:cNvSpPr txBox="1"/>
          <p:nvPr/>
        </p:nvSpPr>
        <p:spPr>
          <a:xfrm>
            <a:off x="685800" y="3982277"/>
            <a:ext cx="10820095" cy="457200"/>
          </a:xfrm>
          <a:prstGeom prst="rect">
            <a:avLst/>
          </a:prstGeom>
          <a:noFill/>
        </p:spPr>
        <p:txBody>
          <a:bodyPr wrap="square" lIns="0" rIns="0" tIns="0" bIns="0" anchor="t">
            <a:spAutoFit/>
          </a:bodyPr>
          <a:lstStyle/>
          <a:p>
            <a:pPr algn="l">
              <a:spcAft>
                <a:spcPts val="600"/>
              </a:spcAft>
            </a:pPr>
            <a:r>
              <a:rPr sz="1923" b="0" i="0">
                <a:solidFill>
                  <a:srgbClr val="B8C9D8"/>
                </a:solidFill>
                <a:latin typeface="Calibri"/>
              </a:rPr>
              <a:t>It is in tonight's lab on purpose.</a:t>
            </a:r>
          </a:p>
        </p:txBody>
      </p:sp>
      <p:sp>
        <p:nvSpPr>
          <p:cNvPr id="6" name="TextBox 5"/>
          <p:cNvSpPr txBox="1"/>
          <p:nvPr/>
        </p:nvSpPr>
        <p:spPr>
          <a:xfrm>
            <a:off x="685800" y="608076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Session 4 of 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Why does WHERE COUNT(*) &gt; 80 fail?</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grouped by region and the totals do not add up to the overall figure. Why?</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Your average order value came out three times too small. What did you do?</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Why WHERE COUNT(*) &gt; 80 fails</a:t>
            </a:r>
          </a:p>
        </p:txBody>
      </p:sp>
      <p:sp>
        <p:nvSpPr>
          <p:cNvPr id="6" name="TextBox 5"/>
          <p:cNvSpPr txBox="1"/>
          <p:nvPr/>
        </p:nvSpPr>
        <p:spPr>
          <a:xfrm>
            <a:off x="1216152" y="220370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WHERE is evaluated before the rows are grouped, so no count exists yet. Filtering on an aggregate is what HAVING is for.</a:t>
            </a:r>
          </a:p>
        </p:txBody>
      </p:sp>
      <p:sp>
        <p:nvSpPr>
          <p:cNvPr id="7" name="Oval 6"/>
          <p:cNvSpPr/>
          <p:nvPr/>
        </p:nvSpPr>
        <p:spPr>
          <a:xfrm>
            <a:off x="685800" y="309686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060289"/>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Regional totals not adding up</a:t>
            </a:r>
          </a:p>
        </p:txBody>
      </p:sp>
      <p:sp>
        <p:nvSpPr>
          <p:cNvPr id="9" name="TextBox 8"/>
          <p:cNvSpPr txBox="1"/>
          <p:nvPr/>
        </p:nvSpPr>
        <p:spPr>
          <a:xfrm>
            <a:off x="1216152" y="3352897"/>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Grouping by region needs a join to customers, and the 172 walk-in orders have no customer to join to. They drop out silently, taking UGX 390,632,335 with them.</a:t>
            </a:r>
          </a:p>
        </p:txBody>
      </p:sp>
      <p:sp>
        <p:nvSpPr>
          <p:cNvPr id="10" name="Oval 9"/>
          <p:cNvSpPr/>
          <p:nvPr/>
        </p:nvSpPr>
        <p:spPr>
          <a:xfrm>
            <a:off x="685800" y="4246058"/>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209482"/>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Average order value three times too small</a:t>
            </a:r>
          </a:p>
        </p:txBody>
      </p:sp>
      <p:sp>
        <p:nvSpPr>
          <p:cNvPr id="12" name="TextBox 11"/>
          <p:cNvSpPr txBox="1"/>
          <p:nvPr/>
        </p:nvSpPr>
        <p:spPr>
          <a:xfrm>
            <a:off x="1216152" y="4502090"/>
            <a:ext cx="10253167" cy="1166005"/>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You divided by the number of order LINES instead of the number of ORDERS. There are 20,234 lines and 6,000 orders. COUNT(DISTINCT order_id) is the fix, and it is the grain lesson from session 1 arriving in arithmetic.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LAB · 50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Three groupings, then check them in Excel</a:t>
            </a:r>
          </a:p>
        </p:txBody>
      </p:sp>
      <p:sp>
        <p:nvSpPr>
          <p:cNvPr id="4" name="Rounded Rectangle 3"/>
          <p:cNvSpPr/>
          <p:nvPr/>
        </p:nvSpPr>
        <p:spPr>
          <a:xfrm>
            <a:off x="685800" y="1911095"/>
            <a:ext cx="10820095" cy="1617199"/>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1251439"/>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Revenue by channel, by segment and by month, delivered orders only. Then export the order lines to CSV, build the same three figures as pivot tables, and confirm they agree. Where they disagree, the SQL is usually right and the pivot has quietly included something.</a:t>
            </a:r>
          </a:p>
        </p:txBody>
      </p:sp>
      <p:sp>
        <p:nvSpPr>
          <p:cNvPr id="6" name="TextBox 5"/>
          <p:cNvSpPr txBox="1"/>
          <p:nvPr/>
        </p:nvSpPr>
        <p:spPr>
          <a:xfrm>
            <a:off x="685800" y="3802615"/>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4278103"/>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Revenue by channel, delivered only.</a:t>
            </a:r>
          </a:p>
        </p:txBody>
      </p:sp>
      <p:sp>
        <p:nvSpPr>
          <p:cNvPr id="8" name="TextBox 7"/>
          <p:cNvSpPr txBox="1"/>
          <p:nvPr/>
        </p:nvSpPr>
        <p:spPr>
          <a:xfrm>
            <a:off x="685800" y="4755045"/>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Revenue by customer segment, delivered only.</a:t>
            </a:r>
          </a:p>
        </p:txBody>
      </p:sp>
      <p:sp>
        <p:nvSpPr>
          <p:cNvPr id="9" name="TextBox 8"/>
          <p:cNvSpPr txBox="1"/>
          <p:nvPr/>
        </p:nvSpPr>
        <p:spPr>
          <a:xfrm>
            <a:off x="685800" y="5231987"/>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Revenue by month for 2025.</a:t>
            </a:r>
          </a:p>
        </p:txBody>
      </p:sp>
      <p:sp>
        <p:nvSpPr>
          <p:cNvPr id="10" name="TextBox 9"/>
          <p:cNvSpPr txBox="1"/>
          <p:nvPr/>
        </p:nvSpPr>
        <p:spPr>
          <a:xfrm>
            <a:off x="6278727" y="4278103"/>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The same three as pivot tables from the exported CSV.</a:t>
            </a:r>
          </a:p>
        </p:txBody>
      </p:sp>
      <p:sp>
        <p:nvSpPr>
          <p:cNvPr id="11" name="TextBox 10"/>
          <p:cNvSpPr txBox="1"/>
          <p:nvPr/>
        </p:nvSpPr>
        <p:spPr>
          <a:xfrm>
            <a:off x="6278727" y="4755045"/>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Any disagreement: which one is wrong, and why?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TONIGHT IN THREE LINES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can do now</a:t>
            </a:r>
          </a:p>
        </p:txBody>
      </p:sp>
      <p:sp>
        <p:nvSpPr>
          <p:cNvPr id="4" name="Oval 3"/>
          <p:cNvSpPr/>
          <p:nvPr/>
        </p:nvSpPr>
        <p:spPr>
          <a:xfrm>
            <a:off x="685800" y="196596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11095"/>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Aggregate with COUNT, SUM and AVG, and group by one or more columns.</a:t>
            </a:r>
          </a:p>
        </p:txBody>
      </p:sp>
      <p:sp>
        <p:nvSpPr>
          <p:cNvPr id="6" name="Oval 5"/>
          <p:cNvSpPr/>
          <p:nvPr/>
        </p:nvSpPr>
        <p:spPr>
          <a:xfrm>
            <a:off x="685800" y="2468025"/>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413161"/>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Filter groups with HAVING, and say why WHERE cannot do it.</a:t>
            </a:r>
          </a:p>
        </p:txBody>
      </p:sp>
      <p:sp>
        <p:nvSpPr>
          <p:cNvPr id="8" name="Oval 7"/>
          <p:cNvSpPr/>
          <p:nvPr/>
        </p:nvSpPr>
        <p:spPr>
          <a:xfrm>
            <a:off x="685800" y="2970091"/>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15227"/>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Spot an averaged average and correct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HOMEWORK · 45 TO 60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the next session</a:t>
            </a:r>
          </a:p>
        </p:txBody>
      </p:sp>
      <p:sp>
        <p:nvSpPr>
          <p:cNvPr id="4" name="Rounded Rectangle 3"/>
          <p:cNvSpPr/>
          <p:nvPr/>
        </p:nvSpPr>
        <p:spPr>
          <a:xfrm>
            <a:off x="685800" y="1911095"/>
            <a:ext cx="10820095" cy="1237967"/>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30552"/>
            <a:ext cx="10234879" cy="835631"/>
          </a:xfrm>
          <a:prstGeom prst="rect">
            <a:avLst/>
          </a:prstGeom>
          <a:noFill/>
        </p:spPr>
        <p:txBody>
          <a:bodyPr wrap="square" lIns="0" rIns="0" tIns="0" bIns="0" anchor="t">
            <a:spAutoFit/>
          </a:bodyPr>
          <a:lstStyle/>
          <a:p>
            <a:pPr algn="l">
              <a:lnSpc>
                <a:spcPct val="122000"/>
              </a:lnSpc>
              <a:spcAft>
                <a:spcPts val="600"/>
              </a:spcAft>
            </a:pPr>
            <a:r>
              <a:rPr sz="2021" b="0" i="0">
                <a:solidFill>
                  <a:srgbClr val="1C3144"/>
                </a:solidFill>
                <a:latin typeface="Calibri"/>
              </a:rPr>
              <a:t>Two more groupings on the sheet, then one sentence: which grouping of your own work data would you most like to see, and which columns would it need?</a:t>
            </a:r>
          </a:p>
        </p:txBody>
      </p:sp>
      <p:sp>
        <p:nvSpPr>
          <p:cNvPr id="6" name="Rounded Rectangle 5"/>
          <p:cNvSpPr/>
          <p:nvPr/>
        </p:nvSpPr>
        <p:spPr>
          <a:xfrm>
            <a:off x="685800" y="3423383"/>
            <a:ext cx="4826861"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WHY IT IS ALWAYS OPTIONAL ON YOUR OWN DATA</a:t>
            </a:r>
          </a:p>
        </p:txBody>
      </p:sp>
      <p:sp>
        <p:nvSpPr>
          <p:cNvPr id="7" name="TextBox 6"/>
          <p:cNvSpPr txBox="1"/>
          <p:nvPr/>
        </p:nvSpPr>
        <p:spPr>
          <a:xfrm>
            <a:off x="685800" y="3990311"/>
            <a:ext cx="10820095" cy="1097280"/>
          </a:xfrm>
          <a:prstGeom prst="rect">
            <a:avLst/>
          </a:prstGeom>
          <a:noFill/>
        </p:spPr>
        <p:txBody>
          <a:bodyPr wrap="square" lIns="0" rIns="0" tIns="0" bIns="0" anchor="t">
            <a:spAutoFit/>
          </a:bodyPr>
          <a:lstStyle/>
          <a:p>
            <a:pPr algn="l">
              <a:lnSpc>
                <a:spcPct val="122000"/>
              </a:lnSpc>
              <a:spcAft>
                <a:spcPts val="600"/>
              </a:spcAft>
            </a:pPr>
            <a:r>
              <a:rPr sz="1923" b="0" i="0">
                <a:solidFill>
                  <a:srgbClr val="334657"/>
                </a:solidFill>
                <a:latin typeface="Calibri"/>
              </a:rPr>
              <a:t>Homework on a dataset you already care about gets done. Homework on a teaching dataset competes with your job and loses. Either version counts, and the one on your own data is worth more to you.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7160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ONE THING TO REMEMBER</a:t>
            </a:r>
          </a:p>
        </p:txBody>
      </p:sp>
      <p:sp>
        <p:nvSpPr>
          <p:cNvPr id="4" name="TextBox 3"/>
          <p:cNvSpPr txBox="1"/>
          <p:nvPr/>
        </p:nvSpPr>
        <p:spPr>
          <a:xfrm>
            <a:off x="685800" y="1965960"/>
            <a:ext cx="10820095" cy="2194560"/>
          </a:xfrm>
          <a:prstGeom prst="rect">
            <a:avLst/>
          </a:prstGeom>
          <a:noFill/>
        </p:spPr>
        <p:txBody>
          <a:bodyPr wrap="square" lIns="0" rIns="0" tIns="0" bIns="0" anchor="t">
            <a:spAutoFit/>
          </a:bodyPr>
          <a:lstStyle/>
          <a:p>
            <a:pPr algn="l">
              <a:lnSpc>
                <a:spcPct val="110000"/>
              </a:lnSpc>
              <a:spcAft>
                <a:spcPts val="600"/>
              </a:spcAft>
            </a:pPr>
            <a:r>
              <a:rPr sz="3400" b="1" i="0">
                <a:solidFill>
                  <a:srgbClr val="FFFFFF"/>
                </a:solidFill>
                <a:latin typeface="Cambria"/>
              </a:rPr>
              <a:t>You have written your first pivot table down</a:t>
            </a:r>
          </a:p>
        </p:txBody>
      </p:sp>
      <p:sp>
        <p:nvSpPr>
          <p:cNvPr id="5" name="TextBox 4"/>
          <p:cNvSpPr txBox="1"/>
          <p:nvPr/>
        </p:nvSpPr>
        <p:spPr>
          <a:xfrm>
            <a:off x="685800" y="443484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It now runs again next month without you, on a file too big for a spreadsheet, and somebody else can read what you did. That is the whole argument for SQL and you have just made it yourself.</a:t>
            </a:r>
          </a:p>
        </p:txBody>
      </p:sp>
      <p:sp>
        <p:nvSpPr>
          <p:cNvPr id="6" name="TextBox 5"/>
          <p:cNvSpPr txBox="1"/>
          <p:nvPr/>
        </p:nvSpPr>
        <p:spPr>
          <a:xfrm>
            <a:off x="685800" y="594360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Next session: joining tables, carefully. This is the one that goes wrong in real reports.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