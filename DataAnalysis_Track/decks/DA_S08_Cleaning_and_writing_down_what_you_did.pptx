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on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is session 8 of twelve.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what tonight is marked against, in the sense that the lab checks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you wrote down what you changed. Cleaning is a series of decisions, and a decision nobody recorded is a number nobody can reproduce.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table recording rows in, rows out, what changed and why, written as you work rather than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the same number two different ways and chasing every difference until you can name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left after you have explained everything you can. Naming it is part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until the number looks right. The log exists to make that visible, including to yourself.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raw CSVs to a revenue figure you can defend, keeping the log as you go rather than writing it afterwards. The log is marked as heavily as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your own file, or the retail file, with a log. State one decision you are not sure about and why. Uncertainty written down is worth more than a confident wrong number.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six months the person who cannot reproduce it will be you. The log costs five minutes while you work and saves an afternoon later, which is the best trade available in this course.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8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Cleaning, and writing down what you did</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Only if you wrote down what you changed. Cleaning is a series of decisions, and a decision nobody recorded is a number nobody can reproduce.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3  ·  PYTHON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Data cleaning and preparation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Duplicate</a:t>
            </a:r>
          </a:p>
        </p:txBody>
      </p:sp>
      <p:sp>
        <p:nvSpPr>
          <p:cNvPr id="9" name="TextBox 8"/>
          <p:cNvSpPr txBox="1"/>
          <p:nvPr/>
        </p:nvSpPr>
        <p:spPr>
          <a:xfrm>
            <a:off x="3154680" y="2276856"/>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The same row recorded twice. Whether that is an error depends entirely on the grain.</a:t>
            </a:r>
          </a:p>
        </p:txBody>
      </p:sp>
      <p:sp>
        <p:nvSpPr>
          <p:cNvPr id="10" name="TextBox 9"/>
          <p:cNvSpPr txBox="1"/>
          <p:nvPr/>
        </p:nvSpPr>
        <p:spPr>
          <a:xfrm>
            <a:off x="8275320" y="2276856"/>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1" name="TextBox 10"/>
          <p:cNvSpPr txBox="1"/>
          <p:nvPr/>
        </p:nvSpPr>
        <p:spPr>
          <a:xfrm>
            <a:off x="685800" y="3010768"/>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Cleaning log</a:t>
            </a:r>
          </a:p>
        </p:txBody>
      </p:sp>
      <p:sp>
        <p:nvSpPr>
          <p:cNvPr id="12" name="TextBox 11"/>
          <p:cNvSpPr txBox="1"/>
          <p:nvPr/>
        </p:nvSpPr>
        <p:spPr>
          <a:xfrm>
            <a:off x="3154680" y="3010768"/>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table recording rows in, rows out, what changed and why, written as you work.</a:t>
            </a:r>
          </a:p>
        </p:txBody>
      </p:sp>
      <p:sp>
        <p:nvSpPr>
          <p:cNvPr id="13" name="TextBox 12"/>
          <p:cNvSpPr txBox="1"/>
          <p:nvPr/>
        </p:nvSpPr>
        <p:spPr>
          <a:xfrm>
            <a:off x="8275320" y="3010768"/>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4" name="Rectangle 13"/>
          <p:cNvSpPr/>
          <p:nvPr/>
        </p:nvSpPr>
        <p:spPr>
          <a:xfrm>
            <a:off x="576072" y="3708104"/>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44680"/>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Reconciliation</a:t>
            </a:r>
          </a:p>
        </p:txBody>
      </p:sp>
      <p:sp>
        <p:nvSpPr>
          <p:cNvPr id="16" name="TextBox 15"/>
          <p:cNvSpPr txBox="1"/>
          <p:nvPr/>
        </p:nvSpPr>
        <p:spPr>
          <a:xfrm>
            <a:off x="3154680" y="3744680"/>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Getting the same number two different ways and chasing every difference until you can name it.</a:t>
            </a:r>
          </a:p>
        </p:txBody>
      </p:sp>
      <p:sp>
        <p:nvSpPr>
          <p:cNvPr id="17" name="TextBox 16"/>
          <p:cNvSpPr txBox="1"/>
          <p:nvPr/>
        </p:nvSpPr>
        <p:spPr>
          <a:xfrm>
            <a:off x="8275320" y="3744680"/>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8" name="TextBox 17"/>
          <p:cNvSpPr txBox="1"/>
          <p:nvPr/>
        </p:nvSpPr>
        <p:spPr>
          <a:xfrm>
            <a:off x="685800" y="4478592"/>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Residual</a:t>
            </a:r>
          </a:p>
        </p:txBody>
      </p:sp>
      <p:sp>
        <p:nvSpPr>
          <p:cNvPr id="19" name="TextBox 18"/>
          <p:cNvSpPr txBox="1"/>
          <p:nvPr/>
        </p:nvSpPr>
        <p:spPr>
          <a:xfrm>
            <a:off x="3154680" y="4478592"/>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The difference that is left after you have explained everything you can. Naming it is part of the job.</a:t>
            </a:r>
          </a:p>
        </p:txBody>
      </p:sp>
      <p:sp>
        <p:nvSpPr>
          <p:cNvPr id="20" name="TextBox 19"/>
          <p:cNvSpPr txBox="1"/>
          <p:nvPr/>
        </p:nvSpPr>
        <p:spPr>
          <a:xfrm>
            <a:off x="8275320" y="4478592"/>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Find and handle duplicates, missing values, wrong types and mixed date formats.</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Justify each cleaning decision in writing, in a log somebody else could follow.</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Reconcile your cleaned total against a figure you already trust, and name the residual.</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8 of 15  ·  Python  ·  Cleaning, and writing down what you did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cleaned the data and got a number.</a:t>
            </a:r>
          </a:p>
          <a:p>
            <a:pPr algn="l">
              <a:lnSpc>
                <a:spcPct val="115000"/>
              </a:lnSpc>
              <a:spcAft>
                <a:spcPts val="600"/>
              </a:spcAft>
            </a:pPr>
            <a:r>
              <a:rPr sz="3400" b="0" i="1">
                <a:solidFill>
                  <a:srgbClr val="FFFFFF"/>
                </a:solidFill>
                <a:latin typeface="Cambria"/>
              </a:rPr>
              <a:t>Could somebody else get the same number?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Only if you wrote down what you changed. Cleaning is a series of decisions, and a decision nobody recorded is a number nobody can reproduce.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Seven defects, found and fixed</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Seven defects, on data where the right answer is known: duplicate rows, returns recorded as negative quantities, one category priced in dollars, discounts typed as percentages, two date formats in one column, messy custo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IS WRONG WITH THE FILE</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seven defects in tonight's file, and what each one costs</a:t>
            </a:r>
          </a:p>
        </p:txBody>
      </p:sp>
      <p:sp>
        <p:nvSpPr>
          <p:cNvPr id="4" name="Rounded Rectangle 3"/>
          <p:cNvSpPr/>
          <p:nvPr/>
        </p:nvSpPr>
        <p:spPr>
          <a:xfrm>
            <a:off x="685800" y="2395728"/>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458429"/>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51460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40 exact duplicate rows</a:t>
            </a:r>
          </a:p>
        </p:txBody>
      </p:sp>
      <p:sp>
        <p:nvSpPr>
          <p:cNvPr id="7" name="TextBox 6"/>
          <p:cNvSpPr txBox="1"/>
          <p:nvPr/>
        </p:nvSpPr>
        <p:spPr>
          <a:xfrm>
            <a:off x="1554480" y="2779776"/>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An export that ran twice. Revenue overstated by whatever those rows contained.</a:t>
            </a:r>
          </a:p>
        </p:txBody>
      </p:sp>
      <p:sp>
        <p:nvSpPr>
          <p:cNvPr id="8" name="Rounded Rectangle 7"/>
          <p:cNvSpPr/>
          <p:nvPr/>
        </p:nvSpPr>
        <p:spPr>
          <a:xfrm>
            <a:off x="685800" y="2960043"/>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022745"/>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3078915"/>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501 negative quantities</a:t>
            </a:r>
          </a:p>
        </p:txBody>
      </p:sp>
      <p:sp>
        <p:nvSpPr>
          <p:cNvPr id="11" name="TextBox 10"/>
          <p:cNvSpPr txBox="1"/>
          <p:nvPr/>
        </p:nvSpPr>
        <p:spPr>
          <a:xfrm>
            <a:off x="1554480" y="3344091"/>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A returns convention rather than an error. Sum the column and you get a figure that is neither sales nor net of returns.</a:t>
            </a:r>
          </a:p>
        </p:txBody>
      </p:sp>
      <p:sp>
        <p:nvSpPr>
          <p:cNvPr id="12" name="Rounded Rectangle 11"/>
          <p:cNvSpPr/>
          <p:nvPr/>
        </p:nvSpPr>
        <p:spPr>
          <a:xfrm>
            <a:off x="685800" y="3524358"/>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358706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364323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2,523 lines priced in dollars</a:t>
            </a:r>
          </a:p>
        </p:txBody>
      </p:sp>
      <p:sp>
        <p:nvSpPr>
          <p:cNvPr id="15" name="TextBox 14"/>
          <p:cNvSpPr txBox="1"/>
          <p:nvPr/>
        </p:nvSpPr>
        <p:spPr>
          <a:xfrm>
            <a:off x="1554480" y="3908406"/>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whole category, priced by a team that works in USD. Nothing in the file says so, and the error is a factor of 3,780.</a:t>
            </a:r>
          </a:p>
        </p:txBody>
      </p:sp>
      <p:sp>
        <p:nvSpPr>
          <p:cNvPr id="16" name="Rounded Rectangle 15"/>
          <p:cNvSpPr/>
          <p:nvPr/>
        </p:nvSpPr>
        <p:spPr>
          <a:xfrm>
            <a:off x="685800" y="4088674"/>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415137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420754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203 discounts above 1.0</a:t>
            </a:r>
          </a:p>
        </p:txBody>
      </p:sp>
      <p:sp>
        <p:nvSpPr>
          <p:cNvPr id="19" name="TextBox 18"/>
          <p:cNvSpPr txBox="1"/>
          <p:nvPr/>
        </p:nvSpPr>
        <p:spPr>
          <a:xfrm>
            <a:off x="1554480" y="4472722"/>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15 typed where 0.15 was meant, which makes revenue on those lines negative.</a:t>
            </a:r>
          </a:p>
        </p:txBody>
      </p:sp>
      <p:sp>
        <p:nvSpPr>
          <p:cNvPr id="20" name="Rounded Rectangle 19"/>
          <p:cNvSpPr/>
          <p:nvPr/>
        </p:nvSpPr>
        <p:spPr>
          <a:xfrm>
            <a:off x="685800" y="4652989"/>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4715691"/>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5</a:t>
            </a:r>
          </a:p>
        </p:txBody>
      </p:sp>
      <p:sp>
        <p:nvSpPr>
          <p:cNvPr id="22" name="TextBox 21"/>
          <p:cNvSpPr txBox="1"/>
          <p:nvPr/>
        </p:nvSpPr>
        <p:spPr>
          <a:xfrm>
            <a:off x="1554480" y="4771861"/>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1,055 dates in a second format</a:t>
            </a:r>
          </a:p>
        </p:txBody>
      </p:sp>
      <p:sp>
        <p:nvSpPr>
          <p:cNvPr id="23" name="TextBox 22"/>
          <p:cNvSpPr txBox="1"/>
          <p:nvPr/>
        </p:nvSpPr>
        <p:spPr>
          <a:xfrm>
            <a:off x="1554480" y="5037037"/>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Both 2025-03-14 and 14/03/2025 in one column. Parse it carelessly and March becomes February.</a:t>
            </a:r>
          </a:p>
        </p:txBody>
      </p:sp>
      <p:sp>
        <p:nvSpPr>
          <p:cNvPr id="24" name="Rounded Rectangle 23"/>
          <p:cNvSpPr/>
          <p:nvPr/>
        </p:nvSpPr>
        <p:spPr>
          <a:xfrm>
            <a:off x="685800" y="5217305"/>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 y="528000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6</a:t>
            </a:r>
          </a:p>
        </p:txBody>
      </p:sp>
      <p:sp>
        <p:nvSpPr>
          <p:cNvPr id="26" name="TextBox 25"/>
          <p:cNvSpPr txBox="1"/>
          <p:nvPr/>
        </p:nvSpPr>
        <p:spPr>
          <a:xfrm>
            <a:off x="1554480" y="533617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117 messy customer names</a:t>
            </a:r>
          </a:p>
        </p:txBody>
      </p:sp>
      <p:sp>
        <p:nvSpPr>
          <p:cNvPr id="27" name="TextBox 26"/>
          <p:cNvSpPr txBox="1"/>
          <p:nvPr/>
        </p:nvSpPr>
        <p:spPr>
          <a:xfrm>
            <a:off x="1554480" y="5601353"/>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Upper case, lower case and trailing spaces. Harmless until you group by name and get three groups for one customer.</a:t>
            </a:r>
          </a:p>
        </p:txBody>
      </p:sp>
      <p:sp>
        <p:nvSpPr>
          <p:cNvPr id="28" name="Rounded Rectangle 27"/>
          <p:cNvSpPr/>
          <p:nvPr/>
        </p:nvSpPr>
        <p:spPr>
          <a:xfrm>
            <a:off x="685800" y="5781620"/>
            <a:ext cx="10820095" cy="50945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1832" y="584432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7</a:t>
            </a:r>
          </a:p>
        </p:txBody>
      </p:sp>
      <p:sp>
        <p:nvSpPr>
          <p:cNvPr id="30" name="TextBox 29"/>
          <p:cNvSpPr txBox="1"/>
          <p:nvPr/>
        </p:nvSpPr>
        <p:spPr>
          <a:xfrm>
            <a:off x="1554480" y="590049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172 orders with no customer</a:t>
            </a:r>
          </a:p>
        </p:txBody>
      </p:sp>
      <p:sp>
        <p:nvSpPr>
          <p:cNvPr id="31" name="TextBox 30"/>
          <p:cNvSpPr txBox="1"/>
          <p:nvPr/>
        </p:nvSpPr>
        <p:spPr>
          <a:xfrm>
            <a:off x="1554480" y="6165668"/>
            <a:ext cx="9631375" cy="33963"/>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Walk-in trade. A decision rather than a defect: dropping them loses UGX 390,632,335 of real revenue.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cleaning log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table recording rows in, rows out, what changed and why, written as you work rather than afterwards.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Loaded 20,775 rows. Dropped 40 exact duplicates because an export ran twice. Moved 501 negative lines to a returns frame because negative quantity is this system's return convention.</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notes tab nobody fills in. The difference is that this one is the deliverable, and it is marked.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Reconciliation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the same number two different ways and chasing every difference until you can name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Your cleaned CSVs should give UGX 8,751,672,145. The database says UGX 8,751,705,520. The gap is UGX 33,375, and tonight you find out why.</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Ticking a total against another total. You already do this; here it becomes the habit that catches the mistakes cleaning introduces.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Residual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difference left after you have explained everything you can. Naming it is part of the job.</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Tonight's residual is UGX 33,375 on UGX 8,751,705,520, which is 0.0004%. It comes from the dollar-priced lines being recorded to the cent, and it cannot be cleaned away.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Duplicates, and the returns convention</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items = pd.read_csv("data/order_items_raw.csv")</a:t>
            </a:r>
          </a:p>
          <a:p>
            <a:pPr algn="l">
              <a:lnSpc>
                <a:spcPts val="2333"/>
              </a:lnSpc>
              <a:spcAft>
                <a:spcPts val="0"/>
              </a:spcAft>
            </a:pPr>
            <a:r>
              <a:rPr sz="1716" b="0" i="0">
                <a:solidFill>
                  <a:srgbClr val="D8E3EC"/>
                </a:solidFill>
                <a:latin typeface="Courier New"/>
              </a:rPr>
              <a:t>items.shape                       # (20,775, 6)</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items.duplicated().sum()          # 40</a:t>
            </a:r>
          </a:p>
          <a:p>
            <a:pPr algn="l">
              <a:lnSpc>
                <a:spcPts val="2333"/>
              </a:lnSpc>
              <a:spcAft>
                <a:spcPts val="0"/>
              </a:spcAft>
            </a:pPr>
            <a:r>
              <a:rPr sz="1716" b="0" i="0">
                <a:solidFill>
                  <a:srgbClr val="D8E3EC"/>
                </a:solidFill>
                <a:latin typeface="Courier New"/>
              </a:rPr>
              <a:t>items = items.drop_duplicates()</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negative quantity is a RETURN here, not corruption</a:t>
            </a:r>
          </a:p>
          <a:p>
            <a:pPr algn="l">
              <a:lnSpc>
                <a:spcPts val="2333"/>
              </a:lnSpc>
              <a:spcAft>
                <a:spcPts val="0"/>
              </a:spcAft>
            </a:pPr>
            <a:r>
              <a:rPr sz="1716" b="0" i="0">
                <a:solidFill>
                  <a:srgbClr val="D8E3EC"/>
                </a:solidFill>
                <a:latin typeface="Courier New"/>
              </a:rPr>
              <a:t>items["quantity"].describe()</a:t>
            </a:r>
          </a:p>
          <a:p>
            <a:pPr algn="l">
              <a:lnSpc>
                <a:spcPts val="2333"/>
              </a:lnSpc>
              <a:spcAft>
                <a:spcPts val="0"/>
              </a:spcAft>
            </a:pPr>
            <a:r>
              <a:rPr sz="1716" b="0" i="0">
                <a:solidFill>
                  <a:srgbClr val="D8E3EC"/>
                </a:solidFill>
                <a:latin typeface="Courier New"/>
              </a:rPr>
              <a:t>rets  = items[items["quantity"] &lt; 0].copy()   # 501</a:t>
            </a:r>
          </a:p>
          <a:p>
            <a:pPr algn="l">
              <a:lnSpc>
                <a:spcPts val="2333"/>
              </a:lnSpc>
              <a:spcAft>
                <a:spcPts val="0"/>
              </a:spcAft>
            </a:pPr>
            <a:r>
              <a:rPr sz="1716" b="0" i="0">
                <a:solidFill>
                  <a:srgbClr val="D8E3EC"/>
                </a:solidFill>
                <a:latin typeface="Courier New"/>
              </a:rPr>
              <a:t>sales = items[items["quantity"] &gt; 0].copy()</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items["quantity"].sum() BEFORE splitting them. The negative lines net off against the sales, so the total is neither gross sales nor net of returns. It is a number with no definition, and it looks entirely reasonable.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decision, the log, and the reconciliation</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decision, not the code, is the work. Dropping a row, filling a value and leaving it alone are three defensible choices with different consequences, and the choice belongs in writing beside the number. Then the log, 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defect nothing in the file tells you about</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47545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82843"/>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prod = pd.read_csv("data/products.csv")</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j = sales.merge(prod[["product_id", "category"]],</a:t>
            </a:r>
          </a:p>
          <a:p>
            <a:pPr algn="l">
              <a:lnSpc>
                <a:spcPts val="2064"/>
              </a:lnSpc>
              <a:spcAft>
                <a:spcPts val="0"/>
              </a:spcAft>
            </a:pPr>
            <a:r>
              <a:rPr sz="1518" b="0" i="0">
                <a:solidFill>
                  <a:srgbClr val="D8E3EC"/>
                </a:solidFill>
                <a:latin typeface="Courier New"/>
              </a:rPr>
              <a:t>                on="product_id", how="left",</a:t>
            </a:r>
          </a:p>
          <a:p>
            <a:pPr algn="l">
              <a:lnSpc>
                <a:spcPts val="2064"/>
              </a:lnSpc>
              <a:spcAft>
                <a:spcPts val="0"/>
              </a:spcAft>
            </a:pPr>
            <a:r>
              <a:rPr sz="1518" b="0" i="0">
                <a:solidFill>
                  <a:srgbClr val="D8E3EC"/>
                </a:solidFill>
                <a:latin typeface="Courier New"/>
              </a:rPr>
              <a:t>                validate="many_to_one")</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j.groupby("category")["unit_price"].describe()[["min", "max"]]</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one category's prices are a thousandth of the others:</a:t>
            </a:r>
          </a:p>
          <a:p>
            <a:pPr algn="l">
              <a:lnSpc>
                <a:spcPts val="2064"/>
              </a:lnSpc>
              <a:spcAft>
                <a:spcPts val="0"/>
              </a:spcAft>
            </a:pPr>
            <a:r>
              <a:rPr sz="1518" b="0" i="0">
                <a:solidFill>
                  <a:srgbClr val="D8E3EC"/>
                </a:solidFill>
                <a:latin typeface="Courier New"/>
              </a:rPr>
              <a:t># 2,523 lines recorded in USD at 3,780 to the dollar</a:t>
            </a:r>
          </a:p>
          <a:p>
            <a:pPr algn="l">
              <a:lnSpc>
                <a:spcPts val="2064"/>
              </a:lnSpc>
              <a:spcAft>
                <a:spcPts val="0"/>
              </a:spcAft>
            </a:pPr>
            <a:r>
              <a:rPr sz="1518" b="0" i="0">
                <a:solidFill>
                  <a:srgbClr val="D8E3EC"/>
                </a:solidFill>
                <a:latin typeface="Courier New"/>
              </a:rPr>
              <a:t>usd = j["category"] == "Imported appliances"</a:t>
            </a:r>
          </a:p>
          <a:p>
            <a:pPr algn="l">
              <a:lnSpc>
                <a:spcPts val="2064"/>
              </a:lnSpc>
              <a:spcAft>
                <a:spcPts val="0"/>
              </a:spcAft>
            </a:pPr>
            <a:r>
              <a:rPr sz="1518" b="0" i="0">
                <a:solidFill>
                  <a:srgbClr val="D8E3EC"/>
                </a:solidFill>
                <a:latin typeface="Courier New"/>
              </a:rPr>
              <a:t>j.loc[usd, "unit_price"] = j.loc[usd, "unit_price"] * 3780.0</a:t>
            </a:r>
          </a:p>
        </p:txBody>
      </p:sp>
      <p:sp>
        <p:nvSpPr>
          <p:cNvPr id="7" name="Rounded Rectangle 6"/>
          <p:cNvSpPr/>
          <p:nvPr/>
        </p:nvSpPr>
        <p:spPr>
          <a:xfrm>
            <a:off x="685800" y="560600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1514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There is no error message for this one, ever. The only way to find it is to ask what a price SHOULD look like and then check. If the rate is wrong, every number downstream is wrong by the same factor and still looks plausible.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date formats in one column</a:t>
            </a:r>
          </a:p>
        </p:txBody>
      </p:sp>
      <p:sp>
        <p:nvSpPr>
          <p:cNvPr id="4" name="Rounded Rectangle 3"/>
          <p:cNvSpPr/>
          <p:nvPr/>
        </p:nvSpPr>
        <p:spPr>
          <a:xfrm>
            <a:off x="8442655" y="512064"/>
            <a:ext cx="30632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JUPYTER OR COLAB</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orders = pd.read_csv("data/orders_raw.csv")</a:t>
            </a:r>
          </a:p>
          <a:p>
            <a:pPr algn="l">
              <a:lnSpc>
                <a:spcPts val="2333"/>
              </a:lnSpc>
              <a:spcAft>
                <a:spcPts val="0"/>
              </a:spcAft>
            </a:pPr>
            <a:r>
              <a:rPr sz="1716" b="0" i="0">
                <a:solidFill>
                  <a:srgbClr val="D8E3EC"/>
                </a:solidFill>
                <a:latin typeface="Courier New"/>
              </a:rPr>
              <a:t>orders["order_date"].head(8)</a:t>
            </a:r>
          </a:p>
          <a:p>
            <a:pPr algn="l">
              <a:lnSpc>
                <a:spcPts val="2333"/>
              </a:lnSpc>
              <a:spcAft>
                <a:spcPts val="0"/>
              </a:spcAft>
            </a:pPr>
            <a:r>
              <a:rPr sz="1716" b="0" i="0">
                <a:solidFill>
                  <a:srgbClr val="D8E3EC"/>
                </a:solidFill>
                <a:latin typeface="Courier New"/>
              </a:rPr>
              <a:t># both 2025-03-14 and 14/03/2025: 1,055 of the second</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orders["order_date"] = pd.to_datetime(</a:t>
            </a:r>
          </a:p>
          <a:p>
            <a:pPr algn="l">
              <a:lnSpc>
                <a:spcPts val="2333"/>
              </a:lnSpc>
              <a:spcAft>
                <a:spcPts val="0"/>
              </a:spcAft>
            </a:pPr>
            <a:r>
              <a:rPr sz="1716" b="0" i="0">
                <a:solidFill>
                  <a:srgbClr val="D8E3EC"/>
                </a:solidFill>
                <a:latin typeface="Courier New"/>
              </a:rPr>
              <a:t>    orders["order_date"], format="mixed", dayfirst=True)</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orders["order_date"].isna().sum()      # must be 0</a:t>
            </a:r>
          </a:p>
          <a:p>
            <a:pPr algn="l">
              <a:lnSpc>
                <a:spcPts val="2333"/>
              </a:lnSpc>
              <a:spcAft>
                <a:spcPts val="0"/>
              </a:spcAft>
            </a:pPr>
            <a:r>
              <a:rPr sz="1716" b="0" i="0">
                <a:solidFill>
                  <a:srgbClr val="D8E3EC"/>
                </a:solidFill>
                <a:latin typeface="Courier New"/>
              </a:rPr>
              <a:t>orders["order_date"].min(), orders["order_date"].max()</a:t>
            </a:r>
          </a:p>
          <a:p>
            <a:pPr algn="l">
              <a:lnSpc>
                <a:spcPts val="2333"/>
              </a:lnSpc>
              <a:spcAft>
                <a:spcPts val="0"/>
              </a:spcAft>
            </a:pPr>
            <a:r>
              <a:rPr sz="1716" b="0" i="0">
                <a:solidFill>
                  <a:srgbClr val="D8E3EC"/>
                </a:solidFill>
                <a:latin typeface="Courier New"/>
              </a:rPr>
              <a:t># 2024-01-01 to 2025-12-31, the whole trading window</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Drop dayfirst=True and every date whose day is 12 or less gets silently read the American way: 14/03 stays March but 03/04 becomes the 4th of March. Checking min and max does NOT catch it, because both stay inside the window.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PRECISION</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reconciliation does not come out exact, and that is the lesson</a:t>
            </a:r>
          </a:p>
        </p:txBody>
      </p:sp>
      <p:sp>
        <p:nvSpPr>
          <p:cNvPr id="4" name="TextBox 3"/>
          <p:cNvSpPr txBox="1"/>
          <p:nvPr/>
        </p:nvSpPr>
        <p:spPr>
          <a:xfrm>
            <a:off x="685800" y="2395728"/>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you will get</a:t>
            </a:r>
          </a:p>
        </p:txBody>
      </p:sp>
      <p:sp>
        <p:nvSpPr>
          <p:cNvPr id="5" name="TextBox 4"/>
          <p:cNvSpPr txBox="1"/>
          <p:nvPr/>
        </p:nvSpPr>
        <p:spPr>
          <a:xfrm>
            <a:off x="685800" y="2893964"/>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correct clean of these CSVs lands on UGX 8,751,672,145.</a:t>
            </a:r>
          </a:p>
        </p:txBody>
      </p:sp>
      <p:sp>
        <p:nvSpPr>
          <p:cNvPr id="6" name="TextBox 5"/>
          <p:cNvSpPr txBox="1"/>
          <p:nvPr/>
        </p:nvSpPr>
        <p:spPr>
          <a:xfrm>
            <a:off x="685800" y="3715374"/>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database says UGX 8,751,705,520.</a:t>
            </a:r>
          </a:p>
        </p:txBody>
      </p:sp>
      <p:sp>
        <p:nvSpPr>
          <p:cNvPr id="7" name="TextBox 6"/>
          <p:cNvSpPr txBox="1"/>
          <p:nvPr/>
        </p:nvSpPr>
        <p:spPr>
          <a:xfrm>
            <a:off x="685800" y="4176371"/>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 will be UGX 33,375 short, which is 0.0004%.</a:t>
            </a:r>
          </a:p>
        </p:txBody>
      </p:sp>
      <p:sp>
        <p:nvSpPr>
          <p:cNvPr id="8" name="Rounded Rectangle 7"/>
          <p:cNvSpPr/>
          <p:nvPr/>
        </p:nvSpPr>
        <p:spPr>
          <a:xfrm>
            <a:off x="6301587" y="2286000"/>
            <a:ext cx="5204307" cy="406908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2468880"/>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Why, and what to do about it</a:t>
            </a:r>
          </a:p>
        </p:txBody>
      </p:sp>
      <p:sp>
        <p:nvSpPr>
          <p:cNvPr id="10" name="TextBox 9"/>
          <p:cNvSpPr txBox="1"/>
          <p:nvPr/>
        </p:nvSpPr>
        <p:spPr>
          <a:xfrm>
            <a:off x="6575907" y="2980944"/>
            <a:ext cx="4655667" cy="319626"/>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The dollar-priced category was recorded TO THE CENT.</a:t>
            </a:r>
          </a:p>
        </p:txBody>
      </p:sp>
      <p:sp>
        <p:nvSpPr>
          <p:cNvPr id="11" name="TextBox 10"/>
          <p:cNvSpPr txBox="1"/>
          <p:nvPr/>
        </p:nvSpPr>
        <p:spPr>
          <a:xfrm>
            <a:off x="6575907" y="3474306"/>
            <a:ext cx="4655667" cy="867440"/>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Multiplying 2,016 delivered lines back by 3,780 cannot recover the exact shilling price. Rounding to the cent threw a fraction away and it does not come back.</a:t>
            </a:r>
          </a:p>
        </p:txBody>
      </p:sp>
      <p:sp>
        <p:nvSpPr>
          <p:cNvPr id="12" name="TextBox 11"/>
          <p:cNvSpPr txBox="1"/>
          <p:nvPr/>
        </p:nvSpPr>
        <p:spPr>
          <a:xfrm>
            <a:off x="6575907" y="4515483"/>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So: land within a few thousand shillings, then WRITE THE RESIDUAL DOWN with its cause. That is the pass mark.</a:t>
            </a:r>
          </a:p>
        </p:txBody>
      </p:sp>
      <p:sp>
        <p:nvSpPr>
          <p:cNvPr id="13" name="TextBox 12"/>
          <p:cNvSpPr txBox="1"/>
          <p:nvPr/>
        </p:nvSpPr>
        <p:spPr>
          <a:xfrm>
            <a:off x="6575907" y="5282753"/>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An analyst who reports a reconciliation as exact when it is not has told you they did not look.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10037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Cleaning until the number looks right. The log exists to make that visible, including to yourself.</a:t>
            </a:r>
          </a:p>
        </p:txBody>
      </p:sp>
      <p:sp>
        <p:nvSpPr>
          <p:cNvPr id="5" name="TextBox 4"/>
          <p:cNvSpPr txBox="1"/>
          <p:nvPr/>
        </p:nvSpPr>
        <p:spPr>
          <a:xfrm>
            <a:off x="685800" y="27920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8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dropped 40 duplicate rows. When is an exact duplicate NOT an error?</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One category's prices are a thousandth of the others. How would you have found that unaided?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missing customer id a decision rather than a fix?</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When a duplicate is not an error</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When the grain allows it: two identical payments on one day are two real payments. On an order line it is an error, because the same product twice on one order would be one line with quantity 2. The grain decides, which is why session 1 spent an hour on it.</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Finding a currency defect unaided</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Ask what a price should look like, then check min and max per category. A category whose prices are a thousandth of everything else is not a cheap category. Domain sense is the detector; there is no error message.</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a missing customer id is a decision</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both answers are defensible and they give different numbers. Dropping those orders loses UGX 390,632,335; keeping them means every per-customer analysis has a gap you must state. What is not defensible is doing either one silently.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Clean it, log it, reconcile it</a:t>
            </a:r>
          </a:p>
        </p:txBody>
      </p:sp>
      <p:sp>
        <p:nvSpPr>
          <p:cNvPr id="4" name="Rounded Rectangle 3"/>
          <p:cNvSpPr/>
          <p:nvPr/>
        </p:nvSpPr>
        <p:spPr>
          <a:xfrm>
            <a:off x="685800" y="1911095"/>
            <a:ext cx="10820095" cy="96926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60350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From the raw CSVs to a revenue figure you can defend, keeping the log as you go rather than writing it afterwards. The log is marked as heavily as the number.</a:t>
            </a:r>
          </a:p>
        </p:txBody>
      </p:sp>
      <p:sp>
        <p:nvSpPr>
          <p:cNvPr id="6" name="TextBox 5"/>
          <p:cNvSpPr txBox="1"/>
          <p:nvPr/>
        </p:nvSpPr>
        <p:spPr>
          <a:xfrm>
            <a:off x="685800" y="31912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Profile first. Rows in, and what you expect rows out to be.</a:t>
            </a:r>
          </a:p>
        </p:txBody>
      </p:sp>
      <p:sp>
        <p:nvSpPr>
          <p:cNvPr id="8" name="TextBox 7"/>
          <p:cNvSpPr txBox="1"/>
          <p:nvPr/>
        </p:nvSpPr>
        <p:spPr>
          <a:xfrm>
            <a:off x="685800"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Work the seven defects. Two lines to find each, two to fix it.</a:t>
            </a:r>
          </a:p>
        </p:txBody>
      </p:sp>
      <p:sp>
        <p:nvSpPr>
          <p:cNvPr id="9" name="TextBox 8"/>
          <p:cNvSpPr txBox="1"/>
          <p:nvPr/>
        </p:nvSpPr>
        <p:spPr>
          <a:xfrm>
            <a:off x="685800"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Keep the log: rows before, rows after, what changed, why.</a:t>
            </a:r>
          </a:p>
        </p:txBody>
      </p:sp>
      <p:sp>
        <p:nvSpPr>
          <p:cNvPr id="10" name="TextBox 9"/>
          <p:cNvSpPr txBox="1"/>
          <p:nvPr/>
        </p:nvSpPr>
        <p:spPr>
          <a:xfrm>
            <a:off x="6278727"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Reconcile against UGX 8,751,672,145 and name your residual.</a:t>
            </a:r>
          </a:p>
        </p:txBody>
      </p:sp>
      <p:sp>
        <p:nvSpPr>
          <p:cNvPr id="11" name="TextBox 10"/>
          <p:cNvSpPr txBox="1"/>
          <p:nvPr/>
        </p:nvSpPr>
        <p:spPr>
          <a:xfrm>
            <a:off x="6278727"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State one decision you are not sure about, and why.</a:t>
            </a:r>
          </a:p>
        </p:txBody>
      </p:sp>
      <p:sp>
        <p:nvSpPr>
          <p:cNvPr id="12" name="TextBox 11"/>
          <p:cNvSpPr txBox="1"/>
          <p:nvPr/>
        </p:nvSpPr>
        <p:spPr>
          <a:xfrm>
            <a:off x="6278727"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Restart and Run All before you submit.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Find and handle duplicates, missing values, wrong types and mixed date formats.</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Justify each cleaning decision in writing, in a log somebody else could follow.</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Reconcile your cleaned total against a figure you already trust, and name the residual.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Clean your own file, or the retail file, with a log. State one decision you are not sure about and why. Uncertainty written down is worth more than a confident wrong number.</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A number nobody can reproduce is not a result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In six months the person who cannot reproduce it will be you. The log costs five minutes while you work and saves an afternoon later, which is the best trade available in this course.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the same answers in pandas as in SQL, and what to do when they disagree.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